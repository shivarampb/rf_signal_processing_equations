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3.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4.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5.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6.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charts/chart7.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charts/chart8.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charts/chart9.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charts/chart10.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charts/chart11.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charts/chart12.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charts/chart13.xml" ContentType="application/vnd.openxmlformats-officedocument.drawingml.chart+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charts/chart14.xml" ContentType="application/vnd.openxmlformats-officedocument.drawingml.chart+xml"/>
  <Override PartName="/ppt/slideMasters/slideMaster24.xml" ContentType="application/vnd.openxmlformats-officedocument.presentationml.slideMaster+xml"/>
  <Override PartName="/ppt/slides/slide24.xml" ContentType="application/vnd.openxmlformats-officedocument.presentationml.slide+xml"/>
  <Override PartName="/ppt/charts/chart15.xml" ContentType="application/vnd.openxmlformats-officedocument.drawingml.chart+xml"/>
  <Override PartName="/ppt/slideMasters/slideMaster25.xml" ContentType="application/vnd.openxmlformats-officedocument.presentationml.slideMaster+xml"/>
  <Override PartName="/ppt/slides/slide25.xml" ContentType="application/vnd.openxmlformats-officedocument.presentationml.slide+xml"/>
  <Override PartName="/ppt/charts/chart16.xml" ContentType="application/vnd.openxmlformats-officedocument.drawingml.chart+xml"/>
  <Override PartName="/ppt/slideMasters/slideMaster26.xml" ContentType="application/vnd.openxmlformats-officedocument.presentationml.slideMaster+xml"/>
  <Override PartName="/ppt/slides/slide26.xml" ContentType="application/vnd.openxmlformats-officedocument.presentationml.slide+xml"/>
  <Override PartName="/ppt/charts/chart17.xml" ContentType="application/vnd.openxmlformats-officedocument.drawingml.chart+xml"/>
  <Override PartName="/ppt/slideMasters/slideMaster27.xml" ContentType="application/vnd.openxmlformats-officedocument.presentationml.slideMaster+xml"/>
  <Override PartName="/ppt/slides/slide27.xml" ContentType="application/vnd.openxmlformats-officedocument.presentationml.slide+xml"/>
  <Override PartName="/ppt/charts/chart18.xml" ContentType="application/vnd.openxmlformats-officedocument.drawingml.chart+xml"/>
  <Override PartName="/ppt/slideMasters/slideMaster28.xml" ContentType="application/vnd.openxmlformats-officedocument.presentationml.slideMaster+xml"/>
  <Override PartName="/ppt/slides/slide28.xml" ContentType="application/vnd.openxmlformats-officedocument.presentationml.slide+xml"/>
  <Override PartName="/ppt/charts/chart19.xml" ContentType="application/vnd.openxmlformats-officedocument.drawingml.chart+xml"/>
  <Override PartName="/ppt/slideMasters/slideMaster29.xml" ContentType="application/vnd.openxmlformats-officedocument.presentationml.slideMaster+xml"/>
  <Override PartName="/ppt/slides/slide29.xml" ContentType="application/vnd.openxmlformats-officedocument.presentationml.slide+xml"/>
  <Override PartName="/ppt/charts/chart20.xml" ContentType="application/vnd.openxmlformats-officedocument.drawingml.chart+xml"/>
  <Override PartName="/ppt/slideMasters/slideMaster30.xml" ContentType="application/vnd.openxmlformats-officedocument.presentationml.slideMaster+xml"/>
  <Override PartName="/ppt/slides/slide30.xml" ContentType="application/vnd.openxmlformats-officedocument.presentationml.slide+xml"/>
  <Override PartName="/ppt/charts/chart21.xml" ContentType="application/vnd.openxmlformats-officedocument.drawingml.chart+xml"/>
  <Override PartName="/ppt/slideMasters/slideMaster31.xml" ContentType="application/vnd.openxmlformats-officedocument.presentationml.slideMaster+xml"/>
  <Override PartName="/ppt/slides/slide31.xml" ContentType="application/vnd.openxmlformats-officedocument.presentationml.slide+xml"/>
  <Override PartName="/ppt/charts/chart22.xml" ContentType="application/vnd.openxmlformats-officedocument.drawingml.chart+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charts/chart23.xml" ContentType="application/vnd.openxmlformats-officedocument.drawingml.chart+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charts/chart24.xml" ContentType="application/vnd.openxmlformats-officedocument.drawingml.chart+xml"/>
  <Override PartName="/ppt/slideMasters/slideMaster37.xml" ContentType="application/vnd.openxmlformats-officedocument.presentationml.slideMaster+xml"/>
  <Override PartName="/ppt/slides/slide37.xml" ContentType="application/vnd.openxmlformats-officedocument.presentationml.slide+xml"/>
  <Override PartName="/ppt/charts/chart25.xml" ContentType="application/vnd.openxmlformats-officedocument.drawingml.chart+xml"/>
  <Override PartName="/ppt/slideMasters/slideMaster38.xml" ContentType="application/vnd.openxmlformats-officedocument.presentationml.slideMaster+xml"/>
  <Override PartName="/ppt/slides/slide38.xml" ContentType="application/vnd.openxmlformats-officedocument.presentationml.slide+xml"/>
  <Override PartName="/ppt/charts/chart26.xml" ContentType="application/vnd.openxmlformats-officedocument.drawingml.chart+xml"/>
  <Override PartName="/ppt/slideMasters/slideMaster39.xml" ContentType="application/vnd.openxmlformats-officedocument.presentationml.slideMaster+xml"/>
  <Override PartName="/ppt/slides/slide39.xml" ContentType="application/vnd.openxmlformats-officedocument.presentationml.slide+xml"/>
  <Override PartName="/ppt/charts/chart27.xml" ContentType="application/vnd.openxmlformats-officedocument.drawingml.chart+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charts/chart28.xml" ContentType="application/vnd.openxmlformats-officedocument.drawingml.chart+xml"/>
  <Override PartName="/ppt/slideMasters/slideMaster43.xml" ContentType="application/vnd.openxmlformats-officedocument.presentationml.slideMaster+xml"/>
  <Override PartName="/ppt/slides/slide43.xml" ContentType="application/vnd.openxmlformats-officedocument.presentationml.slide+xml"/>
  <Override PartName="/ppt/charts/chart29.xml" ContentType="application/vnd.openxmlformats-officedocument.drawingml.chart+xml"/>
  <Override PartName="/ppt/slideMasters/slideMaster44.xml" ContentType="application/vnd.openxmlformats-officedocument.presentationml.slideMaster+xml"/>
  <Override PartName="/ppt/slides/slide44.xml" ContentType="application/vnd.openxmlformats-officedocument.presentationml.slide+xml"/>
  <Override PartName="/ppt/charts/chart30.xml" ContentType="application/vnd.openxmlformats-officedocument.drawingml.chart+xml"/>
  <Override PartName="/ppt/slideMasters/slideMaster45.xml" ContentType="application/vnd.openxmlformats-officedocument.presentationml.slideMaster+xml"/>
  <Override PartName="/ppt/slides/slide45.xml" ContentType="application/vnd.openxmlformats-officedocument.presentationml.slide+xml"/>
  <Override PartName="/ppt/charts/chart31.xml" ContentType="application/vnd.openxmlformats-officedocument.drawingml.chart+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charts/chart32.xml" ContentType="application/vnd.openxmlformats-officedocument.drawingml.chart+xml"/>
  <Override PartName="/ppt/slideMasters/slideMaster48.xml" ContentType="application/vnd.openxmlformats-officedocument.presentationml.slideMaster+xml"/>
  <Override PartName="/ppt/slides/slide48.xml" ContentType="application/vnd.openxmlformats-officedocument.presentationml.slide+xml"/>
  <Override PartName="/ppt/charts/chart33.xml" ContentType="application/vnd.openxmlformats-officedocument.drawingml.chart+xml"/>
  <Override PartName="/ppt/slideMasters/slideMaster49.xml" ContentType="application/vnd.openxmlformats-officedocument.presentationml.slideMaster+xml"/>
  <Override PartName="/ppt/slides/slide49.xml" ContentType="application/vnd.openxmlformats-officedocument.presentationml.slide+xml"/>
  <Override PartName="/ppt/charts/chart34.xml" ContentType="application/vnd.openxmlformats-officedocument.drawingml.chart+xml"/>
  <Override PartName="/ppt/slideMasters/slideMaster50.xml" ContentType="application/vnd.openxmlformats-officedocument.presentationml.slideMaster+xml"/>
  <Override PartName="/ppt/slides/slide50.xml" ContentType="application/vnd.openxmlformats-officedocument.presentationml.slide+xml"/>
  <Override PartName="/ppt/charts/chart35.xml" ContentType="application/vnd.openxmlformats-officedocument.drawingml.chart+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Lst>
  <p:notesMasterIdLst>
    <p:notesMasterId r:id="rId6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notesMaster" Target="notesMasters/notesMaster1.xml"/><Relationship Id="rId61" Type="http://schemas.openxmlformats.org/officeDocument/2006/relationships/presProps" Target="presProps.xml"/><Relationship Id="rId62" Type="http://schemas.openxmlformats.org/officeDocument/2006/relationships/viewProps" Target="viewProps.xml"/><Relationship Id="rId63" Type="http://schemas.openxmlformats.org/officeDocument/2006/relationships/theme" Target="theme/theme1.xml"/><Relationship Id="rId6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_rels/chart12.xml.rels><?xml version="1.0" encoding="UTF-8" standalone="yes"?><Relationships xmlns="http://schemas.openxmlformats.org/package/2006/relationships"><Relationship Id="rId1" Type="http://schemas.openxmlformats.org/officeDocument/2006/relationships/package" Target="../embeddings/Microsoft_Excel_Worksheet12.xlsx"/></Relationships>
</file>

<file path=ppt/charts/_rels/chart13.xml.rels><?xml version="1.0" encoding="UTF-8" standalone="yes"?><Relationships xmlns="http://schemas.openxmlformats.org/package/2006/relationships"><Relationship Id="rId1" Type="http://schemas.openxmlformats.org/officeDocument/2006/relationships/package" Target="../embeddings/Microsoft_Excel_Worksheet13.xlsx"/></Relationships>
</file>

<file path=ppt/charts/_rels/chart14.xml.rels><?xml version="1.0" encoding="UTF-8" standalone="yes"?><Relationships xmlns="http://schemas.openxmlformats.org/package/2006/relationships"><Relationship Id="rId1" Type="http://schemas.openxmlformats.org/officeDocument/2006/relationships/package" Target="../embeddings/Microsoft_Excel_Worksheet14.xlsx"/></Relationships>
</file>

<file path=ppt/charts/_rels/chart15.xml.rels><?xml version="1.0" encoding="UTF-8" standalone="yes"?><Relationships xmlns="http://schemas.openxmlformats.org/package/2006/relationships"><Relationship Id="rId1" Type="http://schemas.openxmlformats.org/officeDocument/2006/relationships/package" Target="../embeddings/Microsoft_Excel_Worksheet15.xlsx"/></Relationships>
</file>

<file path=ppt/charts/_rels/chart16.xml.rels><?xml version="1.0" encoding="UTF-8" standalone="yes"?><Relationships xmlns="http://schemas.openxmlformats.org/package/2006/relationships"><Relationship Id="rId1" Type="http://schemas.openxmlformats.org/officeDocument/2006/relationships/package" Target="../embeddings/Microsoft_Excel_Worksheet16.xlsx"/></Relationships>
</file>

<file path=ppt/charts/_rels/chart17.xml.rels><?xml version="1.0" encoding="UTF-8" standalone="yes"?><Relationships xmlns="http://schemas.openxmlformats.org/package/2006/relationships"><Relationship Id="rId1" Type="http://schemas.openxmlformats.org/officeDocument/2006/relationships/package" Target="../embeddings/Microsoft_Excel_Worksheet17.xlsx"/></Relationships>
</file>

<file path=ppt/charts/_rels/chart18.xml.rels><?xml version="1.0" encoding="UTF-8" standalone="yes"?><Relationships xmlns="http://schemas.openxmlformats.org/package/2006/relationships"><Relationship Id="rId1" Type="http://schemas.openxmlformats.org/officeDocument/2006/relationships/package" Target="../embeddings/Microsoft_Excel_Worksheet18.xlsx"/></Relationships>
</file>

<file path=ppt/charts/_rels/chart19.xml.rels><?xml version="1.0" encoding="UTF-8" standalone="yes"?><Relationships xmlns="http://schemas.openxmlformats.org/package/2006/relationships"><Relationship Id="rId1" Type="http://schemas.openxmlformats.org/officeDocument/2006/relationships/package" Target="../embeddings/Microsoft_Excel_Worksheet19.xlsx"/></Relationships>
</file>

<file path=ppt/charts/_rels/chart20.xml.rels><?xml version="1.0" encoding="UTF-8" standalone="yes"?><Relationships xmlns="http://schemas.openxmlformats.org/package/2006/relationships"><Relationship Id="rId1" Type="http://schemas.openxmlformats.org/officeDocument/2006/relationships/package" Target="../embeddings/Microsoft_Excel_Worksheet20.xlsx"/></Relationships>
</file>

<file path=ppt/charts/_rels/chart21.xml.rels><?xml version="1.0" encoding="UTF-8" standalone="yes"?><Relationships xmlns="http://schemas.openxmlformats.org/package/2006/relationships"><Relationship Id="rId1" Type="http://schemas.openxmlformats.org/officeDocument/2006/relationships/package" Target="../embeddings/Microsoft_Excel_Worksheet21.xlsx"/></Relationships>
</file>

<file path=ppt/charts/_rels/chart22.xml.rels><?xml version="1.0" encoding="UTF-8" standalone="yes"?><Relationships xmlns="http://schemas.openxmlformats.org/package/2006/relationships"><Relationship Id="rId1" Type="http://schemas.openxmlformats.org/officeDocument/2006/relationships/package" Target="../embeddings/Microsoft_Excel_Worksheet22.xlsx"/></Relationships>
</file>

<file path=ppt/charts/_rels/chart23.xml.rels><?xml version="1.0" encoding="UTF-8" standalone="yes"?><Relationships xmlns="http://schemas.openxmlformats.org/package/2006/relationships"><Relationship Id="rId1" Type="http://schemas.openxmlformats.org/officeDocument/2006/relationships/package" Target="../embeddings/Microsoft_Excel_Worksheet23.xlsx"/></Relationships>
</file>

<file path=ppt/charts/_rels/chart24.xml.rels><?xml version="1.0" encoding="UTF-8" standalone="yes"?><Relationships xmlns="http://schemas.openxmlformats.org/package/2006/relationships"><Relationship Id="rId1" Type="http://schemas.openxmlformats.org/officeDocument/2006/relationships/package" Target="../embeddings/Microsoft_Excel_Worksheet24.xlsx"/></Relationships>
</file>

<file path=ppt/charts/_rels/chart25.xml.rels><?xml version="1.0" encoding="UTF-8" standalone="yes"?><Relationships xmlns="http://schemas.openxmlformats.org/package/2006/relationships"><Relationship Id="rId1" Type="http://schemas.openxmlformats.org/officeDocument/2006/relationships/package" Target="../embeddings/Microsoft_Excel_Worksheet25.xlsx"/></Relationships>
</file>

<file path=ppt/charts/_rels/chart26.xml.rels><?xml version="1.0" encoding="UTF-8" standalone="yes"?><Relationships xmlns="http://schemas.openxmlformats.org/package/2006/relationships"><Relationship Id="rId1" Type="http://schemas.openxmlformats.org/officeDocument/2006/relationships/package" Target="../embeddings/Microsoft_Excel_Worksheet26.xlsx"/></Relationships>
</file>

<file path=ppt/charts/_rels/chart27.xml.rels><?xml version="1.0" encoding="UTF-8" standalone="yes"?><Relationships xmlns="http://schemas.openxmlformats.org/package/2006/relationships"><Relationship Id="rId1" Type="http://schemas.openxmlformats.org/officeDocument/2006/relationships/package" Target="../embeddings/Microsoft_Excel_Worksheet27.xlsx"/></Relationships>
</file>

<file path=ppt/charts/_rels/chart28.xml.rels><?xml version="1.0" encoding="UTF-8" standalone="yes"?><Relationships xmlns="http://schemas.openxmlformats.org/package/2006/relationships"><Relationship Id="rId1" Type="http://schemas.openxmlformats.org/officeDocument/2006/relationships/package" Target="../embeddings/Microsoft_Excel_Worksheet28.xlsx"/></Relationships>
</file>

<file path=ppt/charts/_rels/chart29.xml.rels><?xml version="1.0" encoding="UTF-8" standalone="yes"?><Relationships xmlns="http://schemas.openxmlformats.org/package/2006/relationships"><Relationship Id="rId1" Type="http://schemas.openxmlformats.org/officeDocument/2006/relationships/package" Target="../embeddings/Microsoft_Excel_Worksheet29.xlsx"/></Relationships>
</file>

<file path=ppt/charts/_rels/chart30.xml.rels><?xml version="1.0" encoding="UTF-8" standalone="yes"?><Relationships xmlns="http://schemas.openxmlformats.org/package/2006/relationships"><Relationship Id="rId1" Type="http://schemas.openxmlformats.org/officeDocument/2006/relationships/package" Target="../embeddings/Microsoft_Excel_Worksheet30.xlsx"/></Relationships>
</file>

<file path=ppt/charts/_rels/chart31.xml.rels><?xml version="1.0" encoding="UTF-8" standalone="yes"?><Relationships xmlns="http://schemas.openxmlformats.org/package/2006/relationships"><Relationship Id="rId1" Type="http://schemas.openxmlformats.org/officeDocument/2006/relationships/package" Target="../embeddings/Microsoft_Excel_Worksheet31.xlsx"/></Relationships>
</file>

<file path=ppt/charts/_rels/chart32.xml.rels><?xml version="1.0" encoding="UTF-8" standalone="yes"?><Relationships xmlns="http://schemas.openxmlformats.org/package/2006/relationships"><Relationship Id="rId1" Type="http://schemas.openxmlformats.org/officeDocument/2006/relationships/package" Target="../embeddings/Microsoft_Excel_Worksheet32.xlsx"/></Relationships>
</file>

<file path=ppt/charts/_rels/chart33.xml.rels><?xml version="1.0" encoding="UTF-8" standalone="yes"?><Relationships xmlns="http://schemas.openxmlformats.org/package/2006/relationships"><Relationship Id="rId1" Type="http://schemas.openxmlformats.org/officeDocument/2006/relationships/package" Target="../embeddings/Microsoft_Excel_Worksheet33.xlsx"/></Relationships>
</file>

<file path=ppt/charts/_rels/chart34.xml.rels><?xml version="1.0" encoding="UTF-8" standalone="yes"?><Relationships xmlns="http://schemas.openxmlformats.org/package/2006/relationships"><Relationship Id="rId1" Type="http://schemas.openxmlformats.org/officeDocument/2006/relationships/package" Target="../embeddings/Microsoft_Excel_Worksheet34.xlsx"/></Relationships>
</file>

<file path=ppt/charts/_rels/chart35.xml.rels><?xml version="1.0" encoding="UTF-8" standalone="yes"?><Relationships xmlns="http://schemas.openxmlformats.org/package/2006/relationships"><Relationship Id="rId1" Type="http://schemas.openxmlformats.org/officeDocument/2006/relationships/package" Target="../embeddings/Microsoft_Excel_Worksheet3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barChart>
        <c:barDir val="col"/>
        <c:grouping val="clustered"/>
        <c:varyColors val="0"/>
        <c:ser>
          <c:idx val="0"/>
          <c:order val="0"/>
          <c:tx>
            <c:strRef>
              <c:f>Sheet1!$B$1</c:f>
              <c:strCache>
                <c:ptCount val="1"/>
                <c:pt idx="0">
                  <c:v>ideal SNR (dB)</c:v>
                </c:pt>
              </c:strCache>
            </c:strRef>
          </c:tx>
          <c:spPr>
            <a:solidFill>
              <a:srgbClr val="2EC4B6"/>
            </a:solidFill>
            <a:effectLst/>
          </c:spPr>
          <c:invertIfNegative val="0"/>
          <c:dLbls>
            <c:numFmt formatCode="0&quot;dB&quot;" sourceLinked="0"/>
            <c:txPr>
              <a:bodyPr/>
              <a:lstStyle/>
              <a:p>
                <a:pPr>
                  <a:defRPr b="0" i="0" strike="noStrike" sz="900" u="none">
                    <a:solidFill>
                      <a:srgbClr val="14213D"/>
                    </a:solidFill>
                    <a:latin typeface="Calibri"/>
                  </a:defRPr>
                </a:pPr>
              </a:p>
            </c:txPr>
            <c:showLegendKey val="0"/>
            <c:showVal val="1"/>
            <c:showCatName val="0"/>
            <c:showSerName val="0"/>
            <c:showPercent val="0"/>
            <c:showBubbleSize val="0"/>
            <c:showLeaderLines val="0"/>
          </c:dLbls>
          <c:cat>
            <c:multiLvlStrRef>
              <c:f>Sheet1!$A$2:$A$9</c:f>
              <c:multiLvlStrCache>
                <c:ptCount val="8"/>
                <c:lvl>
                  <c:pt idx="0">
                    <c:v>8</c:v>
                  </c:pt>
                  <c:pt idx="1">
                    <c:v>10</c:v>
                  </c:pt>
                  <c:pt idx="2">
                    <c:v>12</c:v>
                  </c:pt>
                  <c:pt idx="3">
                    <c:v>14</c:v>
                  </c:pt>
                  <c:pt idx="4">
                    <c:v>16</c:v>
                  </c:pt>
                  <c:pt idx="5">
                    <c:v>18</c:v>
                  </c:pt>
                  <c:pt idx="6">
                    <c:v>20</c:v>
                  </c:pt>
                  <c:pt idx="7">
                    <c:v>24</c:v>
                  </c:pt>
                </c:lvl>
              </c:multiLvlStrCache>
            </c:multiLvlStrRef>
          </c:cat>
          <c:val>
            <c:numRef>
              <c:f>Sheet1!$B$2:$B$9</c:f>
              <c:numCache>
                <c:formatCode>General</c:formatCode>
                <c:ptCount val="8"/>
                <c:pt idx="0">
                  <c:v>49.919999999999995</c:v>
                </c:pt>
                <c:pt idx="1">
                  <c:v>61.959999999999994</c:v>
                </c:pt>
                <c:pt idx="2">
                  <c:v>74</c:v>
                </c:pt>
                <c:pt idx="3">
                  <c:v>86.04</c:v>
                </c:pt>
                <c:pt idx="4">
                  <c:v>98.08</c:v>
                </c:pt>
                <c:pt idx="5">
                  <c:v>110.11999999999999</c:v>
                </c:pt>
                <c:pt idx="6">
                  <c:v>122.16</c:v>
                </c:pt>
                <c:pt idx="7">
                  <c:v>146.23999999999998</c:v>
                </c:pt>
              </c:numCache>
            </c:numRef>
          </c:val>
        </c:ser>
        <c:dLbls>
          <c:numFmt formatCode="0&quot;dB&quot;" sourceLinked="0"/>
          <c:txPr>
            <a:bodyPr/>
            <a:lstStyle/>
            <a:p>
              <a:pPr>
                <a:defRPr b="0" i="0" strike="noStrike" sz="900" u="none">
                  <a:solidFill>
                    <a:srgbClr val="14213D"/>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title>
          <c:tx>
            <c:rich>
              <a:bodyPr/>
              <a:lstStyle/>
              <a:p>
                <a:pPr>
                  <a:defRPr sz="900" b="0" i="0" u="none" strike="noStrike">
                    <a:solidFill>
                      <a:srgbClr val="5B6B7F"/>
                    </a:solidFill>
                    <a:latin typeface="Calibri"/>
                  </a:defRPr>
                </a:pPr>
                <a:r>
                  <a:rPr sz="900" b="0" i="0" u="none" strike="noStrike">
                    <a:solidFill>
                      <a:srgbClr val="5B6B7F"/>
                    </a:solidFill>
                    <a:latin typeface="Calibri"/>
                  </a:rPr>
                  <a:t>resolution N (bits)</a:t>
                </a:r>
              </a:p>
            </c:rich>
          </c:tx>
          <c:layout/>
          <c:overlay val="0"/>
        </c:title>
        <c:numFmt formatCode="General" sourceLinked="1"/>
        <c:majorTickMark val="none"/>
        <c:minorTickMark val="none"/>
        <c:tickLblPos val="low"/>
        <c:spPr>
          <a:ln w="12700" cap="flat">
            <a:solidFill>
              <a:srgbClr val="888888"/>
            </a:solidFill>
            <a:prstDash val="solid"/>
            <a:round/>
          </a:ln>
        </c:spPr>
        <c:txPr>
          <a:bodyPr/>
          <a:lstStyle/>
          <a:p>
            <a:pPr>
              <a:defRPr sz="900" b="0" i="0" u="none" strike="noStrike">
                <a:solidFill>
                  <a:srgbClr val="5B6B7F"/>
                </a:solidFill>
                <a:latin typeface="Calibri"/>
              </a:defRPr>
            </a:pPr>
            <a:endParaRPr lang="en-US"/>
          </a:p>
        </c:txPr>
        <c:crossAx val="2094734552"/>
        <c:crosses val="min"/>
        <c:auto val="1"/>
        <c:lblAlgn val="ctr"/>
        <c:noMultiLvlLbl val="1"/>
      </c:catAx>
      <c:valAx>
        <c:axId val="2094734552"/>
        <c:scaling>
          <c:orientation val="minMax"/>
        </c:scaling>
        <c:delete val="0"/>
        <c:axPos val="l"/>
        <c:majorGridlines>
          <c:spPr>
            <a:ln w="6350" cap="flat">
              <a:solidFill>
                <a:srgbClr val="D9E1EA"/>
              </a:solidFill>
              <a:prstDash val="solid"/>
              <a:round/>
            </a:ln>
          </c:spPr>
        </c:majorGridlines>
        <c:numFmt formatCode="General" sourceLinked="0"/>
        <c:majorTickMark val="none"/>
        <c:minorTickMark val="none"/>
        <c:tickLblPos val="nextTo"/>
        <c:spPr>
          <a:ln w="12700" cap="flat">
            <a:noFill/>
            <a:prstDash val="solid"/>
            <a:round/>
          </a:ln>
        </c:spPr>
        <c:txPr>
          <a:bodyPr/>
          <a:lstStyle/>
          <a:p>
            <a:pPr>
              <a:defRPr sz="900" b="0" i="0" u="none" strike="noStrike">
                <a:solidFill>
                  <a:srgbClr val="5B6B7F"/>
                </a:solidFill>
                <a:latin typeface="Calibri"/>
              </a:defRPr>
            </a:pPr>
            <a:endParaRPr lang="en-US"/>
          </a:p>
        </c:txPr>
        <c:crossAx val="2094734554"/>
        <c:crosses val="autoZero"/>
        <c:crossBetween val="between"/>
        <c:majorUnit val="40"/>
      </c:valAx>
      <c:spPr>
        <a:solidFill>
          <a:srgbClr val="FFFFFF"/>
        </a:solidFill>
        <a:ln>
          <a:noFill/>
        </a:ln>
        <a:effectLst/>
      </c:spPr>
    </c:plotArea>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lineChart>
        <c:varyColors val="0"/>
        <c:ser>
          <c:idx val="0"/>
          <c:order val="0"/>
          <c:tx>
            <c:strRef>
              <c:f>Sheet1!$B$1</c:f>
              <c:strCache>
                <c:ptCount val="1"/>
                <c:pt idx="0">
                  <c:v>0.9 × full scale: clean</c:v>
                </c:pt>
              </c:strCache>
            </c:strRef>
          </c:tx>
          <c:spPr>
            <a:solidFill>
              <a:srgbClr val="2EC4B6"/>
            </a:solidFill>
            <a:ln w="19050" cap="flat">
              <a:solidFill>
                <a:srgbClr val="2EC4B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EC4B6"/>
              </a:solidFill>
              <a:ln w="9525" cap="flat">
                <a:solidFill>
                  <a:srgbClr val="2EC4B6"/>
                </a:solidFill>
                <a:prstDash val="solid"/>
                <a:round/>
              </a:ln>
              <a:effectLst/>
            </c:spPr>
          </c:marker>
          <c:cat>
            <c:multiLvlStrRef>
              <c:f>Sheet1!$A$2:$A$201</c:f>
              <c:multiLvlStrCache>
                <c:ptCount val="200"/>
                <c:lvl>
                  <c:pt idx="0">
                    <c:v>0.00</c:v>
                  </c:pt>
                  <c:pt idx="1">
                    <c:v>0.01</c:v>
                  </c:pt>
                  <c:pt idx="2">
                    <c:v>0.01</c:v>
                  </c:pt>
                  <c:pt idx="3">
                    <c:v>0.02</c:v>
                  </c:pt>
                  <c:pt idx="4">
                    <c:v>0.02</c:v>
                  </c:pt>
                  <c:pt idx="5">
                    <c:v>0.03</c:v>
                  </c:pt>
                  <c:pt idx="6">
                    <c:v>0.03</c:v>
                  </c:pt>
                  <c:pt idx="7">
                    <c:v>0.04</c:v>
                  </c:pt>
                  <c:pt idx="8">
                    <c:v>0.04</c:v>
                  </c:pt>
                  <c:pt idx="9">
                    <c:v>0.05</c:v>
                  </c:pt>
                  <c:pt idx="10">
                    <c:v>0.05</c:v>
                  </c:pt>
                  <c:pt idx="11">
                    <c:v>0.06</c:v>
                  </c:pt>
                  <c:pt idx="12">
                    <c:v>0.06</c:v>
                  </c:pt>
                  <c:pt idx="13">
                    <c:v>0.07</c:v>
                  </c:pt>
                  <c:pt idx="14">
                    <c:v>0.07</c:v>
                  </c:pt>
                  <c:pt idx="15">
                    <c:v>0.08</c:v>
                  </c:pt>
                  <c:pt idx="16">
                    <c:v>0.08</c:v>
                  </c:pt>
                  <c:pt idx="17">
                    <c:v>0.09</c:v>
                  </c:pt>
                  <c:pt idx="18">
                    <c:v>0.09</c:v>
                  </c:pt>
                  <c:pt idx="19">
                    <c:v>0.10</c:v>
                  </c:pt>
                  <c:pt idx="20">
                    <c:v>0.10</c:v>
                  </c:pt>
                  <c:pt idx="21">
                    <c:v>0.11</c:v>
                  </c:pt>
                  <c:pt idx="22">
                    <c:v>0.11</c:v>
                  </c:pt>
                  <c:pt idx="23">
                    <c:v>0.12</c:v>
                  </c:pt>
                  <c:pt idx="24">
                    <c:v>0.12</c:v>
                  </c:pt>
                  <c:pt idx="25">
                    <c:v>0.13</c:v>
                  </c:pt>
                  <c:pt idx="26">
                    <c:v>0.13</c:v>
                  </c:pt>
                  <c:pt idx="27">
                    <c:v>0.14</c:v>
                  </c:pt>
                  <c:pt idx="28">
                    <c:v>0.14</c:v>
                  </c:pt>
                  <c:pt idx="29">
                    <c:v>0.15</c:v>
                  </c:pt>
                  <c:pt idx="30">
                    <c:v>0.15</c:v>
                  </c:pt>
                  <c:pt idx="31">
                    <c:v>0.16</c:v>
                  </c:pt>
                  <c:pt idx="32">
                    <c:v>0.16</c:v>
                  </c:pt>
                  <c:pt idx="33">
                    <c:v>0.17</c:v>
                  </c:pt>
                  <c:pt idx="34">
                    <c:v>0.17</c:v>
                  </c:pt>
                  <c:pt idx="35">
                    <c:v>0.18</c:v>
                  </c:pt>
                  <c:pt idx="36">
                    <c:v>0.18</c:v>
                  </c:pt>
                  <c:pt idx="37">
                    <c:v>0.19</c:v>
                  </c:pt>
                  <c:pt idx="38">
                    <c:v>0.19</c:v>
                  </c:pt>
                  <c:pt idx="39">
                    <c:v>0.20</c:v>
                  </c:pt>
                  <c:pt idx="40">
                    <c:v>0.20</c:v>
                  </c:pt>
                  <c:pt idx="41">
                    <c:v>0.21</c:v>
                  </c:pt>
                  <c:pt idx="42">
                    <c:v>0.21</c:v>
                  </c:pt>
                  <c:pt idx="43">
                    <c:v>0.22</c:v>
                  </c:pt>
                  <c:pt idx="44">
                    <c:v>0.22</c:v>
                  </c:pt>
                  <c:pt idx="45">
                    <c:v>0.23</c:v>
                  </c:pt>
                  <c:pt idx="46">
                    <c:v>0.23</c:v>
                  </c:pt>
                  <c:pt idx="47">
                    <c:v>0.24</c:v>
                  </c:pt>
                  <c:pt idx="48">
                    <c:v>0.24</c:v>
                  </c:pt>
                  <c:pt idx="49">
                    <c:v>0.25</c:v>
                  </c:pt>
                  <c:pt idx="50">
                    <c:v>0.25</c:v>
                  </c:pt>
                  <c:pt idx="51">
                    <c:v>0.26</c:v>
                  </c:pt>
                  <c:pt idx="52">
                    <c:v>0.26</c:v>
                  </c:pt>
                  <c:pt idx="53">
                    <c:v>0.27</c:v>
                  </c:pt>
                  <c:pt idx="54">
                    <c:v>0.27</c:v>
                  </c:pt>
                  <c:pt idx="55">
                    <c:v>0.28</c:v>
                  </c:pt>
                  <c:pt idx="56">
                    <c:v>0.28</c:v>
                  </c:pt>
                  <c:pt idx="57">
                    <c:v>0.29</c:v>
                  </c:pt>
                  <c:pt idx="58">
                    <c:v>0.29</c:v>
                  </c:pt>
                  <c:pt idx="59">
                    <c:v>0.30</c:v>
                  </c:pt>
                  <c:pt idx="60">
                    <c:v>0.30</c:v>
                  </c:pt>
                  <c:pt idx="61">
                    <c:v>0.31</c:v>
                  </c:pt>
                  <c:pt idx="62">
                    <c:v>0.31</c:v>
                  </c:pt>
                  <c:pt idx="63">
                    <c:v>0.32</c:v>
                  </c:pt>
                  <c:pt idx="64">
                    <c:v>0.32</c:v>
                  </c:pt>
                  <c:pt idx="65">
                    <c:v>0.33</c:v>
                  </c:pt>
                  <c:pt idx="66">
                    <c:v>0.33</c:v>
                  </c:pt>
                  <c:pt idx="67">
                    <c:v>0.34</c:v>
                  </c:pt>
                  <c:pt idx="68">
                    <c:v>0.34</c:v>
                  </c:pt>
                  <c:pt idx="69">
                    <c:v>0.35</c:v>
                  </c:pt>
                  <c:pt idx="70">
                    <c:v>0.35</c:v>
                  </c:pt>
                  <c:pt idx="71">
                    <c:v>0.36</c:v>
                  </c:pt>
                  <c:pt idx="72">
                    <c:v>0.36</c:v>
                  </c:pt>
                  <c:pt idx="73">
                    <c:v>0.37</c:v>
                  </c:pt>
                  <c:pt idx="74">
                    <c:v>0.37</c:v>
                  </c:pt>
                  <c:pt idx="75">
                    <c:v>0.38</c:v>
                  </c:pt>
                  <c:pt idx="76">
                    <c:v>0.38</c:v>
                  </c:pt>
                  <c:pt idx="77">
                    <c:v>0.39</c:v>
                  </c:pt>
                  <c:pt idx="78">
                    <c:v>0.39</c:v>
                  </c:pt>
                  <c:pt idx="79">
                    <c:v>0.40</c:v>
                  </c:pt>
                  <c:pt idx="80">
                    <c:v>0.40</c:v>
                  </c:pt>
                  <c:pt idx="81">
                    <c:v>0.41</c:v>
                  </c:pt>
                  <c:pt idx="82">
                    <c:v>0.41</c:v>
                  </c:pt>
                  <c:pt idx="83">
                    <c:v>0.42</c:v>
                  </c:pt>
                  <c:pt idx="84">
                    <c:v>0.42</c:v>
                  </c:pt>
                  <c:pt idx="85">
                    <c:v>0.43</c:v>
                  </c:pt>
                  <c:pt idx="86">
                    <c:v>0.43</c:v>
                  </c:pt>
                  <c:pt idx="87">
                    <c:v>0.44</c:v>
                  </c:pt>
                  <c:pt idx="88">
                    <c:v>0.44</c:v>
                  </c:pt>
                  <c:pt idx="89">
                    <c:v>0.45</c:v>
                  </c:pt>
                  <c:pt idx="90">
                    <c:v>0.45</c:v>
                  </c:pt>
                  <c:pt idx="91">
                    <c:v>0.46</c:v>
                  </c:pt>
                  <c:pt idx="92">
                    <c:v>0.46</c:v>
                  </c:pt>
                  <c:pt idx="93">
                    <c:v>0.47</c:v>
                  </c:pt>
                  <c:pt idx="94">
                    <c:v>0.47</c:v>
                  </c:pt>
                  <c:pt idx="95">
                    <c:v>0.48</c:v>
                  </c:pt>
                  <c:pt idx="96">
                    <c:v>0.48</c:v>
                  </c:pt>
                  <c:pt idx="97">
                    <c:v>0.49</c:v>
                  </c:pt>
                  <c:pt idx="98">
                    <c:v>0.49</c:v>
                  </c:pt>
                  <c:pt idx="99">
                    <c:v>0.50</c:v>
                  </c:pt>
                  <c:pt idx="100">
                    <c:v>0.50</c:v>
                  </c:pt>
                  <c:pt idx="101">
                    <c:v>0.51</c:v>
                  </c:pt>
                  <c:pt idx="102">
                    <c:v>0.51</c:v>
                  </c:pt>
                  <c:pt idx="103">
                    <c:v>0.52</c:v>
                  </c:pt>
                  <c:pt idx="104">
                    <c:v>0.52</c:v>
                  </c:pt>
                  <c:pt idx="105">
                    <c:v>0.53</c:v>
                  </c:pt>
                  <c:pt idx="106">
                    <c:v>0.53</c:v>
                  </c:pt>
                  <c:pt idx="107">
                    <c:v>0.54</c:v>
                  </c:pt>
                  <c:pt idx="108">
                    <c:v>0.54</c:v>
                  </c:pt>
                  <c:pt idx="109">
                    <c:v>0.55</c:v>
                  </c:pt>
                  <c:pt idx="110">
                    <c:v>0.55</c:v>
                  </c:pt>
                  <c:pt idx="111">
                    <c:v>0.56</c:v>
                  </c:pt>
                  <c:pt idx="112">
                    <c:v>0.56</c:v>
                  </c:pt>
                  <c:pt idx="113">
                    <c:v>0.57</c:v>
                  </c:pt>
                  <c:pt idx="114">
                    <c:v>0.57</c:v>
                  </c:pt>
                  <c:pt idx="115">
                    <c:v>0.58</c:v>
                  </c:pt>
                  <c:pt idx="116">
                    <c:v>0.58</c:v>
                  </c:pt>
                  <c:pt idx="117">
                    <c:v>0.59</c:v>
                  </c:pt>
                  <c:pt idx="118">
                    <c:v>0.59</c:v>
                  </c:pt>
                  <c:pt idx="119">
                    <c:v>0.60</c:v>
                  </c:pt>
                  <c:pt idx="120">
                    <c:v>0.60</c:v>
                  </c:pt>
                  <c:pt idx="121">
                    <c:v>0.61</c:v>
                  </c:pt>
                  <c:pt idx="122">
                    <c:v>0.61</c:v>
                  </c:pt>
                  <c:pt idx="123">
                    <c:v>0.62</c:v>
                  </c:pt>
                  <c:pt idx="124">
                    <c:v>0.62</c:v>
                  </c:pt>
                  <c:pt idx="125">
                    <c:v>0.63</c:v>
                  </c:pt>
                  <c:pt idx="126">
                    <c:v>0.63</c:v>
                  </c:pt>
                  <c:pt idx="127">
                    <c:v>0.64</c:v>
                  </c:pt>
                  <c:pt idx="128">
                    <c:v>0.64</c:v>
                  </c:pt>
                  <c:pt idx="129">
                    <c:v>0.65</c:v>
                  </c:pt>
                  <c:pt idx="130">
                    <c:v>0.65</c:v>
                  </c:pt>
                  <c:pt idx="131">
                    <c:v>0.66</c:v>
                  </c:pt>
                  <c:pt idx="132">
                    <c:v>0.66</c:v>
                  </c:pt>
                  <c:pt idx="133">
                    <c:v>0.67</c:v>
                  </c:pt>
                  <c:pt idx="134">
                    <c:v>0.67</c:v>
                  </c:pt>
                  <c:pt idx="135">
                    <c:v>0.68</c:v>
                  </c:pt>
                  <c:pt idx="136">
                    <c:v>0.68</c:v>
                  </c:pt>
                  <c:pt idx="137">
                    <c:v>0.69</c:v>
                  </c:pt>
                  <c:pt idx="138">
                    <c:v>0.69</c:v>
                  </c:pt>
                  <c:pt idx="139">
                    <c:v>0.70</c:v>
                  </c:pt>
                  <c:pt idx="140">
                    <c:v>0.70</c:v>
                  </c:pt>
                  <c:pt idx="141">
                    <c:v>0.71</c:v>
                  </c:pt>
                  <c:pt idx="142">
                    <c:v>0.71</c:v>
                  </c:pt>
                  <c:pt idx="143">
                    <c:v>0.72</c:v>
                  </c:pt>
                  <c:pt idx="144">
                    <c:v>0.72</c:v>
                  </c:pt>
                  <c:pt idx="145">
                    <c:v>0.73</c:v>
                  </c:pt>
                  <c:pt idx="146">
                    <c:v>0.73</c:v>
                  </c:pt>
                  <c:pt idx="147">
                    <c:v>0.74</c:v>
                  </c:pt>
                  <c:pt idx="148">
                    <c:v>0.74</c:v>
                  </c:pt>
                  <c:pt idx="149">
                    <c:v>0.75</c:v>
                  </c:pt>
                  <c:pt idx="150">
                    <c:v>0.75</c:v>
                  </c:pt>
                  <c:pt idx="151">
                    <c:v>0.76</c:v>
                  </c:pt>
                  <c:pt idx="152">
                    <c:v>0.76</c:v>
                  </c:pt>
                  <c:pt idx="153">
                    <c:v>0.77</c:v>
                  </c:pt>
                  <c:pt idx="154">
                    <c:v>0.77</c:v>
                  </c:pt>
                  <c:pt idx="155">
                    <c:v>0.78</c:v>
                  </c:pt>
                  <c:pt idx="156">
                    <c:v>0.78</c:v>
                  </c:pt>
                  <c:pt idx="157">
                    <c:v>0.79</c:v>
                  </c:pt>
                  <c:pt idx="158">
                    <c:v>0.79</c:v>
                  </c:pt>
                  <c:pt idx="159">
                    <c:v>0.80</c:v>
                  </c:pt>
                  <c:pt idx="160">
                    <c:v>0.80</c:v>
                  </c:pt>
                  <c:pt idx="161">
                    <c:v>0.81</c:v>
                  </c:pt>
                  <c:pt idx="162">
                    <c:v>0.81</c:v>
                  </c:pt>
                  <c:pt idx="163">
                    <c:v>0.82</c:v>
                  </c:pt>
                  <c:pt idx="164">
                    <c:v>0.82</c:v>
                  </c:pt>
                  <c:pt idx="165">
                    <c:v>0.83</c:v>
                  </c:pt>
                  <c:pt idx="166">
                    <c:v>0.83</c:v>
                  </c:pt>
                  <c:pt idx="167">
                    <c:v>0.84</c:v>
                  </c:pt>
                  <c:pt idx="168">
                    <c:v>0.84</c:v>
                  </c:pt>
                  <c:pt idx="169">
                    <c:v>0.85</c:v>
                  </c:pt>
                  <c:pt idx="170">
                    <c:v>0.85</c:v>
                  </c:pt>
                  <c:pt idx="171">
                    <c:v>0.86</c:v>
                  </c:pt>
                  <c:pt idx="172">
                    <c:v>0.86</c:v>
                  </c:pt>
                  <c:pt idx="173">
                    <c:v>0.87</c:v>
                  </c:pt>
                  <c:pt idx="174">
                    <c:v>0.87</c:v>
                  </c:pt>
                  <c:pt idx="175">
                    <c:v>0.88</c:v>
                  </c:pt>
                  <c:pt idx="176">
                    <c:v>0.88</c:v>
                  </c:pt>
                  <c:pt idx="177">
                    <c:v>0.89</c:v>
                  </c:pt>
                  <c:pt idx="178">
                    <c:v>0.89</c:v>
                  </c:pt>
                  <c:pt idx="179">
                    <c:v>0.90</c:v>
                  </c:pt>
                  <c:pt idx="180">
                    <c:v>0.90</c:v>
                  </c:pt>
                  <c:pt idx="181">
                    <c:v>0.91</c:v>
                  </c:pt>
                  <c:pt idx="182">
                    <c:v>0.91</c:v>
                  </c:pt>
                  <c:pt idx="183">
                    <c:v>0.92</c:v>
                  </c:pt>
                  <c:pt idx="184">
                    <c:v>0.92</c:v>
                  </c:pt>
                  <c:pt idx="185">
                    <c:v>0.93</c:v>
                  </c:pt>
                  <c:pt idx="186">
                    <c:v>0.93</c:v>
                  </c:pt>
                  <c:pt idx="187">
                    <c:v>0.94</c:v>
                  </c:pt>
                  <c:pt idx="188">
                    <c:v>0.94</c:v>
                  </c:pt>
                  <c:pt idx="189">
                    <c:v>0.95</c:v>
                  </c:pt>
                  <c:pt idx="190">
                    <c:v>0.95</c:v>
                  </c:pt>
                  <c:pt idx="191">
                    <c:v>0.96</c:v>
                  </c:pt>
                  <c:pt idx="192">
                    <c:v>0.96</c:v>
                  </c:pt>
                  <c:pt idx="193">
                    <c:v>0.97</c:v>
                  </c:pt>
                  <c:pt idx="194">
                    <c:v>0.97</c:v>
                  </c:pt>
                  <c:pt idx="195">
                    <c:v>0.98</c:v>
                  </c:pt>
                  <c:pt idx="196">
                    <c:v>0.98</c:v>
                  </c:pt>
                  <c:pt idx="197">
                    <c:v>0.99</c:v>
                  </c:pt>
                  <c:pt idx="198">
                    <c:v>0.99</c:v>
                  </c:pt>
                  <c:pt idx="199">
                    <c:v>1.00</c:v>
                  </c:pt>
                </c:lvl>
              </c:multiLvlStrCache>
            </c:multiLvlStrRef>
          </c:cat>
          <c:val>
            <c:numRef>
              <c:f>Sheet1!$B$2:$B$201</c:f>
              <c:numCache>
                <c:formatCode>General</c:formatCode>
                <c:ptCount val="200"/>
                <c:pt idx="0">
                  <c:v>0</c:v>
                </c:pt>
                <c:pt idx="1">
                  <c:v>0.05679506818140628</c:v>
                </c:pt>
                <c:pt idx="2">
                  <c:v>0.11336373456094581</c:v>
                </c:pt>
                <c:pt idx="3">
                  <c:v>0.1694804998407461</c:v>
                </c:pt>
                <c:pt idx="4">
                  <c:v>0.22492166613327752</c:v>
                </c:pt>
                <c:pt idx="5">
                  <c:v>0.27946622868675197</c:v>
                </c:pt>
                <c:pt idx="6">
                  <c:v>0.3328967568748921</c:v>
                </c:pt>
                <c:pt idx="7">
                  <c:v>0.38500026093918865</c:v>
                </c:pt>
                <c:pt idx="8">
                  <c:v>0.43556904102855487</c:v>
                </c:pt>
                <c:pt idx="9">
                  <c:v>0.48440151515185975</c:v>
                </c:pt>
                <c:pt idx="10">
                  <c:v>0.5313030227428756</c:v>
                </c:pt>
                <c:pt idx="11">
                  <c:v>0.5760866006343965</c:v>
                </c:pt>
                <c:pt idx="12">
                  <c:v>0.6185737283482658</c:v>
                </c:pt>
                <c:pt idx="13">
                  <c:v>0.6585950397303691</c:v>
                </c:pt>
                <c:pt idx="14">
                  <c:v>0.6959909980938052</c:v>
                </c:pt>
                <c:pt idx="15">
                  <c:v>0.7306125321789186</c:v>
                </c:pt>
                <c:pt idx="16">
                  <c:v>0.762321630395069</c:v>
                </c:pt>
                <c:pt idx="17">
                  <c:v>0.7909918909753142</c:v>
                </c:pt>
                <c:pt idx="18">
                  <c:v>0.8165090258509333</c:v>
                </c:pt>
                <c:pt idx="19">
                  <c:v>0.8387713162371914</c:v>
                </c:pt>
                <c:pt idx="20">
                  <c:v>0.8576900181142553</c:v>
                </c:pt>
                <c:pt idx="21">
                  <c:v>0.8731897159868877</c:v>
                </c:pt>
                <c:pt idx="22">
                  <c:v>0.885208623512733</c:v>
                </c:pt>
                <c:pt idx="23">
                  <c:v>0.8936988298008026</c:v>
                </c:pt>
                <c:pt idx="24">
                  <c:v>0.898626490398341</c:v>
                </c:pt>
                <c:pt idx="25">
                  <c:v>0.8999719622047407</c:v>
                </c:pt>
                <c:pt idx="26">
                  <c:v>0.8977298817747049</c:v>
                </c:pt>
                <c:pt idx="27">
                  <c:v>0.8919091866985129</c:v>
                </c:pt>
                <c:pt idx="28">
                  <c:v>0.8825330799741636</c:v>
                </c:pt>
                <c:pt idx="29">
                  <c:v>0.8696389375134197</c:v>
                </c:pt>
                <c:pt idx="30">
                  <c:v>0.8532781591504586</c:v>
                </c:pt>
                <c:pt idx="31">
                  <c:v>0.833515963747057</c:v>
                </c:pt>
                <c:pt idx="32">
                  <c:v>0.8104311292110765</c:v>
                </c:pt>
                <c:pt idx="33">
                  <c:v>0.7841156784646137</c:v>
                </c:pt>
                <c:pt idx="34">
                  <c:v>0.7546745126136398</c:v>
                </c:pt>
                <c:pt idx="35">
                  <c:v>0.7222249927814202</c:v>
                </c:pt>
                <c:pt idx="36">
                  <c:v>0.6868964722726516</c:v>
                </c:pt>
                <c:pt idx="37">
                  <c:v>0.6488297809332447</c:v>
                </c:pt>
                <c:pt idx="38">
                  <c:v>0.6081766637612479</c:v>
                </c:pt>
                <c:pt idx="39">
                  <c:v>0.5650991760067728</c:v>
                </c:pt>
                <c:pt idx="40">
                  <c:v>0.5197690371722298</c:v>
                </c:pt>
                <c:pt idx="41">
                  <c:v>0.47236694648802163</c:v>
                </c:pt>
                <c:pt idx="42">
                  <c:v>0.42308186259240266</c:v>
                </c:pt>
                <c:pt idx="43">
                  <c:v>0.37211025028692074</c:v>
                </c:pt>
                <c:pt idx="44">
                  <c:v>0.3196552973700854</c:v>
                </c:pt>
                <c:pt idx="45">
                  <c:v>0.26592610467120303</c:v>
                </c:pt>
                <c:pt idx="46">
                  <c:v>0.211136852513132</c:v>
                </c:pt>
                <c:pt idx="47">
                  <c:v>0.15550594692668987</c:v>
                </c:pt>
                <c:pt idx="48">
                  <c:v>0.09925514902014757</c:v>
                </c:pt>
                <c:pt idx="49">
                  <c:v>0.04260869097440199</c:v>
                </c:pt>
                <c:pt idx="50">
                  <c:v>-0.01420761781227292</c:v>
                </c:pt>
                <c:pt idx="51">
                  <c:v>-0.07096729086672872</c:v>
                </c:pt>
                <c:pt idx="52">
                  <c:v>-0.1274440674824566</c:v>
                </c:pt>
                <c:pt idx="53">
                  <c:v>-0.18341281466113651</c:v>
                </c:pt>
                <c:pt idx="54">
                  <c:v>-0.23865042455881066</c:v>
                </c:pt>
                <c:pt idx="55">
                  <c:v>-0.29293670385919024</c:v>
                </c:pt>
                <c:pt idx="56">
                  <c:v>-0.34605525152880967</c:v>
                </c:pt>
                <c:pt idx="57">
                  <c:v>-0.39779432145502136</c:v>
                </c:pt>
                <c:pt idx="58">
                  <c:v>-0.4479476665281145</c:v>
                </c:pt>
                <c:pt idx="59">
                  <c:v>-0.4963153608027966</c:v>
                </c:pt>
                <c:pt idx="60">
                  <c:v>-0.5427045964616529</c:v>
                </c:pt>
                <c:pt idx="61">
                  <c:v>-0.5869304524036679</c:v>
                </c:pt>
                <c:pt idx="62">
                  <c:v>-0.628816631393976</c:v>
                </c:pt>
                <c:pt idx="63">
                  <c:v>-0.6681961628363546</c:v>
                </c:pt>
                <c:pt idx="64">
                  <c:v>-0.7049120683670014</c:v>
                </c:pt>
                <c:pt idx="65">
                  <c:v>-0.7388179876163362</c:v>
                </c:pt>
                <c:pt idx="66">
                  <c:v>-0.7697787616443705</c:v>
                </c:pt>
                <c:pt idx="67">
                  <c:v>-0.7976709717238879</c:v>
                </c:pt>
                <c:pt idx="68">
                  <c:v>-0.8223834313236927</c:v>
                </c:pt>
                <c:pt idx="69">
                  <c:v>-0.8438176293307426</c:v>
                </c:pt>
                <c:pt idx="70">
                  <c:v>-0.8618881227443366</c:v>
                </c:pt>
                <c:pt idx="71">
                  <c:v>-0.876522877276984</c:v>
                </c:pt>
                <c:pt idx="72">
                  <c:v>-0.8876635545042025</c:v>
                </c:pt>
                <c:pt idx="73">
                  <c:v>-0.8952657444185912</c:v>
                </c:pt>
                <c:pt idx="74">
                  <c:v>-0.8992991424611481</c:v>
                </c:pt>
                <c:pt idx="75">
                  <c:v>-0.8997476703241302</c:v>
                </c:pt>
                <c:pt idx="76">
                  <c:v>-0.896609540043906</c:v>
                </c:pt>
                <c:pt idx="77">
                  <c:v>-0.8898972611283024</c:v>
                </c:pt>
                <c:pt idx="78">
                  <c:v>-0.8796375906900366</c:v>
                </c:pt>
                <c:pt idx="79">
                  <c:v>-0.8658714267850166</c:v>
                </c:pt>
                <c:pt idx="80">
                  <c:v>-0.8486536453806933</c:v>
                </c:pt>
                <c:pt idx="81">
                  <c:v>-0.8280528816043571</c:v>
                </c:pt>
                <c:pt idx="82">
                  <c:v>-0.8041512561433869</c:v>
                </c:pt>
                <c:pt idx="83">
                  <c:v>-0.7770440478881013</c:v>
                </c:pt>
                <c:pt idx="84">
                  <c:v>-0.7468393141221532</c:v>
                </c:pt>
                <c:pt idx="85">
                  <c:v>-0.7136574597745008</c:v>
                </c:pt>
                <c:pt idx="86">
                  <c:v>-0.6776307574500394</c:v>
                </c:pt>
                <c:pt idx="87">
                  <c:v>-0.6389028201521999</c:v>
                </c:pt>
                <c:pt idx="88">
                  <c:v>-0.5976280287993879</c:v>
                </c:pt>
                <c:pt idx="89">
                  <c:v>-0.5539709168173618</c:v>
                </c:pt>
                <c:pt idx="90">
                  <c:v>-0.5081055142607263</c:v>
                </c:pt>
                <c:pt idx="91">
                  <c:v>-0.46021465407809414</c:v>
                </c:pt>
                <c:pt idx="92">
                  <c:v>-0.41048924328631464</c:v>
                </c:pt>
                <c:pt idx="93">
                  <c:v>-0.35912750195910653</c:v>
                </c:pt>
                <c:pt idx="94">
                  <c:v>-0.30633417306370214</c:v>
                </c:pt>
                <c:pt idx="95">
                  <c:v>-0.2523197062953129</c:v>
                </c:pt>
                <c:pt idx="96">
                  <c:v>-0.19729941916292232</c:v>
                </c:pt>
                <c:pt idx="97">
                  <c:v>-0.14149263867052594</c:v>
                </c:pt>
                <c:pt idx="98">
                  <c:v>-0.08512182701536004</c:v>
                </c:pt>
                <c:pt idx="99">
                  <c:v>-0.02841169478833002</c:v>
                </c:pt>
                <c:pt idx="100">
                  <c:v>0.02841169478832878</c:v>
                </c:pt>
                <c:pt idx="101">
                  <c:v>0.08512182701535961</c:v>
                </c:pt>
                <c:pt idx="102">
                  <c:v>0.1414926386705255</c:v>
                </c:pt>
                <c:pt idx="103">
                  <c:v>0.19729941916292185</c:v>
                </c:pt>
                <c:pt idx="104">
                  <c:v>0.25231970629531325</c:v>
                </c:pt>
                <c:pt idx="105">
                  <c:v>0.3063341730637009</c:v>
                </c:pt>
                <c:pt idx="106">
                  <c:v>0.35912750195910614</c:v>
                </c:pt>
                <c:pt idx="107">
                  <c:v>0.41048924328631425</c:v>
                </c:pt>
                <c:pt idx="108">
                  <c:v>0.46021465407809375</c:v>
                </c:pt>
                <c:pt idx="109">
                  <c:v>0.5081055142607266</c:v>
                </c:pt>
                <c:pt idx="110">
                  <c:v>0.5539709168173608</c:v>
                </c:pt>
                <c:pt idx="111">
                  <c:v>0.5976280287993876</c:v>
                </c:pt>
                <c:pt idx="112">
                  <c:v>0.6389028201521995</c:v>
                </c:pt>
                <c:pt idx="113">
                  <c:v>0.6776307574500392</c:v>
                </c:pt>
                <c:pt idx="114">
                  <c:v>0.7136574597745009</c:v>
                </c:pt>
                <c:pt idx="115">
                  <c:v>0.7468393141221529</c:v>
                </c:pt>
                <c:pt idx="116">
                  <c:v>0.7770440478881007</c:v>
                </c:pt>
                <c:pt idx="117">
                  <c:v>0.8041512561433867</c:v>
                </c:pt>
                <c:pt idx="118">
                  <c:v>0.828052881604357</c:v>
                </c:pt>
                <c:pt idx="119">
                  <c:v>0.8486536453806935</c:v>
                </c:pt>
                <c:pt idx="120">
                  <c:v>0.8658714267850165</c:v>
                </c:pt>
                <c:pt idx="121">
                  <c:v>0.8796375906900364</c:v>
                </c:pt>
                <c:pt idx="122">
                  <c:v>0.8898972611283024</c:v>
                </c:pt>
                <c:pt idx="123">
                  <c:v>0.896609540043906</c:v>
                </c:pt>
                <c:pt idx="124">
                  <c:v>0.8997476703241303</c:v>
                </c:pt>
                <c:pt idx="125">
                  <c:v>0.899299142461148</c:v>
                </c:pt>
                <c:pt idx="126">
                  <c:v>0.8952657444185913</c:v>
                </c:pt>
                <c:pt idx="127">
                  <c:v>0.8876635545042025</c:v>
                </c:pt>
                <c:pt idx="128">
                  <c:v>0.8765228772769841</c:v>
                </c:pt>
                <c:pt idx="129">
                  <c:v>0.8618881227443365</c:v>
                </c:pt>
                <c:pt idx="130">
                  <c:v>0.8438176293307427</c:v>
                </c:pt>
                <c:pt idx="131">
                  <c:v>0.8223834313236936</c:v>
                </c:pt>
                <c:pt idx="132">
                  <c:v>0.7976709717238881</c:v>
                </c:pt>
                <c:pt idx="133">
                  <c:v>0.7697787616443706</c:v>
                </c:pt>
                <c:pt idx="134">
                  <c:v>0.738817987616336</c:v>
                </c:pt>
                <c:pt idx="135">
                  <c:v>0.7049120683670016</c:v>
                </c:pt>
                <c:pt idx="136">
                  <c:v>0.6681961628363557</c:v>
                </c:pt>
                <c:pt idx="137">
                  <c:v>0.6288166313939764</c:v>
                </c:pt>
                <c:pt idx="138">
                  <c:v>0.586930452403668</c:v>
                </c:pt>
                <c:pt idx="139">
                  <c:v>0.5427045964616526</c:v>
                </c:pt>
                <c:pt idx="140">
                  <c:v>0.49631536080279703</c:v>
                </c:pt>
                <c:pt idx="141">
                  <c:v>0.4479476665281159</c:v>
                </c:pt>
                <c:pt idx="142">
                  <c:v>0.39779432145502175</c:v>
                </c:pt>
                <c:pt idx="143">
                  <c:v>0.3460552515288097</c:v>
                </c:pt>
                <c:pt idx="144">
                  <c:v>0.2929367038591899</c:v>
                </c:pt>
                <c:pt idx="145">
                  <c:v>0.2386504245588111</c:v>
                </c:pt>
                <c:pt idx="146">
                  <c:v>0.1834128146611381</c:v>
                </c:pt>
                <c:pt idx="147">
                  <c:v>0.12744406748245707</c:v>
                </c:pt>
                <c:pt idx="148">
                  <c:v>0.07096729086672877</c:v>
                </c:pt>
                <c:pt idx="149">
                  <c:v>0.01420761781227256</c:v>
                </c:pt>
                <c:pt idx="150">
                  <c:v>-0.042608690974401946</c:v>
                </c:pt>
                <c:pt idx="151">
                  <c:v>-0.09925514902014633</c:v>
                </c:pt>
                <c:pt idx="152">
                  <c:v>-0.15550594692668904</c:v>
                </c:pt>
                <c:pt idx="153">
                  <c:v>-0.21113685251313194</c:v>
                </c:pt>
                <c:pt idx="154">
                  <c:v>-0.26592610467120226</c:v>
                </c:pt>
                <c:pt idx="155">
                  <c:v>-0.31965529737008536</c:v>
                </c:pt>
                <c:pt idx="156">
                  <c:v>-0.37211025028691963</c:v>
                </c:pt>
                <c:pt idx="157">
                  <c:v>-0.42308186259240227</c:v>
                </c:pt>
                <c:pt idx="158">
                  <c:v>-0.47236694648802163</c:v>
                </c:pt>
                <c:pt idx="159">
                  <c:v>-0.5197690371722291</c:v>
                </c:pt>
                <c:pt idx="160">
                  <c:v>-0.5650991760067724</c:v>
                </c:pt>
                <c:pt idx="161">
                  <c:v>-0.608176663761247</c:v>
                </c:pt>
                <c:pt idx="162">
                  <c:v>-0.6488297809332445</c:v>
                </c:pt>
                <c:pt idx="163">
                  <c:v>-0.6868964722726518</c:v>
                </c:pt>
                <c:pt idx="164">
                  <c:v>-0.7222249927814197</c:v>
                </c:pt>
                <c:pt idx="165">
                  <c:v>-0.7546745126136396</c:v>
                </c:pt>
                <c:pt idx="166">
                  <c:v>-0.7841156784646132</c:v>
                </c:pt>
                <c:pt idx="167">
                  <c:v>-0.8104311292110763</c:v>
                </c:pt>
                <c:pt idx="168">
                  <c:v>-0.8335159637470572</c:v>
                </c:pt>
                <c:pt idx="169">
                  <c:v>-0.8532781591504583</c:v>
                </c:pt>
                <c:pt idx="170">
                  <c:v>-0.8696389375134197</c:v>
                </c:pt>
                <c:pt idx="171">
                  <c:v>-0.8825330799741635</c:v>
                </c:pt>
                <c:pt idx="172">
                  <c:v>-0.8919091866985129</c:v>
                </c:pt>
                <c:pt idx="173">
                  <c:v>-0.897729881774705</c:v>
                </c:pt>
                <c:pt idx="174">
                  <c:v>-0.8999719622047407</c:v>
                </c:pt>
                <c:pt idx="175">
                  <c:v>-0.898626490398341</c:v>
                </c:pt>
                <c:pt idx="176">
                  <c:v>-0.8936988298008026</c:v>
                </c:pt>
                <c:pt idx="177">
                  <c:v>-0.885208623512733</c:v>
                </c:pt>
                <c:pt idx="178">
                  <c:v>-0.873189715986888</c:v>
                </c:pt>
                <c:pt idx="179">
                  <c:v>-0.8576900181142555</c:v>
                </c:pt>
                <c:pt idx="180">
                  <c:v>-0.8387713162371914</c:v>
                </c:pt>
                <c:pt idx="181">
                  <c:v>-0.816509025850933</c:v>
                </c:pt>
                <c:pt idx="182">
                  <c:v>-0.7909918909753144</c:v>
                </c:pt>
                <c:pt idx="183">
                  <c:v>-0.7623216303950697</c:v>
                </c:pt>
                <c:pt idx="184">
                  <c:v>-0.7306125321789191</c:v>
                </c:pt>
                <c:pt idx="185">
                  <c:v>-0.6959909980938052</c:v>
                </c:pt>
                <c:pt idx="186">
                  <c:v>-0.6585950397303687</c:v>
                </c:pt>
                <c:pt idx="187">
                  <c:v>-0.6185737283482661</c:v>
                </c:pt>
                <c:pt idx="188">
                  <c:v>-0.5760866006343974</c:v>
                </c:pt>
                <c:pt idx="189">
                  <c:v>-0.531303022742876</c:v>
                </c:pt>
                <c:pt idx="190">
                  <c:v>-0.48440151515185964</c:v>
                </c:pt>
                <c:pt idx="191">
                  <c:v>-0.4355690410285542</c:v>
                </c:pt>
                <c:pt idx="192">
                  <c:v>-0.3850002609391888</c:v>
                </c:pt>
                <c:pt idx="193">
                  <c:v>-0.33289675687489323</c:v>
                </c:pt>
                <c:pt idx="194">
                  <c:v>-0.2794662286867524</c:v>
                </c:pt>
                <c:pt idx="195">
                  <c:v>-0.22492166613327738</c:v>
                </c:pt>
                <c:pt idx="196">
                  <c:v>-0.16948049984074529</c:v>
                </c:pt>
                <c:pt idx="197">
                  <c:v>-0.11336373456094594</c:v>
                </c:pt>
                <c:pt idx="198">
                  <c:v>-0.05679506818140737</c:v>
                </c:pt>
                <c:pt idx="199">
                  <c:v>-4.4087284769304716e-16</c:v>
                </c:pt>
              </c:numCache>
            </c:numRef>
          </c:val>
          <c:smooth val="0"/>
        </c:ser>
        <c:ser>
          <c:idx val="1"/>
          <c:order val="1"/>
          <c:tx>
            <c:strRef>
              <c:f>Sheet1!$C$1</c:f>
              <c:strCache>
                <c:ptCount val="1"/>
                <c:pt idx="0">
                  <c:v>1.35 × full scale: clipped</c:v>
                </c:pt>
              </c:strCache>
            </c:strRef>
          </c:tx>
          <c:spPr>
            <a:solidFill>
              <a:srgbClr val="E76F51"/>
            </a:solidFill>
            <a:ln w="19050" cap="flat">
              <a:solidFill>
                <a:srgbClr val="E76F5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E76F51"/>
              </a:solidFill>
              <a:ln w="9525" cap="flat">
                <a:solidFill>
                  <a:srgbClr val="E76F51"/>
                </a:solidFill>
                <a:prstDash val="solid"/>
                <a:round/>
              </a:ln>
              <a:effectLst/>
            </c:spPr>
          </c:marker>
          <c:cat>
            <c:multiLvlStrRef>
              <c:f>Sheet1!$A$2:$A$201</c:f>
              <c:multiLvlStrCache>
                <c:ptCount val="200"/>
                <c:lvl>
                  <c:pt idx="0">
                    <c:v>0.00</c:v>
                  </c:pt>
                  <c:pt idx="1">
                    <c:v>0.01</c:v>
                  </c:pt>
                  <c:pt idx="2">
                    <c:v>0.01</c:v>
                  </c:pt>
                  <c:pt idx="3">
                    <c:v>0.02</c:v>
                  </c:pt>
                  <c:pt idx="4">
                    <c:v>0.02</c:v>
                  </c:pt>
                  <c:pt idx="5">
                    <c:v>0.03</c:v>
                  </c:pt>
                  <c:pt idx="6">
                    <c:v>0.03</c:v>
                  </c:pt>
                  <c:pt idx="7">
                    <c:v>0.04</c:v>
                  </c:pt>
                  <c:pt idx="8">
                    <c:v>0.04</c:v>
                  </c:pt>
                  <c:pt idx="9">
                    <c:v>0.05</c:v>
                  </c:pt>
                  <c:pt idx="10">
                    <c:v>0.05</c:v>
                  </c:pt>
                  <c:pt idx="11">
                    <c:v>0.06</c:v>
                  </c:pt>
                  <c:pt idx="12">
                    <c:v>0.06</c:v>
                  </c:pt>
                  <c:pt idx="13">
                    <c:v>0.07</c:v>
                  </c:pt>
                  <c:pt idx="14">
                    <c:v>0.07</c:v>
                  </c:pt>
                  <c:pt idx="15">
                    <c:v>0.08</c:v>
                  </c:pt>
                  <c:pt idx="16">
                    <c:v>0.08</c:v>
                  </c:pt>
                  <c:pt idx="17">
                    <c:v>0.09</c:v>
                  </c:pt>
                  <c:pt idx="18">
                    <c:v>0.09</c:v>
                  </c:pt>
                  <c:pt idx="19">
                    <c:v>0.10</c:v>
                  </c:pt>
                  <c:pt idx="20">
                    <c:v>0.10</c:v>
                  </c:pt>
                  <c:pt idx="21">
                    <c:v>0.11</c:v>
                  </c:pt>
                  <c:pt idx="22">
                    <c:v>0.11</c:v>
                  </c:pt>
                  <c:pt idx="23">
                    <c:v>0.12</c:v>
                  </c:pt>
                  <c:pt idx="24">
                    <c:v>0.12</c:v>
                  </c:pt>
                  <c:pt idx="25">
                    <c:v>0.13</c:v>
                  </c:pt>
                  <c:pt idx="26">
                    <c:v>0.13</c:v>
                  </c:pt>
                  <c:pt idx="27">
                    <c:v>0.14</c:v>
                  </c:pt>
                  <c:pt idx="28">
                    <c:v>0.14</c:v>
                  </c:pt>
                  <c:pt idx="29">
                    <c:v>0.15</c:v>
                  </c:pt>
                  <c:pt idx="30">
                    <c:v>0.15</c:v>
                  </c:pt>
                  <c:pt idx="31">
                    <c:v>0.16</c:v>
                  </c:pt>
                  <c:pt idx="32">
                    <c:v>0.16</c:v>
                  </c:pt>
                  <c:pt idx="33">
                    <c:v>0.17</c:v>
                  </c:pt>
                  <c:pt idx="34">
                    <c:v>0.17</c:v>
                  </c:pt>
                  <c:pt idx="35">
                    <c:v>0.18</c:v>
                  </c:pt>
                  <c:pt idx="36">
                    <c:v>0.18</c:v>
                  </c:pt>
                  <c:pt idx="37">
                    <c:v>0.19</c:v>
                  </c:pt>
                  <c:pt idx="38">
                    <c:v>0.19</c:v>
                  </c:pt>
                  <c:pt idx="39">
                    <c:v>0.20</c:v>
                  </c:pt>
                  <c:pt idx="40">
                    <c:v>0.20</c:v>
                  </c:pt>
                  <c:pt idx="41">
                    <c:v>0.21</c:v>
                  </c:pt>
                  <c:pt idx="42">
                    <c:v>0.21</c:v>
                  </c:pt>
                  <c:pt idx="43">
                    <c:v>0.22</c:v>
                  </c:pt>
                  <c:pt idx="44">
                    <c:v>0.22</c:v>
                  </c:pt>
                  <c:pt idx="45">
                    <c:v>0.23</c:v>
                  </c:pt>
                  <c:pt idx="46">
                    <c:v>0.23</c:v>
                  </c:pt>
                  <c:pt idx="47">
                    <c:v>0.24</c:v>
                  </c:pt>
                  <c:pt idx="48">
                    <c:v>0.24</c:v>
                  </c:pt>
                  <c:pt idx="49">
                    <c:v>0.25</c:v>
                  </c:pt>
                  <c:pt idx="50">
                    <c:v>0.25</c:v>
                  </c:pt>
                  <c:pt idx="51">
                    <c:v>0.26</c:v>
                  </c:pt>
                  <c:pt idx="52">
                    <c:v>0.26</c:v>
                  </c:pt>
                  <c:pt idx="53">
                    <c:v>0.27</c:v>
                  </c:pt>
                  <c:pt idx="54">
                    <c:v>0.27</c:v>
                  </c:pt>
                  <c:pt idx="55">
                    <c:v>0.28</c:v>
                  </c:pt>
                  <c:pt idx="56">
                    <c:v>0.28</c:v>
                  </c:pt>
                  <c:pt idx="57">
                    <c:v>0.29</c:v>
                  </c:pt>
                  <c:pt idx="58">
                    <c:v>0.29</c:v>
                  </c:pt>
                  <c:pt idx="59">
                    <c:v>0.30</c:v>
                  </c:pt>
                  <c:pt idx="60">
                    <c:v>0.30</c:v>
                  </c:pt>
                  <c:pt idx="61">
                    <c:v>0.31</c:v>
                  </c:pt>
                  <c:pt idx="62">
                    <c:v>0.31</c:v>
                  </c:pt>
                  <c:pt idx="63">
                    <c:v>0.32</c:v>
                  </c:pt>
                  <c:pt idx="64">
                    <c:v>0.32</c:v>
                  </c:pt>
                  <c:pt idx="65">
                    <c:v>0.33</c:v>
                  </c:pt>
                  <c:pt idx="66">
                    <c:v>0.33</c:v>
                  </c:pt>
                  <c:pt idx="67">
                    <c:v>0.34</c:v>
                  </c:pt>
                  <c:pt idx="68">
                    <c:v>0.34</c:v>
                  </c:pt>
                  <c:pt idx="69">
                    <c:v>0.35</c:v>
                  </c:pt>
                  <c:pt idx="70">
                    <c:v>0.35</c:v>
                  </c:pt>
                  <c:pt idx="71">
                    <c:v>0.36</c:v>
                  </c:pt>
                  <c:pt idx="72">
                    <c:v>0.36</c:v>
                  </c:pt>
                  <c:pt idx="73">
                    <c:v>0.37</c:v>
                  </c:pt>
                  <c:pt idx="74">
                    <c:v>0.37</c:v>
                  </c:pt>
                  <c:pt idx="75">
                    <c:v>0.38</c:v>
                  </c:pt>
                  <c:pt idx="76">
                    <c:v>0.38</c:v>
                  </c:pt>
                  <c:pt idx="77">
                    <c:v>0.39</c:v>
                  </c:pt>
                  <c:pt idx="78">
                    <c:v>0.39</c:v>
                  </c:pt>
                  <c:pt idx="79">
                    <c:v>0.40</c:v>
                  </c:pt>
                  <c:pt idx="80">
                    <c:v>0.40</c:v>
                  </c:pt>
                  <c:pt idx="81">
                    <c:v>0.41</c:v>
                  </c:pt>
                  <c:pt idx="82">
                    <c:v>0.41</c:v>
                  </c:pt>
                  <c:pt idx="83">
                    <c:v>0.42</c:v>
                  </c:pt>
                  <c:pt idx="84">
                    <c:v>0.42</c:v>
                  </c:pt>
                  <c:pt idx="85">
                    <c:v>0.43</c:v>
                  </c:pt>
                  <c:pt idx="86">
                    <c:v>0.43</c:v>
                  </c:pt>
                  <c:pt idx="87">
                    <c:v>0.44</c:v>
                  </c:pt>
                  <c:pt idx="88">
                    <c:v>0.44</c:v>
                  </c:pt>
                  <c:pt idx="89">
                    <c:v>0.45</c:v>
                  </c:pt>
                  <c:pt idx="90">
                    <c:v>0.45</c:v>
                  </c:pt>
                  <c:pt idx="91">
                    <c:v>0.46</c:v>
                  </c:pt>
                  <c:pt idx="92">
                    <c:v>0.46</c:v>
                  </c:pt>
                  <c:pt idx="93">
                    <c:v>0.47</c:v>
                  </c:pt>
                  <c:pt idx="94">
                    <c:v>0.47</c:v>
                  </c:pt>
                  <c:pt idx="95">
                    <c:v>0.48</c:v>
                  </c:pt>
                  <c:pt idx="96">
                    <c:v>0.48</c:v>
                  </c:pt>
                  <c:pt idx="97">
                    <c:v>0.49</c:v>
                  </c:pt>
                  <c:pt idx="98">
                    <c:v>0.49</c:v>
                  </c:pt>
                  <c:pt idx="99">
                    <c:v>0.50</c:v>
                  </c:pt>
                  <c:pt idx="100">
                    <c:v>0.50</c:v>
                  </c:pt>
                  <c:pt idx="101">
                    <c:v>0.51</c:v>
                  </c:pt>
                  <c:pt idx="102">
                    <c:v>0.51</c:v>
                  </c:pt>
                  <c:pt idx="103">
                    <c:v>0.52</c:v>
                  </c:pt>
                  <c:pt idx="104">
                    <c:v>0.52</c:v>
                  </c:pt>
                  <c:pt idx="105">
                    <c:v>0.53</c:v>
                  </c:pt>
                  <c:pt idx="106">
                    <c:v>0.53</c:v>
                  </c:pt>
                  <c:pt idx="107">
                    <c:v>0.54</c:v>
                  </c:pt>
                  <c:pt idx="108">
                    <c:v>0.54</c:v>
                  </c:pt>
                  <c:pt idx="109">
                    <c:v>0.55</c:v>
                  </c:pt>
                  <c:pt idx="110">
                    <c:v>0.55</c:v>
                  </c:pt>
                  <c:pt idx="111">
                    <c:v>0.56</c:v>
                  </c:pt>
                  <c:pt idx="112">
                    <c:v>0.56</c:v>
                  </c:pt>
                  <c:pt idx="113">
                    <c:v>0.57</c:v>
                  </c:pt>
                  <c:pt idx="114">
                    <c:v>0.57</c:v>
                  </c:pt>
                  <c:pt idx="115">
                    <c:v>0.58</c:v>
                  </c:pt>
                  <c:pt idx="116">
                    <c:v>0.58</c:v>
                  </c:pt>
                  <c:pt idx="117">
                    <c:v>0.59</c:v>
                  </c:pt>
                  <c:pt idx="118">
                    <c:v>0.59</c:v>
                  </c:pt>
                  <c:pt idx="119">
                    <c:v>0.60</c:v>
                  </c:pt>
                  <c:pt idx="120">
                    <c:v>0.60</c:v>
                  </c:pt>
                  <c:pt idx="121">
                    <c:v>0.61</c:v>
                  </c:pt>
                  <c:pt idx="122">
                    <c:v>0.61</c:v>
                  </c:pt>
                  <c:pt idx="123">
                    <c:v>0.62</c:v>
                  </c:pt>
                  <c:pt idx="124">
                    <c:v>0.62</c:v>
                  </c:pt>
                  <c:pt idx="125">
                    <c:v>0.63</c:v>
                  </c:pt>
                  <c:pt idx="126">
                    <c:v>0.63</c:v>
                  </c:pt>
                  <c:pt idx="127">
                    <c:v>0.64</c:v>
                  </c:pt>
                  <c:pt idx="128">
                    <c:v>0.64</c:v>
                  </c:pt>
                  <c:pt idx="129">
                    <c:v>0.65</c:v>
                  </c:pt>
                  <c:pt idx="130">
                    <c:v>0.65</c:v>
                  </c:pt>
                  <c:pt idx="131">
                    <c:v>0.66</c:v>
                  </c:pt>
                  <c:pt idx="132">
                    <c:v>0.66</c:v>
                  </c:pt>
                  <c:pt idx="133">
                    <c:v>0.67</c:v>
                  </c:pt>
                  <c:pt idx="134">
                    <c:v>0.67</c:v>
                  </c:pt>
                  <c:pt idx="135">
                    <c:v>0.68</c:v>
                  </c:pt>
                  <c:pt idx="136">
                    <c:v>0.68</c:v>
                  </c:pt>
                  <c:pt idx="137">
                    <c:v>0.69</c:v>
                  </c:pt>
                  <c:pt idx="138">
                    <c:v>0.69</c:v>
                  </c:pt>
                  <c:pt idx="139">
                    <c:v>0.70</c:v>
                  </c:pt>
                  <c:pt idx="140">
                    <c:v>0.70</c:v>
                  </c:pt>
                  <c:pt idx="141">
                    <c:v>0.71</c:v>
                  </c:pt>
                  <c:pt idx="142">
                    <c:v>0.71</c:v>
                  </c:pt>
                  <c:pt idx="143">
                    <c:v>0.72</c:v>
                  </c:pt>
                  <c:pt idx="144">
                    <c:v>0.72</c:v>
                  </c:pt>
                  <c:pt idx="145">
                    <c:v>0.73</c:v>
                  </c:pt>
                  <c:pt idx="146">
                    <c:v>0.73</c:v>
                  </c:pt>
                  <c:pt idx="147">
                    <c:v>0.74</c:v>
                  </c:pt>
                  <c:pt idx="148">
                    <c:v>0.74</c:v>
                  </c:pt>
                  <c:pt idx="149">
                    <c:v>0.75</c:v>
                  </c:pt>
                  <c:pt idx="150">
                    <c:v>0.75</c:v>
                  </c:pt>
                  <c:pt idx="151">
                    <c:v>0.76</c:v>
                  </c:pt>
                  <c:pt idx="152">
                    <c:v>0.76</c:v>
                  </c:pt>
                  <c:pt idx="153">
                    <c:v>0.77</c:v>
                  </c:pt>
                  <c:pt idx="154">
                    <c:v>0.77</c:v>
                  </c:pt>
                  <c:pt idx="155">
                    <c:v>0.78</c:v>
                  </c:pt>
                  <c:pt idx="156">
                    <c:v>0.78</c:v>
                  </c:pt>
                  <c:pt idx="157">
                    <c:v>0.79</c:v>
                  </c:pt>
                  <c:pt idx="158">
                    <c:v>0.79</c:v>
                  </c:pt>
                  <c:pt idx="159">
                    <c:v>0.80</c:v>
                  </c:pt>
                  <c:pt idx="160">
                    <c:v>0.80</c:v>
                  </c:pt>
                  <c:pt idx="161">
                    <c:v>0.81</c:v>
                  </c:pt>
                  <c:pt idx="162">
                    <c:v>0.81</c:v>
                  </c:pt>
                  <c:pt idx="163">
                    <c:v>0.82</c:v>
                  </c:pt>
                  <c:pt idx="164">
                    <c:v>0.82</c:v>
                  </c:pt>
                  <c:pt idx="165">
                    <c:v>0.83</c:v>
                  </c:pt>
                  <c:pt idx="166">
                    <c:v>0.83</c:v>
                  </c:pt>
                  <c:pt idx="167">
                    <c:v>0.84</c:v>
                  </c:pt>
                  <c:pt idx="168">
                    <c:v>0.84</c:v>
                  </c:pt>
                  <c:pt idx="169">
                    <c:v>0.85</c:v>
                  </c:pt>
                  <c:pt idx="170">
                    <c:v>0.85</c:v>
                  </c:pt>
                  <c:pt idx="171">
                    <c:v>0.86</c:v>
                  </c:pt>
                  <c:pt idx="172">
                    <c:v>0.86</c:v>
                  </c:pt>
                  <c:pt idx="173">
                    <c:v>0.87</c:v>
                  </c:pt>
                  <c:pt idx="174">
                    <c:v>0.87</c:v>
                  </c:pt>
                  <c:pt idx="175">
                    <c:v>0.88</c:v>
                  </c:pt>
                  <c:pt idx="176">
                    <c:v>0.88</c:v>
                  </c:pt>
                  <c:pt idx="177">
                    <c:v>0.89</c:v>
                  </c:pt>
                  <c:pt idx="178">
                    <c:v>0.89</c:v>
                  </c:pt>
                  <c:pt idx="179">
                    <c:v>0.90</c:v>
                  </c:pt>
                  <c:pt idx="180">
                    <c:v>0.90</c:v>
                  </c:pt>
                  <c:pt idx="181">
                    <c:v>0.91</c:v>
                  </c:pt>
                  <c:pt idx="182">
                    <c:v>0.91</c:v>
                  </c:pt>
                  <c:pt idx="183">
                    <c:v>0.92</c:v>
                  </c:pt>
                  <c:pt idx="184">
                    <c:v>0.92</c:v>
                  </c:pt>
                  <c:pt idx="185">
                    <c:v>0.93</c:v>
                  </c:pt>
                  <c:pt idx="186">
                    <c:v>0.93</c:v>
                  </c:pt>
                  <c:pt idx="187">
                    <c:v>0.94</c:v>
                  </c:pt>
                  <c:pt idx="188">
                    <c:v>0.94</c:v>
                  </c:pt>
                  <c:pt idx="189">
                    <c:v>0.95</c:v>
                  </c:pt>
                  <c:pt idx="190">
                    <c:v>0.95</c:v>
                  </c:pt>
                  <c:pt idx="191">
                    <c:v>0.96</c:v>
                  </c:pt>
                  <c:pt idx="192">
                    <c:v>0.96</c:v>
                  </c:pt>
                  <c:pt idx="193">
                    <c:v>0.97</c:v>
                  </c:pt>
                  <c:pt idx="194">
                    <c:v>0.97</c:v>
                  </c:pt>
                  <c:pt idx="195">
                    <c:v>0.98</c:v>
                  </c:pt>
                  <c:pt idx="196">
                    <c:v>0.98</c:v>
                  </c:pt>
                  <c:pt idx="197">
                    <c:v>0.99</c:v>
                  </c:pt>
                  <c:pt idx="198">
                    <c:v>0.99</c:v>
                  </c:pt>
                  <c:pt idx="199">
                    <c:v>1.00</c:v>
                  </c:pt>
                </c:lvl>
              </c:multiLvlStrCache>
            </c:multiLvlStrRef>
          </c:cat>
          <c:val>
            <c:numRef>
              <c:f>Sheet1!$C$2:$C$201</c:f>
              <c:numCache>
                <c:formatCode>General</c:formatCode>
                <c:ptCount val="200"/>
                <c:pt idx="0">
                  <c:v>0</c:v>
                </c:pt>
                <c:pt idx="1">
                  <c:v>0.08519260227210942</c:v>
                </c:pt>
                <c:pt idx="2">
                  <c:v>0.1700456018414187</c:v>
                </c:pt>
                <c:pt idx="3">
                  <c:v>0.25422074976111914</c:v>
                </c:pt>
                <c:pt idx="4">
                  <c:v>0.3373824991999163</c:v>
                </c:pt>
                <c:pt idx="5">
                  <c:v>0.41919934303012796</c:v>
                </c:pt>
                <c:pt idx="6">
                  <c:v>0.4993451353123382</c:v>
                </c:pt>
                <c:pt idx="7">
                  <c:v>0.577500391408783</c:v>
                </c:pt>
                <c:pt idx="8">
                  <c:v>0.6533535615428324</c:v>
                </c:pt>
                <c:pt idx="9">
                  <c:v>0.7266022727277897</c:v>
                </c:pt>
                <c:pt idx="10">
                  <c:v>0.7969545341143134</c:v>
                </c:pt>
                <c:pt idx="11">
                  <c:v>0.8641299009515948</c:v>
                </c:pt>
                <c:pt idx="12">
                  <c:v>0.9278605925223988</c:v>
                </c:pt>
                <c:pt idx="13">
                  <c:v>0.9878925595955538</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1</c:v>
                </c:pt>
                <c:pt idx="33">
                  <c:v>1</c:v>
                </c:pt>
                <c:pt idx="34">
                  <c:v>1</c:v>
                </c:pt>
                <c:pt idx="35">
                  <c:v>1</c:v>
                </c:pt>
                <c:pt idx="36">
                  <c:v>1</c:v>
                </c:pt>
                <c:pt idx="37">
                  <c:v>0.973244671399867</c:v>
                </c:pt>
                <c:pt idx="38">
                  <c:v>0.9122649956418719</c:v>
                </c:pt>
                <c:pt idx="39">
                  <c:v>0.8476487640101592</c:v>
                </c:pt>
                <c:pt idx="40">
                  <c:v>0.7796535557583446</c:v>
                </c:pt>
                <c:pt idx="41">
                  <c:v>0.7085504197320325</c:v>
                </c:pt>
                <c:pt idx="42">
                  <c:v>0.634622793888604</c:v>
                </c:pt>
                <c:pt idx="43">
                  <c:v>0.5581653754303811</c:v>
                </c:pt>
                <c:pt idx="44">
                  <c:v>0.47948294605512815</c:v>
                </c:pt>
                <c:pt idx="45">
                  <c:v>0.39888915700680455</c:v>
                </c:pt>
                <c:pt idx="46">
                  <c:v>0.316705278769698</c:v>
                </c:pt>
                <c:pt idx="47">
                  <c:v>0.23325892039003482</c:v>
                </c:pt>
                <c:pt idx="48">
                  <c:v>0.14888272353022136</c:v>
                </c:pt>
                <c:pt idx="49">
                  <c:v>0.06391303646160298</c:v>
                </c:pt>
                <c:pt idx="50">
                  <c:v>-0.021311426718409382</c:v>
                </c:pt>
                <c:pt idx="51">
                  <c:v>-0.10645093630009309</c:v>
                </c:pt>
                <c:pt idx="52">
                  <c:v>-0.1911661012236849</c:v>
                </c:pt>
                <c:pt idx="53">
                  <c:v>-0.2751192219917048</c:v>
                </c:pt>
                <c:pt idx="54">
                  <c:v>-0.357975636838216</c:v>
                </c:pt>
                <c:pt idx="55">
                  <c:v>-0.4394050557887854</c:v>
                </c:pt>
                <c:pt idx="56">
                  <c:v>-0.5190828772932146</c:v>
                </c:pt>
                <c:pt idx="57">
                  <c:v>-0.5966914821825321</c:v>
                </c:pt>
                <c:pt idx="58">
                  <c:v>-0.6719214997921718</c:v>
                </c:pt>
                <c:pt idx="59">
                  <c:v>-0.744473041204195</c:v>
                </c:pt>
                <c:pt idx="60">
                  <c:v>-0.8140568946924793</c:v>
                </c:pt>
                <c:pt idx="61">
                  <c:v>-0.8803956786055019</c:v>
                </c:pt>
                <c:pt idx="62">
                  <c:v>-0.943224947090964</c:v>
                </c:pt>
                <c:pt idx="63">
                  <c:v>-1</c:v>
                </c:pt>
                <c:pt idx="64">
                  <c:v>-1</c:v>
                </c:pt>
                <c:pt idx="65">
                  <c:v>-1</c:v>
                </c:pt>
                <c:pt idx="66">
                  <c:v>-1</c:v>
                </c:pt>
                <c:pt idx="67">
                  <c:v>-1</c:v>
                </c:pt>
                <c:pt idx="68">
                  <c:v>-1</c:v>
                </c:pt>
                <c:pt idx="69">
                  <c:v>-1</c:v>
                </c:pt>
                <c:pt idx="70">
                  <c:v>-1</c:v>
                </c:pt>
                <c:pt idx="71">
                  <c:v>-1</c:v>
                </c:pt>
                <c:pt idx="72">
                  <c:v>-1</c:v>
                </c:pt>
                <c:pt idx="73">
                  <c:v>-1</c:v>
                </c:pt>
                <c:pt idx="74">
                  <c:v>-1</c:v>
                </c:pt>
                <c:pt idx="75">
                  <c:v>-1</c:v>
                </c:pt>
                <c:pt idx="76">
                  <c:v>-1</c:v>
                </c:pt>
                <c:pt idx="77">
                  <c:v>-1</c:v>
                </c:pt>
                <c:pt idx="78">
                  <c:v>-1</c:v>
                </c:pt>
                <c:pt idx="79">
                  <c:v>-1</c:v>
                </c:pt>
                <c:pt idx="80">
                  <c:v>-1</c:v>
                </c:pt>
                <c:pt idx="81">
                  <c:v>-1</c:v>
                </c:pt>
                <c:pt idx="82">
                  <c:v>-1</c:v>
                </c:pt>
                <c:pt idx="83">
                  <c:v>-1</c:v>
                </c:pt>
                <c:pt idx="84">
                  <c:v>-1</c:v>
                </c:pt>
                <c:pt idx="85">
                  <c:v>-1</c:v>
                </c:pt>
                <c:pt idx="86">
                  <c:v>-1</c:v>
                </c:pt>
                <c:pt idx="87">
                  <c:v>-0.9583542302282999</c:v>
                </c:pt>
                <c:pt idx="88">
                  <c:v>-0.8964420431990819</c:v>
                </c:pt>
                <c:pt idx="89">
                  <c:v>-0.8309563752260427</c:v>
                </c:pt>
                <c:pt idx="90">
                  <c:v>-0.7621582713910895</c:v>
                </c:pt>
                <c:pt idx="91">
                  <c:v>-0.6903219811171413</c:v>
                </c:pt>
                <c:pt idx="92">
                  <c:v>-0.615733864929472</c:v>
                </c:pt>
                <c:pt idx="93">
                  <c:v>-0.5386912529386598</c:v>
                </c:pt>
                <c:pt idx="94">
                  <c:v>-0.4595012595955532</c:v>
                </c:pt>
                <c:pt idx="95">
                  <c:v>-0.37847955944296935</c:v>
                </c:pt>
                <c:pt idx="96">
                  <c:v>-0.29594912874438345</c:v>
                </c:pt>
                <c:pt idx="97">
                  <c:v>-0.21223895800578893</c:v>
                </c:pt>
                <c:pt idx="98">
                  <c:v>-0.12768274052304007</c:v>
                </c:pt>
                <c:pt idx="99">
                  <c:v>-0.042617542182495034</c:v>
                </c:pt>
                <c:pt idx="100">
                  <c:v>0.04261754218249317</c:v>
                </c:pt>
                <c:pt idx="101">
                  <c:v>0.12768274052303943</c:v>
                </c:pt>
                <c:pt idx="102">
                  <c:v>0.21223895800578826</c:v>
                </c:pt>
                <c:pt idx="103">
                  <c:v>0.2959491287443828</c:v>
                </c:pt>
                <c:pt idx="104">
                  <c:v>0.3784795594429699</c:v>
                </c:pt>
                <c:pt idx="105">
                  <c:v>0.45950125959555144</c:v>
                </c:pt>
                <c:pt idx="106">
                  <c:v>0.5386912529386593</c:v>
                </c:pt>
                <c:pt idx="107">
                  <c:v>0.6157338649294714</c:v>
                </c:pt>
                <c:pt idx="108">
                  <c:v>0.6903219811171407</c:v>
                </c:pt>
                <c:pt idx="109">
                  <c:v>0.7621582713910899</c:v>
                </c:pt>
                <c:pt idx="110">
                  <c:v>0.8309563752260413</c:v>
                </c:pt>
                <c:pt idx="111">
                  <c:v>0.8964420431990815</c:v>
                </c:pt>
                <c:pt idx="112">
                  <c:v>0.9583542302282992</c:v>
                </c:pt>
                <c:pt idx="113">
                  <c:v>1</c:v>
                </c:pt>
                <c:pt idx="114">
                  <c:v>1</c:v>
                </c:pt>
                <c:pt idx="115">
                  <c:v>1</c:v>
                </c:pt>
                <c:pt idx="116">
                  <c:v>1</c:v>
                </c:pt>
                <c:pt idx="117">
                  <c:v>1</c:v>
                </c:pt>
                <c:pt idx="118">
                  <c:v>1</c:v>
                </c:pt>
                <c:pt idx="119">
                  <c:v>1</c:v>
                </c:pt>
                <c:pt idx="120">
                  <c:v>1</c:v>
                </c:pt>
                <c:pt idx="121">
                  <c:v>1</c:v>
                </c:pt>
                <c:pt idx="122">
                  <c:v>1</c:v>
                </c:pt>
                <c:pt idx="123">
                  <c:v>1</c:v>
                </c:pt>
                <c:pt idx="124">
                  <c:v>1</c:v>
                </c:pt>
                <c:pt idx="125">
                  <c:v>1</c:v>
                </c:pt>
                <c:pt idx="126">
                  <c:v>1</c:v>
                </c:pt>
                <c:pt idx="127">
                  <c:v>1</c:v>
                </c:pt>
                <c:pt idx="128">
                  <c:v>1</c:v>
                </c:pt>
                <c:pt idx="129">
                  <c:v>1</c:v>
                </c:pt>
                <c:pt idx="130">
                  <c:v>1</c:v>
                </c:pt>
                <c:pt idx="131">
                  <c:v>1</c:v>
                </c:pt>
                <c:pt idx="132">
                  <c:v>1</c:v>
                </c:pt>
                <c:pt idx="133">
                  <c:v>1</c:v>
                </c:pt>
                <c:pt idx="134">
                  <c:v>1</c:v>
                </c:pt>
                <c:pt idx="135">
                  <c:v>1</c:v>
                </c:pt>
                <c:pt idx="136">
                  <c:v>1</c:v>
                </c:pt>
                <c:pt idx="137">
                  <c:v>0.9432249470909645</c:v>
                </c:pt>
                <c:pt idx="138">
                  <c:v>0.880395678605502</c:v>
                </c:pt>
                <c:pt idx="139">
                  <c:v>0.8140568946924789</c:v>
                </c:pt>
                <c:pt idx="140">
                  <c:v>0.7444730412041956</c:v>
                </c:pt>
                <c:pt idx="141">
                  <c:v>0.6719214997921739</c:v>
                </c:pt>
                <c:pt idx="142">
                  <c:v>0.5966914821825327</c:v>
                </c:pt>
                <c:pt idx="143">
                  <c:v>0.5190828772932146</c:v>
                </c:pt>
                <c:pt idx="144">
                  <c:v>0.43940505578878486</c:v>
                </c:pt>
                <c:pt idx="145">
                  <c:v>0.3579756368382167</c:v>
                </c:pt>
                <c:pt idx="146">
                  <c:v>0.2751192219917072</c:v>
                </c:pt>
                <c:pt idx="147">
                  <c:v>0.1911661012236856</c:v>
                </c:pt>
                <c:pt idx="148">
                  <c:v>0.10645093630009315</c:v>
                </c:pt>
                <c:pt idx="149">
                  <c:v>0.02131142671840884</c:v>
                </c:pt>
                <c:pt idx="150">
                  <c:v>-0.06391303646160293</c:v>
                </c:pt>
                <c:pt idx="151">
                  <c:v>-0.1488827235302195</c:v>
                </c:pt>
                <c:pt idx="152">
                  <c:v>-0.2332589203900336</c:v>
                </c:pt>
                <c:pt idx="153">
                  <c:v>-0.31670527876969795</c:v>
                </c:pt>
                <c:pt idx="154">
                  <c:v>-0.3988891570068034</c:v>
                </c:pt>
                <c:pt idx="155">
                  <c:v>-0.4794829460551281</c:v>
                </c:pt>
                <c:pt idx="156">
                  <c:v>-0.5581653754303795</c:v>
                </c:pt>
                <c:pt idx="157">
                  <c:v>-0.6346227938886034</c:v>
                </c:pt>
                <c:pt idx="158">
                  <c:v>-0.7085504197320325</c:v>
                </c:pt>
                <c:pt idx="159">
                  <c:v>-0.7796535557583437</c:v>
                </c:pt>
                <c:pt idx="160">
                  <c:v>-0.8476487640101587</c:v>
                </c:pt>
                <c:pt idx="161">
                  <c:v>-0.9122649956418706</c:v>
                </c:pt>
                <c:pt idx="162">
                  <c:v>-0.9732446713998668</c:v>
                </c:pt>
                <c:pt idx="163">
                  <c:v>-1</c:v>
                </c:pt>
                <c:pt idx="164">
                  <c:v>-1</c:v>
                </c:pt>
                <c:pt idx="165">
                  <c:v>-1</c:v>
                </c:pt>
                <c:pt idx="166">
                  <c:v>-1</c:v>
                </c:pt>
                <c:pt idx="167">
                  <c:v>-1</c:v>
                </c:pt>
                <c:pt idx="168">
                  <c:v>-1</c:v>
                </c:pt>
                <c:pt idx="169">
                  <c:v>-1</c:v>
                </c:pt>
                <c:pt idx="170">
                  <c:v>-1</c:v>
                </c:pt>
                <c:pt idx="171">
                  <c:v>-1</c:v>
                </c:pt>
                <c:pt idx="172">
                  <c:v>-1</c:v>
                </c:pt>
                <c:pt idx="173">
                  <c:v>-1</c:v>
                </c:pt>
                <c:pt idx="174">
                  <c:v>-1</c:v>
                </c:pt>
                <c:pt idx="175">
                  <c:v>-1</c:v>
                </c:pt>
                <c:pt idx="176">
                  <c:v>-1</c:v>
                </c:pt>
                <c:pt idx="177">
                  <c:v>-1</c:v>
                </c:pt>
                <c:pt idx="178">
                  <c:v>-1</c:v>
                </c:pt>
                <c:pt idx="179">
                  <c:v>-1</c:v>
                </c:pt>
                <c:pt idx="180">
                  <c:v>-1</c:v>
                </c:pt>
                <c:pt idx="181">
                  <c:v>-1</c:v>
                </c:pt>
                <c:pt idx="182">
                  <c:v>-1</c:v>
                </c:pt>
                <c:pt idx="183">
                  <c:v>-1</c:v>
                </c:pt>
                <c:pt idx="184">
                  <c:v>-1</c:v>
                </c:pt>
                <c:pt idx="185">
                  <c:v>-1</c:v>
                </c:pt>
                <c:pt idx="186">
                  <c:v>-0.987892559595553</c:v>
                </c:pt>
                <c:pt idx="187">
                  <c:v>-0.9278605925223992</c:v>
                </c:pt>
                <c:pt idx="188">
                  <c:v>-0.8641299009515961</c:v>
                </c:pt>
                <c:pt idx="189">
                  <c:v>-0.7969545341143139</c:v>
                </c:pt>
                <c:pt idx="190">
                  <c:v>-0.7266022727277894</c:v>
                </c:pt>
                <c:pt idx="191">
                  <c:v>-0.6533535615428313</c:v>
                </c:pt>
                <c:pt idx="192">
                  <c:v>-0.5775003914087832</c:v>
                </c:pt>
                <c:pt idx="193">
                  <c:v>-0.49934513531233987</c:v>
                </c:pt>
                <c:pt idx="194">
                  <c:v>-0.4191993430301286</c:v>
                </c:pt>
                <c:pt idx="195">
                  <c:v>-0.3373824991999161</c:v>
                </c:pt>
                <c:pt idx="196">
                  <c:v>-0.2542207497611179</c:v>
                </c:pt>
                <c:pt idx="197">
                  <c:v>-0.1700456018414189</c:v>
                </c:pt>
                <c:pt idx="198">
                  <c:v>-0.08519260227211106</c:v>
                </c:pt>
                <c:pt idx="199">
                  <c:v>-6.613092715395707e-16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900" b="0" i="0" u="none" strike="noStrike">
                    <a:solidFill>
                      <a:srgbClr val="5B6B7F"/>
                    </a:solidFill>
                    <a:latin typeface="Calibri"/>
                  </a:defRPr>
                </a:pPr>
                <a:r>
                  <a:rPr sz="900" b="0" i="0" u="none" strike="noStrike">
                    <a:solidFill>
                      <a:srgbClr val="5B6B7F"/>
                    </a:solidFill>
                    <a:latin typeface="Calibri"/>
                  </a:rPr>
                  <a:t>time  ·  dashed limits are ±full scale</a:t>
                </a:r>
              </a:p>
            </c:rich>
          </c:tx>
          <c:layout/>
          <c:overlay val="0"/>
        </c:title>
        <c:numFmt formatCode="General" sourceLinked="1"/>
        <c:majorTickMark val="none"/>
        <c:minorTickMark val="none"/>
        <c:tickLblPos val="low"/>
        <c:spPr>
          <a:ln w="12700" cap="flat">
            <a:solidFill>
              <a:srgbClr val="888888"/>
            </a:solidFill>
            <a:prstDash val="solid"/>
            <a:round/>
          </a:ln>
        </c:spPr>
        <c:txPr>
          <a:bodyPr/>
          <a:lstStyle/>
          <a:p>
            <a:pPr>
              <a:defRPr sz="900" b="0" i="0" u="none" strike="noStrike">
                <a:solidFill>
                  <a:srgbClr val="5B6B7F"/>
                </a:solidFill>
                <a:latin typeface="Calibri"/>
              </a:defRPr>
            </a:pPr>
            <a:endParaRPr lang="en-US"/>
          </a:p>
        </c:txPr>
        <c:crossAx val="2094734552"/>
        <c:crosses val="min"/>
        <c:auto val="1"/>
        <c:lblAlgn val="ctr"/>
        <c:noMultiLvlLbl val="1"/>
        <c:tickLblSkip val="25"/>
      </c:catAx>
      <c:valAx>
        <c:axId val="2094734552"/>
        <c:scaling>
          <c:orientation val="minMax"/>
          <c:max val="1.5"/>
          <c:min val="-1.5"/>
        </c:scaling>
        <c:delete val="0"/>
        <c:axPos val="l"/>
        <c:majorGridlines>
          <c:spPr>
            <a:ln w="6350" cap="flat">
              <a:solidFill>
                <a:srgbClr val="D9E1EA"/>
              </a:solidFill>
              <a:prstDash val="solid"/>
              <a:round/>
            </a:ln>
          </c:spPr>
        </c:majorGridlines>
        <c:numFmt formatCode="General" sourceLinked="0"/>
        <c:majorTickMark val="none"/>
        <c:minorTickMark val="none"/>
        <c:tickLblPos val="nextTo"/>
        <c:spPr>
          <a:ln w="12700" cap="flat">
            <a:noFill/>
            <a:prstDash val="solid"/>
            <a:round/>
          </a:ln>
        </c:spPr>
        <c:txPr>
          <a:bodyPr/>
          <a:lstStyle/>
          <a:p>
            <a:pPr>
              <a:defRPr sz="900" b="0" i="0" u="none" strike="noStrike">
                <a:solidFill>
                  <a:srgbClr val="5B6B7F"/>
                </a:solidFill>
                <a:latin typeface="Calibri"/>
              </a:defRPr>
            </a:pPr>
            <a:endParaRPr lang="en-US"/>
          </a:p>
        </c:txPr>
        <c:crossAx val="2094734554"/>
        <c:crosses val="autoZero"/>
        <c:crossBetween val="between"/>
        <c:majorUnit val="0.5"/>
      </c:valAx>
      <c:spPr>
        <a:solidFill>
          <a:srgbClr val="FFFFFF"/>
        </a:solidFill>
        <a:ln>
          <a:noFill/>
        </a:ln>
        <a:effectLst/>
      </c:spPr>
    </c:plotArea>
    <c:legend>
      <c:legendPos val="b"/>
      <c:overlay val="0"/>
      <c:txPr>
        <a:bodyPr/>
        <a:lstStyle/>
        <a:p>
          <a:pPr>
            <a:defRPr sz="900">
              <a:solidFill>
                <a:srgbClr val="14213D"/>
              </a:solidFill>
              <a:latin typeface="Calibri"/>
              <a:cs typeface="Calibri"/>
            </a:defRPr>
          </a:pPr>
          <a:endParaRPr lang="en-US"/>
        </a:p>
      </c:txPr>
    </c:legend>
    <c:plotVisOnly val="1"/>
    <c:dispBlanksAs val="span"/>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lineChart>
        <c:varyColors val="0"/>
        <c:ser>
          <c:idx val="0"/>
          <c:order val="0"/>
          <c:tx>
            <c:strRef>
              <c:f>Sheet1!$B$1</c:f>
              <c:strCache>
                <c:ptCount val="1"/>
                <c:pt idx="0">
                  <c:v>input</c:v>
                </c:pt>
              </c:strCache>
            </c:strRef>
          </c:tx>
          <c:spPr>
            <a:solidFill>
              <a:srgbClr val="5B6B7F"/>
            </a:solidFill>
            <a:ln w="19050" cap="flat">
              <a:solidFill>
                <a:srgbClr val="5B6B7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5B6B7F"/>
              </a:solidFill>
              <a:ln w="9525" cap="flat">
                <a:solidFill>
                  <a:srgbClr val="5B6B7F"/>
                </a:solidFill>
                <a:prstDash val="solid"/>
                <a:round/>
              </a:ln>
              <a:effectLst/>
            </c:spPr>
          </c:marker>
          <c:cat>
            <c:multiLvlStrRef>
              <c:f>Sheet1!$A$2:$A$202</c:f>
              <c:multiLvlStrCache>
                <c:ptCount val="201"/>
                <c:lvl>
                  <c:pt idx="0">
                    <c:v>-1.00</c:v>
                  </c:pt>
                  <c:pt idx="1">
                    <c:v>-0.99</c:v>
                  </c:pt>
                  <c:pt idx="2">
                    <c:v>-0.98</c:v>
                  </c:pt>
                  <c:pt idx="3">
                    <c:v>-0.97</c:v>
                  </c:pt>
                  <c:pt idx="4">
                    <c:v>-0.96</c:v>
                  </c:pt>
                  <c:pt idx="5">
                    <c:v>-0.95</c:v>
                  </c:pt>
                  <c:pt idx="6">
                    <c:v>-0.94</c:v>
                  </c:pt>
                  <c:pt idx="7">
                    <c:v>-0.93</c:v>
                  </c:pt>
                  <c:pt idx="8">
                    <c:v>-0.92</c:v>
                  </c:pt>
                  <c:pt idx="9">
                    <c:v>-0.91</c:v>
                  </c:pt>
                  <c:pt idx="10">
                    <c:v>-0.90</c:v>
                  </c:pt>
                  <c:pt idx="11">
                    <c:v>-0.89</c:v>
                  </c:pt>
                  <c:pt idx="12">
                    <c:v>-0.88</c:v>
                  </c:pt>
                  <c:pt idx="13">
                    <c:v>-0.87</c:v>
                  </c:pt>
                  <c:pt idx="14">
                    <c:v>-0.86</c:v>
                  </c:pt>
                  <c:pt idx="15">
                    <c:v>-0.85</c:v>
                  </c:pt>
                  <c:pt idx="16">
                    <c:v>-0.84</c:v>
                  </c:pt>
                  <c:pt idx="17">
                    <c:v>-0.83</c:v>
                  </c:pt>
                  <c:pt idx="18">
                    <c:v>-0.82</c:v>
                  </c:pt>
                  <c:pt idx="19">
                    <c:v>-0.81</c:v>
                  </c:pt>
                  <c:pt idx="20">
                    <c:v>-0.80</c:v>
                  </c:pt>
                  <c:pt idx="21">
                    <c:v>-0.79</c:v>
                  </c:pt>
                  <c:pt idx="22">
                    <c:v>-0.78</c:v>
                  </c:pt>
                  <c:pt idx="23">
                    <c:v>-0.77</c:v>
                  </c:pt>
                  <c:pt idx="24">
                    <c:v>-0.76</c:v>
                  </c:pt>
                  <c:pt idx="25">
                    <c:v>-0.75</c:v>
                  </c:pt>
                  <c:pt idx="26">
                    <c:v>-0.74</c:v>
                  </c:pt>
                  <c:pt idx="27">
                    <c:v>-0.73</c:v>
                  </c:pt>
                  <c:pt idx="28">
                    <c:v>-0.72</c:v>
                  </c:pt>
                  <c:pt idx="29">
                    <c:v>-0.71</c:v>
                  </c:pt>
                  <c:pt idx="30">
                    <c:v>-0.70</c:v>
                  </c:pt>
                  <c:pt idx="31">
                    <c:v>-0.69</c:v>
                  </c:pt>
                  <c:pt idx="32">
                    <c:v>-0.68</c:v>
                  </c:pt>
                  <c:pt idx="33">
                    <c:v>-0.67</c:v>
                  </c:pt>
                  <c:pt idx="34">
                    <c:v>-0.66</c:v>
                  </c:pt>
                  <c:pt idx="35">
                    <c:v>-0.65</c:v>
                  </c:pt>
                  <c:pt idx="36">
                    <c:v>-0.64</c:v>
                  </c:pt>
                  <c:pt idx="37">
                    <c:v>-0.63</c:v>
                  </c:pt>
                  <c:pt idx="38">
                    <c:v>-0.62</c:v>
                  </c:pt>
                  <c:pt idx="39">
                    <c:v>-0.61</c:v>
                  </c:pt>
                  <c:pt idx="40">
                    <c:v>-0.60</c:v>
                  </c:pt>
                  <c:pt idx="41">
                    <c:v>-0.59</c:v>
                  </c:pt>
                  <c:pt idx="42">
                    <c:v>-0.58</c:v>
                  </c:pt>
                  <c:pt idx="43">
                    <c:v>-0.57</c:v>
                  </c:pt>
                  <c:pt idx="44">
                    <c:v>-0.56</c:v>
                  </c:pt>
                  <c:pt idx="45">
                    <c:v>-0.55</c:v>
                  </c:pt>
                  <c:pt idx="46">
                    <c:v>-0.54</c:v>
                  </c:pt>
                  <c:pt idx="47">
                    <c:v>-0.53</c:v>
                  </c:pt>
                  <c:pt idx="48">
                    <c:v>-0.52</c:v>
                  </c:pt>
                  <c:pt idx="49">
                    <c:v>-0.51</c:v>
                  </c:pt>
                  <c:pt idx="50">
                    <c:v>-0.50</c:v>
                  </c:pt>
                  <c:pt idx="51">
                    <c:v>-0.49</c:v>
                  </c:pt>
                  <c:pt idx="52">
                    <c:v>-0.48</c:v>
                  </c:pt>
                  <c:pt idx="53">
                    <c:v>-0.47</c:v>
                  </c:pt>
                  <c:pt idx="54">
                    <c:v>-0.46</c:v>
                  </c:pt>
                  <c:pt idx="55">
                    <c:v>-0.45</c:v>
                  </c:pt>
                  <c:pt idx="56">
                    <c:v>-0.44</c:v>
                  </c:pt>
                  <c:pt idx="57">
                    <c:v>-0.43</c:v>
                  </c:pt>
                  <c:pt idx="58">
                    <c:v>-0.42</c:v>
                  </c:pt>
                  <c:pt idx="59">
                    <c:v>-0.41</c:v>
                  </c:pt>
                  <c:pt idx="60">
                    <c:v>-0.40</c:v>
                  </c:pt>
                  <c:pt idx="61">
                    <c:v>-0.39</c:v>
                  </c:pt>
                  <c:pt idx="62">
                    <c:v>-0.38</c:v>
                  </c:pt>
                  <c:pt idx="63">
                    <c:v>-0.37</c:v>
                  </c:pt>
                  <c:pt idx="64">
                    <c:v>-0.36</c:v>
                  </c:pt>
                  <c:pt idx="65">
                    <c:v>-0.35</c:v>
                  </c:pt>
                  <c:pt idx="66">
                    <c:v>-0.34</c:v>
                  </c:pt>
                  <c:pt idx="67">
                    <c:v>-0.33</c:v>
                  </c:pt>
                  <c:pt idx="68">
                    <c:v>-0.32</c:v>
                  </c:pt>
                  <c:pt idx="69">
                    <c:v>-0.31</c:v>
                  </c:pt>
                  <c:pt idx="70">
                    <c:v>-0.30</c:v>
                  </c:pt>
                  <c:pt idx="71">
                    <c:v>-0.29</c:v>
                  </c:pt>
                  <c:pt idx="72">
                    <c:v>-0.28</c:v>
                  </c:pt>
                  <c:pt idx="73">
                    <c:v>-0.27</c:v>
                  </c:pt>
                  <c:pt idx="74">
                    <c:v>-0.26</c:v>
                  </c:pt>
                  <c:pt idx="75">
                    <c:v>-0.25</c:v>
                  </c:pt>
                  <c:pt idx="76">
                    <c:v>-0.24</c:v>
                  </c:pt>
                  <c:pt idx="77">
                    <c:v>-0.23</c:v>
                  </c:pt>
                  <c:pt idx="78">
                    <c:v>-0.22</c:v>
                  </c:pt>
                  <c:pt idx="79">
                    <c:v>-0.21</c:v>
                  </c:pt>
                  <c:pt idx="80">
                    <c:v>-0.20</c:v>
                  </c:pt>
                  <c:pt idx="81">
                    <c:v>-0.19</c:v>
                  </c:pt>
                  <c:pt idx="82">
                    <c:v>-0.18</c:v>
                  </c:pt>
                  <c:pt idx="83">
                    <c:v>-0.17</c:v>
                  </c:pt>
                  <c:pt idx="84">
                    <c:v>-0.16</c:v>
                  </c:pt>
                  <c:pt idx="85">
                    <c:v>-0.15</c:v>
                  </c:pt>
                  <c:pt idx="86">
                    <c:v>-0.14</c:v>
                  </c:pt>
                  <c:pt idx="87">
                    <c:v>-0.13</c:v>
                  </c:pt>
                  <c:pt idx="88">
                    <c:v>-0.12</c:v>
                  </c:pt>
                  <c:pt idx="89">
                    <c:v>-0.11</c:v>
                  </c:pt>
                  <c:pt idx="90">
                    <c:v>-0.10</c:v>
                  </c:pt>
                  <c:pt idx="91">
                    <c:v>-0.09</c:v>
                  </c:pt>
                  <c:pt idx="92">
                    <c:v>-0.08</c:v>
                  </c:pt>
                  <c:pt idx="93">
                    <c:v>-0.07</c:v>
                  </c:pt>
                  <c:pt idx="94">
                    <c:v>-0.06</c:v>
                  </c:pt>
                  <c:pt idx="95">
                    <c:v>-0.05</c:v>
                  </c:pt>
                  <c:pt idx="96">
                    <c:v>-0.04</c:v>
                  </c:pt>
                  <c:pt idx="97">
                    <c:v>-0.03</c:v>
                  </c:pt>
                  <c:pt idx="98">
                    <c:v>-0.02</c:v>
                  </c:pt>
                  <c:pt idx="99">
                    <c:v>-0.01</c:v>
                  </c:pt>
                  <c:pt idx="100">
                    <c:v>0.00</c:v>
                  </c:pt>
                  <c:pt idx="101">
                    <c:v>0.01</c:v>
                  </c:pt>
                  <c:pt idx="102">
                    <c:v>0.02</c:v>
                  </c:pt>
                  <c:pt idx="103">
                    <c:v>0.03</c:v>
                  </c:pt>
                  <c:pt idx="104">
                    <c:v>0.04</c:v>
                  </c:pt>
                  <c:pt idx="105">
                    <c:v>0.05</c:v>
                  </c:pt>
                  <c:pt idx="106">
                    <c:v>0.06</c:v>
                  </c:pt>
                  <c:pt idx="107">
                    <c:v>0.07</c:v>
                  </c:pt>
                  <c:pt idx="108">
                    <c:v>0.08</c:v>
                  </c:pt>
                  <c:pt idx="109">
                    <c:v>0.09</c:v>
                  </c:pt>
                  <c:pt idx="110">
                    <c:v>0.10</c:v>
                  </c:pt>
                  <c:pt idx="111">
                    <c:v>0.11</c:v>
                  </c:pt>
                  <c:pt idx="112">
                    <c:v>0.12</c:v>
                  </c:pt>
                  <c:pt idx="113">
                    <c:v>0.13</c:v>
                  </c:pt>
                  <c:pt idx="114">
                    <c:v>0.14</c:v>
                  </c:pt>
                  <c:pt idx="115">
                    <c:v>0.15</c:v>
                  </c:pt>
                  <c:pt idx="116">
                    <c:v>0.16</c:v>
                  </c:pt>
                  <c:pt idx="117">
                    <c:v>0.17</c:v>
                  </c:pt>
                  <c:pt idx="118">
                    <c:v>0.18</c:v>
                  </c:pt>
                  <c:pt idx="119">
                    <c:v>0.19</c:v>
                  </c:pt>
                  <c:pt idx="120">
                    <c:v>0.20</c:v>
                  </c:pt>
                  <c:pt idx="121">
                    <c:v>0.21</c:v>
                  </c:pt>
                  <c:pt idx="122">
                    <c:v>0.22</c:v>
                  </c:pt>
                  <c:pt idx="123">
                    <c:v>0.23</c:v>
                  </c:pt>
                  <c:pt idx="124">
                    <c:v>0.24</c:v>
                  </c:pt>
                  <c:pt idx="125">
                    <c:v>0.25</c:v>
                  </c:pt>
                  <c:pt idx="126">
                    <c:v>0.26</c:v>
                  </c:pt>
                  <c:pt idx="127">
                    <c:v>0.27</c:v>
                  </c:pt>
                  <c:pt idx="128">
                    <c:v>0.28</c:v>
                  </c:pt>
                  <c:pt idx="129">
                    <c:v>0.29</c:v>
                  </c:pt>
                  <c:pt idx="130">
                    <c:v>0.30</c:v>
                  </c:pt>
                  <c:pt idx="131">
                    <c:v>0.31</c:v>
                  </c:pt>
                  <c:pt idx="132">
                    <c:v>0.32</c:v>
                  </c:pt>
                  <c:pt idx="133">
                    <c:v>0.33</c:v>
                  </c:pt>
                  <c:pt idx="134">
                    <c:v>0.34</c:v>
                  </c:pt>
                  <c:pt idx="135">
                    <c:v>0.35</c:v>
                  </c:pt>
                  <c:pt idx="136">
                    <c:v>0.36</c:v>
                  </c:pt>
                  <c:pt idx="137">
                    <c:v>0.37</c:v>
                  </c:pt>
                  <c:pt idx="138">
                    <c:v>0.38</c:v>
                  </c:pt>
                  <c:pt idx="139">
                    <c:v>0.39</c:v>
                  </c:pt>
                  <c:pt idx="140">
                    <c:v>0.40</c:v>
                  </c:pt>
                  <c:pt idx="141">
                    <c:v>0.41</c:v>
                  </c:pt>
                  <c:pt idx="142">
                    <c:v>0.42</c:v>
                  </c:pt>
                  <c:pt idx="143">
                    <c:v>0.43</c:v>
                  </c:pt>
                  <c:pt idx="144">
                    <c:v>0.44</c:v>
                  </c:pt>
                  <c:pt idx="145">
                    <c:v>0.45</c:v>
                  </c:pt>
                  <c:pt idx="146">
                    <c:v>0.46</c:v>
                  </c:pt>
                  <c:pt idx="147">
                    <c:v>0.47</c:v>
                  </c:pt>
                  <c:pt idx="148">
                    <c:v>0.48</c:v>
                  </c:pt>
                  <c:pt idx="149">
                    <c:v>0.49</c:v>
                  </c:pt>
                  <c:pt idx="150">
                    <c:v>0.50</c:v>
                  </c:pt>
                  <c:pt idx="151">
                    <c:v>0.51</c:v>
                  </c:pt>
                  <c:pt idx="152">
                    <c:v>0.52</c:v>
                  </c:pt>
                  <c:pt idx="153">
                    <c:v>0.53</c:v>
                  </c:pt>
                  <c:pt idx="154">
                    <c:v>0.54</c:v>
                  </c:pt>
                  <c:pt idx="155">
                    <c:v>0.55</c:v>
                  </c:pt>
                  <c:pt idx="156">
                    <c:v>0.56</c:v>
                  </c:pt>
                  <c:pt idx="157">
                    <c:v>0.57</c:v>
                  </c:pt>
                  <c:pt idx="158">
                    <c:v>0.58</c:v>
                  </c:pt>
                  <c:pt idx="159">
                    <c:v>0.59</c:v>
                  </c:pt>
                  <c:pt idx="160">
                    <c:v>0.60</c:v>
                  </c:pt>
                  <c:pt idx="161">
                    <c:v>0.61</c:v>
                  </c:pt>
                  <c:pt idx="162">
                    <c:v>0.62</c:v>
                  </c:pt>
                  <c:pt idx="163">
                    <c:v>0.63</c:v>
                  </c:pt>
                  <c:pt idx="164">
                    <c:v>0.64</c:v>
                  </c:pt>
                  <c:pt idx="165">
                    <c:v>0.65</c:v>
                  </c:pt>
                  <c:pt idx="166">
                    <c:v>0.66</c:v>
                  </c:pt>
                  <c:pt idx="167">
                    <c:v>0.67</c:v>
                  </c:pt>
                  <c:pt idx="168">
                    <c:v>0.68</c:v>
                  </c:pt>
                  <c:pt idx="169">
                    <c:v>0.69</c:v>
                  </c:pt>
                  <c:pt idx="170">
                    <c:v>0.70</c:v>
                  </c:pt>
                  <c:pt idx="171">
                    <c:v>0.71</c:v>
                  </c:pt>
                  <c:pt idx="172">
                    <c:v>0.72</c:v>
                  </c:pt>
                  <c:pt idx="173">
                    <c:v>0.73</c:v>
                  </c:pt>
                  <c:pt idx="174">
                    <c:v>0.74</c:v>
                  </c:pt>
                  <c:pt idx="175">
                    <c:v>0.75</c:v>
                  </c:pt>
                  <c:pt idx="176">
                    <c:v>0.76</c:v>
                  </c:pt>
                  <c:pt idx="177">
                    <c:v>0.77</c:v>
                  </c:pt>
                  <c:pt idx="178">
                    <c:v>0.78</c:v>
                  </c:pt>
                  <c:pt idx="179">
                    <c:v>0.79</c:v>
                  </c:pt>
                  <c:pt idx="180">
                    <c:v>0.80</c:v>
                  </c:pt>
                  <c:pt idx="181">
                    <c:v>0.81</c:v>
                  </c:pt>
                  <c:pt idx="182">
                    <c:v>0.82</c:v>
                  </c:pt>
                  <c:pt idx="183">
                    <c:v>0.83</c:v>
                  </c:pt>
                  <c:pt idx="184">
                    <c:v>0.84</c:v>
                  </c:pt>
                  <c:pt idx="185">
                    <c:v>0.85</c:v>
                  </c:pt>
                  <c:pt idx="186">
                    <c:v>0.86</c:v>
                  </c:pt>
                  <c:pt idx="187">
                    <c:v>0.87</c:v>
                  </c:pt>
                  <c:pt idx="188">
                    <c:v>0.88</c:v>
                  </c:pt>
                  <c:pt idx="189">
                    <c:v>0.89</c:v>
                  </c:pt>
                  <c:pt idx="190">
                    <c:v>0.90</c:v>
                  </c:pt>
                  <c:pt idx="191">
                    <c:v>0.91</c:v>
                  </c:pt>
                  <c:pt idx="192">
                    <c:v>0.92</c:v>
                  </c:pt>
                  <c:pt idx="193">
                    <c:v>0.93</c:v>
                  </c:pt>
                  <c:pt idx="194">
                    <c:v>0.94</c:v>
                  </c:pt>
                  <c:pt idx="195">
                    <c:v>0.95</c:v>
                  </c:pt>
                  <c:pt idx="196">
                    <c:v>0.96</c:v>
                  </c:pt>
                  <c:pt idx="197">
                    <c:v>0.97</c:v>
                  </c:pt>
                  <c:pt idx="198">
                    <c:v>0.98</c:v>
                  </c:pt>
                  <c:pt idx="199">
                    <c:v>0.99</c:v>
                  </c:pt>
                  <c:pt idx="200">
                    <c:v>1.00</c:v>
                  </c:pt>
                </c:lvl>
              </c:multiLvlStrCache>
            </c:multiLvlStrRef>
          </c:cat>
          <c:val>
            <c:numRef>
              <c:f>Sheet1!$B$2:$B$202</c:f>
              <c:numCache>
                <c:formatCode>General</c:formatCode>
                <c:ptCount val="201"/>
                <c:pt idx="0">
                  <c:v>-1</c:v>
                </c:pt>
                <c:pt idx="1">
                  <c:v>-0.99</c:v>
                </c:pt>
                <c:pt idx="2">
                  <c:v>-0.98</c:v>
                </c:pt>
                <c:pt idx="3">
                  <c:v>-0.97</c:v>
                </c:pt>
                <c:pt idx="4">
                  <c:v>-0.96</c:v>
                </c:pt>
                <c:pt idx="5">
                  <c:v>-0.95</c:v>
                </c:pt>
                <c:pt idx="6">
                  <c:v>-0.94</c:v>
                </c:pt>
                <c:pt idx="7">
                  <c:v>-0.9299999999999999</c:v>
                </c:pt>
                <c:pt idx="8">
                  <c:v>-0.92</c:v>
                </c:pt>
                <c:pt idx="9">
                  <c:v>-0.91</c:v>
                </c:pt>
                <c:pt idx="10">
                  <c:v>-0.9</c:v>
                </c:pt>
                <c:pt idx="11">
                  <c:v>-0.89</c:v>
                </c:pt>
                <c:pt idx="12">
                  <c:v>-0.88</c:v>
                </c:pt>
                <c:pt idx="13">
                  <c:v>-0.87</c:v>
                </c:pt>
                <c:pt idx="14">
                  <c:v>-0.86</c:v>
                </c:pt>
                <c:pt idx="15">
                  <c:v>-0.85</c:v>
                </c:pt>
                <c:pt idx="16">
                  <c:v>-0.84</c:v>
                </c:pt>
                <c:pt idx="17">
                  <c:v>-0.83</c:v>
                </c:pt>
                <c:pt idx="18">
                  <c:v>-0.8200000000000001</c:v>
                </c:pt>
                <c:pt idx="19">
                  <c:v>-0.81</c:v>
                </c:pt>
                <c:pt idx="20">
                  <c:v>-0.8</c:v>
                </c:pt>
                <c:pt idx="21">
                  <c:v>-0.79</c:v>
                </c:pt>
                <c:pt idx="22">
                  <c:v>-0.78</c:v>
                </c:pt>
                <c:pt idx="23">
                  <c:v>-0.77</c:v>
                </c:pt>
                <c:pt idx="24">
                  <c:v>-0.76</c:v>
                </c:pt>
                <c:pt idx="25">
                  <c:v>-0.75</c:v>
                </c:pt>
                <c:pt idx="26">
                  <c:v>-0.74</c:v>
                </c:pt>
                <c:pt idx="27">
                  <c:v>-0.73</c:v>
                </c:pt>
                <c:pt idx="28">
                  <c:v>-0.72</c:v>
                </c:pt>
                <c:pt idx="29">
                  <c:v>-0.71</c:v>
                </c:pt>
                <c:pt idx="30">
                  <c:v>-0.7</c:v>
                </c:pt>
                <c:pt idx="31">
                  <c:v>-0.69</c:v>
                </c:pt>
                <c:pt idx="32">
                  <c:v>-0.6799999999999999</c:v>
                </c:pt>
                <c:pt idx="33">
                  <c:v>-0.6699999999999999</c:v>
                </c:pt>
                <c:pt idx="34">
                  <c:v>-0.6599999999999999</c:v>
                </c:pt>
                <c:pt idx="35">
                  <c:v>-0.65</c:v>
                </c:pt>
                <c:pt idx="36">
                  <c:v>-0.64</c:v>
                </c:pt>
                <c:pt idx="37">
                  <c:v>-0.63</c:v>
                </c:pt>
                <c:pt idx="38">
                  <c:v>-0.62</c:v>
                </c:pt>
                <c:pt idx="39">
                  <c:v>-0.61</c:v>
                </c:pt>
                <c:pt idx="40">
                  <c:v>-0.6</c:v>
                </c:pt>
                <c:pt idx="41">
                  <c:v>-0.5900000000000001</c:v>
                </c:pt>
                <c:pt idx="42">
                  <c:v>-0.5800000000000001</c:v>
                </c:pt>
                <c:pt idx="43">
                  <c:v>-0.5700000000000001</c:v>
                </c:pt>
                <c:pt idx="44">
                  <c:v>-0.56</c:v>
                </c:pt>
                <c:pt idx="45">
                  <c:v>-0.55</c:v>
                </c:pt>
                <c:pt idx="46">
                  <c:v>-0.54</c:v>
                </c:pt>
                <c:pt idx="47">
                  <c:v>-0.53</c:v>
                </c:pt>
                <c:pt idx="48">
                  <c:v>-0.52</c:v>
                </c:pt>
                <c:pt idx="49">
                  <c:v>-0.51</c:v>
                </c:pt>
                <c:pt idx="50">
                  <c:v>-0.5</c:v>
                </c:pt>
                <c:pt idx="51">
                  <c:v>-0.49</c:v>
                </c:pt>
                <c:pt idx="52">
                  <c:v>-0.48</c:v>
                </c:pt>
                <c:pt idx="53">
                  <c:v>-0.47</c:v>
                </c:pt>
                <c:pt idx="54">
                  <c:v>-0.45999999999999996</c:v>
                </c:pt>
                <c:pt idx="55">
                  <c:v>-0.44999999999999996</c:v>
                </c:pt>
                <c:pt idx="56">
                  <c:v>-0.43999999999999995</c:v>
                </c:pt>
                <c:pt idx="57">
                  <c:v>-0.43000000000000005</c:v>
                </c:pt>
                <c:pt idx="58">
                  <c:v>-0.42000000000000004</c:v>
                </c:pt>
                <c:pt idx="59">
                  <c:v>-0.41000000000000003</c:v>
                </c:pt>
                <c:pt idx="60">
                  <c:v>-0.4</c:v>
                </c:pt>
                <c:pt idx="61">
                  <c:v>-0.39</c:v>
                </c:pt>
                <c:pt idx="62">
                  <c:v>-0.38</c:v>
                </c:pt>
                <c:pt idx="63">
                  <c:v>-0.37</c:v>
                </c:pt>
                <c:pt idx="64">
                  <c:v>-0.36</c:v>
                </c:pt>
                <c:pt idx="65">
                  <c:v>-0.35</c:v>
                </c:pt>
                <c:pt idx="66">
                  <c:v>-0.33999999999999997</c:v>
                </c:pt>
                <c:pt idx="67">
                  <c:v>-0.32999999999999996</c:v>
                </c:pt>
                <c:pt idx="68">
                  <c:v>-0.31999999999999995</c:v>
                </c:pt>
                <c:pt idx="69">
                  <c:v>-0.31000000000000005</c:v>
                </c:pt>
                <c:pt idx="70">
                  <c:v>-0.30000000000000004</c:v>
                </c:pt>
                <c:pt idx="71">
                  <c:v>-0.29000000000000004</c:v>
                </c:pt>
                <c:pt idx="72">
                  <c:v>-0.28</c:v>
                </c:pt>
                <c:pt idx="73">
                  <c:v>-0.27</c:v>
                </c:pt>
                <c:pt idx="74">
                  <c:v>-0.26</c:v>
                </c:pt>
                <c:pt idx="75">
                  <c:v>-0.25</c:v>
                </c:pt>
                <c:pt idx="76">
                  <c:v>-0.24</c:v>
                </c:pt>
                <c:pt idx="77">
                  <c:v>-0.22999999999999998</c:v>
                </c:pt>
                <c:pt idx="78">
                  <c:v>-0.21999999999999997</c:v>
                </c:pt>
                <c:pt idx="79">
                  <c:v>-0.20999999999999996</c:v>
                </c:pt>
                <c:pt idx="80">
                  <c:v>-0.19999999999999996</c:v>
                </c:pt>
                <c:pt idx="81">
                  <c:v>-0.18999999999999995</c:v>
                </c:pt>
                <c:pt idx="82">
                  <c:v>-0.18000000000000005</c:v>
                </c:pt>
                <c:pt idx="83">
                  <c:v>-0.17000000000000004</c:v>
                </c:pt>
                <c:pt idx="84">
                  <c:v>-0.16000000000000003</c:v>
                </c:pt>
                <c:pt idx="85">
                  <c:v>-0.15000000000000002</c:v>
                </c:pt>
                <c:pt idx="86">
                  <c:v>-0.14</c:v>
                </c:pt>
                <c:pt idx="87">
                  <c:v>-0.13</c:v>
                </c:pt>
                <c:pt idx="88">
                  <c:v>-0.12</c:v>
                </c:pt>
                <c:pt idx="89">
                  <c:v>-0.10999999999999999</c:v>
                </c:pt>
                <c:pt idx="90">
                  <c:v>-0.09999999999999998</c:v>
                </c:pt>
                <c:pt idx="91">
                  <c:v>-0.08999999999999997</c:v>
                </c:pt>
                <c:pt idx="92">
                  <c:v>-0.07999999999999996</c:v>
                </c:pt>
                <c:pt idx="93">
                  <c:v>-0.06999999999999995</c:v>
                </c:pt>
                <c:pt idx="94">
                  <c:v>-0.06000000000000005</c:v>
                </c:pt>
                <c:pt idx="95">
                  <c:v>-0.050000000000000044</c:v>
                </c:pt>
                <c:pt idx="96">
                  <c:v>-0.040000000000000036</c:v>
                </c:pt>
                <c:pt idx="97">
                  <c:v>-0.030000000000000027</c:v>
                </c:pt>
                <c:pt idx="98">
                  <c:v>-0.020000000000000018</c:v>
                </c:pt>
                <c:pt idx="99">
                  <c:v>-0.010000000000000009</c:v>
                </c:pt>
                <c:pt idx="100">
                  <c:v>0</c:v>
                </c:pt>
                <c:pt idx="101">
                  <c:v>0.010000000000000009</c:v>
                </c:pt>
                <c:pt idx="102">
                  <c:v>0.020000000000000018</c:v>
                </c:pt>
                <c:pt idx="103">
                  <c:v>0.030000000000000027</c:v>
                </c:pt>
                <c:pt idx="104">
                  <c:v>0.040000000000000036</c:v>
                </c:pt>
                <c:pt idx="105">
                  <c:v>0.050000000000000044</c:v>
                </c:pt>
                <c:pt idx="106">
                  <c:v>0.06000000000000005</c:v>
                </c:pt>
                <c:pt idx="107">
                  <c:v>0.07000000000000006</c:v>
                </c:pt>
                <c:pt idx="108">
                  <c:v>0.08000000000000007</c:v>
                </c:pt>
                <c:pt idx="109">
                  <c:v>0.09000000000000008</c:v>
                </c:pt>
                <c:pt idx="110">
                  <c:v>0.10000000000000009</c:v>
                </c:pt>
                <c:pt idx="111">
                  <c:v>0.1100000000000001</c:v>
                </c:pt>
                <c:pt idx="112">
                  <c:v>0.1200000000000001</c:v>
                </c:pt>
                <c:pt idx="113">
                  <c:v>0.1299999999999999</c:v>
                </c:pt>
                <c:pt idx="114">
                  <c:v>0.1399999999999999</c:v>
                </c:pt>
                <c:pt idx="115">
                  <c:v>0.1499999999999999</c:v>
                </c:pt>
                <c:pt idx="116">
                  <c:v>0.15999999999999992</c:v>
                </c:pt>
                <c:pt idx="117">
                  <c:v>0.16999999999999993</c:v>
                </c:pt>
                <c:pt idx="118">
                  <c:v>0.17999999999999994</c:v>
                </c:pt>
                <c:pt idx="119">
                  <c:v>0.18999999999999995</c:v>
                </c:pt>
                <c:pt idx="120">
                  <c:v>0.19999999999999996</c:v>
                </c:pt>
                <c:pt idx="121">
                  <c:v>0.20999999999999996</c:v>
                </c:pt>
                <c:pt idx="122">
                  <c:v>0.21999999999999997</c:v>
                </c:pt>
                <c:pt idx="123">
                  <c:v>0.22999999999999998</c:v>
                </c:pt>
                <c:pt idx="124">
                  <c:v>0.24</c:v>
                </c:pt>
                <c:pt idx="125">
                  <c:v>0.25</c:v>
                </c:pt>
                <c:pt idx="126">
                  <c:v>0.26</c:v>
                </c:pt>
                <c:pt idx="127">
                  <c:v>0.27</c:v>
                </c:pt>
                <c:pt idx="128">
                  <c:v>0.28</c:v>
                </c:pt>
                <c:pt idx="129">
                  <c:v>0.29000000000000004</c:v>
                </c:pt>
                <c:pt idx="130">
                  <c:v>0.30000000000000004</c:v>
                </c:pt>
                <c:pt idx="131">
                  <c:v>0.31000000000000005</c:v>
                </c:pt>
                <c:pt idx="132">
                  <c:v>0.32000000000000006</c:v>
                </c:pt>
                <c:pt idx="133">
                  <c:v>0.33000000000000007</c:v>
                </c:pt>
                <c:pt idx="134">
                  <c:v>0.3400000000000001</c:v>
                </c:pt>
                <c:pt idx="135">
                  <c:v>0.3500000000000001</c:v>
                </c:pt>
                <c:pt idx="136">
                  <c:v>0.3600000000000001</c:v>
                </c:pt>
                <c:pt idx="137">
                  <c:v>0.3700000000000001</c:v>
                </c:pt>
                <c:pt idx="138">
                  <c:v>0.3799999999999999</c:v>
                </c:pt>
                <c:pt idx="139">
                  <c:v>0.3899999999999999</c:v>
                </c:pt>
                <c:pt idx="140">
                  <c:v>0.3999999999999999</c:v>
                </c:pt>
                <c:pt idx="141">
                  <c:v>0.4099999999999999</c:v>
                </c:pt>
                <c:pt idx="142">
                  <c:v>0.41999999999999993</c:v>
                </c:pt>
                <c:pt idx="143">
                  <c:v>0.42999999999999994</c:v>
                </c:pt>
                <c:pt idx="144">
                  <c:v>0.43999999999999995</c:v>
                </c:pt>
                <c:pt idx="145">
                  <c:v>0.44999999999999996</c:v>
                </c:pt>
                <c:pt idx="146">
                  <c:v>0.45999999999999996</c:v>
                </c:pt>
                <c:pt idx="147">
                  <c:v>0.47</c:v>
                </c:pt>
                <c:pt idx="148">
                  <c:v>0.48</c:v>
                </c:pt>
                <c:pt idx="149">
                  <c:v>0.49</c:v>
                </c:pt>
                <c:pt idx="150">
                  <c:v>0.5</c:v>
                </c:pt>
                <c:pt idx="151">
                  <c:v>0.51</c:v>
                </c:pt>
                <c:pt idx="152">
                  <c:v>0.52</c:v>
                </c:pt>
                <c:pt idx="153">
                  <c:v>0.53</c:v>
                </c:pt>
                <c:pt idx="154">
                  <c:v>0.54</c:v>
                </c:pt>
                <c:pt idx="155">
                  <c:v>0.55</c:v>
                </c:pt>
                <c:pt idx="156">
                  <c:v>0.56</c:v>
                </c:pt>
                <c:pt idx="157">
                  <c:v>0.5700000000000001</c:v>
                </c:pt>
                <c:pt idx="158">
                  <c:v>0.5800000000000001</c:v>
                </c:pt>
                <c:pt idx="159">
                  <c:v>0.5900000000000001</c:v>
                </c:pt>
                <c:pt idx="160">
                  <c:v>0.6000000000000001</c:v>
                </c:pt>
                <c:pt idx="161">
                  <c:v>0.6100000000000001</c:v>
                </c:pt>
                <c:pt idx="162">
                  <c:v>0.6200000000000001</c:v>
                </c:pt>
                <c:pt idx="163">
                  <c:v>0.6299999999999999</c:v>
                </c:pt>
                <c:pt idx="164">
                  <c:v>0.6399999999999999</c:v>
                </c:pt>
                <c:pt idx="165">
                  <c:v>0.6499999999999999</c:v>
                </c:pt>
                <c:pt idx="166">
                  <c:v>0.6599999999999999</c:v>
                </c:pt>
                <c:pt idx="167">
                  <c:v>0.6699999999999999</c:v>
                </c:pt>
                <c:pt idx="168">
                  <c:v>0.6799999999999999</c:v>
                </c:pt>
                <c:pt idx="169">
                  <c:v>0.69</c:v>
                </c:pt>
                <c:pt idx="170">
                  <c:v>0.7</c:v>
                </c:pt>
                <c:pt idx="171">
                  <c:v>0.71</c:v>
                </c:pt>
                <c:pt idx="172">
                  <c:v>0.72</c:v>
                </c:pt>
                <c:pt idx="173">
                  <c:v>0.73</c:v>
                </c:pt>
                <c:pt idx="174">
                  <c:v>0.74</c:v>
                </c:pt>
                <c:pt idx="175">
                  <c:v>0.75</c:v>
                </c:pt>
                <c:pt idx="176">
                  <c:v>0.76</c:v>
                </c:pt>
                <c:pt idx="177">
                  <c:v>0.77</c:v>
                </c:pt>
                <c:pt idx="178">
                  <c:v>0.78</c:v>
                </c:pt>
                <c:pt idx="179">
                  <c:v>0.79</c:v>
                </c:pt>
                <c:pt idx="180">
                  <c:v>0.8</c:v>
                </c:pt>
                <c:pt idx="181">
                  <c:v>0.81</c:v>
                </c:pt>
                <c:pt idx="182">
                  <c:v>0.8200000000000001</c:v>
                </c:pt>
                <c:pt idx="183">
                  <c:v>0.8300000000000001</c:v>
                </c:pt>
                <c:pt idx="184">
                  <c:v>0.8400000000000001</c:v>
                </c:pt>
                <c:pt idx="185">
                  <c:v>0.8500000000000001</c:v>
                </c:pt>
                <c:pt idx="186">
                  <c:v>0.8600000000000001</c:v>
                </c:pt>
                <c:pt idx="187">
                  <c:v>0.8700000000000001</c:v>
                </c:pt>
                <c:pt idx="188">
                  <c:v>0.8799999999999999</c:v>
                </c:pt>
                <c:pt idx="189">
                  <c:v>0.8899999999999999</c:v>
                </c:pt>
                <c:pt idx="190">
                  <c:v>0.8999999999999999</c:v>
                </c:pt>
                <c:pt idx="191">
                  <c:v>0.9099999999999999</c:v>
                </c:pt>
                <c:pt idx="192">
                  <c:v>0.9199999999999999</c:v>
                </c:pt>
                <c:pt idx="193">
                  <c:v>0.9299999999999999</c:v>
                </c:pt>
                <c:pt idx="194">
                  <c:v>0.94</c:v>
                </c:pt>
                <c:pt idx="195">
                  <c:v>0.95</c:v>
                </c:pt>
                <c:pt idx="196">
                  <c:v>0.96</c:v>
                </c:pt>
                <c:pt idx="197">
                  <c:v>0.97</c:v>
                </c:pt>
                <c:pt idx="198">
                  <c:v>0.98</c:v>
                </c:pt>
                <c:pt idx="199">
                  <c:v>0.99</c:v>
                </c:pt>
                <c:pt idx="200">
                  <c:v>1</c:v>
                </c:pt>
              </c:numCache>
            </c:numRef>
          </c:val>
          <c:smooth val="0"/>
        </c:ser>
        <c:ser>
          <c:idx val="1"/>
          <c:order val="1"/>
          <c:tx>
            <c:strRef>
              <c:f>Sheet1!$C$1</c:f>
              <c:strCache>
                <c:ptCount val="1"/>
                <c:pt idx="0">
                  <c:v>3-bit output</c:v>
                </c:pt>
              </c:strCache>
            </c:strRef>
          </c:tx>
          <c:spPr>
            <a:solidFill>
              <a:srgbClr val="2EC4B6"/>
            </a:solidFill>
            <a:ln w="19050" cap="flat">
              <a:solidFill>
                <a:srgbClr val="2EC4B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EC4B6"/>
              </a:solidFill>
              <a:ln w="9525" cap="flat">
                <a:solidFill>
                  <a:srgbClr val="2EC4B6"/>
                </a:solidFill>
                <a:prstDash val="solid"/>
                <a:round/>
              </a:ln>
              <a:effectLst/>
            </c:spPr>
          </c:marker>
          <c:cat>
            <c:multiLvlStrRef>
              <c:f>Sheet1!$A$2:$A$202</c:f>
              <c:multiLvlStrCache>
                <c:ptCount val="201"/>
                <c:lvl>
                  <c:pt idx="0">
                    <c:v>-1.00</c:v>
                  </c:pt>
                  <c:pt idx="1">
                    <c:v>-0.99</c:v>
                  </c:pt>
                  <c:pt idx="2">
                    <c:v>-0.98</c:v>
                  </c:pt>
                  <c:pt idx="3">
                    <c:v>-0.97</c:v>
                  </c:pt>
                  <c:pt idx="4">
                    <c:v>-0.96</c:v>
                  </c:pt>
                  <c:pt idx="5">
                    <c:v>-0.95</c:v>
                  </c:pt>
                  <c:pt idx="6">
                    <c:v>-0.94</c:v>
                  </c:pt>
                  <c:pt idx="7">
                    <c:v>-0.93</c:v>
                  </c:pt>
                  <c:pt idx="8">
                    <c:v>-0.92</c:v>
                  </c:pt>
                  <c:pt idx="9">
                    <c:v>-0.91</c:v>
                  </c:pt>
                  <c:pt idx="10">
                    <c:v>-0.90</c:v>
                  </c:pt>
                  <c:pt idx="11">
                    <c:v>-0.89</c:v>
                  </c:pt>
                  <c:pt idx="12">
                    <c:v>-0.88</c:v>
                  </c:pt>
                  <c:pt idx="13">
                    <c:v>-0.87</c:v>
                  </c:pt>
                  <c:pt idx="14">
                    <c:v>-0.86</c:v>
                  </c:pt>
                  <c:pt idx="15">
                    <c:v>-0.85</c:v>
                  </c:pt>
                  <c:pt idx="16">
                    <c:v>-0.84</c:v>
                  </c:pt>
                  <c:pt idx="17">
                    <c:v>-0.83</c:v>
                  </c:pt>
                  <c:pt idx="18">
                    <c:v>-0.82</c:v>
                  </c:pt>
                  <c:pt idx="19">
                    <c:v>-0.81</c:v>
                  </c:pt>
                  <c:pt idx="20">
                    <c:v>-0.80</c:v>
                  </c:pt>
                  <c:pt idx="21">
                    <c:v>-0.79</c:v>
                  </c:pt>
                  <c:pt idx="22">
                    <c:v>-0.78</c:v>
                  </c:pt>
                  <c:pt idx="23">
                    <c:v>-0.77</c:v>
                  </c:pt>
                  <c:pt idx="24">
                    <c:v>-0.76</c:v>
                  </c:pt>
                  <c:pt idx="25">
                    <c:v>-0.75</c:v>
                  </c:pt>
                  <c:pt idx="26">
                    <c:v>-0.74</c:v>
                  </c:pt>
                  <c:pt idx="27">
                    <c:v>-0.73</c:v>
                  </c:pt>
                  <c:pt idx="28">
                    <c:v>-0.72</c:v>
                  </c:pt>
                  <c:pt idx="29">
                    <c:v>-0.71</c:v>
                  </c:pt>
                  <c:pt idx="30">
                    <c:v>-0.70</c:v>
                  </c:pt>
                  <c:pt idx="31">
                    <c:v>-0.69</c:v>
                  </c:pt>
                  <c:pt idx="32">
                    <c:v>-0.68</c:v>
                  </c:pt>
                  <c:pt idx="33">
                    <c:v>-0.67</c:v>
                  </c:pt>
                  <c:pt idx="34">
                    <c:v>-0.66</c:v>
                  </c:pt>
                  <c:pt idx="35">
                    <c:v>-0.65</c:v>
                  </c:pt>
                  <c:pt idx="36">
                    <c:v>-0.64</c:v>
                  </c:pt>
                  <c:pt idx="37">
                    <c:v>-0.63</c:v>
                  </c:pt>
                  <c:pt idx="38">
                    <c:v>-0.62</c:v>
                  </c:pt>
                  <c:pt idx="39">
                    <c:v>-0.61</c:v>
                  </c:pt>
                  <c:pt idx="40">
                    <c:v>-0.60</c:v>
                  </c:pt>
                  <c:pt idx="41">
                    <c:v>-0.59</c:v>
                  </c:pt>
                  <c:pt idx="42">
                    <c:v>-0.58</c:v>
                  </c:pt>
                  <c:pt idx="43">
                    <c:v>-0.57</c:v>
                  </c:pt>
                  <c:pt idx="44">
                    <c:v>-0.56</c:v>
                  </c:pt>
                  <c:pt idx="45">
                    <c:v>-0.55</c:v>
                  </c:pt>
                  <c:pt idx="46">
                    <c:v>-0.54</c:v>
                  </c:pt>
                  <c:pt idx="47">
                    <c:v>-0.53</c:v>
                  </c:pt>
                  <c:pt idx="48">
                    <c:v>-0.52</c:v>
                  </c:pt>
                  <c:pt idx="49">
                    <c:v>-0.51</c:v>
                  </c:pt>
                  <c:pt idx="50">
                    <c:v>-0.50</c:v>
                  </c:pt>
                  <c:pt idx="51">
                    <c:v>-0.49</c:v>
                  </c:pt>
                  <c:pt idx="52">
                    <c:v>-0.48</c:v>
                  </c:pt>
                  <c:pt idx="53">
                    <c:v>-0.47</c:v>
                  </c:pt>
                  <c:pt idx="54">
                    <c:v>-0.46</c:v>
                  </c:pt>
                  <c:pt idx="55">
                    <c:v>-0.45</c:v>
                  </c:pt>
                  <c:pt idx="56">
                    <c:v>-0.44</c:v>
                  </c:pt>
                  <c:pt idx="57">
                    <c:v>-0.43</c:v>
                  </c:pt>
                  <c:pt idx="58">
                    <c:v>-0.42</c:v>
                  </c:pt>
                  <c:pt idx="59">
                    <c:v>-0.41</c:v>
                  </c:pt>
                  <c:pt idx="60">
                    <c:v>-0.40</c:v>
                  </c:pt>
                  <c:pt idx="61">
                    <c:v>-0.39</c:v>
                  </c:pt>
                  <c:pt idx="62">
                    <c:v>-0.38</c:v>
                  </c:pt>
                  <c:pt idx="63">
                    <c:v>-0.37</c:v>
                  </c:pt>
                  <c:pt idx="64">
                    <c:v>-0.36</c:v>
                  </c:pt>
                  <c:pt idx="65">
                    <c:v>-0.35</c:v>
                  </c:pt>
                  <c:pt idx="66">
                    <c:v>-0.34</c:v>
                  </c:pt>
                  <c:pt idx="67">
                    <c:v>-0.33</c:v>
                  </c:pt>
                  <c:pt idx="68">
                    <c:v>-0.32</c:v>
                  </c:pt>
                  <c:pt idx="69">
                    <c:v>-0.31</c:v>
                  </c:pt>
                  <c:pt idx="70">
                    <c:v>-0.30</c:v>
                  </c:pt>
                  <c:pt idx="71">
                    <c:v>-0.29</c:v>
                  </c:pt>
                  <c:pt idx="72">
                    <c:v>-0.28</c:v>
                  </c:pt>
                  <c:pt idx="73">
                    <c:v>-0.27</c:v>
                  </c:pt>
                  <c:pt idx="74">
                    <c:v>-0.26</c:v>
                  </c:pt>
                  <c:pt idx="75">
                    <c:v>-0.25</c:v>
                  </c:pt>
                  <c:pt idx="76">
                    <c:v>-0.24</c:v>
                  </c:pt>
                  <c:pt idx="77">
                    <c:v>-0.23</c:v>
                  </c:pt>
                  <c:pt idx="78">
                    <c:v>-0.22</c:v>
                  </c:pt>
                  <c:pt idx="79">
                    <c:v>-0.21</c:v>
                  </c:pt>
                  <c:pt idx="80">
                    <c:v>-0.20</c:v>
                  </c:pt>
                  <c:pt idx="81">
                    <c:v>-0.19</c:v>
                  </c:pt>
                  <c:pt idx="82">
                    <c:v>-0.18</c:v>
                  </c:pt>
                  <c:pt idx="83">
                    <c:v>-0.17</c:v>
                  </c:pt>
                  <c:pt idx="84">
                    <c:v>-0.16</c:v>
                  </c:pt>
                  <c:pt idx="85">
                    <c:v>-0.15</c:v>
                  </c:pt>
                  <c:pt idx="86">
                    <c:v>-0.14</c:v>
                  </c:pt>
                  <c:pt idx="87">
                    <c:v>-0.13</c:v>
                  </c:pt>
                  <c:pt idx="88">
                    <c:v>-0.12</c:v>
                  </c:pt>
                  <c:pt idx="89">
                    <c:v>-0.11</c:v>
                  </c:pt>
                  <c:pt idx="90">
                    <c:v>-0.10</c:v>
                  </c:pt>
                  <c:pt idx="91">
                    <c:v>-0.09</c:v>
                  </c:pt>
                  <c:pt idx="92">
                    <c:v>-0.08</c:v>
                  </c:pt>
                  <c:pt idx="93">
                    <c:v>-0.07</c:v>
                  </c:pt>
                  <c:pt idx="94">
                    <c:v>-0.06</c:v>
                  </c:pt>
                  <c:pt idx="95">
                    <c:v>-0.05</c:v>
                  </c:pt>
                  <c:pt idx="96">
                    <c:v>-0.04</c:v>
                  </c:pt>
                  <c:pt idx="97">
                    <c:v>-0.03</c:v>
                  </c:pt>
                  <c:pt idx="98">
                    <c:v>-0.02</c:v>
                  </c:pt>
                  <c:pt idx="99">
                    <c:v>-0.01</c:v>
                  </c:pt>
                  <c:pt idx="100">
                    <c:v>0.00</c:v>
                  </c:pt>
                  <c:pt idx="101">
                    <c:v>0.01</c:v>
                  </c:pt>
                  <c:pt idx="102">
                    <c:v>0.02</c:v>
                  </c:pt>
                  <c:pt idx="103">
                    <c:v>0.03</c:v>
                  </c:pt>
                  <c:pt idx="104">
                    <c:v>0.04</c:v>
                  </c:pt>
                  <c:pt idx="105">
                    <c:v>0.05</c:v>
                  </c:pt>
                  <c:pt idx="106">
                    <c:v>0.06</c:v>
                  </c:pt>
                  <c:pt idx="107">
                    <c:v>0.07</c:v>
                  </c:pt>
                  <c:pt idx="108">
                    <c:v>0.08</c:v>
                  </c:pt>
                  <c:pt idx="109">
                    <c:v>0.09</c:v>
                  </c:pt>
                  <c:pt idx="110">
                    <c:v>0.10</c:v>
                  </c:pt>
                  <c:pt idx="111">
                    <c:v>0.11</c:v>
                  </c:pt>
                  <c:pt idx="112">
                    <c:v>0.12</c:v>
                  </c:pt>
                  <c:pt idx="113">
                    <c:v>0.13</c:v>
                  </c:pt>
                  <c:pt idx="114">
                    <c:v>0.14</c:v>
                  </c:pt>
                  <c:pt idx="115">
                    <c:v>0.15</c:v>
                  </c:pt>
                  <c:pt idx="116">
                    <c:v>0.16</c:v>
                  </c:pt>
                  <c:pt idx="117">
                    <c:v>0.17</c:v>
                  </c:pt>
                  <c:pt idx="118">
                    <c:v>0.18</c:v>
                  </c:pt>
                  <c:pt idx="119">
                    <c:v>0.19</c:v>
                  </c:pt>
                  <c:pt idx="120">
                    <c:v>0.20</c:v>
                  </c:pt>
                  <c:pt idx="121">
                    <c:v>0.21</c:v>
                  </c:pt>
                  <c:pt idx="122">
                    <c:v>0.22</c:v>
                  </c:pt>
                  <c:pt idx="123">
                    <c:v>0.23</c:v>
                  </c:pt>
                  <c:pt idx="124">
                    <c:v>0.24</c:v>
                  </c:pt>
                  <c:pt idx="125">
                    <c:v>0.25</c:v>
                  </c:pt>
                  <c:pt idx="126">
                    <c:v>0.26</c:v>
                  </c:pt>
                  <c:pt idx="127">
                    <c:v>0.27</c:v>
                  </c:pt>
                  <c:pt idx="128">
                    <c:v>0.28</c:v>
                  </c:pt>
                  <c:pt idx="129">
                    <c:v>0.29</c:v>
                  </c:pt>
                  <c:pt idx="130">
                    <c:v>0.30</c:v>
                  </c:pt>
                  <c:pt idx="131">
                    <c:v>0.31</c:v>
                  </c:pt>
                  <c:pt idx="132">
                    <c:v>0.32</c:v>
                  </c:pt>
                  <c:pt idx="133">
                    <c:v>0.33</c:v>
                  </c:pt>
                  <c:pt idx="134">
                    <c:v>0.34</c:v>
                  </c:pt>
                  <c:pt idx="135">
                    <c:v>0.35</c:v>
                  </c:pt>
                  <c:pt idx="136">
                    <c:v>0.36</c:v>
                  </c:pt>
                  <c:pt idx="137">
                    <c:v>0.37</c:v>
                  </c:pt>
                  <c:pt idx="138">
                    <c:v>0.38</c:v>
                  </c:pt>
                  <c:pt idx="139">
                    <c:v>0.39</c:v>
                  </c:pt>
                  <c:pt idx="140">
                    <c:v>0.40</c:v>
                  </c:pt>
                  <c:pt idx="141">
                    <c:v>0.41</c:v>
                  </c:pt>
                  <c:pt idx="142">
                    <c:v>0.42</c:v>
                  </c:pt>
                  <c:pt idx="143">
                    <c:v>0.43</c:v>
                  </c:pt>
                  <c:pt idx="144">
                    <c:v>0.44</c:v>
                  </c:pt>
                  <c:pt idx="145">
                    <c:v>0.45</c:v>
                  </c:pt>
                  <c:pt idx="146">
                    <c:v>0.46</c:v>
                  </c:pt>
                  <c:pt idx="147">
                    <c:v>0.47</c:v>
                  </c:pt>
                  <c:pt idx="148">
                    <c:v>0.48</c:v>
                  </c:pt>
                  <c:pt idx="149">
                    <c:v>0.49</c:v>
                  </c:pt>
                  <c:pt idx="150">
                    <c:v>0.50</c:v>
                  </c:pt>
                  <c:pt idx="151">
                    <c:v>0.51</c:v>
                  </c:pt>
                  <c:pt idx="152">
                    <c:v>0.52</c:v>
                  </c:pt>
                  <c:pt idx="153">
                    <c:v>0.53</c:v>
                  </c:pt>
                  <c:pt idx="154">
                    <c:v>0.54</c:v>
                  </c:pt>
                  <c:pt idx="155">
                    <c:v>0.55</c:v>
                  </c:pt>
                  <c:pt idx="156">
                    <c:v>0.56</c:v>
                  </c:pt>
                  <c:pt idx="157">
                    <c:v>0.57</c:v>
                  </c:pt>
                  <c:pt idx="158">
                    <c:v>0.58</c:v>
                  </c:pt>
                  <c:pt idx="159">
                    <c:v>0.59</c:v>
                  </c:pt>
                  <c:pt idx="160">
                    <c:v>0.60</c:v>
                  </c:pt>
                  <c:pt idx="161">
                    <c:v>0.61</c:v>
                  </c:pt>
                  <c:pt idx="162">
                    <c:v>0.62</c:v>
                  </c:pt>
                  <c:pt idx="163">
                    <c:v>0.63</c:v>
                  </c:pt>
                  <c:pt idx="164">
                    <c:v>0.64</c:v>
                  </c:pt>
                  <c:pt idx="165">
                    <c:v>0.65</c:v>
                  </c:pt>
                  <c:pt idx="166">
                    <c:v>0.66</c:v>
                  </c:pt>
                  <c:pt idx="167">
                    <c:v>0.67</c:v>
                  </c:pt>
                  <c:pt idx="168">
                    <c:v>0.68</c:v>
                  </c:pt>
                  <c:pt idx="169">
                    <c:v>0.69</c:v>
                  </c:pt>
                  <c:pt idx="170">
                    <c:v>0.70</c:v>
                  </c:pt>
                  <c:pt idx="171">
                    <c:v>0.71</c:v>
                  </c:pt>
                  <c:pt idx="172">
                    <c:v>0.72</c:v>
                  </c:pt>
                  <c:pt idx="173">
                    <c:v>0.73</c:v>
                  </c:pt>
                  <c:pt idx="174">
                    <c:v>0.74</c:v>
                  </c:pt>
                  <c:pt idx="175">
                    <c:v>0.75</c:v>
                  </c:pt>
                  <c:pt idx="176">
                    <c:v>0.76</c:v>
                  </c:pt>
                  <c:pt idx="177">
                    <c:v>0.77</c:v>
                  </c:pt>
                  <c:pt idx="178">
                    <c:v>0.78</c:v>
                  </c:pt>
                  <c:pt idx="179">
                    <c:v>0.79</c:v>
                  </c:pt>
                  <c:pt idx="180">
                    <c:v>0.80</c:v>
                  </c:pt>
                  <c:pt idx="181">
                    <c:v>0.81</c:v>
                  </c:pt>
                  <c:pt idx="182">
                    <c:v>0.82</c:v>
                  </c:pt>
                  <c:pt idx="183">
                    <c:v>0.83</c:v>
                  </c:pt>
                  <c:pt idx="184">
                    <c:v>0.84</c:v>
                  </c:pt>
                  <c:pt idx="185">
                    <c:v>0.85</c:v>
                  </c:pt>
                  <c:pt idx="186">
                    <c:v>0.86</c:v>
                  </c:pt>
                  <c:pt idx="187">
                    <c:v>0.87</c:v>
                  </c:pt>
                  <c:pt idx="188">
                    <c:v>0.88</c:v>
                  </c:pt>
                  <c:pt idx="189">
                    <c:v>0.89</c:v>
                  </c:pt>
                  <c:pt idx="190">
                    <c:v>0.90</c:v>
                  </c:pt>
                  <c:pt idx="191">
                    <c:v>0.91</c:v>
                  </c:pt>
                  <c:pt idx="192">
                    <c:v>0.92</c:v>
                  </c:pt>
                  <c:pt idx="193">
                    <c:v>0.93</c:v>
                  </c:pt>
                  <c:pt idx="194">
                    <c:v>0.94</c:v>
                  </c:pt>
                  <c:pt idx="195">
                    <c:v>0.95</c:v>
                  </c:pt>
                  <c:pt idx="196">
                    <c:v>0.96</c:v>
                  </c:pt>
                  <c:pt idx="197">
                    <c:v>0.97</c:v>
                  </c:pt>
                  <c:pt idx="198">
                    <c:v>0.98</c:v>
                  </c:pt>
                  <c:pt idx="199">
                    <c:v>0.99</c:v>
                  </c:pt>
                  <c:pt idx="200">
                    <c:v>1.00</c:v>
                  </c:pt>
                </c:lvl>
              </c:multiLvlStrCache>
            </c:multiLvlStrRef>
          </c:cat>
          <c:val>
            <c:numRef>
              <c:f>Sheet1!$C$2:$C$202</c:f>
              <c:numCache>
                <c:formatCode>General</c:formatCode>
                <c:ptCount val="201"/>
                <c:pt idx="0">
                  <c:v>-1</c:v>
                </c:pt>
                <c:pt idx="1">
                  <c:v>-1</c:v>
                </c:pt>
                <c:pt idx="2">
                  <c:v>-1</c:v>
                </c:pt>
                <c:pt idx="3">
                  <c:v>-1</c:v>
                </c:pt>
                <c:pt idx="4">
                  <c:v>-1</c:v>
                </c:pt>
                <c:pt idx="5">
                  <c:v>-1</c:v>
                </c:pt>
                <c:pt idx="6">
                  <c:v>-1</c:v>
                </c:pt>
                <c:pt idx="7">
                  <c:v>-1</c:v>
                </c:pt>
                <c:pt idx="8">
                  <c:v>-1</c:v>
                </c:pt>
                <c:pt idx="9">
                  <c:v>-1</c:v>
                </c:pt>
                <c:pt idx="10">
                  <c:v>-1</c:v>
                </c:pt>
                <c:pt idx="11">
                  <c:v>-1</c:v>
                </c:pt>
                <c:pt idx="12">
                  <c:v>-1</c:v>
                </c:pt>
                <c:pt idx="13">
                  <c:v>-0.75</c:v>
                </c:pt>
                <c:pt idx="14">
                  <c:v>-0.75</c:v>
                </c:pt>
                <c:pt idx="15">
                  <c:v>-0.75</c:v>
                </c:pt>
                <c:pt idx="16">
                  <c:v>-0.75</c:v>
                </c:pt>
                <c:pt idx="17">
                  <c:v>-0.75</c:v>
                </c:pt>
                <c:pt idx="18">
                  <c:v>-0.75</c:v>
                </c:pt>
                <c:pt idx="19">
                  <c:v>-0.75</c:v>
                </c:pt>
                <c:pt idx="20">
                  <c:v>-0.75</c:v>
                </c:pt>
                <c:pt idx="21">
                  <c:v>-0.75</c:v>
                </c:pt>
                <c:pt idx="22">
                  <c:v>-0.75</c:v>
                </c:pt>
                <c:pt idx="23">
                  <c:v>-0.75</c:v>
                </c:pt>
                <c:pt idx="24">
                  <c:v>-0.75</c:v>
                </c:pt>
                <c:pt idx="25">
                  <c:v>-0.75</c:v>
                </c:pt>
                <c:pt idx="26">
                  <c:v>-0.75</c:v>
                </c:pt>
                <c:pt idx="27">
                  <c:v>-0.75</c:v>
                </c:pt>
                <c:pt idx="28">
                  <c:v>-0.75</c:v>
                </c:pt>
                <c:pt idx="29">
                  <c:v>-0.75</c:v>
                </c:pt>
                <c:pt idx="30">
                  <c:v>-0.75</c:v>
                </c:pt>
                <c:pt idx="31">
                  <c:v>-0.75</c:v>
                </c:pt>
                <c:pt idx="32">
                  <c:v>-0.75</c:v>
                </c:pt>
                <c:pt idx="33">
                  <c:v>-0.75</c:v>
                </c:pt>
                <c:pt idx="34">
                  <c:v>-0.75</c:v>
                </c:pt>
                <c:pt idx="35">
                  <c:v>-0.75</c:v>
                </c:pt>
                <c:pt idx="36">
                  <c:v>-0.75</c:v>
                </c:pt>
                <c:pt idx="37">
                  <c:v>-0.75</c:v>
                </c:pt>
                <c:pt idx="38">
                  <c:v>-0.5</c:v>
                </c:pt>
                <c:pt idx="39">
                  <c:v>-0.5</c:v>
                </c:pt>
                <c:pt idx="40">
                  <c:v>-0.5</c:v>
                </c:pt>
                <c:pt idx="41">
                  <c:v>-0.5</c:v>
                </c:pt>
                <c:pt idx="42">
                  <c:v>-0.5</c:v>
                </c:pt>
                <c:pt idx="43">
                  <c:v>-0.5</c:v>
                </c:pt>
                <c:pt idx="44">
                  <c:v>-0.5</c:v>
                </c:pt>
                <c:pt idx="45">
                  <c:v>-0.5</c:v>
                </c:pt>
                <c:pt idx="46">
                  <c:v>-0.5</c:v>
                </c:pt>
                <c:pt idx="47">
                  <c:v>-0.5</c:v>
                </c:pt>
                <c:pt idx="48">
                  <c:v>-0.5</c:v>
                </c:pt>
                <c:pt idx="49">
                  <c:v>-0.5</c:v>
                </c:pt>
                <c:pt idx="50">
                  <c:v>-0.5</c:v>
                </c:pt>
                <c:pt idx="51">
                  <c:v>-0.5</c:v>
                </c:pt>
                <c:pt idx="52">
                  <c:v>-0.5</c:v>
                </c:pt>
                <c:pt idx="53">
                  <c:v>-0.5</c:v>
                </c:pt>
                <c:pt idx="54">
                  <c:v>-0.5</c:v>
                </c:pt>
                <c:pt idx="55">
                  <c:v>-0.5</c:v>
                </c:pt>
                <c:pt idx="56">
                  <c:v>-0.5</c:v>
                </c:pt>
                <c:pt idx="57">
                  <c:v>-0.5</c:v>
                </c:pt>
                <c:pt idx="58">
                  <c:v>-0.5</c:v>
                </c:pt>
                <c:pt idx="59">
                  <c:v>-0.5</c:v>
                </c:pt>
                <c:pt idx="60">
                  <c:v>-0.5</c:v>
                </c:pt>
                <c:pt idx="61">
                  <c:v>-0.5</c:v>
                </c:pt>
                <c:pt idx="62">
                  <c:v>-0.5</c:v>
                </c:pt>
                <c:pt idx="63">
                  <c:v>-0.25</c:v>
                </c:pt>
                <c:pt idx="64">
                  <c:v>-0.25</c:v>
                </c:pt>
                <c:pt idx="65">
                  <c:v>-0.25</c:v>
                </c:pt>
                <c:pt idx="66">
                  <c:v>-0.25</c:v>
                </c:pt>
                <c:pt idx="67">
                  <c:v>-0.25</c:v>
                </c:pt>
                <c:pt idx="68">
                  <c:v>-0.25</c:v>
                </c:pt>
                <c:pt idx="69">
                  <c:v>-0.25</c:v>
                </c:pt>
                <c:pt idx="70">
                  <c:v>-0.25</c:v>
                </c:pt>
                <c:pt idx="71">
                  <c:v>-0.25</c:v>
                </c:pt>
                <c:pt idx="72">
                  <c:v>-0.25</c:v>
                </c:pt>
                <c:pt idx="73">
                  <c:v>-0.25</c:v>
                </c:pt>
                <c:pt idx="74">
                  <c:v>-0.25</c:v>
                </c:pt>
                <c:pt idx="75">
                  <c:v>-0.25</c:v>
                </c:pt>
                <c:pt idx="76">
                  <c:v>-0.25</c:v>
                </c:pt>
                <c:pt idx="77">
                  <c:v>-0.25</c:v>
                </c:pt>
                <c:pt idx="78">
                  <c:v>-0.25</c:v>
                </c:pt>
                <c:pt idx="79">
                  <c:v>-0.25</c:v>
                </c:pt>
                <c:pt idx="80">
                  <c:v>-0.25</c:v>
                </c:pt>
                <c:pt idx="81">
                  <c:v>-0.25</c:v>
                </c:pt>
                <c:pt idx="82">
                  <c:v>-0.25</c:v>
                </c:pt>
                <c:pt idx="83">
                  <c:v>-0.25</c:v>
                </c:pt>
                <c:pt idx="84">
                  <c:v>-0.25</c:v>
                </c:pt>
                <c:pt idx="85">
                  <c:v>-0.25</c:v>
                </c:pt>
                <c:pt idx="86">
                  <c:v>-0.25</c:v>
                </c:pt>
                <c:pt idx="87">
                  <c:v>-0.25</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0.25</c:v>
                </c:pt>
                <c:pt idx="114">
                  <c:v>0.25</c:v>
                </c:pt>
                <c:pt idx="115">
                  <c:v>0.25</c:v>
                </c:pt>
                <c:pt idx="116">
                  <c:v>0.25</c:v>
                </c:pt>
                <c:pt idx="117">
                  <c:v>0.25</c:v>
                </c:pt>
                <c:pt idx="118">
                  <c:v>0.25</c:v>
                </c:pt>
                <c:pt idx="119">
                  <c:v>0.25</c:v>
                </c:pt>
                <c:pt idx="120">
                  <c:v>0.25</c:v>
                </c:pt>
                <c:pt idx="121">
                  <c:v>0.25</c:v>
                </c:pt>
                <c:pt idx="122">
                  <c:v>0.25</c:v>
                </c:pt>
                <c:pt idx="123">
                  <c:v>0.25</c:v>
                </c:pt>
                <c:pt idx="124">
                  <c:v>0.25</c:v>
                </c:pt>
                <c:pt idx="125">
                  <c:v>0.25</c:v>
                </c:pt>
                <c:pt idx="126">
                  <c:v>0.25</c:v>
                </c:pt>
                <c:pt idx="127">
                  <c:v>0.25</c:v>
                </c:pt>
                <c:pt idx="128">
                  <c:v>0.25</c:v>
                </c:pt>
                <c:pt idx="129">
                  <c:v>0.25</c:v>
                </c:pt>
                <c:pt idx="130">
                  <c:v>0.25</c:v>
                </c:pt>
                <c:pt idx="131">
                  <c:v>0.25</c:v>
                </c:pt>
                <c:pt idx="132">
                  <c:v>0.25</c:v>
                </c:pt>
                <c:pt idx="133">
                  <c:v>0.25</c:v>
                </c:pt>
                <c:pt idx="134">
                  <c:v>0.25</c:v>
                </c:pt>
                <c:pt idx="135">
                  <c:v>0.25</c:v>
                </c:pt>
                <c:pt idx="136">
                  <c:v>0.25</c:v>
                </c:pt>
                <c:pt idx="137">
                  <c:v>0.25</c:v>
                </c:pt>
                <c:pt idx="138">
                  <c:v>0.5</c:v>
                </c:pt>
                <c:pt idx="139">
                  <c:v>0.5</c:v>
                </c:pt>
                <c:pt idx="140">
                  <c:v>0.5</c:v>
                </c:pt>
                <c:pt idx="141">
                  <c:v>0.5</c:v>
                </c:pt>
                <c:pt idx="142">
                  <c:v>0.5</c:v>
                </c:pt>
                <c:pt idx="143">
                  <c:v>0.5</c:v>
                </c:pt>
                <c:pt idx="144">
                  <c:v>0.5</c:v>
                </c:pt>
                <c:pt idx="145">
                  <c:v>0.5</c:v>
                </c:pt>
                <c:pt idx="146">
                  <c:v>0.5</c:v>
                </c:pt>
                <c:pt idx="147">
                  <c:v>0.5</c:v>
                </c:pt>
                <c:pt idx="148">
                  <c:v>0.5</c:v>
                </c:pt>
                <c:pt idx="149">
                  <c:v>0.5</c:v>
                </c:pt>
                <c:pt idx="150">
                  <c:v>0.5</c:v>
                </c:pt>
                <c:pt idx="151">
                  <c:v>0.5</c:v>
                </c:pt>
                <c:pt idx="152">
                  <c:v>0.5</c:v>
                </c:pt>
                <c:pt idx="153">
                  <c:v>0.5</c:v>
                </c:pt>
                <c:pt idx="154">
                  <c:v>0.5</c:v>
                </c:pt>
                <c:pt idx="155">
                  <c:v>0.5</c:v>
                </c:pt>
                <c:pt idx="156">
                  <c:v>0.5</c:v>
                </c:pt>
                <c:pt idx="157">
                  <c:v>0.5</c:v>
                </c:pt>
                <c:pt idx="158">
                  <c:v>0.5</c:v>
                </c:pt>
                <c:pt idx="159">
                  <c:v>0.5</c:v>
                </c:pt>
                <c:pt idx="160">
                  <c:v>0.5</c:v>
                </c:pt>
                <c:pt idx="161">
                  <c:v>0.5</c:v>
                </c:pt>
                <c:pt idx="162">
                  <c:v>0.5</c:v>
                </c:pt>
                <c:pt idx="163">
                  <c:v>0.75</c:v>
                </c:pt>
                <c:pt idx="164">
                  <c:v>0.75</c:v>
                </c:pt>
                <c:pt idx="165">
                  <c:v>0.75</c:v>
                </c:pt>
                <c:pt idx="166">
                  <c:v>0.75</c:v>
                </c:pt>
                <c:pt idx="167">
                  <c:v>0.75</c:v>
                </c:pt>
                <c:pt idx="168">
                  <c:v>0.75</c:v>
                </c:pt>
                <c:pt idx="169">
                  <c:v>0.75</c:v>
                </c:pt>
                <c:pt idx="170">
                  <c:v>0.75</c:v>
                </c:pt>
                <c:pt idx="171">
                  <c:v>0.75</c:v>
                </c:pt>
                <c:pt idx="172">
                  <c:v>0.75</c:v>
                </c:pt>
                <c:pt idx="173">
                  <c:v>0.75</c:v>
                </c:pt>
                <c:pt idx="174">
                  <c:v>0.75</c:v>
                </c:pt>
                <c:pt idx="175">
                  <c:v>0.75</c:v>
                </c:pt>
                <c:pt idx="176">
                  <c:v>0.75</c:v>
                </c:pt>
                <c:pt idx="177">
                  <c:v>0.75</c:v>
                </c:pt>
                <c:pt idx="178">
                  <c:v>0.75</c:v>
                </c:pt>
                <c:pt idx="179">
                  <c:v>0.75</c:v>
                </c:pt>
                <c:pt idx="180">
                  <c:v>0.75</c:v>
                </c:pt>
                <c:pt idx="181">
                  <c:v>0.75</c:v>
                </c:pt>
                <c:pt idx="182">
                  <c:v>0.75</c:v>
                </c:pt>
                <c:pt idx="183">
                  <c:v>0.75</c:v>
                </c:pt>
                <c:pt idx="184">
                  <c:v>0.75</c:v>
                </c:pt>
                <c:pt idx="185">
                  <c:v>0.75</c:v>
                </c:pt>
                <c:pt idx="186">
                  <c:v>0.75</c:v>
                </c:pt>
                <c:pt idx="187">
                  <c:v>0.75</c:v>
                </c:pt>
                <c:pt idx="188">
                  <c:v>0.75</c:v>
                </c:pt>
                <c:pt idx="189">
                  <c:v>0.75</c:v>
                </c:pt>
                <c:pt idx="190">
                  <c:v>0.75</c:v>
                </c:pt>
                <c:pt idx="191">
                  <c:v>0.75</c:v>
                </c:pt>
                <c:pt idx="192">
                  <c:v>0.75</c:v>
                </c:pt>
                <c:pt idx="193">
                  <c:v>0.75</c:v>
                </c:pt>
                <c:pt idx="194">
                  <c:v>0.75</c:v>
                </c:pt>
                <c:pt idx="195">
                  <c:v>0.75</c:v>
                </c:pt>
                <c:pt idx="196">
                  <c:v>0.75</c:v>
                </c:pt>
                <c:pt idx="197">
                  <c:v>0.75</c:v>
                </c:pt>
                <c:pt idx="198">
                  <c:v>0.75</c:v>
                </c:pt>
                <c:pt idx="199">
                  <c:v>0.75</c:v>
                </c:pt>
                <c:pt idx="200">
                  <c:v>0.75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900" b="0" i="0" u="none" strike="noStrike">
                    <a:solidFill>
                      <a:srgbClr val="5B6B7F"/>
                    </a:solidFill>
                    <a:latin typeface="Calibri"/>
                  </a:defRPr>
                </a:pPr>
                <a:r>
                  <a:rPr sz="900" b="0" i="0" u="none" strike="noStrike">
                    <a:solidFill>
                      <a:srgbClr val="5B6B7F"/>
                    </a:solidFill>
                    <a:latin typeface="Calibri"/>
                  </a:rPr>
                  <a:t>input (V) · 2 V range, LSB = 250 mV</a:t>
                </a:r>
              </a:p>
            </c:rich>
          </c:tx>
          <c:layout/>
          <c:overlay val="0"/>
        </c:title>
        <c:numFmt formatCode="General" sourceLinked="1"/>
        <c:majorTickMark val="none"/>
        <c:minorTickMark val="none"/>
        <c:tickLblPos val="low"/>
        <c:spPr>
          <a:ln w="12700" cap="flat">
            <a:solidFill>
              <a:srgbClr val="888888"/>
            </a:solidFill>
            <a:prstDash val="solid"/>
            <a:round/>
          </a:ln>
        </c:spPr>
        <c:txPr>
          <a:bodyPr/>
          <a:lstStyle/>
          <a:p>
            <a:pPr>
              <a:defRPr sz="900" b="0" i="0" u="none" strike="noStrike">
                <a:solidFill>
                  <a:srgbClr val="5B6B7F"/>
                </a:solidFill>
                <a:latin typeface="Calibri"/>
              </a:defRPr>
            </a:pPr>
            <a:endParaRPr lang="en-US"/>
          </a:p>
        </c:txPr>
        <c:crossAx val="2094734552"/>
        <c:crosses val="min"/>
        <c:auto val="1"/>
        <c:lblAlgn val="ctr"/>
        <c:noMultiLvlLbl val="1"/>
        <c:tickLblSkip val="25"/>
      </c:catAx>
      <c:valAx>
        <c:axId val="2094734552"/>
        <c:scaling>
          <c:orientation val="minMax"/>
          <c:max val="1"/>
          <c:min val="-1"/>
        </c:scaling>
        <c:delete val="0"/>
        <c:axPos val="l"/>
        <c:majorGridlines>
          <c:spPr>
            <a:ln w="6350" cap="flat">
              <a:solidFill>
                <a:srgbClr val="D9E1EA"/>
              </a:solidFill>
              <a:prstDash val="solid"/>
              <a:round/>
            </a:ln>
          </c:spPr>
        </c:majorGridlines>
        <c:numFmt formatCode="General" sourceLinked="0"/>
        <c:majorTickMark val="none"/>
        <c:minorTickMark val="none"/>
        <c:tickLblPos val="nextTo"/>
        <c:spPr>
          <a:ln w="12700" cap="flat">
            <a:noFill/>
            <a:prstDash val="solid"/>
            <a:round/>
          </a:ln>
        </c:spPr>
        <c:txPr>
          <a:bodyPr/>
          <a:lstStyle/>
          <a:p>
            <a:pPr>
              <a:defRPr sz="900" b="0" i="0" u="none" strike="noStrike">
                <a:solidFill>
                  <a:srgbClr val="5B6B7F"/>
                </a:solidFill>
                <a:latin typeface="Calibri"/>
              </a:defRPr>
            </a:pPr>
            <a:endParaRPr lang="en-US"/>
          </a:p>
        </c:txPr>
        <c:crossAx val="2094734554"/>
        <c:crosses val="autoZero"/>
        <c:crossBetween val="between"/>
        <c:majorUnit val="0.5"/>
      </c:valAx>
      <c:spPr>
        <a:solidFill>
          <a:srgbClr val="FFFFFF"/>
        </a:solidFill>
        <a:ln>
          <a:noFill/>
        </a:ln>
        <a:effectLst/>
      </c:spPr>
    </c:plotArea>
    <c:legend>
      <c:legendPos val="b"/>
      <c:overlay val="0"/>
      <c:txPr>
        <a:bodyPr/>
        <a:lstStyle/>
        <a:p>
          <a:pPr>
            <a:defRPr sz="900">
              <a:solidFill>
                <a:srgbClr val="14213D"/>
              </a:solidFill>
              <a:latin typeface="Calibri"/>
              <a:cs typeface="Calibri"/>
            </a:defRPr>
          </a:pPr>
          <a:endParaRPr lang="en-US"/>
        </a:p>
      </c:txPr>
    </c:legend>
    <c:plotVisOnly val="1"/>
    <c:dispBlanksAs val="span"/>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lineChart>
        <c:varyColors val="0"/>
        <c:ser>
          <c:idx val="0"/>
          <c:order val="0"/>
          <c:tx>
            <c:strRef>
              <c:f>Sheet1!$B$1</c:f>
              <c:strCache>
                <c:ptCount val="1"/>
                <c:pt idx="0">
                  <c:v>error (LSB)</c:v>
                </c:pt>
              </c:strCache>
            </c:strRef>
          </c:tx>
          <c:spPr>
            <a:solidFill>
              <a:srgbClr val="E76F51"/>
            </a:solidFill>
            <a:ln w="19050" cap="flat">
              <a:solidFill>
                <a:srgbClr val="E76F5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E76F51"/>
              </a:solidFill>
              <a:ln w="9525" cap="flat">
                <a:solidFill>
                  <a:srgbClr val="E76F51"/>
                </a:solidFill>
                <a:prstDash val="solid"/>
                <a:round/>
              </a:ln>
              <a:effectLst/>
            </c:spPr>
          </c:marker>
          <c:cat>
            <c:multiLvlStrRef>
              <c:f>Sheet1!$A$2:$A$202</c:f>
              <c:multiLvlStrCache>
                <c:ptCount val="201"/>
                <c:lvl>
                  <c:pt idx="0">
                    <c:v>-1.00</c:v>
                  </c:pt>
                  <c:pt idx="1">
                    <c:v>-0.99</c:v>
                  </c:pt>
                  <c:pt idx="2">
                    <c:v>-0.98</c:v>
                  </c:pt>
                  <c:pt idx="3">
                    <c:v>-0.97</c:v>
                  </c:pt>
                  <c:pt idx="4">
                    <c:v>-0.96</c:v>
                  </c:pt>
                  <c:pt idx="5">
                    <c:v>-0.95</c:v>
                  </c:pt>
                  <c:pt idx="6">
                    <c:v>-0.94</c:v>
                  </c:pt>
                  <c:pt idx="7">
                    <c:v>-0.93</c:v>
                  </c:pt>
                  <c:pt idx="8">
                    <c:v>-0.92</c:v>
                  </c:pt>
                  <c:pt idx="9">
                    <c:v>-0.91</c:v>
                  </c:pt>
                  <c:pt idx="10">
                    <c:v>-0.90</c:v>
                  </c:pt>
                  <c:pt idx="11">
                    <c:v>-0.89</c:v>
                  </c:pt>
                  <c:pt idx="12">
                    <c:v>-0.88</c:v>
                  </c:pt>
                  <c:pt idx="13">
                    <c:v>-0.87</c:v>
                  </c:pt>
                  <c:pt idx="14">
                    <c:v>-0.86</c:v>
                  </c:pt>
                  <c:pt idx="15">
                    <c:v>-0.85</c:v>
                  </c:pt>
                  <c:pt idx="16">
                    <c:v>-0.84</c:v>
                  </c:pt>
                  <c:pt idx="17">
                    <c:v>-0.83</c:v>
                  </c:pt>
                  <c:pt idx="18">
                    <c:v>-0.82</c:v>
                  </c:pt>
                  <c:pt idx="19">
                    <c:v>-0.81</c:v>
                  </c:pt>
                  <c:pt idx="20">
                    <c:v>-0.80</c:v>
                  </c:pt>
                  <c:pt idx="21">
                    <c:v>-0.79</c:v>
                  </c:pt>
                  <c:pt idx="22">
                    <c:v>-0.78</c:v>
                  </c:pt>
                  <c:pt idx="23">
                    <c:v>-0.77</c:v>
                  </c:pt>
                  <c:pt idx="24">
                    <c:v>-0.76</c:v>
                  </c:pt>
                  <c:pt idx="25">
                    <c:v>-0.75</c:v>
                  </c:pt>
                  <c:pt idx="26">
                    <c:v>-0.74</c:v>
                  </c:pt>
                  <c:pt idx="27">
                    <c:v>-0.73</c:v>
                  </c:pt>
                  <c:pt idx="28">
                    <c:v>-0.72</c:v>
                  </c:pt>
                  <c:pt idx="29">
                    <c:v>-0.71</c:v>
                  </c:pt>
                  <c:pt idx="30">
                    <c:v>-0.70</c:v>
                  </c:pt>
                  <c:pt idx="31">
                    <c:v>-0.69</c:v>
                  </c:pt>
                  <c:pt idx="32">
                    <c:v>-0.68</c:v>
                  </c:pt>
                  <c:pt idx="33">
                    <c:v>-0.67</c:v>
                  </c:pt>
                  <c:pt idx="34">
                    <c:v>-0.66</c:v>
                  </c:pt>
                  <c:pt idx="35">
                    <c:v>-0.65</c:v>
                  </c:pt>
                  <c:pt idx="36">
                    <c:v>-0.64</c:v>
                  </c:pt>
                  <c:pt idx="37">
                    <c:v>-0.63</c:v>
                  </c:pt>
                  <c:pt idx="38">
                    <c:v>-0.62</c:v>
                  </c:pt>
                  <c:pt idx="39">
                    <c:v>-0.61</c:v>
                  </c:pt>
                  <c:pt idx="40">
                    <c:v>-0.60</c:v>
                  </c:pt>
                  <c:pt idx="41">
                    <c:v>-0.59</c:v>
                  </c:pt>
                  <c:pt idx="42">
                    <c:v>-0.58</c:v>
                  </c:pt>
                  <c:pt idx="43">
                    <c:v>-0.57</c:v>
                  </c:pt>
                  <c:pt idx="44">
                    <c:v>-0.56</c:v>
                  </c:pt>
                  <c:pt idx="45">
                    <c:v>-0.55</c:v>
                  </c:pt>
                  <c:pt idx="46">
                    <c:v>-0.54</c:v>
                  </c:pt>
                  <c:pt idx="47">
                    <c:v>-0.53</c:v>
                  </c:pt>
                  <c:pt idx="48">
                    <c:v>-0.52</c:v>
                  </c:pt>
                  <c:pt idx="49">
                    <c:v>-0.51</c:v>
                  </c:pt>
                  <c:pt idx="50">
                    <c:v>-0.50</c:v>
                  </c:pt>
                  <c:pt idx="51">
                    <c:v>-0.49</c:v>
                  </c:pt>
                  <c:pt idx="52">
                    <c:v>-0.48</c:v>
                  </c:pt>
                  <c:pt idx="53">
                    <c:v>-0.47</c:v>
                  </c:pt>
                  <c:pt idx="54">
                    <c:v>-0.46</c:v>
                  </c:pt>
                  <c:pt idx="55">
                    <c:v>-0.45</c:v>
                  </c:pt>
                  <c:pt idx="56">
                    <c:v>-0.44</c:v>
                  </c:pt>
                  <c:pt idx="57">
                    <c:v>-0.43</c:v>
                  </c:pt>
                  <c:pt idx="58">
                    <c:v>-0.42</c:v>
                  </c:pt>
                  <c:pt idx="59">
                    <c:v>-0.41</c:v>
                  </c:pt>
                  <c:pt idx="60">
                    <c:v>-0.40</c:v>
                  </c:pt>
                  <c:pt idx="61">
                    <c:v>-0.39</c:v>
                  </c:pt>
                  <c:pt idx="62">
                    <c:v>-0.38</c:v>
                  </c:pt>
                  <c:pt idx="63">
                    <c:v>-0.37</c:v>
                  </c:pt>
                  <c:pt idx="64">
                    <c:v>-0.36</c:v>
                  </c:pt>
                  <c:pt idx="65">
                    <c:v>-0.35</c:v>
                  </c:pt>
                  <c:pt idx="66">
                    <c:v>-0.34</c:v>
                  </c:pt>
                  <c:pt idx="67">
                    <c:v>-0.33</c:v>
                  </c:pt>
                  <c:pt idx="68">
                    <c:v>-0.32</c:v>
                  </c:pt>
                  <c:pt idx="69">
                    <c:v>-0.31</c:v>
                  </c:pt>
                  <c:pt idx="70">
                    <c:v>-0.30</c:v>
                  </c:pt>
                  <c:pt idx="71">
                    <c:v>-0.29</c:v>
                  </c:pt>
                  <c:pt idx="72">
                    <c:v>-0.28</c:v>
                  </c:pt>
                  <c:pt idx="73">
                    <c:v>-0.27</c:v>
                  </c:pt>
                  <c:pt idx="74">
                    <c:v>-0.26</c:v>
                  </c:pt>
                  <c:pt idx="75">
                    <c:v>-0.25</c:v>
                  </c:pt>
                  <c:pt idx="76">
                    <c:v>-0.24</c:v>
                  </c:pt>
                  <c:pt idx="77">
                    <c:v>-0.23</c:v>
                  </c:pt>
                  <c:pt idx="78">
                    <c:v>-0.22</c:v>
                  </c:pt>
                  <c:pt idx="79">
                    <c:v>-0.21</c:v>
                  </c:pt>
                  <c:pt idx="80">
                    <c:v>-0.20</c:v>
                  </c:pt>
                  <c:pt idx="81">
                    <c:v>-0.19</c:v>
                  </c:pt>
                  <c:pt idx="82">
                    <c:v>-0.18</c:v>
                  </c:pt>
                  <c:pt idx="83">
                    <c:v>-0.17</c:v>
                  </c:pt>
                  <c:pt idx="84">
                    <c:v>-0.16</c:v>
                  </c:pt>
                  <c:pt idx="85">
                    <c:v>-0.15</c:v>
                  </c:pt>
                  <c:pt idx="86">
                    <c:v>-0.14</c:v>
                  </c:pt>
                  <c:pt idx="87">
                    <c:v>-0.13</c:v>
                  </c:pt>
                  <c:pt idx="88">
                    <c:v>-0.12</c:v>
                  </c:pt>
                  <c:pt idx="89">
                    <c:v>-0.11</c:v>
                  </c:pt>
                  <c:pt idx="90">
                    <c:v>-0.10</c:v>
                  </c:pt>
                  <c:pt idx="91">
                    <c:v>-0.09</c:v>
                  </c:pt>
                  <c:pt idx="92">
                    <c:v>-0.08</c:v>
                  </c:pt>
                  <c:pt idx="93">
                    <c:v>-0.07</c:v>
                  </c:pt>
                  <c:pt idx="94">
                    <c:v>-0.06</c:v>
                  </c:pt>
                  <c:pt idx="95">
                    <c:v>-0.05</c:v>
                  </c:pt>
                  <c:pt idx="96">
                    <c:v>-0.04</c:v>
                  </c:pt>
                  <c:pt idx="97">
                    <c:v>-0.03</c:v>
                  </c:pt>
                  <c:pt idx="98">
                    <c:v>-0.02</c:v>
                  </c:pt>
                  <c:pt idx="99">
                    <c:v>-0.01</c:v>
                  </c:pt>
                  <c:pt idx="100">
                    <c:v>0.00</c:v>
                  </c:pt>
                  <c:pt idx="101">
                    <c:v>0.01</c:v>
                  </c:pt>
                  <c:pt idx="102">
                    <c:v>0.02</c:v>
                  </c:pt>
                  <c:pt idx="103">
                    <c:v>0.03</c:v>
                  </c:pt>
                  <c:pt idx="104">
                    <c:v>0.04</c:v>
                  </c:pt>
                  <c:pt idx="105">
                    <c:v>0.05</c:v>
                  </c:pt>
                  <c:pt idx="106">
                    <c:v>0.06</c:v>
                  </c:pt>
                  <c:pt idx="107">
                    <c:v>0.07</c:v>
                  </c:pt>
                  <c:pt idx="108">
                    <c:v>0.08</c:v>
                  </c:pt>
                  <c:pt idx="109">
                    <c:v>0.09</c:v>
                  </c:pt>
                  <c:pt idx="110">
                    <c:v>0.10</c:v>
                  </c:pt>
                  <c:pt idx="111">
                    <c:v>0.11</c:v>
                  </c:pt>
                  <c:pt idx="112">
                    <c:v>0.12</c:v>
                  </c:pt>
                  <c:pt idx="113">
                    <c:v>0.13</c:v>
                  </c:pt>
                  <c:pt idx="114">
                    <c:v>0.14</c:v>
                  </c:pt>
                  <c:pt idx="115">
                    <c:v>0.15</c:v>
                  </c:pt>
                  <c:pt idx="116">
                    <c:v>0.16</c:v>
                  </c:pt>
                  <c:pt idx="117">
                    <c:v>0.17</c:v>
                  </c:pt>
                  <c:pt idx="118">
                    <c:v>0.18</c:v>
                  </c:pt>
                  <c:pt idx="119">
                    <c:v>0.19</c:v>
                  </c:pt>
                  <c:pt idx="120">
                    <c:v>0.20</c:v>
                  </c:pt>
                  <c:pt idx="121">
                    <c:v>0.21</c:v>
                  </c:pt>
                  <c:pt idx="122">
                    <c:v>0.22</c:v>
                  </c:pt>
                  <c:pt idx="123">
                    <c:v>0.23</c:v>
                  </c:pt>
                  <c:pt idx="124">
                    <c:v>0.24</c:v>
                  </c:pt>
                  <c:pt idx="125">
                    <c:v>0.25</c:v>
                  </c:pt>
                  <c:pt idx="126">
                    <c:v>0.26</c:v>
                  </c:pt>
                  <c:pt idx="127">
                    <c:v>0.27</c:v>
                  </c:pt>
                  <c:pt idx="128">
                    <c:v>0.28</c:v>
                  </c:pt>
                  <c:pt idx="129">
                    <c:v>0.29</c:v>
                  </c:pt>
                  <c:pt idx="130">
                    <c:v>0.30</c:v>
                  </c:pt>
                  <c:pt idx="131">
                    <c:v>0.31</c:v>
                  </c:pt>
                  <c:pt idx="132">
                    <c:v>0.32</c:v>
                  </c:pt>
                  <c:pt idx="133">
                    <c:v>0.33</c:v>
                  </c:pt>
                  <c:pt idx="134">
                    <c:v>0.34</c:v>
                  </c:pt>
                  <c:pt idx="135">
                    <c:v>0.35</c:v>
                  </c:pt>
                  <c:pt idx="136">
                    <c:v>0.36</c:v>
                  </c:pt>
                  <c:pt idx="137">
                    <c:v>0.37</c:v>
                  </c:pt>
                  <c:pt idx="138">
                    <c:v>0.38</c:v>
                  </c:pt>
                  <c:pt idx="139">
                    <c:v>0.39</c:v>
                  </c:pt>
                  <c:pt idx="140">
                    <c:v>0.40</c:v>
                  </c:pt>
                  <c:pt idx="141">
                    <c:v>0.41</c:v>
                  </c:pt>
                  <c:pt idx="142">
                    <c:v>0.42</c:v>
                  </c:pt>
                  <c:pt idx="143">
                    <c:v>0.43</c:v>
                  </c:pt>
                  <c:pt idx="144">
                    <c:v>0.44</c:v>
                  </c:pt>
                  <c:pt idx="145">
                    <c:v>0.45</c:v>
                  </c:pt>
                  <c:pt idx="146">
                    <c:v>0.46</c:v>
                  </c:pt>
                  <c:pt idx="147">
                    <c:v>0.47</c:v>
                  </c:pt>
                  <c:pt idx="148">
                    <c:v>0.48</c:v>
                  </c:pt>
                  <c:pt idx="149">
                    <c:v>0.49</c:v>
                  </c:pt>
                  <c:pt idx="150">
                    <c:v>0.50</c:v>
                  </c:pt>
                  <c:pt idx="151">
                    <c:v>0.51</c:v>
                  </c:pt>
                  <c:pt idx="152">
                    <c:v>0.52</c:v>
                  </c:pt>
                  <c:pt idx="153">
                    <c:v>0.53</c:v>
                  </c:pt>
                  <c:pt idx="154">
                    <c:v>0.54</c:v>
                  </c:pt>
                  <c:pt idx="155">
                    <c:v>0.55</c:v>
                  </c:pt>
                  <c:pt idx="156">
                    <c:v>0.56</c:v>
                  </c:pt>
                  <c:pt idx="157">
                    <c:v>0.57</c:v>
                  </c:pt>
                  <c:pt idx="158">
                    <c:v>0.58</c:v>
                  </c:pt>
                  <c:pt idx="159">
                    <c:v>0.59</c:v>
                  </c:pt>
                  <c:pt idx="160">
                    <c:v>0.60</c:v>
                  </c:pt>
                  <c:pt idx="161">
                    <c:v>0.61</c:v>
                  </c:pt>
                  <c:pt idx="162">
                    <c:v>0.62</c:v>
                  </c:pt>
                  <c:pt idx="163">
                    <c:v>0.63</c:v>
                  </c:pt>
                  <c:pt idx="164">
                    <c:v>0.64</c:v>
                  </c:pt>
                  <c:pt idx="165">
                    <c:v>0.65</c:v>
                  </c:pt>
                  <c:pt idx="166">
                    <c:v>0.66</c:v>
                  </c:pt>
                  <c:pt idx="167">
                    <c:v>0.67</c:v>
                  </c:pt>
                  <c:pt idx="168">
                    <c:v>0.68</c:v>
                  </c:pt>
                  <c:pt idx="169">
                    <c:v>0.69</c:v>
                  </c:pt>
                  <c:pt idx="170">
                    <c:v>0.70</c:v>
                  </c:pt>
                  <c:pt idx="171">
                    <c:v>0.71</c:v>
                  </c:pt>
                  <c:pt idx="172">
                    <c:v>0.72</c:v>
                  </c:pt>
                  <c:pt idx="173">
                    <c:v>0.73</c:v>
                  </c:pt>
                  <c:pt idx="174">
                    <c:v>0.74</c:v>
                  </c:pt>
                  <c:pt idx="175">
                    <c:v>0.75</c:v>
                  </c:pt>
                  <c:pt idx="176">
                    <c:v>0.76</c:v>
                  </c:pt>
                  <c:pt idx="177">
                    <c:v>0.77</c:v>
                  </c:pt>
                  <c:pt idx="178">
                    <c:v>0.78</c:v>
                  </c:pt>
                  <c:pt idx="179">
                    <c:v>0.79</c:v>
                  </c:pt>
                  <c:pt idx="180">
                    <c:v>0.80</c:v>
                  </c:pt>
                  <c:pt idx="181">
                    <c:v>0.81</c:v>
                  </c:pt>
                  <c:pt idx="182">
                    <c:v>0.82</c:v>
                  </c:pt>
                  <c:pt idx="183">
                    <c:v>0.83</c:v>
                  </c:pt>
                  <c:pt idx="184">
                    <c:v>0.84</c:v>
                  </c:pt>
                  <c:pt idx="185">
                    <c:v>0.85</c:v>
                  </c:pt>
                  <c:pt idx="186">
                    <c:v>0.86</c:v>
                  </c:pt>
                  <c:pt idx="187">
                    <c:v>0.87</c:v>
                  </c:pt>
                  <c:pt idx="188">
                    <c:v>0.88</c:v>
                  </c:pt>
                  <c:pt idx="189">
                    <c:v>0.89</c:v>
                  </c:pt>
                  <c:pt idx="190">
                    <c:v>0.90</c:v>
                  </c:pt>
                  <c:pt idx="191">
                    <c:v>0.91</c:v>
                  </c:pt>
                  <c:pt idx="192">
                    <c:v>0.92</c:v>
                  </c:pt>
                  <c:pt idx="193">
                    <c:v>0.93</c:v>
                  </c:pt>
                  <c:pt idx="194">
                    <c:v>0.94</c:v>
                  </c:pt>
                  <c:pt idx="195">
                    <c:v>0.95</c:v>
                  </c:pt>
                  <c:pt idx="196">
                    <c:v>0.96</c:v>
                  </c:pt>
                  <c:pt idx="197">
                    <c:v>0.97</c:v>
                  </c:pt>
                  <c:pt idx="198">
                    <c:v>0.98</c:v>
                  </c:pt>
                  <c:pt idx="199">
                    <c:v>0.99</c:v>
                  </c:pt>
                  <c:pt idx="200">
                    <c:v>1.00</c:v>
                  </c:pt>
                </c:lvl>
              </c:multiLvlStrCache>
            </c:multiLvlStrRef>
          </c:cat>
          <c:val>
            <c:numRef>
              <c:f>Sheet1!$B$2:$B$202</c:f>
              <c:numCache>
                <c:formatCode>General</c:formatCode>
                <c:ptCount val="201"/>
                <c:pt idx="0">
                  <c:v>0</c:v>
                </c:pt>
                <c:pt idx="1">
                  <c:v>0.08000000000000007</c:v>
                </c:pt>
                <c:pt idx="2">
                  <c:v>0.16000000000000014</c:v>
                </c:pt>
                <c:pt idx="3">
                  <c:v>0.2400000000000002</c:v>
                </c:pt>
                <c:pt idx="4">
                  <c:v>0.3200000000000003</c:v>
                </c:pt>
                <c:pt idx="5">
                  <c:v>0.40000000000000036</c:v>
                </c:pt>
                <c:pt idx="6">
                  <c:v>0.4800000000000004</c:v>
                </c:pt>
                <c:pt idx="7">
                  <c:v>-0.4399999999999995</c:v>
                </c:pt>
                <c:pt idx="8">
                  <c:v>-0.3600000000000003</c:v>
                </c:pt>
                <c:pt idx="9">
                  <c:v>-0.28000000000000025</c:v>
                </c:pt>
                <c:pt idx="10">
                  <c:v>-0.20000000000000018</c:v>
                </c:pt>
                <c:pt idx="11">
                  <c:v>-0.1200000000000001</c:v>
                </c:pt>
                <c:pt idx="12">
                  <c:v>-0.040000000000000036</c:v>
                </c:pt>
                <c:pt idx="13">
                  <c:v>0.040000000000000036</c:v>
                </c:pt>
                <c:pt idx="14">
                  <c:v>0.1200000000000001</c:v>
                </c:pt>
                <c:pt idx="15">
                  <c:v>0.20000000000000018</c:v>
                </c:pt>
                <c:pt idx="16">
                  <c:v>0.28000000000000025</c:v>
                </c:pt>
                <c:pt idx="17">
                  <c:v>0.3600000000000003</c:v>
                </c:pt>
                <c:pt idx="18">
                  <c:v>0.4399999999999995</c:v>
                </c:pt>
                <c:pt idx="19">
                  <c:v>-0.4800000000000004</c:v>
                </c:pt>
                <c:pt idx="20">
                  <c:v>-0.40000000000000036</c:v>
                </c:pt>
                <c:pt idx="21">
                  <c:v>-0.3200000000000003</c:v>
                </c:pt>
                <c:pt idx="22">
                  <c:v>-0.2400000000000002</c:v>
                </c:pt>
                <c:pt idx="23">
                  <c:v>-0.16000000000000014</c:v>
                </c:pt>
                <c:pt idx="24">
                  <c:v>-0.08000000000000007</c:v>
                </c:pt>
                <c:pt idx="25">
                  <c:v>0</c:v>
                </c:pt>
                <c:pt idx="26">
                  <c:v>0.08000000000000007</c:v>
                </c:pt>
                <c:pt idx="27">
                  <c:v>0.16000000000000014</c:v>
                </c:pt>
                <c:pt idx="28">
                  <c:v>0.2400000000000002</c:v>
                </c:pt>
                <c:pt idx="29">
                  <c:v>0.3200000000000003</c:v>
                </c:pt>
                <c:pt idx="30">
                  <c:v>0.40000000000000036</c:v>
                </c:pt>
                <c:pt idx="31">
                  <c:v>0.4800000000000004</c:v>
                </c:pt>
                <c:pt idx="32">
                  <c:v>-0.4399999999999995</c:v>
                </c:pt>
                <c:pt idx="33">
                  <c:v>-0.35999999999999943</c:v>
                </c:pt>
                <c:pt idx="34">
                  <c:v>-0.27999999999999936</c:v>
                </c:pt>
                <c:pt idx="35">
                  <c:v>-0.20000000000000018</c:v>
                </c:pt>
                <c:pt idx="36">
                  <c:v>-0.1200000000000001</c:v>
                </c:pt>
                <c:pt idx="37">
                  <c:v>-0.040000000000000036</c:v>
                </c:pt>
                <c:pt idx="38">
                  <c:v>0.040000000000000036</c:v>
                </c:pt>
                <c:pt idx="39">
                  <c:v>0.1200000000000001</c:v>
                </c:pt>
                <c:pt idx="40">
                  <c:v>0.20000000000000018</c:v>
                </c:pt>
                <c:pt idx="41">
                  <c:v>0.27999999999999936</c:v>
                </c:pt>
                <c:pt idx="42">
                  <c:v>0.35999999999999943</c:v>
                </c:pt>
                <c:pt idx="43">
                  <c:v>0.4399999999999995</c:v>
                </c:pt>
                <c:pt idx="44">
                  <c:v>-0.4800000000000004</c:v>
                </c:pt>
                <c:pt idx="45">
                  <c:v>-0.40000000000000036</c:v>
                </c:pt>
                <c:pt idx="46">
                  <c:v>-0.3200000000000003</c:v>
                </c:pt>
                <c:pt idx="47">
                  <c:v>-0.2400000000000002</c:v>
                </c:pt>
                <c:pt idx="48">
                  <c:v>-0.16000000000000014</c:v>
                </c:pt>
                <c:pt idx="49">
                  <c:v>-0.08000000000000007</c:v>
                </c:pt>
                <c:pt idx="50">
                  <c:v>0</c:v>
                </c:pt>
                <c:pt idx="51">
                  <c:v>0.08000000000000007</c:v>
                </c:pt>
                <c:pt idx="52">
                  <c:v>0.16000000000000014</c:v>
                </c:pt>
                <c:pt idx="53">
                  <c:v>0.2400000000000002</c:v>
                </c:pt>
                <c:pt idx="54">
                  <c:v>0.3200000000000003</c:v>
                </c:pt>
                <c:pt idx="55">
                  <c:v>0.40000000000000036</c:v>
                </c:pt>
                <c:pt idx="56">
                  <c:v>0.4800000000000004</c:v>
                </c:pt>
                <c:pt idx="57">
                  <c:v>-0.4400000000000004</c:v>
                </c:pt>
                <c:pt idx="58">
                  <c:v>-0.3600000000000003</c:v>
                </c:pt>
                <c:pt idx="59">
                  <c:v>-0.28000000000000025</c:v>
                </c:pt>
                <c:pt idx="60">
                  <c:v>-0.20000000000000018</c:v>
                </c:pt>
                <c:pt idx="61">
                  <c:v>-0.1200000000000001</c:v>
                </c:pt>
                <c:pt idx="62">
                  <c:v>-0.040000000000000036</c:v>
                </c:pt>
                <c:pt idx="63">
                  <c:v>0.040000000000000036</c:v>
                </c:pt>
                <c:pt idx="64">
                  <c:v>0.1200000000000001</c:v>
                </c:pt>
                <c:pt idx="65">
                  <c:v>0.20000000000000018</c:v>
                </c:pt>
                <c:pt idx="66">
                  <c:v>0.28000000000000025</c:v>
                </c:pt>
                <c:pt idx="67">
                  <c:v>0.3600000000000003</c:v>
                </c:pt>
                <c:pt idx="68">
                  <c:v>0.4400000000000004</c:v>
                </c:pt>
                <c:pt idx="69">
                  <c:v>-0.4800000000000004</c:v>
                </c:pt>
                <c:pt idx="70">
                  <c:v>-0.40000000000000036</c:v>
                </c:pt>
                <c:pt idx="71">
                  <c:v>-0.3200000000000003</c:v>
                </c:pt>
                <c:pt idx="72">
                  <c:v>-0.2400000000000002</c:v>
                </c:pt>
                <c:pt idx="73">
                  <c:v>-0.16000000000000014</c:v>
                </c:pt>
                <c:pt idx="74">
                  <c:v>-0.08000000000000007</c:v>
                </c:pt>
                <c:pt idx="75">
                  <c:v>0</c:v>
                </c:pt>
                <c:pt idx="76">
                  <c:v>0.08000000000000007</c:v>
                </c:pt>
                <c:pt idx="77">
                  <c:v>0.16000000000000014</c:v>
                </c:pt>
                <c:pt idx="78">
                  <c:v>0.2400000000000002</c:v>
                </c:pt>
                <c:pt idx="79">
                  <c:v>0.3200000000000003</c:v>
                </c:pt>
                <c:pt idx="80">
                  <c:v>0.40000000000000036</c:v>
                </c:pt>
                <c:pt idx="81">
                  <c:v>0.4800000000000004</c:v>
                </c:pt>
                <c:pt idx="82">
                  <c:v>-0.4400000000000004</c:v>
                </c:pt>
                <c:pt idx="83">
                  <c:v>-0.3600000000000003</c:v>
                </c:pt>
                <c:pt idx="84">
                  <c:v>-0.28000000000000025</c:v>
                </c:pt>
                <c:pt idx="85">
                  <c:v>-0.20000000000000018</c:v>
                </c:pt>
                <c:pt idx="86">
                  <c:v>-0.1200000000000001</c:v>
                </c:pt>
                <c:pt idx="87">
                  <c:v>-0.040000000000000036</c:v>
                </c:pt>
                <c:pt idx="88">
                  <c:v>0.040000000000000036</c:v>
                </c:pt>
                <c:pt idx="89">
                  <c:v>0.1200000000000001</c:v>
                </c:pt>
                <c:pt idx="90">
                  <c:v>0.20000000000000018</c:v>
                </c:pt>
                <c:pt idx="91">
                  <c:v>0.28000000000000025</c:v>
                </c:pt>
                <c:pt idx="92">
                  <c:v>0.3600000000000003</c:v>
                </c:pt>
                <c:pt idx="93">
                  <c:v>0.4400000000000004</c:v>
                </c:pt>
                <c:pt idx="94">
                  <c:v>-0.4800000000000004</c:v>
                </c:pt>
                <c:pt idx="95">
                  <c:v>-0.40000000000000036</c:v>
                </c:pt>
                <c:pt idx="96">
                  <c:v>-0.3200000000000003</c:v>
                </c:pt>
                <c:pt idx="97">
                  <c:v>-0.2400000000000002</c:v>
                </c:pt>
                <c:pt idx="98">
                  <c:v>-0.16000000000000014</c:v>
                </c:pt>
                <c:pt idx="99">
                  <c:v>-0.08000000000000007</c:v>
                </c:pt>
                <c:pt idx="100">
                  <c:v>0</c:v>
                </c:pt>
                <c:pt idx="101">
                  <c:v>0.08000000000000007</c:v>
                </c:pt>
                <c:pt idx="102">
                  <c:v>0.16000000000000014</c:v>
                </c:pt>
                <c:pt idx="103">
                  <c:v>0.2400000000000002</c:v>
                </c:pt>
                <c:pt idx="104">
                  <c:v>0.3200000000000003</c:v>
                </c:pt>
                <c:pt idx="105">
                  <c:v>0.40000000000000036</c:v>
                </c:pt>
                <c:pt idx="106">
                  <c:v>0.4800000000000004</c:v>
                </c:pt>
                <c:pt idx="107">
                  <c:v>-0.4399999999999995</c:v>
                </c:pt>
                <c:pt idx="108">
                  <c:v>-0.35999999999999943</c:v>
                </c:pt>
                <c:pt idx="109">
                  <c:v>-0.27999999999999936</c:v>
                </c:pt>
                <c:pt idx="110">
                  <c:v>-0.1999999999999993</c:v>
                </c:pt>
                <c:pt idx="111">
                  <c:v>-0.11999999999999922</c:v>
                </c:pt>
                <c:pt idx="112">
                  <c:v>-0.03999999999999915</c:v>
                </c:pt>
                <c:pt idx="113">
                  <c:v>0.03999999999999915</c:v>
                </c:pt>
                <c:pt idx="114">
                  <c:v>0.11999999999999922</c:v>
                </c:pt>
                <c:pt idx="115">
                  <c:v>0.1999999999999993</c:v>
                </c:pt>
                <c:pt idx="116">
                  <c:v>0.27999999999999936</c:v>
                </c:pt>
                <c:pt idx="117">
                  <c:v>0.35999999999999943</c:v>
                </c:pt>
                <c:pt idx="118">
                  <c:v>0.4399999999999995</c:v>
                </c:pt>
                <c:pt idx="119">
                  <c:v>-0.4800000000000004</c:v>
                </c:pt>
                <c:pt idx="120">
                  <c:v>-0.40000000000000036</c:v>
                </c:pt>
                <c:pt idx="121">
                  <c:v>-0.3200000000000003</c:v>
                </c:pt>
                <c:pt idx="122">
                  <c:v>-0.2400000000000002</c:v>
                </c:pt>
                <c:pt idx="123">
                  <c:v>-0.16000000000000014</c:v>
                </c:pt>
                <c:pt idx="124">
                  <c:v>-0.08000000000000007</c:v>
                </c:pt>
                <c:pt idx="125">
                  <c:v>0</c:v>
                </c:pt>
                <c:pt idx="126">
                  <c:v>0.08000000000000007</c:v>
                </c:pt>
                <c:pt idx="127">
                  <c:v>0.16000000000000014</c:v>
                </c:pt>
                <c:pt idx="128">
                  <c:v>0.2400000000000002</c:v>
                </c:pt>
                <c:pt idx="129">
                  <c:v>0.3200000000000003</c:v>
                </c:pt>
                <c:pt idx="130">
                  <c:v>0.40000000000000036</c:v>
                </c:pt>
                <c:pt idx="131">
                  <c:v>0.4800000000000004</c:v>
                </c:pt>
                <c:pt idx="132">
                  <c:v>-0.4399999999999995</c:v>
                </c:pt>
                <c:pt idx="133">
                  <c:v>-0.35999999999999943</c:v>
                </c:pt>
                <c:pt idx="134">
                  <c:v>-0.27999999999999936</c:v>
                </c:pt>
                <c:pt idx="135">
                  <c:v>-0.1999999999999993</c:v>
                </c:pt>
                <c:pt idx="136">
                  <c:v>-0.11999999999999922</c:v>
                </c:pt>
                <c:pt idx="137">
                  <c:v>-0.03999999999999915</c:v>
                </c:pt>
                <c:pt idx="138">
                  <c:v>0.03999999999999915</c:v>
                </c:pt>
                <c:pt idx="139">
                  <c:v>0.11999999999999922</c:v>
                </c:pt>
                <c:pt idx="140">
                  <c:v>0.1999999999999993</c:v>
                </c:pt>
                <c:pt idx="141">
                  <c:v>0.27999999999999936</c:v>
                </c:pt>
                <c:pt idx="142">
                  <c:v>0.35999999999999943</c:v>
                </c:pt>
                <c:pt idx="143">
                  <c:v>0.4399999999999995</c:v>
                </c:pt>
                <c:pt idx="144">
                  <c:v>-0.4800000000000004</c:v>
                </c:pt>
                <c:pt idx="145">
                  <c:v>-0.40000000000000036</c:v>
                </c:pt>
                <c:pt idx="146">
                  <c:v>-0.3200000000000003</c:v>
                </c:pt>
                <c:pt idx="147">
                  <c:v>-0.2400000000000002</c:v>
                </c:pt>
                <c:pt idx="148">
                  <c:v>-0.16000000000000014</c:v>
                </c:pt>
                <c:pt idx="149">
                  <c:v>-0.08000000000000007</c:v>
                </c:pt>
                <c:pt idx="150">
                  <c:v>0</c:v>
                </c:pt>
                <c:pt idx="151">
                  <c:v>0.08000000000000007</c:v>
                </c:pt>
                <c:pt idx="152">
                  <c:v>0.16000000000000014</c:v>
                </c:pt>
                <c:pt idx="153">
                  <c:v>0.2400000000000002</c:v>
                </c:pt>
                <c:pt idx="154">
                  <c:v>0.3200000000000003</c:v>
                </c:pt>
                <c:pt idx="155">
                  <c:v>0.40000000000000036</c:v>
                </c:pt>
                <c:pt idx="156">
                  <c:v>0.4800000000000004</c:v>
                </c:pt>
                <c:pt idx="157">
                  <c:v>-0.4399999999999995</c:v>
                </c:pt>
                <c:pt idx="158">
                  <c:v>-0.35999999999999943</c:v>
                </c:pt>
                <c:pt idx="159">
                  <c:v>-0.27999999999999936</c:v>
                </c:pt>
                <c:pt idx="160">
                  <c:v>-0.1999999999999993</c:v>
                </c:pt>
                <c:pt idx="161">
                  <c:v>-0.11999999999999922</c:v>
                </c:pt>
                <c:pt idx="162">
                  <c:v>-0.03999999999999915</c:v>
                </c:pt>
                <c:pt idx="163">
                  <c:v>0.03999999999999915</c:v>
                </c:pt>
                <c:pt idx="164">
                  <c:v>0.11999999999999922</c:v>
                </c:pt>
                <c:pt idx="165">
                  <c:v>0.1999999999999993</c:v>
                </c:pt>
                <c:pt idx="166">
                  <c:v>0.27999999999999936</c:v>
                </c:pt>
                <c:pt idx="167">
                  <c:v>0.35999999999999943</c:v>
                </c:pt>
                <c:pt idx="168">
                  <c:v>0.4399999999999995</c:v>
                </c:pt>
                <c:pt idx="169">
                  <c:v>-0.4800000000000004</c:v>
                </c:pt>
                <c:pt idx="170">
                  <c:v>-0.40000000000000036</c:v>
                </c:pt>
                <c:pt idx="171">
                  <c:v>-0.3200000000000003</c:v>
                </c:pt>
                <c:pt idx="172">
                  <c:v>-0.2400000000000002</c:v>
                </c:pt>
                <c:pt idx="173">
                  <c:v>-0.16000000000000014</c:v>
                </c:pt>
                <c:pt idx="174">
                  <c:v>-0.08000000000000007</c:v>
                </c:pt>
                <c:pt idx="175">
                  <c:v>0</c:v>
                </c:pt>
                <c:pt idx="176">
                  <c:v>0.08000000000000007</c:v>
                </c:pt>
                <c:pt idx="177">
                  <c:v>0.16000000000000014</c:v>
                </c:pt>
                <c:pt idx="178">
                  <c:v>0.2400000000000002</c:v>
                </c:pt>
                <c:pt idx="179">
                  <c:v>0.3200000000000003</c:v>
                </c:pt>
                <c:pt idx="180">
                  <c:v>0.40000000000000036</c:v>
                </c:pt>
                <c:pt idx="181">
                  <c:v>0.4800000000000004</c:v>
                </c:pt>
                <c:pt idx="182">
                  <c:v>-0.4399999999999995</c:v>
                </c:pt>
                <c:pt idx="183">
                  <c:v>-0.35999999999999943</c:v>
                </c:pt>
                <c:pt idx="184">
                  <c:v>-0.27999999999999936</c:v>
                </c:pt>
                <c:pt idx="185">
                  <c:v>-0.1999999999999993</c:v>
                </c:pt>
                <c:pt idx="186">
                  <c:v>-0.11999999999999922</c:v>
                </c:pt>
                <c:pt idx="187">
                  <c:v>-0.03999999999999915</c:v>
                </c:pt>
                <c:pt idx="188">
                  <c:v>0.03999999999999915</c:v>
                </c:pt>
                <c:pt idx="189">
                  <c:v>0.11999999999999922</c:v>
                </c:pt>
                <c:pt idx="190">
                  <c:v>0.1999999999999993</c:v>
                </c:pt>
                <c:pt idx="191">
                  <c:v>0.27999999999999936</c:v>
                </c:pt>
                <c:pt idx="192">
                  <c:v>0.35999999999999943</c:v>
                </c:pt>
                <c:pt idx="193">
                  <c:v>0.4399999999999995</c:v>
                </c:pt>
                <c:pt idx="194">
                  <c:v>0.5199999999999996</c:v>
                </c:pt>
                <c:pt idx="195">
                  <c:v>0.5999999999999996</c:v>
                </c:pt>
                <c:pt idx="196">
                  <c:v>0.6799999999999997</c:v>
                </c:pt>
                <c:pt idx="197">
                  <c:v>0.7599999999999998</c:v>
                </c:pt>
                <c:pt idx="198">
                  <c:v>0.8399999999999999</c:v>
                </c:pt>
                <c:pt idx="199">
                  <c:v>0.9199999999999999</c:v>
                </c:pt>
                <c:pt idx="200">
                  <c:v>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900" b="0" i="0" u="none" strike="noStrike">
                    <a:solidFill>
                      <a:srgbClr val="5B6B7F"/>
                    </a:solidFill>
                    <a:latin typeface="Calibri"/>
                  </a:defRPr>
                </a:pPr>
                <a:r>
                  <a:rPr sz="900" b="0" i="0" u="none" strike="noStrike">
                    <a:solidFill>
                      <a:srgbClr val="5B6B7F"/>
                    </a:solidFill>
                    <a:latin typeface="Calibri"/>
                  </a:rPr>
                  <a:t>input (V) · error never leaves ±½ LSB</a:t>
                </a:r>
              </a:p>
            </c:rich>
          </c:tx>
          <c:layout/>
          <c:overlay val="0"/>
        </c:title>
        <c:numFmt formatCode="General" sourceLinked="1"/>
        <c:majorTickMark val="none"/>
        <c:minorTickMark val="none"/>
        <c:tickLblPos val="low"/>
        <c:spPr>
          <a:ln w="12700" cap="flat">
            <a:solidFill>
              <a:srgbClr val="888888"/>
            </a:solidFill>
            <a:prstDash val="solid"/>
            <a:round/>
          </a:ln>
        </c:spPr>
        <c:txPr>
          <a:bodyPr/>
          <a:lstStyle/>
          <a:p>
            <a:pPr>
              <a:defRPr sz="900" b="0" i="0" u="none" strike="noStrike">
                <a:solidFill>
                  <a:srgbClr val="5B6B7F"/>
                </a:solidFill>
                <a:latin typeface="Calibri"/>
              </a:defRPr>
            </a:pPr>
            <a:endParaRPr lang="en-US"/>
          </a:p>
        </c:txPr>
        <c:crossAx val="2094734552"/>
        <c:crosses val="min"/>
        <c:auto val="1"/>
        <c:lblAlgn val="ctr"/>
        <c:noMultiLvlLbl val="1"/>
        <c:tickLblSkip val="25"/>
      </c:catAx>
      <c:valAx>
        <c:axId val="2094734552"/>
        <c:scaling>
          <c:orientation val="minMax"/>
          <c:max val="0.6"/>
          <c:min val="-0.6"/>
        </c:scaling>
        <c:delete val="0"/>
        <c:axPos val="l"/>
        <c:majorGridlines>
          <c:spPr>
            <a:ln w="6350" cap="flat">
              <a:solidFill>
                <a:srgbClr val="D9E1EA"/>
              </a:solidFill>
              <a:prstDash val="solid"/>
              <a:round/>
            </a:ln>
          </c:spPr>
        </c:majorGridlines>
        <c:numFmt formatCode="0.00" sourceLinked="0"/>
        <c:majorTickMark val="none"/>
        <c:minorTickMark val="none"/>
        <c:tickLblPos val="nextTo"/>
        <c:spPr>
          <a:ln w="12700" cap="flat">
            <a:noFill/>
            <a:prstDash val="solid"/>
            <a:round/>
          </a:ln>
        </c:spPr>
        <c:txPr>
          <a:bodyPr/>
          <a:lstStyle/>
          <a:p>
            <a:pPr>
              <a:defRPr sz="900" b="0" i="0" u="none" strike="noStrike">
                <a:solidFill>
                  <a:srgbClr val="5B6B7F"/>
                </a:solidFill>
                <a:latin typeface="Calibri"/>
              </a:defRPr>
            </a:pPr>
            <a:endParaRPr lang="en-US"/>
          </a:p>
        </c:txPr>
        <c:crossAx val="2094734554"/>
        <c:crosses val="autoZero"/>
        <c:crossBetween val="between"/>
        <c:majorUnit val="0.25"/>
      </c:valAx>
      <c:spPr>
        <a:solidFill>
          <a:srgbClr val="FFFFFF"/>
        </a:solidFill>
        <a:ln>
          <a:noFill/>
        </a:ln>
        <a:effectLst/>
      </c:spPr>
    </c:plotArea>
    <c:plotVisOnly val="1"/>
    <c:dispBlanksAs val="span"/>
  </c:chart>
  <c:spPr>
    <a:solidFill>
      <a:srgbClr val="FFFFF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lineChart>
        <c:varyColors val="0"/>
        <c:ser>
          <c:idx val="0"/>
          <c:order val="0"/>
          <c:tx>
            <c:strRef>
              <c:f>Sheet1!$B$1</c:f>
              <c:strCache>
                <c:ptCount val="1"/>
                <c:pt idx="0">
                  <c:v>2 ppm/°C</c:v>
                </c:pt>
              </c:strCache>
            </c:strRef>
          </c:tx>
          <c:spPr>
            <a:solidFill>
              <a:srgbClr val="2EC4B6"/>
            </a:solidFill>
            <a:ln w="19050" cap="flat">
              <a:solidFill>
                <a:srgbClr val="2EC4B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4"/>
            <c:spPr>
              <a:solidFill>
                <a:srgbClr val="2EC4B6"/>
              </a:solidFill>
              <a:ln w="9525" cap="flat">
                <a:solidFill>
                  <a:srgbClr val="2EC4B6"/>
                </a:solidFill>
                <a:prstDash val="solid"/>
                <a:round/>
              </a:ln>
              <a:effectLst/>
            </c:spPr>
          </c:marker>
          <c:cat>
            <c:multiLvlStrRef>
              <c:f>Sheet1!$A$2:$A$15</c:f>
              <c:multiLvlStrCache>
                <c:ptCount val="14"/>
                <c:lvl>
                  <c:pt idx="0">
                    <c:v>-40</c:v>
                  </c:pt>
                  <c:pt idx="1">
                    <c:v>-30</c:v>
                  </c:pt>
                  <c:pt idx="2">
                    <c:v>-20</c:v>
                  </c:pt>
                  <c:pt idx="3">
                    <c:v>-10</c:v>
                  </c:pt>
                  <c:pt idx="4">
                    <c:v>0</c:v>
                  </c:pt>
                  <c:pt idx="5">
                    <c:v>10</c:v>
                  </c:pt>
                  <c:pt idx="6">
                    <c:v>20</c:v>
                  </c:pt>
                  <c:pt idx="7">
                    <c:v>30</c:v>
                  </c:pt>
                  <c:pt idx="8">
                    <c:v>40</c:v>
                  </c:pt>
                  <c:pt idx="9">
                    <c:v>50</c:v>
                  </c:pt>
                  <c:pt idx="10">
                    <c:v>60</c:v>
                  </c:pt>
                  <c:pt idx="11">
                    <c:v>70</c:v>
                  </c:pt>
                  <c:pt idx="12">
                    <c:v>80</c:v>
                  </c:pt>
                  <c:pt idx="13">
                    <c:v>90</c:v>
                  </c:pt>
                </c:lvl>
              </c:multiLvlStrCache>
            </c:multiLvlStrRef>
          </c:cat>
          <c:val>
            <c:numRef>
              <c:f>Sheet1!$B$2:$B$15</c:f>
              <c:numCache>
                <c:formatCode>General</c:formatCode>
                <c:ptCount val="14"/>
                <c:pt idx="0">
                  <c:v>-8.51968</c:v>
                </c:pt>
                <c:pt idx="1">
                  <c:v>-7.208959999999999</c:v>
                </c:pt>
                <c:pt idx="2">
                  <c:v>-5.8982399999999995</c:v>
                </c:pt>
                <c:pt idx="3">
                  <c:v>-4.58752</c:v>
                </c:pt>
                <c:pt idx="4">
                  <c:v>-3.2767999999999997</c:v>
                </c:pt>
                <c:pt idx="5">
                  <c:v>-1.9660799999999998</c:v>
                </c:pt>
                <c:pt idx="6">
                  <c:v>-0.6553599999999999</c:v>
                </c:pt>
                <c:pt idx="7">
                  <c:v>0.6553599999999999</c:v>
                </c:pt>
                <c:pt idx="8">
                  <c:v>1.9660799999999998</c:v>
                </c:pt>
                <c:pt idx="9">
                  <c:v>3.2767999999999997</c:v>
                </c:pt>
                <c:pt idx="10">
                  <c:v>4.58752</c:v>
                </c:pt>
                <c:pt idx="11">
                  <c:v>5.8982399999999995</c:v>
                </c:pt>
                <c:pt idx="12">
                  <c:v>7.208959999999999</c:v>
                </c:pt>
                <c:pt idx="13">
                  <c:v>8.51968</c:v>
                </c:pt>
              </c:numCache>
            </c:numRef>
          </c:val>
          <c:smooth val="0"/>
        </c:ser>
        <c:ser>
          <c:idx val="1"/>
          <c:order val="1"/>
          <c:tx>
            <c:strRef>
              <c:f>Sheet1!$C$1</c:f>
              <c:strCache>
                <c:ptCount val="1"/>
                <c:pt idx="0">
                  <c:v>10 ppm/°C</c:v>
                </c:pt>
              </c:strCache>
            </c:strRef>
          </c:tx>
          <c:spPr>
            <a:solidFill>
              <a:srgbClr val="FFB703"/>
            </a:solidFill>
            <a:ln w="19050" cap="flat">
              <a:solidFill>
                <a:srgbClr val="FFB703"/>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4"/>
            <c:spPr>
              <a:solidFill>
                <a:srgbClr val="FFB703"/>
              </a:solidFill>
              <a:ln w="9525" cap="flat">
                <a:solidFill>
                  <a:srgbClr val="FFB703"/>
                </a:solidFill>
                <a:prstDash val="solid"/>
                <a:round/>
              </a:ln>
              <a:effectLst/>
            </c:spPr>
          </c:marker>
          <c:cat>
            <c:multiLvlStrRef>
              <c:f>Sheet1!$A$2:$A$15</c:f>
              <c:multiLvlStrCache>
                <c:ptCount val="14"/>
                <c:lvl>
                  <c:pt idx="0">
                    <c:v>-40</c:v>
                  </c:pt>
                  <c:pt idx="1">
                    <c:v>-30</c:v>
                  </c:pt>
                  <c:pt idx="2">
                    <c:v>-20</c:v>
                  </c:pt>
                  <c:pt idx="3">
                    <c:v>-10</c:v>
                  </c:pt>
                  <c:pt idx="4">
                    <c:v>0</c:v>
                  </c:pt>
                  <c:pt idx="5">
                    <c:v>10</c:v>
                  </c:pt>
                  <c:pt idx="6">
                    <c:v>20</c:v>
                  </c:pt>
                  <c:pt idx="7">
                    <c:v>30</c:v>
                  </c:pt>
                  <c:pt idx="8">
                    <c:v>40</c:v>
                  </c:pt>
                  <c:pt idx="9">
                    <c:v>50</c:v>
                  </c:pt>
                  <c:pt idx="10">
                    <c:v>60</c:v>
                  </c:pt>
                  <c:pt idx="11">
                    <c:v>70</c:v>
                  </c:pt>
                  <c:pt idx="12">
                    <c:v>80</c:v>
                  </c:pt>
                  <c:pt idx="13">
                    <c:v>90</c:v>
                  </c:pt>
                </c:lvl>
              </c:multiLvlStrCache>
            </c:multiLvlStrRef>
          </c:cat>
          <c:val>
            <c:numRef>
              <c:f>Sheet1!$C$2:$C$15</c:f>
              <c:numCache>
                <c:formatCode>General</c:formatCode>
                <c:ptCount val="14"/>
                <c:pt idx="0">
                  <c:v>-42.5984</c:v>
                </c:pt>
                <c:pt idx="1">
                  <c:v>-36.044799999999995</c:v>
                </c:pt>
                <c:pt idx="2">
                  <c:v>-29.4912</c:v>
                </c:pt>
                <c:pt idx="3">
                  <c:v>-22.9376</c:v>
                </c:pt>
                <c:pt idx="4">
                  <c:v>-16.384</c:v>
                </c:pt>
                <c:pt idx="5">
                  <c:v>-9.8304</c:v>
                </c:pt>
                <c:pt idx="6">
                  <c:v>-3.2767999999999997</c:v>
                </c:pt>
                <c:pt idx="7">
                  <c:v>3.2767999999999997</c:v>
                </c:pt>
                <c:pt idx="8">
                  <c:v>9.8304</c:v>
                </c:pt>
                <c:pt idx="9">
                  <c:v>16.384</c:v>
                </c:pt>
                <c:pt idx="10">
                  <c:v>22.9376</c:v>
                </c:pt>
                <c:pt idx="11">
                  <c:v>29.4912</c:v>
                </c:pt>
                <c:pt idx="12">
                  <c:v>36.044799999999995</c:v>
                </c:pt>
                <c:pt idx="13">
                  <c:v>42.5984</c:v>
                </c:pt>
              </c:numCache>
            </c:numRef>
          </c:val>
          <c:smooth val="0"/>
        </c:ser>
        <c:ser>
          <c:idx val="2"/>
          <c:order val="2"/>
          <c:tx>
            <c:strRef>
              <c:f>Sheet1!$D$1</c:f>
              <c:strCache>
                <c:ptCount val="1"/>
                <c:pt idx="0">
                  <c:v>50 ppm/°C</c:v>
                </c:pt>
              </c:strCache>
            </c:strRef>
          </c:tx>
          <c:spPr>
            <a:solidFill>
              <a:srgbClr val="E76F51"/>
            </a:solidFill>
            <a:ln w="19050" cap="flat">
              <a:solidFill>
                <a:srgbClr val="E76F5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4"/>
            <c:spPr>
              <a:solidFill>
                <a:srgbClr val="E76F51"/>
              </a:solidFill>
              <a:ln w="9525" cap="flat">
                <a:solidFill>
                  <a:srgbClr val="E76F51"/>
                </a:solidFill>
                <a:prstDash val="solid"/>
                <a:round/>
              </a:ln>
              <a:effectLst/>
            </c:spPr>
          </c:marker>
          <c:cat>
            <c:multiLvlStrRef>
              <c:f>Sheet1!$A$2:$A$15</c:f>
              <c:multiLvlStrCache>
                <c:ptCount val="14"/>
                <c:lvl>
                  <c:pt idx="0">
                    <c:v>-40</c:v>
                  </c:pt>
                  <c:pt idx="1">
                    <c:v>-30</c:v>
                  </c:pt>
                  <c:pt idx="2">
                    <c:v>-20</c:v>
                  </c:pt>
                  <c:pt idx="3">
                    <c:v>-10</c:v>
                  </c:pt>
                  <c:pt idx="4">
                    <c:v>0</c:v>
                  </c:pt>
                  <c:pt idx="5">
                    <c:v>10</c:v>
                  </c:pt>
                  <c:pt idx="6">
                    <c:v>20</c:v>
                  </c:pt>
                  <c:pt idx="7">
                    <c:v>30</c:v>
                  </c:pt>
                  <c:pt idx="8">
                    <c:v>40</c:v>
                  </c:pt>
                  <c:pt idx="9">
                    <c:v>50</c:v>
                  </c:pt>
                  <c:pt idx="10">
                    <c:v>60</c:v>
                  </c:pt>
                  <c:pt idx="11">
                    <c:v>70</c:v>
                  </c:pt>
                  <c:pt idx="12">
                    <c:v>80</c:v>
                  </c:pt>
                  <c:pt idx="13">
                    <c:v>90</c:v>
                  </c:pt>
                </c:lvl>
              </c:multiLvlStrCache>
            </c:multiLvlStrRef>
          </c:cat>
          <c:val>
            <c:numRef>
              <c:f>Sheet1!$D$2:$D$15</c:f>
              <c:numCache>
                <c:formatCode>General</c:formatCode>
                <c:ptCount val="14"/>
                <c:pt idx="0">
                  <c:v>-212.992</c:v>
                </c:pt>
                <c:pt idx="1">
                  <c:v>-180.224</c:v>
                </c:pt>
                <c:pt idx="2">
                  <c:v>-147.456</c:v>
                </c:pt>
                <c:pt idx="3">
                  <c:v>-114.68799999999999</c:v>
                </c:pt>
                <c:pt idx="4">
                  <c:v>-81.92</c:v>
                </c:pt>
                <c:pt idx="5">
                  <c:v>-49.152</c:v>
                </c:pt>
                <c:pt idx="6">
                  <c:v>-16.384</c:v>
                </c:pt>
                <c:pt idx="7">
                  <c:v>16.384</c:v>
                </c:pt>
                <c:pt idx="8">
                  <c:v>49.152</c:v>
                </c:pt>
                <c:pt idx="9">
                  <c:v>81.92</c:v>
                </c:pt>
                <c:pt idx="10">
                  <c:v>114.68799999999999</c:v>
                </c:pt>
                <c:pt idx="11">
                  <c:v>147.456</c:v>
                </c:pt>
                <c:pt idx="12">
                  <c:v>180.224</c:v>
                </c:pt>
                <c:pt idx="13">
                  <c:v>212.992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900" b="0" i="0" u="none" strike="noStrike">
                    <a:solidFill>
                      <a:srgbClr val="5B6B7F"/>
                    </a:solidFill>
                    <a:latin typeface="Calibri"/>
                  </a:defRPr>
                </a:pPr>
                <a:r>
                  <a:rPr sz="900" b="0" i="0" u="none" strike="noStrike">
                    <a:solidFill>
                      <a:srgbClr val="5B6B7F"/>
                    </a:solidFill>
                    <a:latin typeface="Calibri"/>
                  </a:rPr>
                  <a:t>temperature (°C)</a:t>
                </a:r>
              </a:p>
            </c:rich>
          </c:tx>
          <c:layout/>
          <c:overlay val="0"/>
        </c:title>
        <c:numFmt formatCode="General" sourceLinked="1"/>
        <c:majorTickMark val="none"/>
        <c:minorTickMark val="none"/>
        <c:tickLblPos val="low"/>
        <c:spPr>
          <a:ln w="12700" cap="flat">
            <a:solidFill>
              <a:srgbClr val="888888"/>
            </a:solidFill>
            <a:prstDash val="solid"/>
            <a:round/>
          </a:ln>
        </c:spPr>
        <c:txPr>
          <a:bodyPr/>
          <a:lstStyle/>
          <a:p>
            <a:pPr>
              <a:defRPr sz="900" b="0" i="0" u="none" strike="noStrike">
                <a:solidFill>
                  <a:srgbClr val="5B6B7F"/>
                </a:solidFill>
                <a:latin typeface="Calibri"/>
              </a:defRPr>
            </a:pPr>
            <a:endParaRPr lang="en-US"/>
          </a:p>
        </c:txPr>
        <c:crossAx val="2094734552"/>
        <c:crosses val="min"/>
        <c:auto val="1"/>
        <c:lblAlgn val="ctr"/>
        <c:noMultiLvlLbl val="1"/>
      </c:catAx>
      <c:valAx>
        <c:axId val="2094734552"/>
        <c:scaling>
          <c:orientation val="minMax"/>
        </c:scaling>
        <c:delete val="0"/>
        <c:axPos val="l"/>
        <c:majorGridlines>
          <c:spPr>
            <a:ln w="6350" cap="flat">
              <a:solidFill>
                <a:srgbClr val="D9E1EA"/>
              </a:solidFill>
              <a:prstDash val="solid"/>
              <a:round/>
            </a:ln>
          </c:spPr>
        </c:majorGridlines>
        <c:title>
          <c:tx>
            <c:rich>
              <a:bodyPr/>
              <a:lstStyle/>
              <a:p>
                <a:pPr>
                  <a:defRPr sz="900" b="0" i="0" u="none" strike="noStrike">
                    <a:solidFill>
                      <a:srgbClr val="5B6B7F"/>
                    </a:solidFill>
                    <a:latin typeface="Calibri"/>
                  </a:defRPr>
                </a:pPr>
                <a:r>
                  <a:rPr sz="900" b="0" i="0" u="none" strike="noStrike">
                    <a:solidFill>
                      <a:srgbClr val="5B6B7F"/>
                    </a:solidFill>
                    <a:latin typeface="Calibri"/>
                  </a:rPr>
                  <a:t>gain error at 16 bits (LSB)</a:t>
                </a:r>
              </a:p>
            </c:rich>
          </c:tx>
          <c:layout/>
          <c:overlay val="0"/>
        </c:title>
        <c:numFmt formatCode="General" sourceLinked="0"/>
        <c:majorTickMark val="none"/>
        <c:minorTickMark val="none"/>
        <c:tickLblPos val="nextTo"/>
        <c:spPr>
          <a:ln w="12700" cap="flat">
            <a:noFill/>
            <a:prstDash val="solid"/>
            <a:round/>
          </a:ln>
        </c:spPr>
        <c:txPr>
          <a:bodyPr/>
          <a:lstStyle/>
          <a:p>
            <a:pPr>
              <a:defRPr sz="900" b="0" i="0" u="none" strike="noStrike">
                <a:solidFill>
                  <a:srgbClr val="5B6B7F"/>
                </a:solidFill>
                <a:latin typeface="Calibri"/>
              </a:defRPr>
            </a:pPr>
            <a:endParaRPr lang="en-US"/>
          </a:p>
        </c:txPr>
        <c:crossAx val="2094734554"/>
        <c:crosses val="autoZero"/>
        <c:crossBetween val="between"/>
        <c:majorUnit val="100"/>
      </c:valAx>
      <c:spPr>
        <a:solidFill>
          <a:srgbClr val="FFFFFF"/>
        </a:solidFill>
        <a:ln>
          <a:noFill/>
        </a:ln>
        <a:effectLst/>
      </c:spPr>
    </c:plotArea>
    <c:legend>
      <c:legendPos val="b"/>
      <c:overlay val="0"/>
      <c:txPr>
        <a:bodyPr/>
        <a:lstStyle/>
        <a:p>
          <a:pPr>
            <a:defRPr sz="900">
              <a:solidFill>
                <a:srgbClr val="14213D"/>
              </a:solidFill>
              <a:latin typeface="Calibri"/>
              <a:cs typeface="Calibri"/>
            </a:defRPr>
          </a:pPr>
          <a:endParaRPr lang="en-US"/>
        </a:p>
      </c:txPr>
    </c:legend>
    <c:plotVisOnly val="1"/>
    <c:dispBlanksAs val="span"/>
  </c:chart>
  <c:spPr>
    <a:solidFill>
      <a:srgbClr val="FFFFFF"/>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lineChart>
        <c:varyColors val="0"/>
        <c:ser>
          <c:idx val="0"/>
          <c:order val="0"/>
          <c:tx>
            <c:strRef>
              <c:f>Sheet1!$B$1</c:f>
              <c:strCache>
                <c:ptCount val="1"/>
                <c:pt idx="0">
                  <c:v>ideal</c:v>
                </c:pt>
              </c:strCache>
            </c:strRef>
          </c:tx>
          <c:spPr>
            <a:solidFill>
              <a:srgbClr val="5B6B7F"/>
            </a:solidFill>
            <a:ln w="19050" cap="flat">
              <a:solidFill>
                <a:srgbClr val="5B6B7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5B6B7F"/>
              </a:solidFill>
              <a:ln w="9525" cap="flat">
                <a:solidFill>
                  <a:srgbClr val="5B6B7F"/>
                </a:solidFill>
                <a:prstDash val="solid"/>
                <a:round/>
              </a:ln>
              <a:effectLst/>
            </c:spPr>
          </c:marker>
          <c:cat>
            <c:multiLvlStrRef>
              <c:f>Sheet1!$A$2:$A$202</c:f>
              <c:multiLvlStrCache>
                <c:ptCount val="201"/>
                <c:lvl>
                  <c:pt idx="0">
                    <c:v>-1.00</c:v>
                  </c:pt>
                  <c:pt idx="1">
                    <c:v>-0.99</c:v>
                  </c:pt>
                  <c:pt idx="2">
                    <c:v>-0.98</c:v>
                  </c:pt>
                  <c:pt idx="3">
                    <c:v>-0.97</c:v>
                  </c:pt>
                  <c:pt idx="4">
                    <c:v>-0.96</c:v>
                  </c:pt>
                  <c:pt idx="5">
                    <c:v>-0.95</c:v>
                  </c:pt>
                  <c:pt idx="6">
                    <c:v>-0.94</c:v>
                  </c:pt>
                  <c:pt idx="7">
                    <c:v>-0.93</c:v>
                  </c:pt>
                  <c:pt idx="8">
                    <c:v>-0.92</c:v>
                  </c:pt>
                  <c:pt idx="9">
                    <c:v>-0.91</c:v>
                  </c:pt>
                  <c:pt idx="10">
                    <c:v>-0.90</c:v>
                  </c:pt>
                  <c:pt idx="11">
                    <c:v>-0.89</c:v>
                  </c:pt>
                  <c:pt idx="12">
                    <c:v>-0.88</c:v>
                  </c:pt>
                  <c:pt idx="13">
                    <c:v>-0.87</c:v>
                  </c:pt>
                  <c:pt idx="14">
                    <c:v>-0.86</c:v>
                  </c:pt>
                  <c:pt idx="15">
                    <c:v>-0.85</c:v>
                  </c:pt>
                  <c:pt idx="16">
                    <c:v>-0.84</c:v>
                  </c:pt>
                  <c:pt idx="17">
                    <c:v>-0.83</c:v>
                  </c:pt>
                  <c:pt idx="18">
                    <c:v>-0.82</c:v>
                  </c:pt>
                  <c:pt idx="19">
                    <c:v>-0.81</c:v>
                  </c:pt>
                  <c:pt idx="20">
                    <c:v>-0.80</c:v>
                  </c:pt>
                  <c:pt idx="21">
                    <c:v>-0.79</c:v>
                  </c:pt>
                  <c:pt idx="22">
                    <c:v>-0.78</c:v>
                  </c:pt>
                  <c:pt idx="23">
                    <c:v>-0.77</c:v>
                  </c:pt>
                  <c:pt idx="24">
                    <c:v>-0.76</c:v>
                  </c:pt>
                  <c:pt idx="25">
                    <c:v>-0.75</c:v>
                  </c:pt>
                  <c:pt idx="26">
                    <c:v>-0.74</c:v>
                  </c:pt>
                  <c:pt idx="27">
                    <c:v>-0.73</c:v>
                  </c:pt>
                  <c:pt idx="28">
                    <c:v>-0.72</c:v>
                  </c:pt>
                  <c:pt idx="29">
                    <c:v>-0.71</c:v>
                  </c:pt>
                  <c:pt idx="30">
                    <c:v>-0.70</c:v>
                  </c:pt>
                  <c:pt idx="31">
                    <c:v>-0.69</c:v>
                  </c:pt>
                  <c:pt idx="32">
                    <c:v>-0.68</c:v>
                  </c:pt>
                  <c:pt idx="33">
                    <c:v>-0.67</c:v>
                  </c:pt>
                  <c:pt idx="34">
                    <c:v>-0.66</c:v>
                  </c:pt>
                  <c:pt idx="35">
                    <c:v>-0.65</c:v>
                  </c:pt>
                  <c:pt idx="36">
                    <c:v>-0.64</c:v>
                  </c:pt>
                  <c:pt idx="37">
                    <c:v>-0.63</c:v>
                  </c:pt>
                  <c:pt idx="38">
                    <c:v>-0.62</c:v>
                  </c:pt>
                  <c:pt idx="39">
                    <c:v>-0.61</c:v>
                  </c:pt>
                  <c:pt idx="40">
                    <c:v>-0.60</c:v>
                  </c:pt>
                  <c:pt idx="41">
                    <c:v>-0.59</c:v>
                  </c:pt>
                  <c:pt idx="42">
                    <c:v>-0.58</c:v>
                  </c:pt>
                  <c:pt idx="43">
                    <c:v>-0.57</c:v>
                  </c:pt>
                  <c:pt idx="44">
                    <c:v>-0.56</c:v>
                  </c:pt>
                  <c:pt idx="45">
                    <c:v>-0.55</c:v>
                  </c:pt>
                  <c:pt idx="46">
                    <c:v>-0.54</c:v>
                  </c:pt>
                  <c:pt idx="47">
                    <c:v>-0.53</c:v>
                  </c:pt>
                  <c:pt idx="48">
                    <c:v>-0.52</c:v>
                  </c:pt>
                  <c:pt idx="49">
                    <c:v>-0.51</c:v>
                  </c:pt>
                  <c:pt idx="50">
                    <c:v>-0.50</c:v>
                  </c:pt>
                  <c:pt idx="51">
                    <c:v>-0.49</c:v>
                  </c:pt>
                  <c:pt idx="52">
                    <c:v>-0.48</c:v>
                  </c:pt>
                  <c:pt idx="53">
                    <c:v>-0.47</c:v>
                  </c:pt>
                  <c:pt idx="54">
                    <c:v>-0.46</c:v>
                  </c:pt>
                  <c:pt idx="55">
                    <c:v>-0.45</c:v>
                  </c:pt>
                  <c:pt idx="56">
                    <c:v>-0.44</c:v>
                  </c:pt>
                  <c:pt idx="57">
                    <c:v>-0.43</c:v>
                  </c:pt>
                  <c:pt idx="58">
                    <c:v>-0.42</c:v>
                  </c:pt>
                  <c:pt idx="59">
                    <c:v>-0.41</c:v>
                  </c:pt>
                  <c:pt idx="60">
                    <c:v>-0.40</c:v>
                  </c:pt>
                  <c:pt idx="61">
                    <c:v>-0.39</c:v>
                  </c:pt>
                  <c:pt idx="62">
                    <c:v>-0.38</c:v>
                  </c:pt>
                  <c:pt idx="63">
                    <c:v>-0.37</c:v>
                  </c:pt>
                  <c:pt idx="64">
                    <c:v>-0.36</c:v>
                  </c:pt>
                  <c:pt idx="65">
                    <c:v>-0.35</c:v>
                  </c:pt>
                  <c:pt idx="66">
                    <c:v>-0.34</c:v>
                  </c:pt>
                  <c:pt idx="67">
                    <c:v>-0.33</c:v>
                  </c:pt>
                  <c:pt idx="68">
                    <c:v>-0.32</c:v>
                  </c:pt>
                  <c:pt idx="69">
                    <c:v>-0.31</c:v>
                  </c:pt>
                  <c:pt idx="70">
                    <c:v>-0.30</c:v>
                  </c:pt>
                  <c:pt idx="71">
                    <c:v>-0.29</c:v>
                  </c:pt>
                  <c:pt idx="72">
                    <c:v>-0.28</c:v>
                  </c:pt>
                  <c:pt idx="73">
                    <c:v>-0.27</c:v>
                  </c:pt>
                  <c:pt idx="74">
                    <c:v>-0.26</c:v>
                  </c:pt>
                  <c:pt idx="75">
                    <c:v>-0.25</c:v>
                  </c:pt>
                  <c:pt idx="76">
                    <c:v>-0.24</c:v>
                  </c:pt>
                  <c:pt idx="77">
                    <c:v>-0.23</c:v>
                  </c:pt>
                  <c:pt idx="78">
                    <c:v>-0.22</c:v>
                  </c:pt>
                  <c:pt idx="79">
                    <c:v>-0.21</c:v>
                  </c:pt>
                  <c:pt idx="80">
                    <c:v>-0.20</c:v>
                  </c:pt>
                  <c:pt idx="81">
                    <c:v>-0.19</c:v>
                  </c:pt>
                  <c:pt idx="82">
                    <c:v>-0.18</c:v>
                  </c:pt>
                  <c:pt idx="83">
                    <c:v>-0.17</c:v>
                  </c:pt>
                  <c:pt idx="84">
                    <c:v>-0.16</c:v>
                  </c:pt>
                  <c:pt idx="85">
                    <c:v>-0.15</c:v>
                  </c:pt>
                  <c:pt idx="86">
                    <c:v>-0.14</c:v>
                  </c:pt>
                  <c:pt idx="87">
                    <c:v>-0.13</c:v>
                  </c:pt>
                  <c:pt idx="88">
                    <c:v>-0.12</c:v>
                  </c:pt>
                  <c:pt idx="89">
                    <c:v>-0.11</c:v>
                  </c:pt>
                  <c:pt idx="90">
                    <c:v>-0.10</c:v>
                  </c:pt>
                  <c:pt idx="91">
                    <c:v>-0.09</c:v>
                  </c:pt>
                  <c:pt idx="92">
                    <c:v>-0.08</c:v>
                  </c:pt>
                  <c:pt idx="93">
                    <c:v>-0.07</c:v>
                  </c:pt>
                  <c:pt idx="94">
                    <c:v>-0.06</c:v>
                  </c:pt>
                  <c:pt idx="95">
                    <c:v>-0.05</c:v>
                  </c:pt>
                  <c:pt idx="96">
                    <c:v>-0.04</c:v>
                  </c:pt>
                  <c:pt idx="97">
                    <c:v>-0.03</c:v>
                  </c:pt>
                  <c:pt idx="98">
                    <c:v>-0.02</c:v>
                  </c:pt>
                  <c:pt idx="99">
                    <c:v>-0.01</c:v>
                  </c:pt>
                  <c:pt idx="100">
                    <c:v>0.00</c:v>
                  </c:pt>
                  <c:pt idx="101">
                    <c:v>0.01</c:v>
                  </c:pt>
                  <c:pt idx="102">
                    <c:v>0.02</c:v>
                  </c:pt>
                  <c:pt idx="103">
                    <c:v>0.03</c:v>
                  </c:pt>
                  <c:pt idx="104">
                    <c:v>0.04</c:v>
                  </c:pt>
                  <c:pt idx="105">
                    <c:v>0.05</c:v>
                  </c:pt>
                  <c:pt idx="106">
                    <c:v>0.06</c:v>
                  </c:pt>
                  <c:pt idx="107">
                    <c:v>0.07</c:v>
                  </c:pt>
                  <c:pt idx="108">
                    <c:v>0.08</c:v>
                  </c:pt>
                  <c:pt idx="109">
                    <c:v>0.09</c:v>
                  </c:pt>
                  <c:pt idx="110">
                    <c:v>0.10</c:v>
                  </c:pt>
                  <c:pt idx="111">
                    <c:v>0.11</c:v>
                  </c:pt>
                  <c:pt idx="112">
                    <c:v>0.12</c:v>
                  </c:pt>
                  <c:pt idx="113">
                    <c:v>0.13</c:v>
                  </c:pt>
                  <c:pt idx="114">
                    <c:v>0.14</c:v>
                  </c:pt>
                  <c:pt idx="115">
                    <c:v>0.15</c:v>
                  </c:pt>
                  <c:pt idx="116">
                    <c:v>0.16</c:v>
                  </c:pt>
                  <c:pt idx="117">
                    <c:v>0.17</c:v>
                  </c:pt>
                  <c:pt idx="118">
                    <c:v>0.18</c:v>
                  </c:pt>
                  <c:pt idx="119">
                    <c:v>0.19</c:v>
                  </c:pt>
                  <c:pt idx="120">
                    <c:v>0.20</c:v>
                  </c:pt>
                  <c:pt idx="121">
                    <c:v>0.21</c:v>
                  </c:pt>
                  <c:pt idx="122">
                    <c:v>0.22</c:v>
                  </c:pt>
                  <c:pt idx="123">
                    <c:v>0.23</c:v>
                  </c:pt>
                  <c:pt idx="124">
                    <c:v>0.24</c:v>
                  </c:pt>
                  <c:pt idx="125">
                    <c:v>0.25</c:v>
                  </c:pt>
                  <c:pt idx="126">
                    <c:v>0.26</c:v>
                  </c:pt>
                  <c:pt idx="127">
                    <c:v>0.27</c:v>
                  </c:pt>
                  <c:pt idx="128">
                    <c:v>0.28</c:v>
                  </c:pt>
                  <c:pt idx="129">
                    <c:v>0.29</c:v>
                  </c:pt>
                  <c:pt idx="130">
                    <c:v>0.30</c:v>
                  </c:pt>
                  <c:pt idx="131">
                    <c:v>0.31</c:v>
                  </c:pt>
                  <c:pt idx="132">
                    <c:v>0.32</c:v>
                  </c:pt>
                  <c:pt idx="133">
                    <c:v>0.33</c:v>
                  </c:pt>
                  <c:pt idx="134">
                    <c:v>0.34</c:v>
                  </c:pt>
                  <c:pt idx="135">
                    <c:v>0.35</c:v>
                  </c:pt>
                  <c:pt idx="136">
                    <c:v>0.36</c:v>
                  </c:pt>
                  <c:pt idx="137">
                    <c:v>0.37</c:v>
                  </c:pt>
                  <c:pt idx="138">
                    <c:v>0.38</c:v>
                  </c:pt>
                  <c:pt idx="139">
                    <c:v>0.39</c:v>
                  </c:pt>
                  <c:pt idx="140">
                    <c:v>0.40</c:v>
                  </c:pt>
                  <c:pt idx="141">
                    <c:v>0.41</c:v>
                  </c:pt>
                  <c:pt idx="142">
                    <c:v>0.42</c:v>
                  </c:pt>
                  <c:pt idx="143">
                    <c:v>0.43</c:v>
                  </c:pt>
                  <c:pt idx="144">
                    <c:v>0.44</c:v>
                  </c:pt>
                  <c:pt idx="145">
                    <c:v>0.45</c:v>
                  </c:pt>
                  <c:pt idx="146">
                    <c:v>0.46</c:v>
                  </c:pt>
                  <c:pt idx="147">
                    <c:v>0.47</c:v>
                  </c:pt>
                  <c:pt idx="148">
                    <c:v>0.48</c:v>
                  </c:pt>
                  <c:pt idx="149">
                    <c:v>0.49</c:v>
                  </c:pt>
                  <c:pt idx="150">
                    <c:v>0.50</c:v>
                  </c:pt>
                  <c:pt idx="151">
                    <c:v>0.51</c:v>
                  </c:pt>
                  <c:pt idx="152">
                    <c:v>0.52</c:v>
                  </c:pt>
                  <c:pt idx="153">
                    <c:v>0.53</c:v>
                  </c:pt>
                  <c:pt idx="154">
                    <c:v>0.54</c:v>
                  </c:pt>
                  <c:pt idx="155">
                    <c:v>0.55</c:v>
                  </c:pt>
                  <c:pt idx="156">
                    <c:v>0.56</c:v>
                  </c:pt>
                  <c:pt idx="157">
                    <c:v>0.57</c:v>
                  </c:pt>
                  <c:pt idx="158">
                    <c:v>0.58</c:v>
                  </c:pt>
                  <c:pt idx="159">
                    <c:v>0.59</c:v>
                  </c:pt>
                  <c:pt idx="160">
                    <c:v>0.60</c:v>
                  </c:pt>
                  <c:pt idx="161">
                    <c:v>0.61</c:v>
                  </c:pt>
                  <c:pt idx="162">
                    <c:v>0.62</c:v>
                  </c:pt>
                  <c:pt idx="163">
                    <c:v>0.63</c:v>
                  </c:pt>
                  <c:pt idx="164">
                    <c:v>0.64</c:v>
                  </c:pt>
                  <c:pt idx="165">
                    <c:v>0.65</c:v>
                  </c:pt>
                  <c:pt idx="166">
                    <c:v>0.66</c:v>
                  </c:pt>
                  <c:pt idx="167">
                    <c:v>0.67</c:v>
                  </c:pt>
                  <c:pt idx="168">
                    <c:v>0.68</c:v>
                  </c:pt>
                  <c:pt idx="169">
                    <c:v>0.69</c:v>
                  </c:pt>
                  <c:pt idx="170">
                    <c:v>0.70</c:v>
                  </c:pt>
                  <c:pt idx="171">
                    <c:v>0.71</c:v>
                  </c:pt>
                  <c:pt idx="172">
                    <c:v>0.72</c:v>
                  </c:pt>
                  <c:pt idx="173">
                    <c:v>0.73</c:v>
                  </c:pt>
                  <c:pt idx="174">
                    <c:v>0.74</c:v>
                  </c:pt>
                  <c:pt idx="175">
                    <c:v>0.75</c:v>
                  </c:pt>
                  <c:pt idx="176">
                    <c:v>0.76</c:v>
                  </c:pt>
                  <c:pt idx="177">
                    <c:v>0.77</c:v>
                  </c:pt>
                  <c:pt idx="178">
                    <c:v>0.78</c:v>
                  </c:pt>
                  <c:pt idx="179">
                    <c:v>0.79</c:v>
                  </c:pt>
                  <c:pt idx="180">
                    <c:v>0.80</c:v>
                  </c:pt>
                  <c:pt idx="181">
                    <c:v>0.81</c:v>
                  </c:pt>
                  <c:pt idx="182">
                    <c:v>0.82</c:v>
                  </c:pt>
                  <c:pt idx="183">
                    <c:v>0.83</c:v>
                  </c:pt>
                  <c:pt idx="184">
                    <c:v>0.84</c:v>
                  </c:pt>
                  <c:pt idx="185">
                    <c:v>0.85</c:v>
                  </c:pt>
                  <c:pt idx="186">
                    <c:v>0.86</c:v>
                  </c:pt>
                  <c:pt idx="187">
                    <c:v>0.87</c:v>
                  </c:pt>
                  <c:pt idx="188">
                    <c:v>0.88</c:v>
                  </c:pt>
                  <c:pt idx="189">
                    <c:v>0.89</c:v>
                  </c:pt>
                  <c:pt idx="190">
                    <c:v>0.90</c:v>
                  </c:pt>
                  <c:pt idx="191">
                    <c:v>0.91</c:v>
                  </c:pt>
                  <c:pt idx="192">
                    <c:v>0.92</c:v>
                  </c:pt>
                  <c:pt idx="193">
                    <c:v>0.93</c:v>
                  </c:pt>
                  <c:pt idx="194">
                    <c:v>0.94</c:v>
                  </c:pt>
                  <c:pt idx="195">
                    <c:v>0.95</c:v>
                  </c:pt>
                  <c:pt idx="196">
                    <c:v>0.96</c:v>
                  </c:pt>
                  <c:pt idx="197">
                    <c:v>0.97</c:v>
                  </c:pt>
                  <c:pt idx="198">
                    <c:v>0.98</c:v>
                  </c:pt>
                  <c:pt idx="199">
                    <c:v>0.99</c:v>
                  </c:pt>
                  <c:pt idx="200">
                    <c:v>1.00</c:v>
                  </c:pt>
                </c:lvl>
              </c:multiLvlStrCache>
            </c:multiLvlStrRef>
          </c:cat>
          <c:val>
            <c:numRef>
              <c:f>Sheet1!$B$2:$B$202</c:f>
              <c:numCache>
                <c:formatCode>General</c:formatCode>
                <c:ptCount val="201"/>
                <c:pt idx="0">
                  <c:v>-1</c:v>
                </c:pt>
                <c:pt idx="1">
                  <c:v>-1</c:v>
                </c:pt>
                <c:pt idx="2">
                  <c:v>-1</c:v>
                </c:pt>
                <c:pt idx="3">
                  <c:v>-1</c:v>
                </c:pt>
                <c:pt idx="4">
                  <c:v>-1</c:v>
                </c:pt>
                <c:pt idx="5">
                  <c:v>-1</c:v>
                </c:pt>
                <c:pt idx="6">
                  <c:v>-1</c:v>
                </c:pt>
                <c:pt idx="7">
                  <c:v>-0.875</c:v>
                </c:pt>
                <c:pt idx="8">
                  <c:v>-0.875</c:v>
                </c:pt>
                <c:pt idx="9">
                  <c:v>-0.875</c:v>
                </c:pt>
                <c:pt idx="10">
                  <c:v>-0.875</c:v>
                </c:pt>
                <c:pt idx="11">
                  <c:v>-0.875</c:v>
                </c:pt>
                <c:pt idx="12">
                  <c:v>-0.875</c:v>
                </c:pt>
                <c:pt idx="13">
                  <c:v>-0.875</c:v>
                </c:pt>
                <c:pt idx="14">
                  <c:v>-0.875</c:v>
                </c:pt>
                <c:pt idx="15">
                  <c:v>-0.875</c:v>
                </c:pt>
                <c:pt idx="16">
                  <c:v>-0.875</c:v>
                </c:pt>
                <c:pt idx="17">
                  <c:v>-0.875</c:v>
                </c:pt>
                <c:pt idx="18">
                  <c:v>-0.875</c:v>
                </c:pt>
                <c:pt idx="19">
                  <c:v>-0.75</c:v>
                </c:pt>
                <c:pt idx="20">
                  <c:v>-0.75</c:v>
                </c:pt>
                <c:pt idx="21">
                  <c:v>-0.75</c:v>
                </c:pt>
                <c:pt idx="22">
                  <c:v>-0.75</c:v>
                </c:pt>
                <c:pt idx="23">
                  <c:v>-0.75</c:v>
                </c:pt>
                <c:pt idx="24">
                  <c:v>-0.75</c:v>
                </c:pt>
                <c:pt idx="25">
                  <c:v>-0.75</c:v>
                </c:pt>
                <c:pt idx="26">
                  <c:v>-0.75</c:v>
                </c:pt>
                <c:pt idx="27">
                  <c:v>-0.75</c:v>
                </c:pt>
                <c:pt idx="28">
                  <c:v>-0.75</c:v>
                </c:pt>
                <c:pt idx="29">
                  <c:v>-0.75</c:v>
                </c:pt>
                <c:pt idx="30">
                  <c:v>-0.75</c:v>
                </c:pt>
                <c:pt idx="31">
                  <c:v>-0.75</c:v>
                </c:pt>
                <c:pt idx="32">
                  <c:v>-0.625</c:v>
                </c:pt>
                <c:pt idx="33">
                  <c:v>-0.625</c:v>
                </c:pt>
                <c:pt idx="34">
                  <c:v>-0.625</c:v>
                </c:pt>
                <c:pt idx="35">
                  <c:v>-0.625</c:v>
                </c:pt>
                <c:pt idx="36">
                  <c:v>-0.625</c:v>
                </c:pt>
                <c:pt idx="37">
                  <c:v>-0.625</c:v>
                </c:pt>
                <c:pt idx="38">
                  <c:v>-0.625</c:v>
                </c:pt>
                <c:pt idx="39">
                  <c:v>-0.625</c:v>
                </c:pt>
                <c:pt idx="40">
                  <c:v>-0.625</c:v>
                </c:pt>
                <c:pt idx="41">
                  <c:v>-0.625</c:v>
                </c:pt>
                <c:pt idx="42">
                  <c:v>-0.625</c:v>
                </c:pt>
                <c:pt idx="43">
                  <c:v>-0.625</c:v>
                </c:pt>
                <c:pt idx="44">
                  <c:v>-0.5</c:v>
                </c:pt>
                <c:pt idx="45">
                  <c:v>-0.5</c:v>
                </c:pt>
                <c:pt idx="46">
                  <c:v>-0.5</c:v>
                </c:pt>
                <c:pt idx="47">
                  <c:v>-0.5</c:v>
                </c:pt>
                <c:pt idx="48">
                  <c:v>-0.5</c:v>
                </c:pt>
                <c:pt idx="49">
                  <c:v>-0.5</c:v>
                </c:pt>
                <c:pt idx="50">
                  <c:v>-0.5</c:v>
                </c:pt>
                <c:pt idx="51">
                  <c:v>-0.5</c:v>
                </c:pt>
                <c:pt idx="52">
                  <c:v>-0.5</c:v>
                </c:pt>
                <c:pt idx="53">
                  <c:v>-0.5</c:v>
                </c:pt>
                <c:pt idx="54">
                  <c:v>-0.5</c:v>
                </c:pt>
                <c:pt idx="55">
                  <c:v>-0.5</c:v>
                </c:pt>
                <c:pt idx="56">
                  <c:v>-0.5</c:v>
                </c:pt>
                <c:pt idx="57">
                  <c:v>-0.375</c:v>
                </c:pt>
                <c:pt idx="58">
                  <c:v>-0.375</c:v>
                </c:pt>
                <c:pt idx="59">
                  <c:v>-0.375</c:v>
                </c:pt>
                <c:pt idx="60">
                  <c:v>-0.375</c:v>
                </c:pt>
                <c:pt idx="61">
                  <c:v>-0.375</c:v>
                </c:pt>
                <c:pt idx="62">
                  <c:v>-0.375</c:v>
                </c:pt>
                <c:pt idx="63">
                  <c:v>-0.375</c:v>
                </c:pt>
                <c:pt idx="64">
                  <c:v>-0.375</c:v>
                </c:pt>
                <c:pt idx="65">
                  <c:v>-0.375</c:v>
                </c:pt>
                <c:pt idx="66">
                  <c:v>-0.375</c:v>
                </c:pt>
                <c:pt idx="67">
                  <c:v>-0.375</c:v>
                </c:pt>
                <c:pt idx="68">
                  <c:v>-0.375</c:v>
                </c:pt>
                <c:pt idx="69">
                  <c:v>-0.25</c:v>
                </c:pt>
                <c:pt idx="70">
                  <c:v>-0.25</c:v>
                </c:pt>
                <c:pt idx="71">
                  <c:v>-0.25</c:v>
                </c:pt>
                <c:pt idx="72">
                  <c:v>-0.25</c:v>
                </c:pt>
                <c:pt idx="73">
                  <c:v>-0.25</c:v>
                </c:pt>
                <c:pt idx="74">
                  <c:v>-0.25</c:v>
                </c:pt>
                <c:pt idx="75">
                  <c:v>-0.25</c:v>
                </c:pt>
                <c:pt idx="76">
                  <c:v>-0.25</c:v>
                </c:pt>
                <c:pt idx="77">
                  <c:v>-0.25</c:v>
                </c:pt>
                <c:pt idx="78">
                  <c:v>-0.25</c:v>
                </c:pt>
                <c:pt idx="79">
                  <c:v>-0.25</c:v>
                </c:pt>
                <c:pt idx="80">
                  <c:v>-0.25</c:v>
                </c:pt>
                <c:pt idx="81">
                  <c:v>-0.25</c:v>
                </c:pt>
                <c:pt idx="82">
                  <c:v>-0.125</c:v>
                </c:pt>
                <c:pt idx="83">
                  <c:v>-0.125</c:v>
                </c:pt>
                <c:pt idx="84">
                  <c:v>-0.125</c:v>
                </c:pt>
                <c:pt idx="85">
                  <c:v>-0.125</c:v>
                </c:pt>
                <c:pt idx="86">
                  <c:v>-0.125</c:v>
                </c:pt>
                <c:pt idx="87">
                  <c:v>-0.125</c:v>
                </c:pt>
                <c:pt idx="88">
                  <c:v>-0.125</c:v>
                </c:pt>
                <c:pt idx="89">
                  <c:v>-0.125</c:v>
                </c:pt>
                <c:pt idx="90">
                  <c:v>-0.125</c:v>
                </c:pt>
                <c:pt idx="91">
                  <c:v>-0.125</c:v>
                </c:pt>
                <c:pt idx="92">
                  <c:v>-0.125</c:v>
                </c:pt>
                <c:pt idx="93">
                  <c:v>-0.125</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0.125</c:v>
                </c:pt>
                <c:pt idx="108">
                  <c:v>0.125</c:v>
                </c:pt>
                <c:pt idx="109">
                  <c:v>0.125</c:v>
                </c:pt>
                <c:pt idx="110">
                  <c:v>0.125</c:v>
                </c:pt>
                <c:pt idx="111">
                  <c:v>0.125</c:v>
                </c:pt>
                <c:pt idx="112">
                  <c:v>0.125</c:v>
                </c:pt>
                <c:pt idx="113">
                  <c:v>0.125</c:v>
                </c:pt>
                <c:pt idx="114">
                  <c:v>0.125</c:v>
                </c:pt>
                <c:pt idx="115">
                  <c:v>0.125</c:v>
                </c:pt>
                <c:pt idx="116">
                  <c:v>0.125</c:v>
                </c:pt>
                <c:pt idx="117">
                  <c:v>0.125</c:v>
                </c:pt>
                <c:pt idx="118">
                  <c:v>0.125</c:v>
                </c:pt>
                <c:pt idx="119">
                  <c:v>0.25</c:v>
                </c:pt>
                <c:pt idx="120">
                  <c:v>0.25</c:v>
                </c:pt>
                <c:pt idx="121">
                  <c:v>0.25</c:v>
                </c:pt>
                <c:pt idx="122">
                  <c:v>0.25</c:v>
                </c:pt>
                <c:pt idx="123">
                  <c:v>0.25</c:v>
                </c:pt>
                <c:pt idx="124">
                  <c:v>0.25</c:v>
                </c:pt>
                <c:pt idx="125">
                  <c:v>0.25</c:v>
                </c:pt>
                <c:pt idx="126">
                  <c:v>0.25</c:v>
                </c:pt>
                <c:pt idx="127">
                  <c:v>0.25</c:v>
                </c:pt>
                <c:pt idx="128">
                  <c:v>0.25</c:v>
                </c:pt>
                <c:pt idx="129">
                  <c:v>0.25</c:v>
                </c:pt>
                <c:pt idx="130">
                  <c:v>0.25</c:v>
                </c:pt>
                <c:pt idx="131">
                  <c:v>0.25</c:v>
                </c:pt>
                <c:pt idx="132">
                  <c:v>0.375</c:v>
                </c:pt>
                <c:pt idx="133">
                  <c:v>0.375</c:v>
                </c:pt>
                <c:pt idx="134">
                  <c:v>0.375</c:v>
                </c:pt>
                <c:pt idx="135">
                  <c:v>0.375</c:v>
                </c:pt>
                <c:pt idx="136">
                  <c:v>0.375</c:v>
                </c:pt>
                <c:pt idx="137">
                  <c:v>0.375</c:v>
                </c:pt>
                <c:pt idx="138">
                  <c:v>0.375</c:v>
                </c:pt>
                <c:pt idx="139">
                  <c:v>0.375</c:v>
                </c:pt>
                <c:pt idx="140">
                  <c:v>0.375</c:v>
                </c:pt>
                <c:pt idx="141">
                  <c:v>0.375</c:v>
                </c:pt>
                <c:pt idx="142">
                  <c:v>0.375</c:v>
                </c:pt>
                <c:pt idx="143">
                  <c:v>0.375</c:v>
                </c:pt>
                <c:pt idx="144">
                  <c:v>0.5</c:v>
                </c:pt>
                <c:pt idx="145">
                  <c:v>0.5</c:v>
                </c:pt>
                <c:pt idx="146">
                  <c:v>0.5</c:v>
                </c:pt>
                <c:pt idx="147">
                  <c:v>0.5</c:v>
                </c:pt>
                <c:pt idx="148">
                  <c:v>0.5</c:v>
                </c:pt>
                <c:pt idx="149">
                  <c:v>0.5</c:v>
                </c:pt>
                <c:pt idx="150">
                  <c:v>0.5</c:v>
                </c:pt>
                <c:pt idx="151">
                  <c:v>0.5</c:v>
                </c:pt>
                <c:pt idx="152">
                  <c:v>0.5</c:v>
                </c:pt>
                <c:pt idx="153">
                  <c:v>0.5</c:v>
                </c:pt>
                <c:pt idx="154">
                  <c:v>0.5</c:v>
                </c:pt>
                <c:pt idx="155">
                  <c:v>0.5</c:v>
                </c:pt>
                <c:pt idx="156">
                  <c:v>0.5</c:v>
                </c:pt>
                <c:pt idx="157">
                  <c:v>0.625</c:v>
                </c:pt>
                <c:pt idx="158">
                  <c:v>0.625</c:v>
                </c:pt>
                <c:pt idx="159">
                  <c:v>0.625</c:v>
                </c:pt>
                <c:pt idx="160">
                  <c:v>0.625</c:v>
                </c:pt>
                <c:pt idx="161">
                  <c:v>0.625</c:v>
                </c:pt>
                <c:pt idx="162">
                  <c:v>0.625</c:v>
                </c:pt>
                <c:pt idx="163">
                  <c:v>0.625</c:v>
                </c:pt>
                <c:pt idx="164">
                  <c:v>0.625</c:v>
                </c:pt>
                <c:pt idx="165">
                  <c:v>0.625</c:v>
                </c:pt>
                <c:pt idx="166">
                  <c:v>0.625</c:v>
                </c:pt>
                <c:pt idx="167">
                  <c:v>0.625</c:v>
                </c:pt>
                <c:pt idx="168">
                  <c:v>0.625</c:v>
                </c:pt>
                <c:pt idx="169">
                  <c:v>0.75</c:v>
                </c:pt>
                <c:pt idx="170">
                  <c:v>0.75</c:v>
                </c:pt>
                <c:pt idx="171">
                  <c:v>0.75</c:v>
                </c:pt>
                <c:pt idx="172">
                  <c:v>0.75</c:v>
                </c:pt>
                <c:pt idx="173">
                  <c:v>0.75</c:v>
                </c:pt>
                <c:pt idx="174">
                  <c:v>0.75</c:v>
                </c:pt>
                <c:pt idx="175">
                  <c:v>0.75</c:v>
                </c:pt>
                <c:pt idx="176">
                  <c:v>0.75</c:v>
                </c:pt>
                <c:pt idx="177">
                  <c:v>0.75</c:v>
                </c:pt>
                <c:pt idx="178">
                  <c:v>0.75</c:v>
                </c:pt>
                <c:pt idx="179">
                  <c:v>0.75</c:v>
                </c:pt>
                <c:pt idx="180">
                  <c:v>0.75</c:v>
                </c:pt>
                <c:pt idx="181">
                  <c:v>0.75</c:v>
                </c:pt>
                <c:pt idx="182">
                  <c:v>0.875</c:v>
                </c:pt>
                <c:pt idx="183">
                  <c:v>0.875</c:v>
                </c:pt>
                <c:pt idx="184">
                  <c:v>0.875</c:v>
                </c:pt>
                <c:pt idx="185">
                  <c:v>0.875</c:v>
                </c:pt>
                <c:pt idx="186">
                  <c:v>0.875</c:v>
                </c:pt>
                <c:pt idx="187">
                  <c:v>0.875</c:v>
                </c:pt>
                <c:pt idx="188">
                  <c:v>0.875</c:v>
                </c:pt>
                <c:pt idx="189">
                  <c:v>0.875</c:v>
                </c:pt>
                <c:pt idx="190">
                  <c:v>0.875</c:v>
                </c:pt>
                <c:pt idx="191">
                  <c:v>0.875</c:v>
                </c:pt>
                <c:pt idx="192">
                  <c:v>0.875</c:v>
                </c:pt>
                <c:pt idx="193">
                  <c:v>0.875</c:v>
                </c:pt>
                <c:pt idx="194">
                  <c:v>0.875</c:v>
                </c:pt>
                <c:pt idx="195">
                  <c:v>0.875</c:v>
                </c:pt>
                <c:pt idx="196">
                  <c:v>0.875</c:v>
                </c:pt>
                <c:pt idx="197">
                  <c:v>0.875</c:v>
                </c:pt>
                <c:pt idx="198">
                  <c:v>0.875</c:v>
                </c:pt>
                <c:pt idx="199">
                  <c:v>0.875</c:v>
                </c:pt>
                <c:pt idx="200">
                  <c:v>0.875</c:v>
                </c:pt>
              </c:numCache>
            </c:numRef>
          </c:val>
          <c:smooth val="0"/>
        </c:ser>
        <c:ser>
          <c:idx val="1"/>
          <c:order val="1"/>
          <c:tx>
            <c:strRef>
              <c:f>Sheet1!$C$1</c:f>
              <c:strCache>
                <c:ptCount val="1"/>
                <c:pt idx="0">
                  <c:v>with +2 LSB offset</c:v>
                </c:pt>
              </c:strCache>
            </c:strRef>
          </c:tx>
          <c:spPr>
            <a:solidFill>
              <a:srgbClr val="E76F51"/>
            </a:solidFill>
            <a:ln w="19050" cap="flat">
              <a:solidFill>
                <a:srgbClr val="E76F5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E76F51"/>
              </a:solidFill>
              <a:ln w="9525" cap="flat">
                <a:solidFill>
                  <a:srgbClr val="E76F51"/>
                </a:solidFill>
                <a:prstDash val="solid"/>
                <a:round/>
              </a:ln>
              <a:effectLst/>
            </c:spPr>
          </c:marker>
          <c:cat>
            <c:multiLvlStrRef>
              <c:f>Sheet1!$A$2:$A$202</c:f>
              <c:multiLvlStrCache>
                <c:ptCount val="201"/>
                <c:lvl>
                  <c:pt idx="0">
                    <c:v>-1.00</c:v>
                  </c:pt>
                  <c:pt idx="1">
                    <c:v>-0.99</c:v>
                  </c:pt>
                  <c:pt idx="2">
                    <c:v>-0.98</c:v>
                  </c:pt>
                  <c:pt idx="3">
                    <c:v>-0.97</c:v>
                  </c:pt>
                  <c:pt idx="4">
                    <c:v>-0.96</c:v>
                  </c:pt>
                  <c:pt idx="5">
                    <c:v>-0.95</c:v>
                  </c:pt>
                  <c:pt idx="6">
                    <c:v>-0.94</c:v>
                  </c:pt>
                  <c:pt idx="7">
                    <c:v>-0.93</c:v>
                  </c:pt>
                  <c:pt idx="8">
                    <c:v>-0.92</c:v>
                  </c:pt>
                  <c:pt idx="9">
                    <c:v>-0.91</c:v>
                  </c:pt>
                  <c:pt idx="10">
                    <c:v>-0.90</c:v>
                  </c:pt>
                  <c:pt idx="11">
                    <c:v>-0.89</c:v>
                  </c:pt>
                  <c:pt idx="12">
                    <c:v>-0.88</c:v>
                  </c:pt>
                  <c:pt idx="13">
                    <c:v>-0.87</c:v>
                  </c:pt>
                  <c:pt idx="14">
                    <c:v>-0.86</c:v>
                  </c:pt>
                  <c:pt idx="15">
                    <c:v>-0.85</c:v>
                  </c:pt>
                  <c:pt idx="16">
                    <c:v>-0.84</c:v>
                  </c:pt>
                  <c:pt idx="17">
                    <c:v>-0.83</c:v>
                  </c:pt>
                  <c:pt idx="18">
                    <c:v>-0.82</c:v>
                  </c:pt>
                  <c:pt idx="19">
                    <c:v>-0.81</c:v>
                  </c:pt>
                  <c:pt idx="20">
                    <c:v>-0.80</c:v>
                  </c:pt>
                  <c:pt idx="21">
                    <c:v>-0.79</c:v>
                  </c:pt>
                  <c:pt idx="22">
                    <c:v>-0.78</c:v>
                  </c:pt>
                  <c:pt idx="23">
                    <c:v>-0.77</c:v>
                  </c:pt>
                  <c:pt idx="24">
                    <c:v>-0.76</c:v>
                  </c:pt>
                  <c:pt idx="25">
                    <c:v>-0.75</c:v>
                  </c:pt>
                  <c:pt idx="26">
                    <c:v>-0.74</c:v>
                  </c:pt>
                  <c:pt idx="27">
                    <c:v>-0.73</c:v>
                  </c:pt>
                  <c:pt idx="28">
                    <c:v>-0.72</c:v>
                  </c:pt>
                  <c:pt idx="29">
                    <c:v>-0.71</c:v>
                  </c:pt>
                  <c:pt idx="30">
                    <c:v>-0.70</c:v>
                  </c:pt>
                  <c:pt idx="31">
                    <c:v>-0.69</c:v>
                  </c:pt>
                  <c:pt idx="32">
                    <c:v>-0.68</c:v>
                  </c:pt>
                  <c:pt idx="33">
                    <c:v>-0.67</c:v>
                  </c:pt>
                  <c:pt idx="34">
                    <c:v>-0.66</c:v>
                  </c:pt>
                  <c:pt idx="35">
                    <c:v>-0.65</c:v>
                  </c:pt>
                  <c:pt idx="36">
                    <c:v>-0.64</c:v>
                  </c:pt>
                  <c:pt idx="37">
                    <c:v>-0.63</c:v>
                  </c:pt>
                  <c:pt idx="38">
                    <c:v>-0.62</c:v>
                  </c:pt>
                  <c:pt idx="39">
                    <c:v>-0.61</c:v>
                  </c:pt>
                  <c:pt idx="40">
                    <c:v>-0.60</c:v>
                  </c:pt>
                  <c:pt idx="41">
                    <c:v>-0.59</c:v>
                  </c:pt>
                  <c:pt idx="42">
                    <c:v>-0.58</c:v>
                  </c:pt>
                  <c:pt idx="43">
                    <c:v>-0.57</c:v>
                  </c:pt>
                  <c:pt idx="44">
                    <c:v>-0.56</c:v>
                  </c:pt>
                  <c:pt idx="45">
                    <c:v>-0.55</c:v>
                  </c:pt>
                  <c:pt idx="46">
                    <c:v>-0.54</c:v>
                  </c:pt>
                  <c:pt idx="47">
                    <c:v>-0.53</c:v>
                  </c:pt>
                  <c:pt idx="48">
                    <c:v>-0.52</c:v>
                  </c:pt>
                  <c:pt idx="49">
                    <c:v>-0.51</c:v>
                  </c:pt>
                  <c:pt idx="50">
                    <c:v>-0.50</c:v>
                  </c:pt>
                  <c:pt idx="51">
                    <c:v>-0.49</c:v>
                  </c:pt>
                  <c:pt idx="52">
                    <c:v>-0.48</c:v>
                  </c:pt>
                  <c:pt idx="53">
                    <c:v>-0.47</c:v>
                  </c:pt>
                  <c:pt idx="54">
                    <c:v>-0.46</c:v>
                  </c:pt>
                  <c:pt idx="55">
                    <c:v>-0.45</c:v>
                  </c:pt>
                  <c:pt idx="56">
                    <c:v>-0.44</c:v>
                  </c:pt>
                  <c:pt idx="57">
                    <c:v>-0.43</c:v>
                  </c:pt>
                  <c:pt idx="58">
                    <c:v>-0.42</c:v>
                  </c:pt>
                  <c:pt idx="59">
                    <c:v>-0.41</c:v>
                  </c:pt>
                  <c:pt idx="60">
                    <c:v>-0.40</c:v>
                  </c:pt>
                  <c:pt idx="61">
                    <c:v>-0.39</c:v>
                  </c:pt>
                  <c:pt idx="62">
                    <c:v>-0.38</c:v>
                  </c:pt>
                  <c:pt idx="63">
                    <c:v>-0.37</c:v>
                  </c:pt>
                  <c:pt idx="64">
                    <c:v>-0.36</c:v>
                  </c:pt>
                  <c:pt idx="65">
                    <c:v>-0.35</c:v>
                  </c:pt>
                  <c:pt idx="66">
                    <c:v>-0.34</c:v>
                  </c:pt>
                  <c:pt idx="67">
                    <c:v>-0.33</c:v>
                  </c:pt>
                  <c:pt idx="68">
                    <c:v>-0.32</c:v>
                  </c:pt>
                  <c:pt idx="69">
                    <c:v>-0.31</c:v>
                  </c:pt>
                  <c:pt idx="70">
                    <c:v>-0.30</c:v>
                  </c:pt>
                  <c:pt idx="71">
                    <c:v>-0.29</c:v>
                  </c:pt>
                  <c:pt idx="72">
                    <c:v>-0.28</c:v>
                  </c:pt>
                  <c:pt idx="73">
                    <c:v>-0.27</c:v>
                  </c:pt>
                  <c:pt idx="74">
                    <c:v>-0.26</c:v>
                  </c:pt>
                  <c:pt idx="75">
                    <c:v>-0.25</c:v>
                  </c:pt>
                  <c:pt idx="76">
                    <c:v>-0.24</c:v>
                  </c:pt>
                  <c:pt idx="77">
                    <c:v>-0.23</c:v>
                  </c:pt>
                  <c:pt idx="78">
                    <c:v>-0.22</c:v>
                  </c:pt>
                  <c:pt idx="79">
                    <c:v>-0.21</c:v>
                  </c:pt>
                  <c:pt idx="80">
                    <c:v>-0.20</c:v>
                  </c:pt>
                  <c:pt idx="81">
                    <c:v>-0.19</c:v>
                  </c:pt>
                  <c:pt idx="82">
                    <c:v>-0.18</c:v>
                  </c:pt>
                  <c:pt idx="83">
                    <c:v>-0.17</c:v>
                  </c:pt>
                  <c:pt idx="84">
                    <c:v>-0.16</c:v>
                  </c:pt>
                  <c:pt idx="85">
                    <c:v>-0.15</c:v>
                  </c:pt>
                  <c:pt idx="86">
                    <c:v>-0.14</c:v>
                  </c:pt>
                  <c:pt idx="87">
                    <c:v>-0.13</c:v>
                  </c:pt>
                  <c:pt idx="88">
                    <c:v>-0.12</c:v>
                  </c:pt>
                  <c:pt idx="89">
                    <c:v>-0.11</c:v>
                  </c:pt>
                  <c:pt idx="90">
                    <c:v>-0.10</c:v>
                  </c:pt>
                  <c:pt idx="91">
                    <c:v>-0.09</c:v>
                  </c:pt>
                  <c:pt idx="92">
                    <c:v>-0.08</c:v>
                  </c:pt>
                  <c:pt idx="93">
                    <c:v>-0.07</c:v>
                  </c:pt>
                  <c:pt idx="94">
                    <c:v>-0.06</c:v>
                  </c:pt>
                  <c:pt idx="95">
                    <c:v>-0.05</c:v>
                  </c:pt>
                  <c:pt idx="96">
                    <c:v>-0.04</c:v>
                  </c:pt>
                  <c:pt idx="97">
                    <c:v>-0.03</c:v>
                  </c:pt>
                  <c:pt idx="98">
                    <c:v>-0.02</c:v>
                  </c:pt>
                  <c:pt idx="99">
                    <c:v>-0.01</c:v>
                  </c:pt>
                  <c:pt idx="100">
                    <c:v>0.00</c:v>
                  </c:pt>
                  <c:pt idx="101">
                    <c:v>0.01</c:v>
                  </c:pt>
                  <c:pt idx="102">
                    <c:v>0.02</c:v>
                  </c:pt>
                  <c:pt idx="103">
                    <c:v>0.03</c:v>
                  </c:pt>
                  <c:pt idx="104">
                    <c:v>0.04</c:v>
                  </c:pt>
                  <c:pt idx="105">
                    <c:v>0.05</c:v>
                  </c:pt>
                  <c:pt idx="106">
                    <c:v>0.06</c:v>
                  </c:pt>
                  <c:pt idx="107">
                    <c:v>0.07</c:v>
                  </c:pt>
                  <c:pt idx="108">
                    <c:v>0.08</c:v>
                  </c:pt>
                  <c:pt idx="109">
                    <c:v>0.09</c:v>
                  </c:pt>
                  <c:pt idx="110">
                    <c:v>0.10</c:v>
                  </c:pt>
                  <c:pt idx="111">
                    <c:v>0.11</c:v>
                  </c:pt>
                  <c:pt idx="112">
                    <c:v>0.12</c:v>
                  </c:pt>
                  <c:pt idx="113">
                    <c:v>0.13</c:v>
                  </c:pt>
                  <c:pt idx="114">
                    <c:v>0.14</c:v>
                  </c:pt>
                  <c:pt idx="115">
                    <c:v>0.15</c:v>
                  </c:pt>
                  <c:pt idx="116">
                    <c:v>0.16</c:v>
                  </c:pt>
                  <c:pt idx="117">
                    <c:v>0.17</c:v>
                  </c:pt>
                  <c:pt idx="118">
                    <c:v>0.18</c:v>
                  </c:pt>
                  <c:pt idx="119">
                    <c:v>0.19</c:v>
                  </c:pt>
                  <c:pt idx="120">
                    <c:v>0.20</c:v>
                  </c:pt>
                  <c:pt idx="121">
                    <c:v>0.21</c:v>
                  </c:pt>
                  <c:pt idx="122">
                    <c:v>0.22</c:v>
                  </c:pt>
                  <c:pt idx="123">
                    <c:v>0.23</c:v>
                  </c:pt>
                  <c:pt idx="124">
                    <c:v>0.24</c:v>
                  </c:pt>
                  <c:pt idx="125">
                    <c:v>0.25</c:v>
                  </c:pt>
                  <c:pt idx="126">
                    <c:v>0.26</c:v>
                  </c:pt>
                  <c:pt idx="127">
                    <c:v>0.27</c:v>
                  </c:pt>
                  <c:pt idx="128">
                    <c:v>0.28</c:v>
                  </c:pt>
                  <c:pt idx="129">
                    <c:v>0.29</c:v>
                  </c:pt>
                  <c:pt idx="130">
                    <c:v>0.30</c:v>
                  </c:pt>
                  <c:pt idx="131">
                    <c:v>0.31</c:v>
                  </c:pt>
                  <c:pt idx="132">
                    <c:v>0.32</c:v>
                  </c:pt>
                  <c:pt idx="133">
                    <c:v>0.33</c:v>
                  </c:pt>
                  <c:pt idx="134">
                    <c:v>0.34</c:v>
                  </c:pt>
                  <c:pt idx="135">
                    <c:v>0.35</c:v>
                  </c:pt>
                  <c:pt idx="136">
                    <c:v>0.36</c:v>
                  </c:pt>
                  <c:pt idx="137">
                    <c:v>0.37</c:v>
                  </c:pt>
                  <c:pt idx="138">
                    <c:v>0.38</c:v>
                  </c:pt>
                  <c:pt idx="139">
                    <c:v>0.39</c:v>
                  </c:pt>
                  <c:pt idx="140">
                    <c:v>0.40</c:v>
                  </c:pt>
                  <c:pt idx="141">
                    <c:v>0.41</c:v>
                  </c:pt>
                  <c:pt idx="142">
                    <c:v>0.42</c:v>
                  </c:pt>
                  <c:pt idx="143">
                    <c:v>0.43</c:v>
                  </c:pt>
                  <c:pt idx="144">
                    <c:v>0.44</c:v>
                  </c:pt>
                  <c:pt idx="145">
                    <c:v>0.45</c:v>
                  </c:pt>
                  <c:pt idx="146">
                    <c:v>0.46</c:v>
                  </c:pt>
                  <c:pt idx="147">
                    <c:v>0.47</c:v>
                  </c:pt>
                  <c:pt idx="148">
                    <c:v>0.48</c:v>
                  </c:pt>
                  <c:pt idx="149">
                    <c:v>0.49</c:v>
                  </c:pt>
                  <c:pt idx="150">
                    <c:v>0.50</c:v>
                  </c:pt>
                  <c:pt idx="151">
                    <c:v>0.51</c:v>
                  </c:pt>
                  <c:pt idx="152">
                    <c:v>0.52</c:v>
                  </c:pt>
                  <c:pt idx="153">
                    <c:v>0.53</c:v>
                  </c:pt>
                  <c:pt idx="154">
                    <c:v>0.54</c:v>
                  </c:pt>
                  <c:pt idx="155">
                    <c:v>0.55</c:v>
                  </c:pt>
                  <c:pt idx="156">
                    <c:v>0.56</c:v>
                  </c:pt>
                  <c:pt idx="157">
                    <c:v>0.57</c:v>
                  </c:pt>
                  <c:pt idx="158">
                    <c:v>0.58</c:v>
                  </c:pt>
                  <c:pt idx="159">
                    <c:v>0.59</c:v>
                  </c:pt>
                  <c:pt idx="160">
                    <c:v>0.60</c:v>
                  </c:pt>
                  <c:pt idx="161">
                    <c:v>0.61</c:v>
                  </c:pt>
                  <c:pt idx="162">
                    <c:v>0.62</c:v>
                  </c:pt>
                  <c:pt idx="163">
                    <c:v>0.63</c:v>
                  </c:pt>
                  <c:pt idx="164">
                    <c:v>0.64</c:v>
                  </c:pt>
                  <c:pt idx="165">
                    <c:v>0.65</c:v>
                  </c:pt>
                  <c:pt idx="166">
                    <c:v>0.66</c:v>
                  </c:pt>
                  <c:pt idx="167">
                    <c:v>0.67</c:v>
                  </c:pt>
                  <c:pt idx="168">
                    <c:v>0.68</c:v>
                  </c:pt>
                  <c:pt idx="169">
                    <c:v>0.69</c:v>
                  </c:pt>
                  <c:pt idx="170">
                    <c:v>0.70</c:v>
                  </c:pt>
                  <c:pt idx="171">
                    <c:v>0.71</c:v>
                  </c:pt>
                  <c:pt idx="172">
                    <c:v>0.72</c:v>
                  </c:pt>
                  <c:pt idx="173">
                    <c:v>0.73</c:v>
                  </c:pt>
                  <c:pt idx="174">
                    <c:v>0.74</c:v>
                  </c:pt>
                  <c:pt idx="175">
                    <c:v>0.75</c:v>
                  </c:pt>
                  <c:pt idx="176">
                    <c:v>0.76</c:v>
                  </c:pt>
                  <c:pt idx="177">
                    <c:v>0.77</c:v>
                  </c:pt>
                  <c:pt idx="178">
                    <c:v>0.78</c:v>
                  </c:pt>
                  <c:pt idx="179">
                    <c:v>0.79</c:v>
                  </c:pt>
                  <c:pt idx="180">
                    <c:v>0.80</c:v>
                  </c:pt>
                  <c:pt idx="181">
                    <c:v>0.81</c:v>
                  </c:pt>
                  <c:pt idx="182">
                    <c:v>0.82</c:v>
                  </c:pt>
                  <c:pt idx="183">
                    <c:v>0.83</c:v>
                  </c:pt>
                  <c:pt idx="184">
                    <c:v>0.84</c:v>
                  </c:pt>
                  <c:pt idx="185">
                    <c:v>0.85</c:v>
                  </c:pt>
                  <c:pt idx="186">
                    <c:v>0.86</c:v>
                  </c:pt>
                  <c:pt idx="187">
                    <c:v>0.87</c:v>
                  </c:pt>
                  <c:pt idx="188">
                    <c:v>0.88</c:v>
                  </c:pt>
                  <c:pt idx="189">
                    <c:v>0.89</c:v>
                  </c:pt>
                  <c:pt idx="190">
                    <c:v>0.90</c:v>
                  </c:pt>
                  <c:pt idx="191">
                    <c:v>0.91</c:v>
                  </c:pt>
                  <c:pt idx="192">
                    <c:v>0.92</c:v>
                  </c:pt>
                  <c:pt idx="193">
                    <c:v>0.93</c:v>
                  </c:pt>
                  <c:pt idx="194">
                    <c:v>0.94</c:v>
                  </c:pt>
                  <c:pt idx="195">
                    <c:v>0.95</c:v>
                  </c:pt>
                  <c:pt idx="196">
                    <c:v>0.96</c:v>
                  </c:pt>
                  <c:pt idx="197">
                    <c:v>0.97</c:v>
                  </c:pt>
                  <c:pt idx="198">
                    <c:v>0.98</c:v>
                  </c:pt>
                  <c:pt idx="199">
                    <c:v>0.99</c:v>
                  </c:pt>
                  <c:pt idx="200">
                    <c:v>1.00</c:v>
                  </c:pt>
                </c:lvl>
              </c:multiLvlStrCache>
            </c:multiLvlStrRef>
          </c:cat>
          <c:val>
            <c:numRef>
              <c:f>Sheet1!$C$2:$C$202</c:f>
              <c:numCache>
                <c:formatCode>General</c:formatCode>
                <c:ptCount val="201"/>
                <c:pt idx="0">
                  <c:v>-1</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-0.875</c:v>
                </c:pt>
                <c:pt idx="33">
                  <c:v>-0.875</c:v>
                </c:pt>
                <c:pt idx="34">
                  <c:v>-0.875</c:v>
                </c:pt>
                <c:pt idx="35">
                  <c:v>-0.875</c:v>
                </c:pt>
                <c:pt idx="36">
                  <c:v>-0.875</c:v>
                </c:pt>
                <c:pt idx="37">
                  <c:v>-0.875</c:v>
                </c:pt>
                <c:pt idx="38">
                  <c:v>-0.875</c:v>
                </c:pt>
                <c:pt idx="39">
                  <c:v>-0.875</c:v>
                </c:pt>
                <c:pt idx="40">
                  <c:v>-0.875</c:v>
                </c:pt>
                <c:pt idx="41">
                  <c:v>-0.875</c:v>
                </c:pt>
                <c:pt idx="42">
                  <c:v>-0.875</c:v>
                </c:pt>
                <c:pt idx="43">
                  <c:v>-0.875</c:v>
                </c:pt>
                <c:pt idx="44">
                  <c:v>-0.75</c:v>
                </c:pt>
                <c:pt idx="45">
                  <c:v>-0.75</c:v>
                </c:pt>
                <c:pt idx="46">
                  <c:v>-0.75</c:v>
                </c:pt>
                <c:pt idx="47">
                  <c:v>-0.75</c:v>
                </c:pt>
                <c:pt idx="48">
                  <c:v>-0.75</c:v>
                </c:pt>
                <c:pt idx="49">
                  <c:v>-0.75</c:v>
                </c:pt>
                <c:pt idx="50">
                  <c:v>-0.75</c:v>
                </c:pt>
                <c:pt idx="51">
                  <c:v>-0.75</c:v>
                </c:pt>
                <c:pt idx="52">
                  <c:v>-0.75</c:v>
                </c:pt>
                <c:pt idx="53">
                  <c:v>-0.75</c:v>
                </c:pt>
                <c:pt idx="54">
                  <c:v>-0.75</c:v>
                </c:pt>
                <c:pt idx="55">
                  <c:v>-0.75</c:v>
                </c:pt>
                <c:pt idx="56">
                  <c:v>-0.75</c:v>
                </c:pt>
                <c:pt idx="57">
                  <c:v>-0.625</c:v>
                </c:pt>
                <c:pt idx="58">
                  <c:v>-0.625</c:v>
                </c:pt>
                <c:pt idx="59">
                  <c:v>-0.625</c:v>
                </c:pt>
                <c:pt idx="60">
                  <c:v>-0.625</c:v>
                </c:pt>
                <c:pt idx="61">
                  <c:v>-0.625</c:v>
                </c:pt>
                <c:pt idx="62">
                  <c:v>-0.625</c:v>
                </c:pt>
                <c:pt idx="63">
                  <c:v>-0.625</c:v>
                </c:pt>
                <c:pt idx="64">
                  <c:v>-0.625</c:v>
                </c:pt>
                <c:pt idx="65">
                  <c:v>-0.625</c:v>
                </c:pt>
                <c:pt idx="66">
                  <c:v>-0.625</c:v>
                </c:pt>
                <c:pt idx="67">
                  <c:v>-0.625</c:v>
                </c:pt>
                <c:pt idx="68">
                  <c:v>-0.625</c:v>
                </c:pt>
                <c:pt idx="69">
                  <c:v>-0.5</c:v>
                </c:pt>
                <c:pt idx="70">
                  <c:v>-0.5</c:v>
                </c:pt>
                <c:pt idx="71">
                  <c:v>-0.5</c:v>
                </c:pt>
                <c:pt idx="72">
                  <c:v>-0.5</c:v>
                </c:pt>
                <c:pt idx="73">
                  <c:v>-0.5</c:v>
                </c:pt>
                <c:pt idx="74">
                  <c:v>-0.5</c:v>
                </c:pt>
                <c:pt idx="75">
                  <c:v>-0.5</c:v>
                </c:pt>
                <c:pt idx="76">
                  <c:v>-0.5</c:v>
                </c:pt>
                <c:pt idx="77">
                  <c:v>-0.5</c:v>
                </c:pt>
                <c:pt idx="78">
                  <c:v>-0.5</c:v>
                </c:pt>
                <c:pt idx="79">
                  <c:v>-0.5</c:v>
                </c:pt>
                <c:pt idx="80">
                  <c:v>-0.5</c:v>
                </c:pt>
                <c:pt idx="81">
                  <c:v>-0.5</c:v>
                </c:pt>
                <c:pt idx="82">
                  <c:v>-0.375</c:v>
                </c:pt>
                <c:pt idx="83">
                  <c:v>-0.375</c:v>
                </c:pt>
                <c:pt idx="84">
                  <c:v>-0.375</c:v>
                </c:pt>
                <c:pt idx="85">
                  <c:v>-0.375</c:v>
                </c:pt>
                <c:pt idx="86">
                  <c:v>-0.375</c:v>
                </c:pt>
                <c:pt idx="87">
                  <c:v>-0.375</c:v>
                </c:pt>
                <c:pt idx="88">
                  <c:v>-0.375</c:v>
                </c:pt>
                <c:pt idx="89">
                  <c:v>-0.375</c:v>
                </c:pt>
                <c:pt idx="90">
                  <c:v>-0.375</c:v>
                </c:pt>
                <c:pt idx="91">
                  <c:v>-0.375</c:v>
                </c:pt>
                <c:pt idx="92">
                  <c:v>-0.375</c:v>
                </c:pt>
                <c:pt idx="93">
                  <c:v>-0.375</c:v>
                </c:pt>
                <c:pt idx="94">
                  <c:v>-0.25</c:v>
                </c:pt>
                <c:pt idx="95">
                  <c:v>-0.25</c:v>
                </c:pt>
                <c:pt idx="96">
                  <c:v>-0.25</c:v>
                </c:pt>
                <c:pt idx="97">
                  <c:v>-0.25</c:v>
                </c:pt>
                <c:pt idx="98">
                  <c:v>-0.25</c:v>
                </c:pt>
                <c:pt idx="99">
                  <c:v>-0.25</c:v>
                </c:pt>
                <c:pt idx="100">
                  <c:v>-0.25</c:v>
                </c:pt>
                <c:pt idx="101">
                  <c:v>-0.25</c:v>
                </c:pt>
                <c:pt idx="102">
                  <c:v>-0.25</c:v>
                </c:pt>
                <c:pt idx="103">
                  <c:v>-0.25</c:v>
                </c:pt>
                <c:pt idx="104">
                  <c:v>-0.25</c:v>
                </c:pt>
                <c:pt idx="105">
                  <c:v>-0.25</c:v>
                </c:pt>
                <c:pt idx="106">
                  <c:v>-0.25</c:v>
                </c:pt>
                <c:pt idx="107">
                  <c:v>-0.125</c:v>
                </c:pt>
                <c:pt idx="108">
                  <c:v>-0.125</c:v>
                </c:pt>
                <c:pt idx="109">
                  <c:v>-0.125</c:v>
                </c:pt>
                <c:pt idx="110">
                  <c:v>-0.125</c:v>
                </c:pt>
                <c:pt idx="111">
                  <c:v>-0.125</c:v>
                </c:pt>
                <c:pt idx="112">
                  <c:v>-0.125</c:v>
                </c:pt>
                <c:pt idx="113">
                  <c:v>-0.125</c:v>
                </c:pt>
                <c:pt idx="114">
                  <c:v>-0.125</c:v>
                </c:pt>
                <c:pt idx="115">
                  <c:v>-0.125</c:v>
                </c:pt>
                <c:pt idx="116">
                  <c:v>-0.125</c:v>
                </c:pt>
                <c:pt idx="117">
                  <c:v>-0.125</c:v>
                </c:pt>
                <c:pt idx="118">
                  <c:v>-0.125</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0.125</c:v>
                </c:pt>
                <c:pt idx="133">
                  <c:v>0.125</c:v>
                </c:pt>
                <c:pt idx="134">
                  <c:v>0.125</c:v>
                </c:pt>
                <c:pt idx="135">
                  <c:v>0.125</c:v>
                </c:pt>
                <c:pt idx="136">
                  <c:v>0.125</c:v>
                </c:pt>
                <c:pt idx="137">
                  <c:v>0.125</c:v>
                </c:pt>
                <c:pt idx="138">
                  <c:v>0.125</c:v>
                </c:pt>
                <c:pt idx="139">
                  <c:v>0.125</c:v>
                </c:pt>
                <c:pt idx="140">
                  <c:v>0.125</c:v>
                </c:pt>
                <c:pt idx="141">
                  <c:v>0.125</c:v>
                </c:pt>
                <c:pt idx="142">
                  <c:v>0.125</c:v>
                </c:pt>
                <c:pt idx="143">
                  <c:v>0.125</c:v>
                </c:pt>
                <c:pt idx="144">
                  <c:v>0.25</c:v>
                </c:pt>
                <c:pt idx="145">
                  <c:v>0.25</c:v>
                </c:pt>
                <c:pt idx="146">
                  <c:v>0.25</c:v>
                </c:pt>
                <c:pt idx="147">
                  <c:v>0.25</c:v>
                </c:pt>
                <c:pt idx="148">
                  <c:v>0.25</c:v>
                </c:pt>
                <c:pt idx="149">
                  <c:v>0.25</c:v>
                </c:pt>
                <c:pt idx="150">
                  <c:v>0.25</c:v>
                </c:pt>
                <c:pt idx="151">
                  <c:v>0.25</c:v>
                </c:pt>
                <c:pt idx="152">
                  <c:v>0.25</c:v>
                </c:pt>
                <c:pt idx="153">
                  <c:v>0.25</c:v>
                </c:pt>
                <c:pt idx="154">
                  <c:v>0.25</c:v>
                </c:pt>
                <c:pt idx="155">
                  <c:v>0.25</c:v>
                </c:pt>
                <c:pt idx="156">
                  <c:v>0.25</c:v>
                </c:pt>
                <c:pt idx="157">
                  <c:v>0.375</c:v>
                </c:pt>
                <c:pt idx="158">
                  <c:v>0.375</c:v>
                </c:pt>
                <c:pt idx="159">
                  <c:v>0.375</c:v>
                </c:pt>
                <c:pt idx="160">
                  <c:v>0.375</c:v>
                </c:pt>
                <c:pt idx="161">
                  <c:v>0.375</c:v>
                </c:pt>
                <c:pt idx="162">
                  <c:v>0.375</c:v>
                </c:pt>
                <c:pt idx="163">
                  <c:v>0.375</c:v>
                </c:pt>
                <c:pt idx="164">
                  <c:v>0.375</c:v>
                </c:pt>
                <c:pt idx="165">
                  <c:v>0.375</c:v>
                </c:pt>
                <c:pt idx="166">
                  <c:v>0.375</c:v>
                </c:pt>
                <c:pt idx="167">
                  <c:v>0.375</c:v>
                </c:pt>
                <c:pt idx="168">
                  <c:v>0.375</c:v>
                </c:pt>
                <c:pt idx="169">
                  <c:v>0.5</c:v>
                </c:pt>
                <c:pt idx="170">
                  <c:v>0.5</c:v>
                </c:pt>
                <c:pt idx="171">
                  <c:v>0.5</c:v>
                </c:pt>
                <c:pt idx="172">
                  <c:v>0.5</c:v>
                </c:pt>
                <c:pt idx="173">
                  <c:v>0.5</c:v>
                </c:pt>
                <c:pt idx="174">
                  <c:v>0.5</c:v>
                </c:pt>
                <c:pt idx="175">
                  <c:v>0.5</c:v>
                </c:pt>
                <c:pt idx="176">
                  <c:v>0.5</c:v>
                </c:pt>
                <c:pt idx="177">
                  <c:v>0.5</c:v>
                </c:pt>
                <c:pt idx="178">
                  <c:v>0.5</c:v>
                </c:pt>
                <c:pt idx="179">
                  <c:v>0.5</c:v>
                </c:pt>
                <c:pt idx="180">
                  <c:v>0.5</c:v>
                </c:pt>
                <c:pt idx="181">
                  <c:v>0.5</c:v>
                </c:pt>
                <c:pt idx="182">
                  <c:v>0.625</c:v>
                </c:pt>
                <c:pt idx="183">
                  <c:v>0.625</c:v>
                </c:pt>
                <c:pt idx="184">
                  <c:v>0.625</c:v>
                </c:pt>
                <c:pt idx="185">
                  <c:v>0.625</c:v>
                </c:pt>
                <c:pt idx="186">
                  <c:v>0.625</c:v>
                </c:pt>
                <c:pt idx="187">
                  <c:v>0.625</c:v>
                </c:pt>
                <c:pt idx="188">
                  <c:v>0.625</c:v>
                </c:pt>
                <c:pt idx="189">
                  <c:v>0.625</c:v>
                </c:pt>
                <c:pt idx="190">
                  <c:v>0.625</c:v>
                </c:pt>
                <c:pt idx="191">
                  <c:v>0.625</c:v>
                </c:pt>
                <c:pt idx="192">
                  <c:v>0.625</c:v>
                </c:pt>
                <c:pt idx="193">
                  <c:v>0.625</c:v>
                </c:pt>
                <c:pt idx="194">
                  <c:v>0.75</c:v>
                </c:pt>
                <c:pt idx="195">
                  <c:v>0.75</c:v>
                </c:pt>
                <c:pt idx="196">
                  <c:v>0.75</c:v>
                </c:pt>
                <c:pt idx="197">
                  <c:v>0.75</c:v>
                </c:pt>
                <c:pt idx="198">
                  <c:v>0.75</c:v>
                </c:pt>
                <c:pt idx="199">
                  <c:v>0.75</c:v>
                </c:pt>
                <c:pt idx="200">
                  <c:v>0.75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900" b="0" i="0" u="none" strike="noStrike">
                    <a:solidFill>
                      <a:srgbClr val="5B6B7F"/>
                    </a:solidFill>
                    <a:latin typeface="Calibri"/>
                  </a:defRPr>
                </a:pPr>
                <a:r>
                  <a:rPr sz="900" b="0" i="0" u="none" strike="noStrike">
                    <a:solidFill>
                      <a:srgbClr val="5B6B7F"/>
                    </a:solidFill>
                    <a:latin typeface="Calibri"/>
                  </a:rPr>
                  <a:t>input (V) · the whole staircase slides sideways</a:t>
                </a:r>
              </a:p>
            </c:rich>
          </c:tx>
          <c:layout/>
          <c:overlay val="0"/>
        </c:title>
        <c:numFmt formatCode="General" sourceLinked="1"/>
        <c:majorTickMark val="none"/>
        <c:minorTickMark val="none"/>
        <c:tickLblPos val="low"/>
        <c:spPr>
          <a:ln w="12700" cap="flat">
            <a:solidFill>
              <a:srgbClr val="888888"/>
            </a:solidFill>
            <a:prstDash val="solid"/>
            <a:round/>
          </a:ln>
        </c:spPr>
        <c:txPr>
          <a:bodyPr/>
          <a:lstStyle/>
          <a:p>
            <a:pPr>
              <a:defRPr sz="900" b="0" i="0" u="none" strike="noStrike">
                <a:solidFill>
                  <a:srgbClr val="5B6B7F"/>
                </a:solidFill>
                <a:latin typeface="Calibri"/>
              </a:defRPr>
            </a:pPr>
            <a:endParaRPr lang="en-US"/>
          </a:p>
        </c:txPr>
        <c:crossAx val="2094734552"/>
        <c:crosses val="min"/>
        <c:auto val="1"/>
        <c:lblAlgn val="ctr"/>
        <c:noMultiLvlLbl val="1"/>
        <c:tickLblSkip val="25"/>
      </c:catAx>
      <c:valAx>
        <c:axId val="2094734552"/>
        <c:scaling>
          <c:orientation val="minMax"/>
          <c:max val="1"/>
          <c:min val="-1"/>
        </c:scaling>
        <c:delete val="0"/>
        <c:axPos val="l"/>
        <c:majorGridlines>
          <c:spPr>
            <a:ln w="6350" cap="flat">
              <a:solidFill>
                <a:srgbClr val="D9E1EA"/>
              </a:solidFill>
              <a:prstDash val="solid"/>
              <a:round/>
            </a:ln>
          </c:spPr>
        </c:majorGridlines>
        <c:numFmt formatCode="General" sourceLinked="0"/>
        <c:majorTickMark val="none"/>
        <c:minorTickMark val="none"/>
        <c:tickLblPos val="nextTo"/>
        <c:spPr>
          <a:ln w="12700" cap="flat">
            <a:noFill/>
            <a:prstDash val="solid"/>
            <a:round/>
          </a:ln>
        </c:spPr>
        <c:txPr>
          <a:bodyPr/>
          <a:lstStyle/>
          <a:p>
            <a:pPr>
              <a:defRPr sz="900" b="0" i="0" u="none" strike="noStrike">
                <a:solidFill>
                  <a:srgbClr val="5B6B7F"/>
                </a:solidFill>
                <a:latin typeface="Calibri"/>
              </a:defRPr>
            </a:pPr>
            <a:endParaRPr lang="en-US"/>
          </a:p>
        </c:txPr>
        <c:crossAx val="2094734554"/>
        <c:crosses val="autoZero"/>
        <c:crossBetween val="between"/>
        <c:majorUnit val="0.5"/>
      </c:valAx>
      <c:spPr>
        <a:solidFill>
          <a:srgbClr val="FFFFFF"/>
        </a:solidFill>
        <a:ln>
          <a:noFill/>
        </a:ln>
        <a:effectLst/>
      </c:spPr>
    </c:plotArea>
    <c:legend>
      <c:legendPos val="b"/>
      <c:overlay val="0"/>
      <c:txPr>
        <a:bodyPr/>
        <a:lstStyle/>
        <a:p>
          <a:pPr>
            <a:defRPr sz="900">
              <a:solidFill>
                <a:srgbClr val="14213D"/>
              </a:solidFill>
              <a:latin typeface="Calibri"/>
              <a:cs typeface="Calibri"/>
            </a:defRPr>
          </a:pPr>
          <a:endParaRPr lang="en-US"/>
        </a:p>
      </c:txPr>
    </c:legend>
    <c:plotVisOnly val="1"/>
    <c:dispBlanksAs val="span"/>
  </c:chart>
  <c:spPr>
    <a:solidFill>
      <a:srgbClr val="FFFFFF"/>
    </a:solid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lineChart>
        <c:varyColors val="0"/>
        <c:ser>
          <c:idx val="0"/>
          <c:order val="0"/>
          <c:tx>
            <c:strRef>
              <c:f>Sheet1!$B$1</c:f>
              <c:strCache>
                <c:ptCount val="1"/>
                <c:pt idx="0">
                  <c:v>ideal</c:v>
                </c:pt>
              </c:strCache>
            </c:strRef>
          </c:tx>
          <c:spPr>
            <a:solidFill>
              <a:srgbClr val="5B6B7F"/>
            </a:solidFill>
            <a:ln w="19050" cap="flat">
              <a:solidFill>
                <a:srgbClr val="5B6B7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5B6B7F"/>
              </a:solidFill>
              <a:ln w="9525" cap="flat">
                <a:solidFill>
                  <a:srgbClr val="5B6B7F"/>
                </a:solidFill>
                <a:prstDash val="solid"/>
                <a:round/>
              </a:ln>
              <a:effectLst/>
            </c:spPr>
          </c:marker>
          <c:cat>
            <c:multiLvlStrRef>
              <c:f>Sheet1!$A$2:$A$202</c:f>
              <c:multiLvlStrCache>
                <c:ptCount val="201"/>
                <c:lvl>
                  <c:pt idx="0">
                    <c:v>-1.00</c:v>
                  </c:pt>
                  <c:pt idx="1">
                    <c:v>-0.99</c:v>
                  </c:pt>
                  <c:pt idx="2">
                    <c:v>-0.98</c:v>
                  </c:pt>
                  <c:pt idx="3">
                    <c:v>-0.97</c:v>
                  </c:pt>
                  <c:pt idx="4">
                    <c:v>-0.96</c:v>
                  </c:pt>
                  <c:pt idx="5">
                    <c:v>-0.95</c:v>
                  </c:pt>
                  <c:pt idx="6">
                    <c:v>-0.94</c:v>
                  </c:pt>
                  <c:pt idx="7">
                    <c:v>-0.93</c:v>
                  </c:pt>
                  <c:pt idx="8">
                    <c:v>-0.92</c:v>
                  </c:pt>
                  <c:pt idx="9">
                    <c:v>-0.91</c:v>
                  </c:pt>
                  <c:pt idx="10">
                    <c:v>-0.90</c:v>
                  </c:pt>
                  <c:pt idx="11">
                    <c:v>-0.89</c:v>
                  </c:pt>
                  <c:pt idx="12">
                    <c:v>-0.88</c:v>
                  </c:pt>
                  <c:pt idx="13">
                    <c:v>-0.87</c:v>
                  </c:pt>
                  <c:pt idx="14">
                    <c:v>-0.86</c:v>
                  </c:pt>
                  <c:pt idx="15">
                    <c:v>-0.85</c:v>
                  </c:pt>
                  <c:pt idx="16">
                    <c:v>-0.84</c:v>
                  </c:pt>
                  <c:pt idx="17">
                    <c:v>-0.83</c:v>
                  </c:pt>
                  <c:pt idx="18">
                    <c:v>-0.82</c:v>
                  </c:pt>
                  <c:pt idx="19">
                    <c:v>-0.81</c:v>
                  </c:pt>
                  <c:pt idx="20">
                    <c:v>-0.80</c:v>
                  </c:pt>
                  <c:pt idx="21">
                    <c:v>-0.79</c:v>
                  </c:pt>
                  <c:pt idx="22">
                    <c:v>-0.78</c:v>
                  </c:pt>
                  <c:pt idx="23">
                    <c:v>-0.77</c:v>
                  </c:pt>
                  <c:pt idx="24">
                    <c:v>-0.76</c:v>
                  </c:pt>
                  <c:pt idx="25">
                    <c:v>-0.75</c:v>
                  </c:pt>
                  <c:pt idx="26">
                    <c:v>-0.74</c:v>
                  </c:pt>
                  <c:pt idx="27">
                    <c:v>-0.73</c:v>
                  </c:pt>
                  <c:pt idx="28">
                    <c:v>-0.72</c:v>
                  </c:pt>
                  <c:pt idx="29">
                    <c:v>-0.71</c:v>
                  </c:pt>
                  <c:pt idx="30">
                    <c:v>-0.70</c:v>
                  </c:pt>
                  <c:pt idx="31">
                    <c:v>-0.69</c:v>
                  </c:pt>
                  <c:pt idx="32">
                    <c:v>-0.68</c:v>
                  </c:pt>
                  <c:pt idx="33">
                    <c:v>-0.67</c:v>
                  </c:pt>
                  <c:pt idx="34">
                    <c:v>-0.66</c:v>
                  </c:pt>
                  <c:pt idx="35">
                    <c:v>-0.65</c:v>
                  </c:pt>
                  <c:pt idx="36">
                    <c:v>-0.64</c:v>
                  </c:pt>
                  <c:pt idx="37">
                    <c:v>-0.63</c:v>
                  </c:pt>
                  <c:pt idx="38">
                    <c:v>-0.62</c:v>
                  </c:pt>
                  <c:pt idx="39">
                    <c:v>-0.61</c:v>
                  </c:pt>
                  <c:pt idx="40">
                    <c:v>-0.60</c:v>
                  </c:pt>
                  <c:pt idx="41">
                    <c:v>-0.59</c:v>
                  </c:pt>
                  <c:pt idx="42">
                    <c:v>-0.58</c:v>
                  </c:pt>
                  <c:pt idx="43">
                    <c:v>-0.57</c:v>
                  </c:pt>
                  <c:pt idx="44">
                    <c:v>-0.56</c:v>
                  </c:pt>
                  <c:pt idx="45">
                    <c:v>-0.55</c:v>
                  </c:pt>
                  <c:pt idx="46">
                    <c:v>-0.54</c:v>
                  </c:pt>
                  <c:pt idx="47">
                    <c:v>-0.53</c:v>
                  </c:pt>
                  <c:pt idx="48">
                    <c:v>-0.52</c:v>
                  </c:pt>
                  <c:pt idx="49">
                    <c:v>-0.51</c:v>
                  </c:pt>
                  <c:pt idx="50">
                    <c:v>-0.50</c:v>
                  </c:pt>
                  <c:pt idx="51">
                    <c:v>-0.49</c:v>
                  </c:pt>
                  <c:pt idx="52">
                    <c:v>-0.48</c:v>
                  </c:pt>
                  <c:pt idx="53">
                    <c:v>-0.47</c:v>
                  </c:pt>
                  <c:pt idx="54">
                    <c:v>-0.46</c:v>
                  </c:pt>
                  <c:pt idx="55">
                    <c:v>-0.45</c:v>
                  </c:pt>
                  <c:pt idx="56">
                    <c:v>-0.44</c:v>
                  </c:pt>
                  <c:pt idx="57">
                    <c:v>-0.43</c:v>
                  </c:pt>
                  <c:pt idx="58">
                    <c:v>-0.42</c:v>
                  </c:pt>
                  <c:pt idx="59">
                    <c:v>-0.41</c:v>
                  </c:pt>
                  <c:pt idx="60">
                    <c:v>-0.40</c:v>
                  </c:pt>
                  <c:pt idx="61">
                    <c:v>-0.39</c:v>
                  </c:pt>
                  <c:pt idx="62">
                    <c:v>-0.38</c:v>
                  </c:pt>
                  <c:pt idx="63">
                    <c:v>-0.37</c:v>
                  </c:pt>
                  <c:pt idx="64">
                    <c:v>-0.36</c:v>
                  </c:pt>
                  <c:pt idx="65">
                    <c:v>-0.35</c:v>
                  </c:pt>
                  <c:pt idx="66">
                    <c:v>-0.34</c:v>
                  </c:pt>
                  <c:pt idx="67">
                    <c:v>-0.33</c:v>
                  </c:pt>
                  <c:pt idx="68">
                    <c:v>-0.32</c:v>
                  </c:pt>
                  <c:pt idx="69">
                    <c:v>-0.31</c:v>
                  </c:pt>
                  <c:pt idx="70">
                    <c:v>-0.30</c:v>
                  </c:pt>
                  <c:pt idx="71">
                    <c:v>-0.29</c:v>
                  </c:pt>
                  <c:pt idx="72">
                    <c:v>-0.28</c:v>
                  </c:pt>
                  <c:pt idx="73">
                    <c:v>-0.27</c:v>
                  </c:pt>
                  <c:pt idx="74">
                    <c:v>-0.26</c:v>
                  </c:pt>
                  <c:pt idx="75">
                    <c:v>-0.25</c:v>
                  </c:pt>
                  <c:pt idx="76">
                    <c:v>-0.24</c:v>
                  </c:pt>
                  <c:pt idx="77">
                    <c:v>-0.23</c:v>
                  </c:pt>
                  <c:pt idx="78">
                    <c:v>-0.22</c:v>
                  </c:pt>
                  <c:pt idx="79">
                    <c:v>-0.21</c:v>
                  </c:pt>
                  <c:pt idx="80">
                    <c:v>-0.20</c:v>
                  </c:pt>
                  <c:pt idx="81">
                    <c:v>-0.19</c:v>
                  </c:pt>
                  <c:pt idx="82">
                    <c:v>-0.18</c:v>
                  </c:pt>
                  <c:pt idx="83">
                    <c:v>-0.17</c:v>
                  </c:pt>
                  <c:pt idx="84">
                    <c:v>-0.16</c:v>
                  </c:pt>
                  <c:pt idx="85">
                    <c:v>-0.15</c:v>
                  </c:pt>
                  <c:pt idx="86">
                    <c:v>-0.14</c:v>
                  </c:pt>
                  <c:pt idx="87">
                    <c:v>-0.13</c:v>
                  </c:pt>
                  <c:pt idx="88">
                    <c:v>-0.12</c:v>
                  </c:pt>
                  <c:pt idx="89">
                    <c:v>-0.11</c:v>
                  </c:pt>
                  <c:pt idx="90">
                    <c:v>-0.10</c:v>
                  </c:pt>
                  <c:pt idx="91">
                    <c:v>-0.09</c:v>
                  </c:pt>
                  <c:pt idx="92">
                    <c:v>-0.08</c:v>
                  </c:pt>
                  <c:pt idx="93">
                    <c:v>-0.07</c:v>
                  </c:pt>
                  <c:pt idx="94">
                    <c:v>-0.06</c:v>
                  </c:pt>
                  <c:pt idx="95">
                    <c:v>-0.05</c:v>
                  </c:pt>
                  <c:pt idx="96">
                    <c:v>-0.04</c:v>
                  </c:pt>
                  <c:pt idx="97">
                    <c:v>-0.03</c:v>
                  </c:pt>
                  <c:pt idx="98">
                    <c:v>-0.02</c:v>
                  </c:pt>
                  <c:pt idx="99">
                    <c:v>-0.01</c:v>
                  </c:pt>
                  <c:pt idx="100">
                    <c:v>0.00</c:v>
                  </c:pt>
                  <c:pt idx="101">
                    <c:v>0.01</c:v>
                  </c:pt>
                  <c:pt idx="102">
                    <c:v>0.02</c:v>
                  </c:pt>
                  <c:pt idx="103">
                    <c:v>0.03</c:v>
                  </c:pt>
                  <c:pt idx="104">
                    <c:v>0.04</c:v>
                  </c:pt>
                  <c:pt idx="105">
                    <c:v>0.05</c:v>
                  </c:pt>
                  <c:pt idx="106">
                    <c:v>0.06</c:v>
                  </c:pt>
                  <c:pt idx="107">
                    <c:v>0.07</c:v>
                  </c:pt>
                  <c:pt idx="108">
                    <c:v>0.08</c:v>
                  </c:pt>
                  <c:pt idx="109">
                    <c:v>0.09</c:v>
                  </c:pt>
                  <c:pt idx="110">
                    <c:v>0.10</c:v>
                  </c:pt>
                  <c:pt idx="111">
                    <c:v>0.11</c:v>
                  </c:pt>
                  <c:pt idx="112">
                    <c:v>0.12</c:v>
                  </c:pt>
                  <c:pt idx="113">
                    <c:v>0.13</c:v>
                  </c:pt>
                  <c:pt idx="114">
                    <c:v>0.14</c:v>
                  </c:pt>
                  <c:pt idx="115">
                    <c:v>0.15</c:v>
                  </c:pt>
                  <c:pt idx="116">
                    <c:v>0.16</c:v>
                  </c:pt>
                  <c:pt idx="117">
                    <c:v>0.17</c:v>
                  </c:pt>
                  <c:pt idx="118">
                    <c:v>0.18</c:v>
                  </c:pt>
                  <c:pt idx="119">
                    <c:v>0.19</c:v>
                  </c:pt>
                  <c:pt idx="120">
                    <c:v>0.20</c:v>
                  </c:pt>
                  <c:pt idx="121">
                    <c:v>0.21</c:v>
                  </c:pt>
                  <c:pt idx="122">
                    <c:v>0.22</c:v>
                  </c:pt>
                  <c:pt idx="123">
                    <c:v>0.23</c:v>
                  </c:pt>
                  <c:pt idx="124">
                    <c:v>0.24</c:v>
                  </c:pt>
                  <c:pt idx="125">
                    <c:v>0.25</c:v>
                  </c:pt>
                  <c:pt idx="126">
                    <c:v>0.26</c:v>
                  </c:pt>
                  <c:pt idx="127">
                    <c:v>0.27</c:v>
                  </c:pt>
                  <c:pt idx="128">
                    <c:v>0.28</c:v>
                  </c:pt>
                  <c:pt idx="129">
                    <c:v>0.29</c:v>
                  </c:pt>
                  <c:pt idx="130">
                    <c:v>0.30</c:v>
                  </c:pt>
                  <c:pt idx="131">
                    <c:v>0.31</c:v>
                  </c:pt>
                  <c:pt idx="132">
                    <c:v>0.32</c:v>
                  </c:pt>
                  <c:pt idx="133">
                    <c:v>0.33</c:v>
                  </c:pt>
                  <c:pt idx="134">
                    <c:v>0.34</c:v>
                  </c:pt>
                  <c:pt idx="135">
                    <c:v>0.35</c:v>
                  </c:pt>
                  <c:pt idx="136">
                    <c:v>0.36</c:v>
                  </c:pt>
                  <c:pt idx="137">
                    <c:v>0.37</c:v>
                  </c:pt>
                  <c:pt idx="138">
                    <c:v>0.38</c:v>
                  </c:pt>
                  <c:pt idx="139">
                    <c:v>0.39</c:v>
                  </c:pt>
                  <c:pt idx="140">
                    <c:v>0.40</c:v>
                  </c:pt>
                  <c:pt idx="141">
                    <c:v>0.41</c:v>
                  </c:pt>
                  <c:pt idx="142">
                    <c:v>0.42</c:v>
                  </c:pt>
                  <c:pt idx="143">
                    <c:v>0.43</c:v>
                  </c:pt>
                  <c:pt idx="144">
                    <c:v>0.44</c:v>
                  </c:pt>
                  <c:pt idx="145">
                    <c:v>0.45</c:v>
                  </c:pt>
                  <c:pt idx="146">
                    <c:v>0.46</c:v>
                  </c:pt>
                  <c:pt idx="147">
                    <c:v>0.47</c:v>
                  </c:pt>
                  <c:pt idx="148">
                    <c:v>0.48</c:v>
                  </c:pt>
                  <c:pt idx="149">
                    <c:v>0.49</c:v>
                  </c:pt>
                  <c:pt idx="150">
                    <c:v>0.50</c:v>
                  </c:pt>
                  <c:pt idx="151">
                    <c:v>0.51</c:v>
                  </c:pt>
                  <c:pt idx="152">
                    <c:v>0.52</c:v>
                  </c:pt>
                  <c:pt idx="153">
                    <c:v>0.53</c:v>
                  </c:pt>
                  <c:pt idx="154">
                    <c:v>0.54</c:v>
                  </c:pt>
                  <c:pt idx="155">
                    <c:v>0.55</c:v>
                  </c:pt>
                  <c:pt idx="156">
                    <c:v>0.56</c:v>
                  </c:pt>
                  <c:pt idx="157">
                    <c:v>0.57</c:v>
                  </c:pt>
                  <c:pt idx="158">
                    <c:v>0.58</c:v>
                  </c:pt>
                  <c:pt idx="159">
                    <c:v>0.59</c:v>
                  </c:pt>
                  <c:pt idx="160">
                    <c:v>0.60</c:v>
                  </c:pt>
                  <c:pt idx="161">
                    <c:v>0.61</c:v>
                  </c:pt>
                  <c:pt idx="162">
                    <c:v>0.62</c:v>
                  </c:pt>
                  <c:pt idx="163">
                    <c:v>0.63</c:v>
                  </c:pt>
                  <c:pt idx="164">
                    <c:v>0.64</c:v>
                  </c:pt>
                  <c:pt idx="165">
                    <c:v>0.65</c:v>
                  </c:pt>
                  <c:pt idx="166">
                    <c:v>0.66</c:v>
                  </c:pt>
                  <c:pt idx="167">
                    <c:v>0.67</c:v>
                  </c:pt>
                  <c:pt idx="168">
                    <c:v>0.68</c:v>
                  </c:pt>
                  <c:pt idx="169">
                    <c:v>0.69</c:v>
                  </c:pt>
                  <c:pt idx="170">
                    <c:v>0.70</c:v>
                  </c:pt>
                  <c:pt idx="171">
                    <c:v>0.71</c:v>
                  </c:pt>
                  <c:pt idx="172">
                    <c:v>0.72</c:v>
                  </c:pt>
                  <c:pt idx="173">
                    <c:v>0.73</c:v>
                  </c:pt>
                  <c:pt idx="174">
                    <c:v>0.74</c:v>
                  </c:pt>
                  <c:pt idx="175">
                    <c:v>0.75</c:v>
                  </c:pt>
                  <c:pt idx="176">
                    <c:v>0.76</c:v>
                  </c:pt>
                  <c:pt idx="177">
                    <c:v>0.77</c:v>
                  </c:pt>
                  <c:pt idx="178">
                    <c:v>0.78</c:v>
                  </c:pt>
                  <c:pt idx="179">
                    <c:v>0.79</c:v>
                  </c:pt>
                  <c:pt idx="180">
                    <c:v>0.80</c:v>
                  </c:pt>
                  <c:pt idx="181">
                    <c:v>0.81</c:v>
                  </c:pt>
                  <c:pt idx="182">
                    <c:v>0.82</c:v>
                  </c:pt>
                  <c:pt idx="183">
                    <c:v>0.83</c:v>
                  </c:pt>
                  <c:pt idx="184">
                    <c:v>0.84</c:v>
                  </c:pt>
                  <c:pt idx="185">
                    <c:v>0.85</c:v>
                  </c:pt>
                  <c:pt idx="186">
                    <c:v>0.86</c:v>
                  </c:pt>
                  <c:pt idx="187">
                    <c:v>0.87</c:v>
                  </c:pt>
                  <c:pt idx="188">
                    <c:v>0.88</c:v>
                  </c:pt>
                  <c:pt idx="189">
                    <c:v>0.89</c:v>
                  </c:pt>
                  <c:pt idx="190">
                    <c:v>0.90</c:v>
                  </c:pt>
                  <c:pt idx="191">
                    <c:v>0.91</c:v>
                  </c:pt>
                  <c:pt idx="192">
                    <c:v>0.92</c:v>
                  </c:pt>
                  <c:pt idx="193">
                    <c:v>0.93</c:v>
                  </c:pt>
                  <c:pt idx="194">
                    <c:v>0.94</c:v>
                  </c:pt>
                  <c:pt idx="195">
                    <c:v>0.95</c:v>
                  </c:pt>
                  <c:pt idx="196">
                    <c:v>0.96</c:v>
                  </c:pt>
                  <c:pt idx="197">
                    <c:v>0.97</c:v>
                  </c:pt>
                  <c:pt idx="198">
                    <c:v>0.98</c:v>
                  </c:pt>
                  <c:pt idx="199">
                    <c:v>0.99</c:v>
                  </c:pt>
                  <c:pt idx="200">
                    <c:v>1.00</c:v>
                  </c:pt>
                </c:lvl>
              </c:multiLvlStrCache>
            </c:multiLvlStrRef>
          </c:cat>
          <c:val>
            <c:numRef>
              <c:f>Sheet1!$B$2:$B$202</c:f>
              <c:numCache>
                <c:formatCode>General</c:formatCode>
                <c:ptCount val="201"/>
                <c:pt idx="0">
                  <c:v>-1</c:v>
                </c:pt>
                <c:pt idx="1">
                  <c:v>-1</c:v>
                </c:pt>
                <c:pt idx="2">
                  <c:v>-1</c:v>
                </c:pt>
                <c:pt idx="3">
                  <c:v>-1</c:v>
                </c:pt>
                <c:pt idx="4">
                  <c:v>-1</c:v>
                </c:pt>
                <c:pt idx="5">
                  <c:v>-1</c:v>
                </c:pt>
                <c:pt idx="6">
                  <c:v>-1</c:v>
                </c:pt>
                <c:pt idx="7">
                  <c:v>-0.875</c:v>
                </c:pt>
                <c:pt idx="8">
                  <c:v>-0.875</c:v>
                </c:pt>
                <c:pt idx="9">
                  <c:v>-0.875</c:v>
                </c:pt>
                <c:pt idx="10">
                  <c:v>-0.875</c:v>
                </c:pt>
                <c:pt idx="11">
                  <c:v>-0.875</c:v>
                </c:pt>
                <c:pt idx="12">
                  <c:v>-0.875</c:v>
                </c:pt>
                <c:pt idx="13">
                  <c:v>-0.875</c:v>
                </c:pt>
                <c:pt idx="14">
                  <c:v>-0.875</c:v>
                </c:pt>
                <c:pt idx="15">
                  <c:v>-0.875</c:v>
                </c:pt>
                <c:pt idx="16">
                  <c:v>-0.875</c:v>
                </c:pt>
                <c:pt idx="17">
                  <c:v>-0.875</c:v>
                </c:pt>
                <c:pt idx="18">
                  <c:v>-0.875</c:v>
                </c:pt>
                <c:pt idx="19">
                  <c:v>-0.75</c:v>
                </c:pt>
                <c:pt idx="20">
                  <c:v>-0.75</c:v>
                </c:pt>
                <c:pt idx="21">
                  <c:v>-0.75</c:v>
                </c:pt>
                <c:pt idx="22">
                  <c:v>-0.75</c:v>
                </c:pt>
                <c:pt idx="23">
                  <c:v>-0.75</c:v>
                </c:pt>
                <c:pt idx="24">
                  <c:v>-0.75</c:v>
                </c:pt>
                <c:pt idx="25">
                  <c:v>-0.75</c:v>
                </c:pt>
                <c:pt idx="26">
                  <c:v>-0.75</c:v>
                </c:pt>
                <c:pt idx="27">
                  <c:v>-0.75</c:v>
                </c:pt>
                <c:pt idx="28">
                  <c:v>-0.75</c:v>
                </c:pt>
                <c:pt idx="29">
                  <c:v>-0.75</c:v>
                </c:pt>
                <c:pt idx="30">
                  <c:v>-0.75</c:v>
                </c:pt>
                <c:pt idx="31">
                  <c:v>-0.75</c:v>
                </c:pt>
                <c:pt idx="32">
                  <c:v>-0.625</c:v>
                </c:pt>
                <c:pt idx="33">
                  <c:v>-0.625</c:v>
                </c:pt>
                <c:pt idx="34">
                  <c:v>-0.625</c:v>
                </c:pt>
                <c:pt idx="35">
                  <c:v>-0.625</c:v>
                </c:pt>
                <c:pt idx="36">
                  <c:v>-0.625</c:v>
                </c:pt>
                <c:pt idx="37">
                  <c:v>-0.625</c:v>
                </c:pt>
                <c:pt idx="38">
                  <c:v>-0.625</c:v>
                </c:pt>
                <c:pt idx="39">
                  <c:v>-0.625</c:v>
                </c:pt>
                <c:pt idx="40">
                  <c:v>-0.625</c:v>
                </c:pt>
                <c:pt idx="41">
                  <c:v>-0.625</c:v>
                </c:pt>
                <c:pt idx="42">
                  <c:v>-0.625</c:v>
                </c:pt>
                <c:pt idx="43">
                  <c:v>-0.625</c:v>
                </c:pt>
                <c:pt idx="44">
                  <c:v>-0.5</c:v>
                </c:pt>
                <c:pt idx="45">
                  <c:v>-0.5</c:v>
                </c:pt>
                <c:pt idx="46">
                  <c:v>-0.5</c:v>
                </c:pt>
                <c:pt idx="47">
                  <c:v>-0.5</c:v>
                </c:pt>
                <c:pt idx="48">
                  <c:v>-0.5</c:v>
                </c:pt>
                <c:pt idx="49">
                  <c:v>-0.5</c:v>
                </c:pt>
                <c:pt idx="50">
                  <c:v>-0.5</c:v>
                </c:pt>
                <c:pt idx="51">
                  <c:v>-0.5</c:v>
                </c:pt>
                <c:pt idx="52">
                  <c:v>-0.5</c:v>
                </c:pt>
                <c:pt idx="53">
                  <c:v>-0.5</c:v>
                </c:pt>
                <c:pt idx="54">
                  <c:v>-0.5</c:v>
                </c:pt>
                <c:pt idx="55">
                  <c:v>-0.5</c:v>
                </c:pt>
                <c:pt idx="56">
                  <c:v>-0.5</c:v>
                </c:pt>
                <c:pt idx="57">
                  <c:v>-0.375</c:v>
                </c:pt>
                <c:pt idx="58">
                  <c:v>-0.375</c:v>
                </c:pt>
                <c:pt idx="59">
                  <c:v>-0.375</c:v>
                </c:pt>
                <c:pt idx="60">
                  <c:v>-0.375</c:v>
                </c:pt>
                <c:pt idx="61">
                  <c:v>-0.375</c:v>
                </c:pt>
                <c:pt idx="62">
                  <c:v>-0.375</c:v>
                </c:pt>
                <c:pt idx="63">
                  <c:v>-0.375</c:v>
                </c:pt>
                <c:pt idx="64">
                  <c:v>-0.375</c:v>
                </c:pt>
                <c:pt idx="65">
                  <c:v>-0.375</c:v>
                </c:pt>
                <c:pt idx="66">
                  <c:v>-0.375</c:v>
                </c:pt>
                <c:pt idx="67">
                  <c:v>-0.375</c:v>
                </c:pt>
                <c:pt idx="68">
                  <c:v>-0.375</c:v>
                </c:pt>
                <c:pt idx="69">
                  <c:v>-0.25</c:v>
                </c:pt>
                <c:pt idx="70">
                  <c:v>-0.25</c:v>
                </c:pt>
                <c:pt idx="71">
                  <c:v>-0.25</c:v>
                </c:pt>
                <c:pt idx="72">
                  <c:v>-0.25</c:v>
                </c:pt>
                <c:pt idx="73">
                  <c:v>-0.25</c:v>
                </c:pt>
                <c:pt idx="74">
                  <c:v>-0.25</c:v>
                </c:pt>
                <c:pt idx="75">
                  <c:v>-0.25</c:v>
                </c:pt>
                <c:pt idx="76">
                  <c:v>-0.25</c:v>
                </c:pt>
                <c:pt idx="77">
                  <c:v>-0.25</c:v>
                </c:pt>
                <c:pt idx="78">
                  <c:v>-0.25</c:v>
                </c:pt>
                <c:pt idx="79">
                  <c:v>-0.25</c:v>
                </c:pt>
                <c:pt idx="80">
                  <c:v>-0.25</c:v>
                </c:pt>
                <c:pt idx="81">
                  <c:v>-0.25</c:v>
                </c:pt>
                <c:pt idx="82">
                  <c:v>-0.125</c:v>
                </c:pt>
                <c:pt idx="83">
                  <c:v>-0.125</c:v>
                </c:pt>
                <c:pt idx="84">
                  <c:v>-0.125</c:v>
                </c:pt>
                <c:pt idx="85">
                  <c:v>-0.125</c:v>
                </c:pt>
                <c:pt idx="86">
                  <c:v>-0.125</c:v>
                </c:pt>
                <c:pt idx="87">
                  <c:v>-0.125</c:v>
                </c:pt>
                <c:pt idx="88">
                  <c:v>-0.125</c:v>
                </c:pt>
                <c:pt idx="89">
                  <c:v>-0.125</c:v>
                </c:pt>
                <c:pt idx="90">
                  <c:v>-0.125</c:v>
                </c:pt>
                <c:pt idx="91">
                  <c:v>-0.125</c:v>
                </c:pt>
                <c:pt idx="92">
                  <c:v>-0.125</c:v>
                </c:pt>
                <c:pt idx="93">
                  <c:v>-0.125</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0.125</c:v>
                </c:pt>
                <c:pt idx="108">
                  <c:v>0.125</c:v>
                </c:pt>
                <c:pt idx="109">
                  <c:v>0.125</c:v>
                </c:pt>
                <c:pt idx="110">
                  <c:v>0.125</c:v>
                </c:pt>
                <c:pt idx="111">
                  <c:v>0.125</c:v>
                </c:pt>
                <c:pt idx="112">
                  <c:v>0.125</c:v>
                </c:pt>
                <c:pt idx="113">
                  <c:v>0.125</c:v>
                </c:pt>
                <c:pt idx="114">
                  <c:v>0.125</c:v>
                </c:pt>
                <c:pt idx="115">
                  <c:v>0.125</c:v>
                </c:pt>
                <c:pt idx="116">
                  <c:v>0.125</c:v>
                </c:pt>
                <c:pt idx="117">
                  <c:v>0.125</c:v>
                </c:pt>
                <c:pt idx="118">
                  <c:v>0.125</c:v>
                </c:pt>
                <c:pt idx="119">
                  <c:v>0.25</c:v>
                </c:pt>
                <c:pt idx="120">
                  <c:v>0.25</c:v>
                </c:pt>
                <c:pt idx="121">
                  <c:v>0.25</c:v>
                </c:pt>
                <c:pt idx="122">
                  <c:v>0.25</c:v>
                </c:pt>
                <c:pt idx="123">
                  <c:v>0.25</c:v>
                </c:pt>
                <c:pt idx="124">
                  <c:v>0.25</c:v>
                </c:pt>
                <c:pt idx="125">
                  <c:v>0.25</c:v>
                </c:pt>
                <c:pt idx="126">
                  <c:v>0.25</c:v>
                </c:pt>
                <c:pt idx="127">
                  <c:v>0.25</c:v>
                </c:pt>
                <c:pt idx="128">
                  <c:v>0.25</c:v>
                </c:pt>
                <c:pt idx="129">
                  <c:v>0.25</c:v>
                </c:pt>
                <c:pt idx="130">
                  <c:v>0.25</c:v>
                </c:pt>
                <c:pt idx="131">
                  <c:v>0.25</c:v>
                </c:pt>
                <c:pt idx="132">
                  <c:v>0.375</c:v>
                </c:pt>
                <c:pt idx="133">
                  <c:v>0.375</c:v>
                </c:pt>
                <c:pt idx="134">
                  <c:v>0.375</c:v>
                </c:pt>
                <c:pt idx="135">
                  <c:v>0.375</c:v>
                </c:pt>
                <c:pt idx="136">
                  <c:v>0.375</c:v>
                </c:pt>
                <c:pt idx="137">
                  <c:v>0.375</c:v>
                </c:pt>
                <c:pt idx="138">
                  <c:v>0.375</c:v>
                </c:pt>
                <c:pt idx="139">
                  <c:v>0.375</c:v>
                </c:pt>
                <c:pt idx="140">
                  <c:v>0.375</c:v>
                </c:pt>
                <c:pt idx="141">
                  <c:v>0.375</c:v>
                </c:pt>
                <c:pt idx="142">
                  <c:v>0.375</c:v>
                </c:pt>
                <c:pt idx="143">
                  <c:v>0.375</c:v>
                </c:pt>
                <c:pt idx="144">
                  <c:v>0.5</c:v>
                </c:pt>
                <c:pt idx="145">
                  <c:v>0.5</c:v>
                </c:pt>
                <c:pt idx="146">
                  <c:v>0.5</c:v>
                </c:pt>
                <c:pt idx="147">
                  <c:v>0.5</c:v>
                </c:pt>
                <c:pt idx="148">
                  <c:v>0.5</c:v>
                </c:pt>
                <c:pt idx="149">
                  <c:v>0.5</c:v>
                </c:pt>
                <c:pt idx="150">
                  <c:v>0.5</c:v>
                </c:pt>
                <c:pt idx="151">
                  <c:v>0.5</c:v>
                </c:pt>
                <c:pt idx="152">
                  <c:v>0.5</c:v>
                </c:pt>
                <c:pt idx="153">
                  <c:v>0.5</c:v>
                </c:pt>
                <c:pt idx="154">
                  <c:v>0.5</c:v>
                </c:pt>
                <c:pt idx="155">
                  <c:v>0.5</c:v>
                </c:pt>
                <c:pt idx="156">
                  <c:v>0.5</c:v>
                </c:pt>
                <c:pt idx="157">
                  <c:v>0.625</c:v>
                </c:pt>
                <c:pt idx="158">
                  <c:v>0.625</c:v>
                </c:pt>
                <c:pt idx="159">
                  <c:v>0.625</c:v>
                </c:pt>
                <c:pt idx="160">
                  <c:v>0.625</c:v>
                </c:pt>
                <c:pt idx="161">
                  <c:v>0.625</c:v>
                </c:pt>
                <c:pt idx="162">
                  <c:v>0.625</c:v>
                </c:pt>
                <c:pt idx="163">
                  <c:v>0.625</c:v>
                </c:pt>
                <c:pt idx="164">
                  <c:v>0.625</c:v>
                </c:pt>
                <c:pt idx="165">
                  <c:v>0.625</c:v>
                </c:pt>
                <c:pt idx="166">
                  <c:v>0.625</c:v>
                </c:pt>
                <c:pt idx="167">
                  <c:v>0.625</c:v>
                </c:pt>
                <c:pt idx="168">
                  <c:v>0.625</c:v>
                </c:pt>
                <c:pt idx="169">
                  <c:v>0.75</c:v>
                </c:pt>
                <c:pt idx="170">
                  <c:v>0.75</c:v>
                </c:pt>
                <c:pt idx="171">
                  <c:v>0.75</c:v>
                </c:pt>
                <c:pt idx="172">
                  <c:v>0.75</c:v>
                </c:pt>
                <c:pt idx="173">
                  <c:v>0.75</c:v>
                </c:pt>
                <c:pt idx="174">
                  <c:v>0.75</c:v>
                </c:pt>
                <c:pt idx="175">
                  <c:v>0.75</c:v>
                </c:pt>
                <c:pt idx="176">
                  <c:v>0.75</c:v>
                </c:pt>
                <c:pt idx="177">
                  <c:v>0.75</c:v>
                </c:pt>
                <c:pt idx="178">
                  <c:v>0.75</c:v>
                </c:pt>
                <c:pt idx="179">
                  <c:v>0.75</c:v>
                </c:pt>
                <c:pt idx="180">
                  <c:v>0.75</c:v>
                </c:pt>
                <c:pt idx="181">
                  <c:v>0.75</c:v>
                </c:pt>
                <c:pt idx="182">
                  <c:v>0.875</c:v>
                </c:pt>
                <c:pt idx="183">
                  <c:v>0.875</c:v>
                </c:pt>
                <c:pt idx="184">
                  <c:v>0.875</c:v>
                </c:pt>
                <c:pt idx="185">
                  <c:v>0.875</c:v>
                </c:pt>
                <c:pt idx="186">
                  <c:v>0.875</c:v>
                </c:pt>
                <c:pt idx="187">
                  <c:v>0.875</c:v>
                </c:pt>
                <c:pt idx="188">
                  <c:v>0.875</c:v>
                </c:pt>
                <c:pt idx="189">
                  <c:v>0.875</c:v>
                </c:pt>
                <c:pt idx="190">
                  <c:v>0.875</c:v>
                </c:pt>
                <c:pt idx="191">
                  <c:v>0.875</c:v>
                </c:pt>
                <c:pt idx="192">
                  <c:v>0.875</c:v>
                </c:pt>
                <c:pt idx="193">
                  <c:v>0.875</c:v>
                </c:pt>
                <c:pt idx="194">
                  <c:v>0.875</c:v>
                </c:pt>
                <c:pt idx="195">
                  <c:v>0.875</c:v>
                </c:pt>
                <c:pt idx="196">
                  <c:v>0.875</c:v>
                </c:pt>
                <c:pt idx="197">
                  <c:v>0.875</c:v>
                </c:pt>
                <c:pt idx="198">
                  <c:v>0.875</c:v>
                </c:pt>
                <c:pt idx="199">
                  <c:v>0.875</c:v>
                </c:pt>
                <c:pt idx="200">
                  <c:v>0.875</c:v>
                </c:pt>
              </c:numCache>
            </c:numRef>
          </c:val>
          <c:smooth val="0"/>
        </c:ser>
        <c:ser>
          <c:idx val="1"/>
          <c:order val="1"/>
          <c:tx>
            <c:strRef>
              <c:f>Sheet1!$C$1</c:f>
              <c:strCache>
                <c:ptCount val="1"/>
                <c:pt idx="0">
                  <c:v>with +12 % gain error</c:v>
                </c:pt>
              </c:strCache>
            </c:strRef>
          </c:tx>
          <c:spPr>
            <a:solidFill>
              <a:srgbClr val="FFB703"/>
            </a:solidFill>
            <a:ln w="19050" cap="flat">
              <a:solidFill>
                <a:srgbClr val="FFB703"/>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FFB703"/>
              </a:solidFill>
              <a:ln w="9525" cap="flat">
                <a:solidFill>
                  <a:srgbClr val="FFB703"/>
                </a:solidFill>
                <a:prstDash val="solid"/>
                <a:round/>
              </a:ln>
              <a:effectLst/>
            </c:spPr>
          </c:marker>
          <c:cat>
            <c:multiLvlStrRef>
              <c:f>Sheet1!$A$2:$A$202</c:f>
              <c:multiLvlStrCache>
                <c:ptCount val="201"/>
                <c:lvl>
                  <c:pt idx="0">
                    <c:v>-1.00</c:v>
                  </c:pt>
                  <c:pt idx="1">
                    <c:v>-0.99</c:v>
                  </c:pt>
                  <c:pt idx="2">
                    <c:v>-0.98</c:v>
                  </c:pt>
                  <c:pt idx="3">
                    <c:v>-0.97</c:v>
                  </c:pt>
                  <c:pt idx="4">
                    <c:v>-0.96</c:v>
                  </c:pt>
                  <c:pt idx="5">
                    <c:v>-0.95</c:v>
                  </c:pt>
                  <c:pt idx="6">
                    <c:v>-0.94</c:v>
                  </c:pt>
                  <c:pt idx="7">
                    <c:v>-0.93</c:v>
                  </c:pt>
                  <c:pt idx="8">
                    <c:v>-0.92</c:v>
                  </c:pt>
                  <c:pt idx="9">
                    <c:v>-0.91</c:v>
                  </c:pt>
                  <c:pt idx="10">
                    <c:v>-0.90</c:v>
                  </c:pt>
                  <c:pt idx="11">
                    <c:v>-0.89</c:v>
                  </c:pt>
                  <c:pt idx="12">
                    <c:v>-0.88</c:v>
                  </c:pt>
                  <c:pt idx="13">
                    <c:v>-0.87</c:v>
                  </c:pt>
                  <c:pt idx="14">
                    <c:v>-0.86</c:v>
                  </c:pt>
                  <c:pt idx="15">
                    <c:v>-0.85</c:v>
                  </c:pt>
                  <c:pt idx="16">
                    <c:v>-0.84</c:v>
                  </c:pt>
                  <c:pt idx="17">
                    <c:v>-0.83</c:v>
                  </c:pt>
                  <c:pt idx="18">
                    <c:v>-0.82</c:v>
                  </c:pt>
                  <c:pt idx="19">
                    <c:v>-0.81</c:v>
                  </c:pt>
                  <c:pt idx="20">
                    <c:v>-0.80</c:v>
                  </c:pt>
                  <c:pt idx="21">
                    <c:v>-0.79</c:v>
                  </c:pt>
                  <c:pt idx="22">
                    <c:v>-0.78</c:v>
                  </c:pt>
                  <c:pt idx="23">
                    <c:v>-0.77</c:v>
                  </c:pt>
                  <c:pt idx="24">
                    <c:v>-0.76</c:v>
                  </c:pt>
                  <c:pt idx="25">
                    <c:v>-0.75</c:v>
                  </c:pt>
                  <c:pt idx="26">
                    <c:v>-0.74</c:v>
                  </c:pt>
                  <c:pt idx="27">
                    <c:v>-0.73</c:v>
                  </c:pt>
                  <c:pt idx="28">
                    <c:v>-0.72</c:v>
                  </c:pt>
                  <c:pt idx="29">
                    <c:v>-0.71</c:v>
                  </c:pt>
                  <c:pt idx="30">
                    <c:v>-0.70</c:v>
                  </c:pt>
                  <c:pt idx="31">
                    <c:v>-0.69</c:v>
                  </c:pt>
                  <c:pt idx="32">
                    <c:v>-0.68</c:v>
                  </c:pt>
                  <c:pt idx="33">
                    <c:v>-0.67</c:v>
                  </c:pt>
                  <c:pt idx="34">
                    <c:v>-0.66</c:v>
                  </c:pt>
                  <c:pt idx="35">
                    <c:v>-0.65</c:v>
                  </c:pt>
                  <c:pt idx="36">
                    <c:v>-0.64</c:v>
                  </c:pt>
                  <c:pt idx="37">
                    <c:v>-0.63</c:v>
                  </c:pt>
                  <c:pt idx="38">
                    <c:v>-0.62</c:v>
                  </c:pt>
                  <c:pt idx="39">
                    <c:v>-0.61</c:v>
                  </c:pt>
                  <c:pt idx="40">
                    <c:v>-0.60</c:v>
                  </c:pt>
                  <c:pt idx="41">
                    <c:v>-0.59</c:v>
                  </c:pt>
                  <c:pt idx="42">
                    <c:v>-0.58</c:v>
                  </c:pt>
                  <c:pt idx="43">
                    <c:v>-0.57</c:v>
                  </c:pt>
                  <c:pt idx="44">
                    <c:v>-0.56</c:v>
                  </c:pt>
                  <c:pt idx="45">
                    <c:v>-0.55</c:v>
                  </c:pt>
                  <c:pt idx="46">
                    <c:v>-0.54</c:v>
                  </c:pt>
                  <c:pt idx="47">
                    <c:v>-0.53</c:v>
                  </c:pt>
                  <c:pt idx="48">
                    <c:v>-0.52</c:v>
                  </c:pt>
                  <c:pt idx="49">
                    <c:v>-0.51</c:v>
                  </c:pt>
                  <c:pt idx="50">
                    <c:v>-0.50</c:v>
                  </c:pt>
                  <c:pt idx="51">
                    <c:v>-0.49</c:v>
                  </c:pt>
                  <c:pt idx="52">
                    <c:v>-0.48</c:v>
                  </c:pt>
                  <c:pt idx="53">
                    <c:v>-0.47</c:v>
                  </c:pt>
                  <c:pt idx="54">
                    <c:v>-0.46</c:v>
                  </c:pt>
                  <c:pt idx="55">
                    <c:v>-0.45</c:v>
                  </c:pt>
                  <c:pt idx="56">
                    <c:v>-0.44</c:v>
                  </c:pt>
                  <c:pt idx="57">
                    <c:v>-0.43</c:v>
                  </c:pt>
                  <c:pt idx="58">
                    <c:v>-0.42</c:v>
                  </c:pt>
                  <c:pt idx="59">
                    <c:v>-0.41</c:v>
                  </c:pt>
                  <c:pt idx="60">
                    <c:v>-0.40</c:v>
                  </c:pt>
                  <c:pt idx="61">
                    <c:v>-0.39</c:v>
                  </c:pt>
                  <c:pt idx="62">
                    <c:v>-0.38</c:v>
                  </c:pt>
                  <c:pt idx="63">
                    <c:v>-0.37</c:v>
                  </c:pt>
                  <c:pt idx="64">
                    <c:v>-0.36</c:v>
                  </c:pt>
                  <c:pt idx="65">
                    <c:v>-0.35</c:v>
                  </c:pt>
                  <c:pt idx="66">
                    <c:v>-0.34</c:v>
                  </c:pt>
                  <c:pt idx="67">
                    <c:v>-0.33</c:v>
                  </c:pt>
                  <c:pt idx="68">
                    <c:v>-0.32</c:v>
                  </c:pt>
                  <c:pt idx="69">
                    <c:v>-0.31</c:v>
                  </c:pt>
                  <c:pt idx="70">
                    <c:v>-0.30</c:v>
                  </c:pt>
                  <c:pt idx="71">
                    <c:v>-0.29</c:v>
                  </c:pt>
                  <c:pt idx="72">
                    <c:v>-0.28</c:v>
                  </c:pt>
                  <c:pt idx="73">
                    <c:v>-0.27</c:v>
                  </c:pt>
                  <c:pt idx="74">
                    <c:v>-0.26</c:v>
                  </c:pt>
                  <c:pt idx="75">
                    <c:v>-0.25</c:v>
                  </c:pt>
                  <c:pt idx="76">
                    <c:v>-0.24</c:v>
                  </c:pt>
                  <c:pt idx="77">
                    <c:v>-0.23</c:v>
                  </c:pt>
                  <c:pt idx="78">
                    <c:v>-0.22</c:v>
                  </c:pt>
                  <c:pt idx="79">
                    <c:v>-0.21</c:v>
                  </c:pt>
                  <c:pt idx="80">
                    <c:v>-0.20</c:v>
                  </c:pt>
                  <c:pt idx="81">
                    <c:v>-0.19</c:v>
                  </c:pt>
                  <c:pt idx="82">
                    <c:v>-0.18</c:v>
                  </c:pt>
                  <c:pt idx="83">
                    <c:v>-0.17</c:v>
                  </c:pt>
                  <c:pt idx="84">
                    <c:v>-0.16</c:v>
                  </c:pt>
                  <c:pt idx="85">
                    <c:v>-0.15</c:v>
                  </c:pt>
                  <c:pt idx="86">
                    <c:v>-0.14</c:v>
                  </c:pt>
                  <c:pt idx="87">
                    <c:v>-0.13</c:v>
                  </c:pt>
                  <c:pt idx="88">
                    <c:v>-0.12</c:v>
                  </c:pt>
                  <c:pt idx="89">
                    <c:v>-0.11</c:v>
                  </c:pt>
                  <c:pt idx="90">
                    <c:v>-0.10</c:v>
                  </c:pt>
                  <c:pt idx="91">
                    <c:v>-0.09</c:v>
                  </c:pt>
                  <c:pt idx="92">
                    <c:v>-0.08</c:v>
                  </c:pt>
                  <c:pt idx="93">
                    <c:v>-0.07</c:v>
                  </c:pt>
                  <c:pt idx="94">
                    <c:v>-0.06</c:v>
                  </c:pt>
                  <c:pt idx="95">
                    <c:v>-0.05</c:v>
                  </c:pt>
                  <c:pt idx="96">
                    <c:v>-0.04</c:v>
                  </c:pt>
                  <c:pt idx="97">
                    <c:v>-0.03</c:v>
                  </c:pt>
                  <c:pt idx="98">
                    <c:v>-0.02</c:v>
                  </c:pt>
                  <c:pt idx="99">
                    <c:v>-0.01</c:v>
                  </c:pt>
                  <c:pt idx="100">
                    <c:v>0.00</c:v>
                  </c:pt>
                  <c:pt idx="101">
                    <c:v>0.01</c:v>
                  </c:pt>
                  <c:pt idx="102">
                    <c:v>0.02</c:v>
                  </c:pt>
                  <c:pt idx="103">
                    <c:v>0.03</c:v>
                  </c:pt>
                  <c:pt idx="104">
                    <c:v>0.04</c:v>
                  </c:pt>
                  <c:pt idx="105">
                    <c:v>0.05</c:v>
                  </c:pt>
                  <c:pt idx="106">
                    <c:v>0.06</c:v>
                  </c:pt>
                  <c:pt idx="107">
                    <c:v>0.07</c:v>
                  </c:pt>
                  <c:pt idx="108">
                    <c:v>0.08</c:v>
                  </c:pt>
                  <c:pt idx="109">
                    <c:v>0.09</c:v>
                  </c:pt>
                  <c:pt idx="110">
                    <c:v>0.10</c:v>
                  </c:pt>
                  <c:pt idx="111">
                    <c:v>0.11</c:v>
                  </c:pt>
                  <c:pt idx="112">
                    <c:v>0.12</c:v>
                  </c:pt>
                  <c:pt idx="113">
                    <c:v>0.13</c:v>
                  </c:pt>
                  <c:pt idx="114">
                    <c:v>0.14</c:v>
                  </c:pt>
                  <c:pt idx="115">
                    <c:v>0.15</c:v>
                  </c:pt>
                  <c:pt idx="116">
                    <c:v>0.16</c:v>
                  </c:pt>
                  <c:pt idx="117">
                    <c:v>0.17</c:v>
                  </c:pt>
                  <c:pt idx="118">
                    <c:v>0.18</c:v>
                  </c:pt>
                  <c:pt idx="119">
                    <c:v>0.19</c:v>
                  </c:pt>
                  <c:pt idx="120">
                    <c:v>0.20</c:v>
                  </c:pt>
                  <c:pt idx="121">
                    <c:v>0.21</c:v>
                  </c:pt>
                  <c:pt idx="122">
                    <c:v>0.22</c:v>
                  </c:pt>
                  <c:pt idx="123">
                    <c:v>0.23</c:v>
                  </c:pt>
                  <c:pt idx="124">
                    <c:v>0.24</c:v>
                  </c:pt>
                  <c:pt idx="125">
                    <c:v>0.25</c:v>
                  </c:pt>
                  <c:pt idx="126">
                    <c:v>0.26</c:v>
                  </c:pt>
                  <c:pt idx="127">
                    <c:v>0.27</c:v>
                  </c:pt>
                  <c:pt idx="128">
                    <c:v>0.28</c:v>
                  </c:pt>
                  <c:pt idx="129">
                    <c:v>0.29</c:v>
                  </c:pt>
                  <c:pt idx="130">
                    <c:v>0.30</c:v>
                  </c:pt>
                  <c:pt idx="131">
                    <c:v>0.31</c:v>
                  </c:pt>
                  <c:pt idx="132">
                    <c:v>0.32</c:v>
                  </c:pt>
                  <c:pt idx="133">
                    <c:v>0.33</c:v>
                  </c:pt>
                  <c:pt idx="134">
                    <c:v>0.34</c:v>
                  </c:pt>
                  <c:pt idx="135">
                    <c:v>0.35</c:v>
                  </c:pt>
                  <c:pt idx="136">
                    <c:v>0.36</c:v>
                  </c:pt>
                  <c:pt idx="137">
                    <c:v>0.37</c:v>
                  </c:pt>
                  <c:pt idx="138">
                    <c:v>0.38</c:v>
                  </c:pt>
                  <c:pt idx="139">
                    <c:v>0.39</c:v>
                  </c:pt>
                  <c:pt idx="140">
                    <c:v>0.40</c:v>
                  </c:pt>
                  <c:pt idx="141">
                    <c:v>0.41</c:v>
                  </c:pt>
                  <c:pt idx="142">
                    <c:v>0.42</c:v>
                  </c:pt>
                  <c:pt idx="143">
                    <c:v>0.43</c:v>
                  </c:pt>
                  <c:pt idx="144">
                    <c:v>0.44</c:v>
                  </c:pt>
                  <c:pt idx="145">
                    <c:v>0.45</c:v>
                  </c:pt>
                  <c:pt idx="146">
                    <c:v>0.46</c:v>
                  </c:pt>
                  <c:pt idx="147">
                    <c:v>0.47</c:v>
                  </c:pt>
                  <c:pt idx="148">
                    <c:v>0.48</c:v>
                  </c:pt>
                  <c:pt idx="149">
                    <c:v>0.49</c:v>
                  </c:pt>
                  <c:pt idx="150">
                    <c:v>0.50</c:v>
                  </c:pt>
                  <c:pt idx="151">
                    <c:v>0.51</c:v>
                  </c:pt>
                  <c:pt idx="152">
                    <c:v>0.52</c:v>
                  </c:pt>
                  <c:pt idx="153">
                    <c:v>0.53</c:v>
                  </c:pt>
                  <c:pt idx="154">
                    <c:v>0.54</c:v>
                  </c:pt>
                  <c:pt idx="155">
                    <c:v>0.55</c:v>
                  </c:pt>
                  <c:pt idx="156">
                    <c:v>0.56</c:v>
                  </c:pt>
                  <c:pt idx="157">
                    <c:v>0.57</c:v>
                  </c:pt>
                  <c:pt idx="158">
                    <c:v>0.58</c:v>
                  </c:pt>
                  <c:pt idx="159">
                    <c:v>0.59</c:v>
                  </c:pt>
                  <c:pt idx="160">
                    <c:v>0.60</c:v>
                  </c:pt>
                  <c:pt idx="161">
                    <c:v>0.61</c:v>
                  </c:pt>
                  <c:pt idx="162">
                    <c:v>0.62</c:v>
                  </c:pt>
                  <c:pt idx="163">
                    <c:v>0.63</c:v>
                  </c:pt>
                  <c:pt idx="164">
                    <c:v>0.64</c:v>
                  </c:pt>
                  <c:pt idx="165">
                    <c:v>0.65</c:v>
                  </c:pt>
                  <c:pt idx="166">
                    <c:v>0.66</c:v>
                  </c:pt>
                  <c:pt idx="167">
                    <c:v>0.67</c:v>
                  </c:pt>
                  <c:pt idx="168">
                    <c:v>0.68</c:v>
                  </c:pt>
                  <c:pt idx="169">
                    <c:v>0.69</c:v>
                  </c:pt>
                  <c:pt idx="170">
                    <c:v>0.70</c:v>
                  </c:pt>
                  <c:pt idx="171">
                    <c:v>0.71</c:v>
                  </c:pt>
                  <c:pt idx="172">
                    <c:v>0.72</c:v>
                  </c:pt>
                  <c:pt idx="173">
                    <c:v>0.73</c:v>
                  </c:pt>
                  <c:pt idx="174">
                    <c:v>0.74</c:v>
                  </c:pt>
                  <c:pt idx="175">
                    <c:v>0.75</c:v>
                  </c:pt>
                  <c:pt idx="176">
                    <c:v>0.76</c:v>
                  </c:pt>
                  <c:pt idx="177">
                    <c:v>0.77</c:v>
                  </c:pt>
                  <c:pt idx="178">
                    <c:v>0.78</c:v>
                  </c:pt>
                  <c:pt idx="179">
                    <c:v>0.79</c:v>
                  </c:pt>
                  <c:pt idx="180">
                    <c:v>0.80</c:v>
                  </c:pt>
                  <c:pt idx="181">
                    <c:v>0.81</c:v>
                  </c:pt>
                  <c:pt idx="182">
                    <c:v>0.82</c:v>
                  </c:pt>
                  <c:pt idx="183">
                    <c:v>0.83</c:v>
                  </c:pt>
                  <c:pt idx="184">
                    <c:v>0.84</c:v>
                  </c:pt>
                  <c:pt idx="185">
                    <c:v>0.85</c:v>
                  </c:pt>
                  <c:pt idx="186">
                    <c:v>0.86</c:v>
                  </c:pt>
                  <c:pt idx="187">
                    <c:v>0.87</c:v>
                  </c:pt>
                  <c:pt idx="188">
                    <c:v>0.88</c:v>
                  </c:pt>
                  <c:pt idx="189">
                    <c:v>0.89</c:v>
                  </c:pt>
                  <c:pt idx="190">
                    <c:v>0.90</c:v>
                  </c:pt>
                  <c:pt idx="191">
                    <c:v>0.91</c:v>
                  </c:pt>
                  <c:pt idx="192">
                    <c:v>0.92</c:v>
                  </c:pt>
                  <c:pt idx="193">
                    <c:v>0.93</c:v>
                  </c:pt>
                  <c:pt idx="194">
                    <c:v>0.94</c:v>
                  </c:pt>
                  <c:pt idx="195">
                    <c:v>0.95</c:v>
                  </c:pt>
                  <c:pt idx="196">
                    <c:v>0.96</c:v>
                  </c:pt>
                  <c:pt idx="197">
                    <c:v>0.97</c:v>
                  </c:pt>
                  <c:pt idx="198">
                    <c:v>0.98</c:v>
                  </c:pt>
                  <c:pt idx="199">
                    <c:v>0.99</c:v>
                  </c:pt>
                  <c:pt idx="200">
                    <c:v>1.00</c:v>
                  </c:pt>
                </c:lvl>
              </c:multiLvlStrCache>
            </c:multiLvlStrRef>
          </c:cat>
          <c:val>
            <c:numRef>
              <c:f>Sheet1!$C$2:$C$202</c:f>
              <c:numCache>
                <c:formatCode>General</c:formatCode>
                <c:ptCount val="201"/>
                <c:pt idx="0">
                  <c:v>-1</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-0.875</c:v>
                </c:pt>
                <c:pt idx="18">
                  <c:v>-0.875</c:v>
                </c:pt>
                <c:pt idx="19">
                  <c:v>-0.875</c:v>
                </c:pt>
                <c:pt idx="20">
                  <c:v>-0.875</c:v>
                </c:pt>
                <c:pt idx="21">
                  <c:v>-0.875</c:v>
                </c:pt>
                <c:pt idx="22">
                  <c:v>-0.875</c:v>
                </c:pt>
                <c:pt idx="23">
                  <c:v>-0.875</c:v>
                </c:pt>
                <c:pt idx="24">
                  <c:v>-0.875</c:v>
                </c:pt>
                <c:pt idx="25">
                  <c:v>-0.875</c:v>
                </c:pt>
                <c:pt idx="26">
                  <c:v>-0.875</c:v>
                </c:pt>
                <c:pt idx="27">
                  <c:v>-0.875</c:v>
                </c:pt>
                <c:pt idx="28">
                  <c:v>-0.75</c:v>
                </c:pt>
                <c:pt idx="29">
                  <c:v>-0.75</c:v>
                </c:pt>
                <c:pt idx="30">
                  <c:v>-0.75</c:v>
                </c:pt>
                <c:pt idx="31">
                  <c:v>-0.75</c:v>
                </c:pt>
                <c:pt idx="32">
                  <c:v>-0.75</c:v>
                </c:pt>
                <c:pt idx="33">
                  <c:v>-0.75</c:v>
                </c:pt>
                <c:pt idx="34">
                  <c:v>-0.75</c:v>
                </c:pt>
                <c:pt idx="35">
                  <c:v>-0.75</c:v>
                </c:pt>
                <c:pt idx="36">
                  <c:v>-0.75</c:v>
                </c:pt>
                <c:pt idx="37">
                  <c:v>-0.75</c:v>
                </c:pt>
                <c:pt idx="38">
                  <c:v>-0.75</c:v>
                </c:pt>
                <c:pt idx="39">
                  <c:v>-0.625</c:v>
                </c:pt>
                <c:pt idx="40">
                  <c:v>-0.625</c:v>
                </c:pt>
                <c:pt idx="41">
                  <c:v>-0.625</c:v>
                </c:pt>
                <c:pt idx="42">
                  <c:v>-0.625</c:v>
                </c:pt>
                <c:pt idx="43">
                  <c:v>-0.625</c:v>
                </c:pt>
                <c:pt idx="44">
                  <c:v>-0.625</c:v>
                </c:pt>
                <c:pt idx="45">
                  <c:v>-0.625</c:v>
                </c:pt>
                <c:pt idx="46">
                  <c:v>-0.625</c:v>
                </c:pt>
                <c:pt idx="47">
                  <c:v>-0.625</c:v>
                </c:pt>
                <c:pt idx="48">
                  <c:v>-0.625</c:v>
                </c:pt>
                <c:pt idx="49">
                  <c:v>-0.625</c:v>
                </c:pt>
                <c:pt idx="50">
                  <c:v>-0.5</c:v>
                </c:pt>
                <c:pt idx="51">
                  <c:v>-0.5</c:v>
                </c:pt>
                <c:pt idx="52">
                  <c:v>-0.5</c:v>
                </c:pt>
                <c:pt idx="53">
                  <c:v>-0.5</c:v>
                </c:pt>
                <c:pt idx="54">
                  <c:v>-0.5</c:v>
                </c:pt>
                <c:pt idx="55">
                  <c:v>-0.5</c:v>
                </c:pt>
                <c:pt idx="56">
                  <c:v>-0.5</c:v>
                </c:pt>
                <c:pt idx="57">
                  <c:v>-0.5</c:v>
                </c:pt>
                <c:pt idx="58">
                  <c:v>-0.5</c:v>
                </c:pt>
                <c:pt idx="59">
                  <c:v>-0.5</c:v>
                </c:pt>
                <c:pt idx="60">
                  <c:v>-0.5</c:v>
                </c:pt>
                <c:pt idx="61">
                  <c:v>-0.375</c:v>
                </c:pt>
                <c:pt idx="62">
                  <c:v>-0.375</c:v>
                </c:pt>
                <c:pt idx="63">
                  <c:v>-0.375</c:v>
                </c:pt>
                <c:pt idx="64">
                  <c:v>-0.375</c:v>
                </c:pt>
                <c:pt idx="65">
                  <c:v>-0.375</c:v>
                </c:pt>
                <c:pt idx="66">
                  <c:v>-0.375</c:v>
                </c:pt>
                <c:pt idx="67">
                  <c:v>-0.375</c:v>
                </c:pt>
                <c:pt idx="68">
                  <c:v>-0.375</c:v>
                </c:pt>
                <c:pt idx="69">
                  <c:v>-0.375</c:v>
                </c:pt>
                <c:pt idx="70">
                  <c:v>-0.375</c:v>
                </c:pt>
                <c:pt idx="71">
                  <c:v>-0.375</c:v>
                </c:pt>
                <c:pt idx="72">
                  <c:v>-0.375</c:v>
                </c:pt>
                <c:pt idx="73">
                  <c:v>-0.25</c:v>
                </c:pt>
                <c:pt idx="74">
                  <c:v>-0.25</c:v>
                </c:pt>
                <c:pt idx="75">
                  <c:v>-0.25</c:v>
                </c:pt>
                <c:pt idx="76">
                  <c:v>-0.25</c:v>
                </c:pt>
                <c:pt idx="77">
                  <c:v>-0.25</c:v>
                </c:pt>
                <c:pt idx="78">
                  <c:v>-0.25</c:v>
                </c:pt>
                <c:pt idx="79">
                  <c:v>-0.25</c:v>
                </c:pt>
                <c:pt idx="80">
                  <c:v>-0.25</c:v>
                </c:pt>
                <c:pt idx="81">
                  <c:v>-0.25</c:v>
                </c:pt>
                <c:pt idx="82">
                  <c:v>-0.25</c:v>
                </c:pt>
                <c:pt idx="83">
                  <c:v>-0.25</c:v>
                </c:pt>
                <c:pt idx="84">
                  <c:v>-0.125</c:v>
                </c:pt>
                <c:pt idx="85">
                  <c:v>-0.125</c:v>
                </c:pt>
                <c:pt idx="86">
                  <c:v>-0.125</c:v>
                </c:pt>
                <c:pt idx="87">
                  <c:v>-0.125</c:v>
                </c:pt>
                <c:pt idx="88">
                  <c:v>-0.125</c:v>
                </c:pt>
                <c:pt idx="89">
                  <c:v>-0.125</c:v>
                </c:pt>
                <c:pt idx="90">
                  <c:v>-0.125</c:v>
                </c:pt>
                <c:pt idx="91">
                  <c:v>-0.125</c:v>
                </c:pt>
                <c:pt idx="92">
                  <c:v>-0.125</c:v>
                </c:pt>
                <c:pt idx="93">
                  <c:v>-0.125</c:v>
                </c:pt>
                <c:pt idx="94">
                  <c:v>-0.125</c:v>
                </c:pt>
                <c:pt idx="95">
                  <c:v>0</c:v>
                </c:pt>
                <c:pt idx="96">
                  <c:v>0</c:v>
                </c:pt>
                <c:pt idx="97">
                  <c:v>0</c:v>
                </c:pt>
                <c:pt idx="98">
                  <c:v>0</c:v>
                </c:pt>
                <c:pt idx="99">
                  <c:v>0</c:v>
                </c:pt>
                <c:pt idx="100">
                  <c:v>0</c:v>
                </c:pt>
                <c:pt idx="101">
                  <c:v>0</c:v>
                </c:pt>
                <c:pt idx="102">
                  <c:v>0</c:v>
                </c:pt>
                <c:pt idx="103">
                  <c:v>0</c:v>
                </c:pt>
                <c:pt idx="104">
                  <c:v>0</c:v>
                </c:pt>
                <c:pt idx="105">
                  <c:v>0</c:v>
                </c:pt>
                <c:pt idx="106">
                  <c:v>0.125</c:v>
                </c:pt>
                <c:pt idx="107">
                  <c:v>0.125</c:v>
                </c:pt>
                <c:pt idx="108">
                  <c:v>0.125</c:v>
                </c:pt>
                <c:pt idx="109">
                  <c:v>0.125</c:v>
                </c:pt>
                <c:pt idx="110">
                  <c:v>0.125</c:v>
                </c:pt>
                <c:pt idx="111">
                  <c:v>0.125</c:v>
                </c:pt>
                <c:pt idx="112">
                  <c:v>0.125</c:v>
                </c:pt>
                <c:pt idx="113">
                  <c:v>0.125</c:v>
                </c:pt>
                <c:pt idx="114">
                  <c:v>0.125</c:v>
                </c:pt>
                <c:pt idx="115">
                  <c:v>0.125</c:v>
                </c:pt>
                <c:pt idx="116">
                  <c:v>0.125</c:v>
                </c:pt>
                <c:pt idx="117">
                  <c:v>0.25</c:v>
                </c:pt>
                <c:pt idx="118">
                  <c:v>0.25</c:v>
                </c:pt>
                <c:pt idx="119">
                  <c:v>0.25</c:v>
                </c:pt>
                <c:pt idx="120">
                  <c:v>0.25</c:v>
                </c:pt>
                <c:pt idx="121">
                  <c:v>0.25</c:v>
                </c:pt>
                <c:pt idx="122">
                  <c:v>0.25</c:v>
                </c:pt>
                <c:pt idx="123">
                  <c:v>0.25</c:v>
                </c:pt>
                <c:pt idx="124">
                  <c:v>0.25</c:v>
                </c:pt>
                <c:pt idx="125">
                  <c:v>0.25</c:v>
                </c:pt>
                <c:pt idx="126">
                  <c:v>0.25</c:v>
                </c:pt>
                <c:pt idx="127">
                  <c:v>0.25</c:v>
                </c:pt>
                <c:pt idx="128">
                  <c:v>0.375</c:v>
                </c:pt>
                <c:pt idx="129">
                  <c:v>0.375</c:v>
                </c:pt>
                <c:pt idx="130">
                  <c:v>0.375</c:v>
                </c:pt>
                <c:pt idx="131">
                  <c:v>0.375</c:v>
                </c:pt>
                <c:pt idx="132">
                  <c:v>0.375</c:v>
                </c:pt>
                <c:pt idx="133">
                  <c:v>0.375</c:v>
                </c:pt>
                <c:pt idx="134">
                  <c:v>0.375</c:v>
                </c:pt>
                <c:pt idx="135">
                  <c:v>0.375</c:v>
                </c:pt>
                <c:pt idx="136">
                  <c:v>0.375</c:v>
                </c:pt>
                <c:pt idx="137">
                  <c:v>0.375</c:v>
                </c:pt>
                <c:pt idx="138">
                  <c:v>0.375</c:v>
                </c:pt>
                <c:pt idx="139">
                  <c:v>0.375</c:v>
                </c:pt>
                <c:pt idx="140">
                  <c:v>0.5</c:v>
                </c:pt>
                <c:pt idx="141">
                  <c:v>0.5</c:v>
                </c:pt>
                <c:pt idx="142">
                  <c:v>0.5</c:v>
                </c:pt>
                <c:pt idx="143">
                  <c:v>0.5</c:v>
                </c:pt>
                <c:pt idx="144">
                  <c:v>0.5</c:v>
                </c:pt>
                <c:pt idx="145">
                  <c:v>0.5</c:v>
                </c:pt>
                <c:pt idx="146">
                  <c:v>0.5</c:v>
                </c:pt>
                <c:pt idx="147">
                  <c:v>0.5</c:v>
                </c:pt>
                <c:pt idx="148">
                  <c:v>0.5</c:v>
                </c:pt>
                <c:pt idx="149">
                  <c:v>0.5</c:v>
                </c:pt>
                <c:pt idx="150">
                  <c:v>0.5</c:v>
                </c:pt>
                <c:pt idx="151">
                  <c:v>0.625</c:v>
                </c:pt>
                <c:pt idx="152">
                  <c:v>0.625</c:v>
                </c:pt>
                <c:pt idx="153">
                  <c:v>0.625</c:v>
                </c:pt>
                <c:pt idx="154">
                  <c:v>0.625</c:v>
                </c:pt>
                <c:pt idx="155">
                  <c:v>0.625</c:v>
                </c:pt>
                <c:pt idx="156">
                  <c:v>0.625</c:v>
                </c:pt>
                <c:pt idx="157">
                  <c:v>0.625</c:v>
                </c:pt>
                <c:pt idx="158">
                  <c:v>0.625</c:v>
                </c:pt>
                <c:pt idx="159">
                  <c:v>0.625</c:v>
                </c:pt>
                <c:pt idx="160">
                  <c:v>0.625</c:v>
                </c:pt>
                <c:pt idx="161">
                  <c:v>0.625</c:v>
                </c:pt>
                <c:pt idx="162">
                  <c:v>0.75</c:v>
                </c:pt>
                <c:pt idx="163">
                  <c:v>0.75</c:v>
                </c:pt>
                <c:pt idx="164">
                  <c:v>0.75</c:v>
                </c:pt>
                <c:pt idx="165">
                  <c:v>0.75</c:v>
                </c:pt>
                <c:pt idx="166">
                  <c:v>0.75</c:v>
                </c:pt>
                <c:pt idx="167">
                  <c:v>0.75</c:v>
                </c:pt>
                <c:pt idx="168">
                  <c:v>0.75</c:v>
                </c:pt>
                <c:pt idx="169">
                  <c:v>0.75</c:v>
                </c:pt>
                <c:pt idx="170">
                  <c:v>0.75</c:v>
                </c:pt>
                <c:pt idx="171">
                  <c:v>0.75</c:v>
                </c:pt>
                <c:pt idx="172">
                  <c:v>0.75</c:v>
                </c:pt>
                <c:pt idx="173">
                  <c:v>0.875</c:v>
                </c:pt>
                <c:pt idx="174">
                  <c:v>0.875</c:v>
                </c:pt>
                <c:pt idx="175">
                  <c:v>0.875</c:v>
                </c:pt>
                <c:pt idx="176">
                  <c:v>0.875</c:v>
                </c:pt>
                <c:pt idx="177">
                  <c:v>0.875</c:v>
                </c:pt>
                <c:pt idx="178">
                  <c:v>0.875</c:v>
                </c:pt>
                <c:pt idx="179">
                  <c:v>0.875</c:v>
                </c:pt>
                <c:pt idx="180">
                  <c:v>0.875</c:v>
                </c:pt>
                <c:pt idx="181">
                  <c:v>0.875</c:v>
                </c:pt>
                <c:pt idx="182">
                  <c:v>0.875</c:v>
                </c:pt>
                <c:pt idx="183">
                  <c:v>0.875</c:v>
                </c:pt>
                <c:pt idx="184">
                  <c:v>0.875</c:v>
                </c:pt>
                <c:pt idx="185">
                  <c:v>0.875</c:v>
                </c:pt>
                <c:pt idx="186">
                  <c:v>0.875</c:v>
                </c:pt>
                <c:pt idx="187">
                  <c:v>0.875</c:v>
                </c:pt>
                <c:pt idx="188">
                  <c:v>0.875</c:v>
                </c:pt>
                <c:pt idx="189">
                  <c:v>0.875</c:v>
                </c:pt>
                <c:pt idx="190">
                  <c:v>0.875</c:v>
                </c:pt>
                <c:pt idx="191">
                  <c:v>0.875</c:v>
                </c:pt>
                <c:pt idx="192">
                  <c:v>0.875</c:v>
                </c:pt>
                <c:pt idx="193">
                  <c:v>0.875</c:v>
                </c:pt>
                <c:pt idx="194">
                  <c:v>0.875</c:v>
                </c:pt>
                <c:pt idx="195">
                  <c:v>0.875</c:v>
                </c:pt>
                <c:pt idx="196">
                  <c:v>0.875</c:v>
                </c:pt>
                <c:pt idx="197">
                  <c:v>0.875</c:v>
                </c:pt>
                <c:pt idx="198">
                  <c:v>0.875</c:v>
                </c:pt>
                <c:pt idx="199">
                  <c:v>0.875</c:v>
                </c:pt>
                <c:pt idx="200">
                  <c:v>0.875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900" b="0" i="0" u="none" strike="noStrike">
                    <a:solidFill>
                      <a:srgbClr val="5B6B7F"/>
                    </a:solidFill>
                    <a:latin typeface="Calibri"/>
                  </a:defRPr>
                </a:pPr>
                <a:r>
                  <a:rPr sz="900" b="0" i="0" u="none" strike="noStrike">
                    <a:solidFill>
                      <a:srgbClr val="5B6B7F"/>
                    </a:solidFill>
                    <a:latin typeface="Calibri"/>
                  </a:rPr>
                  <a:t>input (V) · right at zero, worst at the ends</a:t>
                </a:r>
              </a:p>
            </c:rich>
          </c:tx>
          <c:layout/>
          <c:overlay val="0"/>
        </c:title>
        <c:numFmt formatCode="General" sourceLinked="1"/>
        <c:majorTickMark val="none"/>
        <c:minorTickMark val="none"/>
        <c:tickLblPos val="low"/>
        <c:spPr>
          <a:ln w="12700" cap="flat">
            <a:solidFill>
              <a:srgbClr val="888888"/>
            </a:solidFill>
            <a:prstDash val="solid"/>
            <a:round/>
          </a:ln>
        </c:spPr>
        <c:txPr>
          <a:bodyPr/>
          <a:lstStyle/>
          <a:p>
            <a:pPr>
              <a:defRPr sz="900" b="0" i="0" u="none" strike="noStrike">
                <a:solidFill>
                  <a:srgbClr val="5B6B7F"/>
                </a:solidFill>
                <a:latin typeface="Calibri"/>
              </a:defRPr>
            </a:pPr>
            <a:endParaRPr lang="en-US"/>
          </a:p>
        </c:txPr>
        <c:crossAx val="2094734552"/>
        <c:crosses val="min"/>
        <c:auto val="1"/>
        <c:lblAlgn val="ctr"/>
        <c:noMultiLvlLbl val="1"/>
        <c:tickLblSkip val="25"/>
      </c:catAx>
      <c:valAx>
        <c:axId val="2094734552"/>
        <c:scaling>
          <c:orientation val="minMax"/>
          <c:max val="1"/>
          <c:min val="-1"/>
        </c:scaling>
        <c:delete val="0"/>
        <c:axPos val="l"/>
        <c:majorGridlines>
          <c:spPr>
            <a:ln w="6350" cap="flat">
              <a:solidFill>
                <a:srgbClr val="D9E1EA"/>
              </a:solidFill>
              <a:prstDash val="solid"/>
              <a:round/>
            </a:ln>
          </c:spPr>
        </c:majorGridlines>
        <c:numFmt formatCode="General" sourceLinked="0"/>
        <c:majorTickMark val="none"/>
        <c:minorTickMark val="none"/>
        <c:tickLblPos val="nextTo"/>
        <c:spPr>
          <a:ln w="12700" cap="flat">
            <a:noFill/>
            <a:prstDash val="solid"/>
            <a:round/>
          </a:ln>
        </c:spPr>
        <c:txPr>
          <a:bodyPr/>
          <a:lstStyle/>
          <a:p>
            <a:pPr>
              <a:defRPr sz="900" b="0" i="0" u="none" strike="noStrike">
                <a:solidFill>
                  <a:srgbClr val="5B6B7F"/>
                </a:solidFill>
                <a:latin typeface="Calibri"/>
              </a:defRPr>
            </a:pPr>
            <a:endParaRPr lang="en-US"/>
          </a:p>
        </c:txPr>
        <c:crossAx val="2094734554"/>
        <c:crosses val="autoZero"/>
        <c:crossBetween val="between"/>
        <c:majorUnit val="0.5"/>
      </c:valAx>
      <c:spPr>
        <a:solidFill>
          <a:srgbClr val="FFFFFF"/>
        </a:solidFill>
        <a:ln>
          <a:noFill/>
        </a:ln>
        <a:effectLst/>
      </c:spPr>
    </c:plotArea>
    <c:legend>
      <c:legendPos val="b"/>
      <c:overlay val="0"/>
      <c:txPr>
        <a:bodyPr/>
        <a:lstStyle/>
        <a:p>
          <a:pPr>
            <a:defRPr sz="900">
              <a:solidFill>
                <a:srgbClr val="14213D"/>
              </a:solidFill>
              <a:latin typeface="Calibri"/>
              <a:cs typeface="Calibri"/>
            </a:defRPr>
          </a:pPr>
          <a:endParaRPr lang="en-US"/>
        </a:p>
      </c:txPr>
    </c:legend>
    <c:plotVisOnly val="1"/>
    <c:dispBlanksAs val="span"/>
  </c:chart>
  <c:spPr>
    <a:solidFill>
      <a:srgbClr val="FFFFFF"/>
    </a:solid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barChart>
        <c:barDir val="col"/>
        <c:grouping val="clustered"/>
        <c:varyColors val="0"/>
        <c:ser>
          <c:idx val="0"/>
          <c:order val="0"/>
          <c:tx>
            <c:strRef>
              <c:f>Sheet1!$B$1</c:f>
              <c:strCache>
                <c:ptCount val="1"/>
                <c:pt idx="0">
                  <c:v>DNL (LSB)</c:v>
                </c:pt>
              </c:strCache>
            </c:strRef>
          </c:tx>
          <c:spPr>
            <a:solidFill>
              <a:srgbClr val="2EC4B6"/>
            </a:solidFill>
            <a:effectLst/>
          </c:spPr>
          <c:invertIfNegative val="0"/>
          <c:dLbls>
            <c:numFmt formatCode="#,##0" sourceLinked="0"/>
            <c:txPr>
              <a:bodyPr/>
              <a:lstStyle/>
              <a:p>
                <a:pPr>
                  <a:defRPr b="0" i="0" strike="noStrike" sz="900" u="none">
                    <a:solidFill>
                      <a:srgbClr val="14213D"/>
                    </a:solidFill>
                    <a:latin typeface="Calibri"/>
                  </a:defRPr>
                </a:pPr>
              </a:p>
            </c:txPr>
            <c:showLegendKey val="0"/>
            <c:showVal val="0"/>
            <c:showCatName val="0"/>
            <c:showSerName val="0"/>
            <c:showPercent val="0"/>
            <c:showBubbleSize val="0"/>
            <c:showLeaderLines val="0"/>
          </c:dLbls>
          <c:cat>
            <c:multiLvlStrRef>
              <c:f>Sheet1!$A$2:$A$63</c:f>
              <c:multiLvlStrCache>
                <c:ptCount val="62"/>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lvl>
              </c:multiLvlStrCache>
            </c:multiLvlStrRef>
          </c:cat>
          <c:val>
            <c:numRef>
              <c:f>Sheet1!$B$2:$B$63</c:f>
              <c:numCache>
                <c:formatCode>General</c:formatCode>
                <c:ptCount val="62"/>
                <c:pt idx="0">
                  <c:v>0.3800117801130025</c:v>
                </c:pt>
                <c:pt idx="1">
                  <c:v>-0.17095839685039604</c:v>
                </c:pt>
                <c:pt idx="2">
                  <c:v>-0.09611847351028957</c:v>
                </c:pt>
                <c:pt idx="3">
                  <c:v>0.12665537270864524</c:v>
                </c:pt>
                <c:pt idx="4">
                  <c:v>-0.0855080919533232</c:v>
                </c:pt>
                <c:pt idx="5">
                  <c:v>0.35258722074718873</c:v>
                </c:pt>
                <c:pt idx="6">
                  <c:v>-0.18793275966522316</c:v>
                </c:pt>
                <c:pt idx="7">
                  <c:v>0.25573948897939247</c:v>
                </c:pt>
                <c:pt idx="8">
                  <c:v>0.14027311452575697</c:v>
                </c:pt>
                <c:pt idx="9">
                  <c:v>0.09246608356612263</c:v>
                </c:pt>
                <c:pt idx="10">
                  <c:v>-0.10003870535607018</c:v>
                </c:pt>
                <c:pt idx="11">
                  <c:v>0.13290386323951342</c:v>
                </c:pt>
                <c:pt idx="12">
                  <c:v>0.06296995232170244</c:v>
                </c:pt>
                <c:pt idx="13">
                  <c:v>-0.3216411129578368</c:v>
                </c:pt>
                <c:pt idx="14">
                  <c:v>-0.14273601535569636</c:v>
                </c:pt>
                <c:pt idx="15">
                  <c:v>0.4923582337643577</c:v>
                </c:pt>
                <c:pt idx="16">
                  <c:v>0.3711035231926785</c:v>
                </c:pt>
                <c:pt idx="17">
                  <c:v>0.051760329647096315</c:v>
                </c:pt>
                <c:pt idx="18">
                  <c:v>0.22092336180547756</c:v>
                </c:pt>
                <c:pt idx="19">
                  <c:v>-0.042127523607086825</c:v>
                </c:pt>
                <c:pt idx="20">
                  <c:v>-0.10787769806434355</c:v>
                </c:pt>
                <c:pt idx="21">
                  <c:v>0.43050152613796633</c:v>
                </c:pt>
                <c:pt idx="22">
                  <c:v>-0.141450365962541</c:v>
                </c:pt>
                <c:pt idx="23">
                  <c:v>0.026267445832604652</c:v>
                </c:pt>
                <c:pt idx="24">
                  <c:v>0.3031205209512433</c:v>
                </c:pt>
                <c:pt idx="25">
                  <c:v>-0.016112150885036813</c:v>
                </c:pt>
                <c:pt idx="26">
                  <c:v>-0.13143854347011452</c:v>
                </c:pt>
                <c:pt idx="27">
                  <c:v>-0.31256518384293097</c:v>
                </c:pt>
                <c:pt idx="28">
                  <c:v>0.21289783797116546</c:v>
                </c:pt>
                <c:pt idx="29">
                  <c:v>-0.21980881707210642</c:v>
                </c:pt>
                <c:pt idx="30">
                  <c:v>0.17605301623749825</c:v>
                </c:pt>
                <c:pt idx="31">
                  <c:v>0.22527141187632682</c:v>
                </c:pt>
                <c:pt idx="32">
                  <c:v>0.018776826816651715</c:v>
                </c:pt>
                <c:pt idx="33">
                  <c:v>-0.02099680011531757</c:v>
                </c:pt>
                <c:pt idx="34">
                  <c:v>0.13889152984505704</c:v>
                </c:pt>
                <c:pt idx="35">
                  <c:v>-0.24937335272738637</c:v>
                </c:pt>
                <c:pt idx="36">
                  <c:v>-0.06209627930722317</c:v>
                </c:pt>
                <c:pt idx="37">
                  <c:v>-0.46289001870125346</c:v>
                </c:pt>
                <c:pt idx="38">
                  <c:v>-0.049646935728622554</c:v>
                </c:pt>
                <c:pt idx="39">
                  <c:v>-0.183985316930509</c:v>
                </c:pt>
                <c:pt idx="40">
                  <c:v>-0.2630844951271024</c:v>
                </c:pt>
                <c:pt idx="41">
                  <c:v>0.3149852270610254</c:v>
                </c:pt>
                <c:pt idx="42">
                  <c:v>-0.04147986270952475</c:v>
                </c:pt>
                <c:pt idx="43">
                  <c:v>0.021484786113526777</c:v>
                </c:pt>
                <c:pt idx="44">
                  <c:v>-0.40802203296916717</c:v>
                </c:pt>
                <c:pt idx="45">
                  <c:v>0.08796995465947788</c:v>
                </c:pt>
                <c:pt idx="46">
                  <c:v>-0.24004701151626429</c:v>
                </c:pt>
                <c:pt idx="47">
                  <c:v>-0.13382179336671152</c:v>
                </c:pt>
                <c:pt idx="48">
                  <c:v>0.2913128334506001</c:v>
                </c:pt>
                <c:pt idx="49">
                  <c:v>-0.3301390054898323</c:v>
                </c:pt>
                <c:pt idx="50">
                  <c:v>0.18169347247252077</c:v>
                </c:pt>
                <c:pt idx="51">
                  <c:v>0.10250832033969126</c:v>
                </c:pt>
                <c:pt idx="52">
                  <c:v>0.16557465437866536</c:v>
                </c:pt>
                <c:pt idx="53">
                  <c:v>-0.23933415791656498</c:v>
                </c:pt>
                <c:pt idx="54">
                  <c:v>0.19788655500041052</c:v>
                </c:pt>
                <c:pt idx="55">
                  <c:v>-0.3159309466193636</c:v>
                </c:pt>
                <c:pt idx="56">
                  <c:v>-0.2246272761631869</c:v>
                </c:pt>
                <c:pt idx="57">
                  <c:v>-0.09500628980278258</c:v>
                </c:pt>
                <c:pt idx="58">
                  <c:v>-0.036297632248289524</c:v>
                </c:pt>
                <c:pt idx="59">
                  <c:v>-0.02592829958164844</c:v>
                </c:pt>
                <c:pt idx="60">
                  <c:v>-0.008088973099526942</c:v>
                </c:pt>
                <c:pt idx="61">
                  <c:v>-0.10783792508208989</c:v>
                </c:pt>
              </c:numCache>
            </c:numRef>
          </c:val>
        </c:ser>
        <c:dLbls>
          <c:numFmt formatCode="#,##0" sourceLinked="0"/>
          <c:txPr>
            <a:bodyPr/>
            <a:lstStyle/>
            <a:p>
              <a:pPr>
                <a:defRPr b="0" i="0" strike="noStrike" sz="900" u="none">
                  <a:solidFill>
                    <a:srgbClr val="14213D"/>
                  </a:solidFill>
                  <a:latin typeface="Calibri"/>
                </a:defRPr>
              </a:pPr>
            </a:p>
          </c:txPr>
          <c:showLegendKey val="0"/>
          <c:showVal val="0"/>
          <c:showCatName val="0"/>
          <c:showSerName val="0"/>
          <c:showPercent val="0"/>
          <c:showBubbleSize val="0"/>
          <c:showLeaderLines val="0"/>
        </c:dLbls>
        <c:gapWidth val="20"/>
        <c:overlap val="0"/>
        <c:axId val="2094734554"/>
        <c:axId val="2094734552"/>
        <c:axId val="2094734556"/>
      </c:barChart>
      <c:catAx>
        <c:axId val="2094734554"/>
        <c:scaling>
          <c:orientation val="minMax"/>
        </c:scaling>
        <c:delete val="0"/>
        <c:axPos val="b"/>
        <c:title>
          <c:tx>
            <c:rich>
              <a:bodyPr/>
              <a:lstStyle/>
              <a:p>
                <a:pPr>
                  <a:defRPr sz="900" b="0" i="0" u="none" strike="noStrike">
                    <a:solidFill>
                      <a:srgbClr val="5B6B7F"/>
                    </a:solidFill>
                    <a:latin typeface="Calibri"/>
                  </a:defRPr>
                </a:pPr>
                <a:r>
                  <a:rPr sz="900" b="0" i="0" u="none" strike="noStrike">
                    <a:solidFill>
                      <a:srgbClr val="5B6B7F"/>
                    </a:solidFill>
                    <a:latin typeface="Calibri"/>
                  </a:rPr>
                  <a:t>code · each bar is one step’s width error</a:t>
                </a:r>
              </a:p>
            </c:rich>
          </c:tx>
          <c:layout/>
          <c:overlay val="0"/>
        </c:title>
        <c:numFmt formatCode="General" sourceLinked="1"/>
        <c:majorTickMark val="none"/>
        <c:minorTickMark val="none"/>
        <c:tickLblPos val="low"/>
        <c:spPr>
          <a:ln w="12700" cap="flat">
            <a:solidFill>
              <a:srgbClr val="888888"/>
            </a:solidFill>
            <a:prstDash val="solid"/>
            <a:round/>
          </a:ln>
        </c:spPr>
        <c:txPr>
          <a:bodyPr/>
          <a:lstStyle/>
          <a:p>
            <a:pPr>
              <a:defRPr sz="900" b="0" i="0" u="none" strike="noStrike">
                <a:solidFill>
                  <a:srgbClr val="5B6B7F"/>
                </a:solidFill>
                <a:latin typeface="Calibri"/>
              </a:defRPr>
            </a:pPr>
            <a:endParaRPr lang="en-US"/>
          </a:p>
        </c:txPr>
        <c:crossAx val="2094734552"/>
        <c:crosses val="min"/>
        <c:auto val="1"/>
        <c:lblAlgn val="ctr"/>
        <c:noMultiLvlLbl val="1"/>
        <c:tickLblSkip val="8"/>
      </c:catAx>
      <c:valAx>
        <c:axId val="2094734552"/>
        <c:scaling>
          <c:orientation val="minMax"/>
          <c:max val="1"/>
          <c:min val="-1"/>
        </c:scaling>
        <c:delete val="0"/>
        <c:axPos val="l"/>
        <c:majorGridlines>
          <c:spPr>
            <a:ln w="6350" cap="flat">
              <a:solidFill>
                <a:srgbClr val="D9E1EA"/>
              </a:solidFill>
              <a:prstDash val="solid"/>
              <a:round/>
            </a:ln>
          </c:spPr>
        </c:majorGridlines>
        <c:numFmt formatCode="0.0" sourceLinked="0"/>
        <c:majorTickMark val="none"/>
        <c:minorTickMark val="none"/>
        <c:tickLblPos val="nextTo"/>
        <c:spPr>
          <a:ln w="12700" cap="flat">
            <a:noFill/>
            <a:prstDash val="solid"/>
            <a:round/>
          </a:ln>
        </c:spPr>
        <c:txPr>
          <a:bodyPr/>
          <a:lstStyle/>
          <a:p>
            <a:pPr>
              <a:defRPr sz="900" b="0" i="0" u="none" strike="noStrike">
                <a:solidFill>
                  <a:srgbClr val="5B6B7F"/>
                </a:solidFill>
                <a:latin typeface="Calibri"/>
              </a:defRPr>
            </a:pPr>
            <a:endParaRPr lang="en-US"/>
          </a:p>
        </c:txPr>
        <c:crossAx val="2094734554"/>
        <c:crosses val="autoZero"/>
        <c:crossBetween val="between"/>
        <c:majorUnit val="0.5"/>
      </c:valAx>
      <c:spPr>
        <a:solidFill>
          <a:srgbClr val="FFFFFF"/>
        </a:solidFill>
        <a:ln>
          <a:noFill/>
        </a:ln>
        <a:effectLst/>
      </c:spPr>
    </c:plotArea>
    <c:plotVisOnly val="1"/>
    <c:dispBlanksAs val="span"/>
  </c:chart>
  <c:spPr>
    <a:solidFill>
      <a:srgbClr val="FFFFFF"/>
    </a:solid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barChart>
        <c:barDir val="col"/>
        <c:grouping val="clustered"/>
        <c:varyColors val="0"/>
        <c:ser>
          <c:idx val="0"/>
          <c:order val="0"/>
          <c:tx>
            <c:strRef>
              <c:f>Sheet1!$B$1</c:f>
              <c:strCache>
                <c:ptCount val="1"/>
                <c:pt idx="0">
                  <c:v>DNL (LSB)</c:v>
                </c:pt>
              </c:strCache>
            </c:strRef>
          </c:tx>
          <c:spPr>
            <a:solidFill>
              <a:srgbClr val="E76F51"/>
            </a:solidFill>
            <a:effectLst/>
          </c:spPr>
          <c:invertIfNegative val="0"/>
          <c:dLbls>
            <c:numFmt formatCode="#,##0" sourceLinked="0"/>
            <c:txPr>
              <a:bodyPr/>
              <a:lstStyle/>
              <a:p>
                <a:pPr>
                  <a:defRPr b="0" i="0" strike="noStrike" sz="900" u="none">
                    <a:solidFill>
                      <a:srgbClr val="14213D"/>
                    </a:solidFill>
                    <a:latin typeface="Calibri"/>
                  </a:defRPr>
                </a:pPr>
              </a:p>
            </c:txPr>
            <c:showLegendKey val="0"/>
            <c:showVal val="0"/>
            <c:showCatName val="0"/>
            <c:showSerName val="0"/>
            <c:showPercent val="0"/>
            <c:showBubbleSize val="0"/>
            <c:showLeaderLines val="0"/>
          </c:dLbls>
          <c:cat>
            <c:multiLvlStrRef>
              <c:f>Sheet1!$A$2:$A$63</c:f>
              <c:multiLvlStrCache>
                <c:ptCount val="62"/>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lvl>
              </c:multiLvlStrCache>
            </c:multiLvlStrRef>
          </c:cat>
          <c:val>
            <c:numRef>
              <c:f>Sheet1!$B$2:$B$63</c:f>
              <c:numCache>
                <c:formatCode>General</c:formatCode>
                <c:ptCount val="62"/>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-1</c:v>
                </c:pt>
                <c:pt idx="30">
                  <c:v>1</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numCache>
            </c:numRef>
          </c:val>
        </c:ser>
        <c:dLbls>
          <c:numFmt formatCode="#,##0" sourceLinked="0"/>
          <c:txPr>
            <a:bodyPr/>
            <a:lstStyle/>
            <a:p>
              <a:pPr>
                <a:defRPr b="0" i="0" strike="noStrike" sz="900" u="none">
                  <a:solidFill>
                    <a:srgbClr val="14213D"/>
                  </a:solidFill>
                  <a:latin typeface="Calibri"/>
                </a:defRPr>
              </a:pPr>
            </a:p>
          </c:txPr>
          <c:showLegendKey val="0"/>
          <c:showVal val="0"/>
          <c:showCatName val="0"/>
          <c:showSerName val="0"/>
          <c:showPercent val="0"/>
          <c:showBubbleSize val="0"/>
          <c:showLeaderLines val="0"/>
        </c:dLbls>
        <c:gapWidth val="20"/>
        <c:overlap val="0"/>
        <c:axId val="2094734554"/>
        <c:axId val="2094734552"/>
        <c:axId val="2094734556"/>
      </c:barChart>
      <c:catAx>
        <c:axId val="2094734554"/>
        <c:scaling>
          <c:orientation val="minMax"/>
        </c:scaling>
        <c:delete val="0"/>
        <c:axPos val="b"/>
        <c:title>
          <c:tx>
            <c:rich>
              <a:bodyPr/>
              <a:lstStyle/>
              <a:p>
                <a:pPr>
                  <a:defRPr sz="900" b="0" i="0" u="none" strike="noStrike">
                    <a:solidFill>
                      <a:srgbClr val="5B6B7F"/>
                    </a:solidFill>
                    <a:latin typeface="Calibri"/>
                  </a:defRPr>
                </a:pPr>
                <a:r>
                  <a:rPr sz="900" b="0" i="0" u="none" strike="noStrike">
                    <a:solidFill>
                      <a:srgbClr val="5B6B7F"/>
                    </a:solidFill>
                    <a:latin typeface="Calibri"/>
                  </a:rPr>
                  <a:t>code · the −1 LSB bar is a code that never appears</a:t>
                </a:r>
              </a:p>
            </c:rich>
          </c:tx>
          <c:layout/>
          <c:overlay val="0"/>
        </c:title>
        <c:numFmt formatCode="General" sourceLinked="1"/>
        <c:majorTickMark val="none"/>
        <c:minorTickMark val="none"/>
        <c:tickLblPos val="low"/>
        <c:spPr>
          <a:ln w="12700" cap="flat">
            <a:solidFill>
              <a:srgbClr val="888888"/>
            </a:solidFill>
            <a:prstDash val="solid"/>
            <a:round/>
          </a:ln>
        </c:spPr>
        <c:txPr>
          <a:bodyPr/>
          <a:lstStyle/>
          <a:p>
            <a:pPr>
              <a:defRPr sz="900" b="0" i="0" u="none" strike="noStrike">
                <a:solidFill>
                  <a:srgbClr val="5B6B7F"/>
                </a:solidFill>
                <a:latin typeface="Calibri"/>
              </a:defRPr>
            </a:pPr>
            <a:endParaRPr lang="en-US"/>
          </a:p>
        </c:txPr>
        <c:crossAx val="2094734552"/>
        <c:crosses val="min"/>
        <c:auto val="1"/>
        <c:lblAlgn val="ctr"/>
        <c:noMultiLvlLbl val="1"/>
        <c:tickLblSkip val="8"/>
      </c:catAx>
      <c:valAx>
        <c:axId val="2094734552"/>
        <c:scaling>
          <c:orientation val="minMax"/>
          <c:max val="1.2"/>
          <c:min val="-1.2"/>
        </c:scaling>
        <c:delete val="0"/>
        <c:axPos val="l"/>
        <c:majorGridlines>
          <c:spPr>
            <a:ln w="6350" cap="flat">
              <a:solidFill>
                <a:srgbClr val="D9E1EA"/>
              </a:solidFill>
              <a:prstDash val="solid"/>
              <a:round/>
            </a:ln>
          </c:spPr>
        </c:majorGridlines>
        <c:numFmt formatCode="0.0" sourceLinked="0"/>
        <c:majorTickMark val="none"/>
        <c:minorTickMark val="none"/>
        <c:tickLblPos val="nextTo"/>
        <c:spPr>
          <a:ln w="12700" cap="flat">
            <a:noFill/>
            <a:prstDash val="solid"/>
            <a:round/>
          </a:ln>
        </c:spPr>
        <c:txPr>
          <a:bodyPr/>
          <a:lstStyle/>
          <a:p>
            <a:pPr>
              <a:defRPr sz="900" b="0" i="0" u="none" strike="noStrike">
                <a:solidFill>
                  <a:srgbClr val="5B6B7F"/>
                </a:solidFill>
                <a:latin typeface="Calibri"/>
              </a:defRPr>
            </a:pPr>
            <a:endParaRPr lang="en-US"/>
          </a:p>
        </c:txPr>
        <c:crossAx val="2094734554"/>
        <c:crosses val="autoZero"/>
        <c:crossBetween val="between"/>
        <c:majorUnit val="0.5"/>
      </c:valAx>
      <c:spPr>
        <a:solidFill>
          <a:srgbClr val="FFFFFF"/>
        </a:solidFill>
        <a:ln>
          <a:noFill/>
        </a:ln>
        <a:effectLst/>
      </c:spPr>
    </c:plotArea>
    <c:plotVisOnly val="1"/>
    <c:dispBlanksAs val="span"/>
  </c:chart>
  <c:spPr>
    <a:solidFill>
      <a:srgbClr val="FFFFFF"/>
    </a:solid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lineChart>
        <c:varyColors val="0"/>
        <c:ser>
          <c:idx val="0"/>
          <c:order val="0"/>
          <c:tx>
            <c:strRef>
              <c:f>Sheet1!$B$1</c:f>
              <c:strCache>
                <c:ptCount val="1"/>
                <c:pt idx="0">
                  <c:v>bowed INL → mostly HD2</c:v>
                </c:pt>
              </c:strCache>
            </c:strRef>
          </c:tx>
          <c:spPr>
            <a:solidFill>
              <a:srgbClr val="2EC4B6"/>
            </a:solidFill>
            <a:ln w="19050" cap="flat">
              <a:solidFill>
                <a:srgbClr val="2EC4B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EC4B6"/>
              </a:solidFill>
              <a:ln w="9525" cap="flat">
                <a:solidFill>
                  <a:srgbClr val="2EC4B6"/>
                </a:solidFill>
                <a:prstDash val="solid"/>
                <a:round/>
              </a:ln>
              <a:effectLst/>
            </c:spPr>
          </c:marker>
          <c:cat>
            <c:multiLvlStrRef>
              <c:f>Sheet1!$A$2:$A$256</c:f>
              <c:multiLvlStrCache>
                <c:ptCount val="255"/>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pt idx="101">
                    <c:v>101</c:v>
                  </c:pt>
                  <c:pt idx="102">
                    <c:v>102</c:v>
                  </c:pt>
                  <c:pt idx="103">
                    <c:v>103</c:v>
                  </c:pt>
                  <c:pt idx="104">
                    <c:v>104</c:v>
                  </c:pt>
                  <c:pt idx="105">
                    <c:v>105</c:v>
                  </c:pt>
                  <c:pt idx="106">
                    <c:v>106</c:v>
                  </c:pt>
                  <c:pt idx="107">
                    <c:v>107</c:v>
                  </c:pt>
                  <c:pt idx="108">
                    <c:v>108</c:v>
                  </c:pt>
                  <c:pt idx="109">
                    <c:v>109</c:v>
                  </c:pt>
                  <c:pt idx="110">
                    <c:v>110</c:v>
                  </c:pt>
                  <c:pt idx="111">
                    <c:v>111</c:v>
                  </c:pt>
                  <c:pt idx="112">
                    <c:v>112</c:v>
                  </c:pt>
                  <c:pt idx="113">
                    <c:v>113</c:v>
                  </c:pt>
                  <c:pt idx="114">
                    <c:v>114</c:v>
                  </c:pt>
                  <c:pt idx="115">
                    <c:v>115</c:v>
                  </c:pt>
                  <c:pt idx="116">
                    <c:v>116</c:v>
                  </c:pt>
                  <c:pt idx="117">
                    <c:v>117</c:v>
                  </c:pt>
                  <c:pt idx="118">
                    <c:v>118</c:v>
                  </c:pt>
                  <c:pt idx="119">
                    <c:v>119</c:v>
                  </c:pt>
                  <c:pt idx="120">
                    <c:v>120</c:v>
                  </c:pt>
                  <c:pt idx="121">
                    <c:v>121</c:v>
                  </c:pt>
                  <c:pt idx="122">
                    <c:v>122</c:v>
                  </c:pt>
                  <c:pt idx="123">
                    <c:v>123</c:v>
                  </c:pt>
                  <c:pt idx="124">
                    <c:v>124</c:v>
                  </c:pt>
                  <c:pt idx="125">
                    <c:v>125</c:v>
                  </c:pt>
                  <c:pt idx="126">
                    <c:v>126</c:v>
                  </c:pt>
                  <c:pt idx="127">
                    <c:v>127</c:v>
                  </c:pt>
                  <c:pt idx="128">
                    <c:v>128</c:v>
                  </c:pt>
                  <c:pt idx="129">
                    <c:v>129</c:v>
                  </c:pt>
                  <c:pt idx="130">
                    <c:v>130</c:v>
                  </c:pt>
                  <c:pt idx="131">
                    <c:v>131</c:v>
                  </c:pt>
                  <c:pt idx="132">
                    <c:v>132</c:v>
                  </c:pt>
                  <c:pt idx="133">
                    <c:v>133</c:v>
                  </c:pt>
                  <c:pt idx="134">
                    <c:v>134</c:v>
                  </c:pt>
                  <c:pt idx="135">
                    <c:v>135</c:v>
                  </c:pt>
                  <c:pt idx="136">
                    <c:v>136</c:v>
                  </c:pt>
                  <c:pt idx="137">
                    <c:v>137</c:v>
                  </c:pt>
                  <c:pt idx="138">
                    <c:v>138</c:v>
                  </c:pt>
                  <c:pt idx="139">
                    <c:v>139</c:v>
                  </c:pt>
                  <c:pt idx="140">
                    <c:v>140</c:v>
                  </c:pt>
                  <c:pt idx="141">
                    <c:v>141</c:v>
                  </c:pt>
                  <c:pt idx="142">
                    <c:v>142</c:v>
                  </c:pt>
                  <c:pt idx="143">
                    <c:v>143</c:v>
                  </c:pt>
                  <c:pt idx="144">
                    <c:v>144</c:v>
                  </c:pt>
                  <c:pt idx="145">
                    <c:v>145</c:v>
                  </c:pt>
                  <c:pt idx="146">
                    <c:v>146</c:v>
                  </c:pt>
                  <c:pt idx="147">
                    <c:v>147</c:v>
                  </c:pt>
                  <c:pt idx="148">
                    <c:v>148</c:v>
                  </c:pt>
                  <c:pt idx="149">
                    <c:v>149</c:v>
                  </c:pt>
                  <c:pt idx="150">
                    <c:v>150</c:v>
                  </c:pt>
                  <c:pt idx="151">
                    <c:v>151</c:v>
                  </c:pt>
                  <c:pt idx="152">
                    <c:v>152</c:v>
                  </c:pt>
                  <c:pt idx="153">
                    <c:v>153</c:v>
                  </c:pt>
                  <c:pt idx="154">
                    <c:v>154</c:v>
                  </c:pt>
                  <c:pt idx="155">
                    <c:v>155</c:v>
                  </c:pt>
                  <c:pt idx="156">
                    <c:v>156</c:v>
                  </c:pt>
                  <c:pt idx="157">
                    <c:v>157</c:v>
                  </c:pt>
                  <c:pt idx="158">
                    <c:v>158</c:v>
                  </c:pt>
                  <c:pt idx="159">
                    <c:v>159</c:v>
                  </c:pt>
                  <c:pt idx="160">
                    <c:v>160</c:v>
                  </c:pt>
                  <c:pt idx="161">
                    <c:v>161</c:v>
                  </c:pt>
                  <c:pt idx="162">
                    <c:v>162</c:v>
                  </c:pt>
                  <c:pt idx="163">
                    <c:v>163</c:v>
                  </c:pt>
                  <c:pt idx="164">
                    <c:v>164</c:v>
                  </c:pt>
                  <c:pt idx="165">
                    <c:v>165</c:v>
                  </c:pt>
                  <c:pt idx="166">
                    <c:v>166</c:v>
                  </c:pt>
                  <c:pt idx="167">
                    <c:v>167</c:v>
                  </c:pt>
                  <c:pt idx="168">
                    <c:v>168</c:v>
                  </c:pt>
                  <c:pt idx="169">
                    <c:v>169</c:v>
                  </c:pt>
                  <c:pt idx="170">
                    <c:v>170</c:v>
                  </c:pt>
                  <c:pt idx="171">
                    <c:v>171</c:v>
                  </c:pt>
                  <c:pt idx="172">
                    <c:v>172</c:v>
                  </c:pt>
                  <c:pt idx="173">
                    <c:v>173</c:v>
                  </c:pt>
                  <c:pt idx="174">
                    <c:v>174</c:v>
                  </c:pt>
                  <c:pt idx="175">
                    <c:v>175</c:v>
                  </c:pt>
                  <c:pt idx="176">
                    <c:v>176</c:v>
                  </c:pt>
                  <c:pt idx="177">
                    <c:v>177</c:v>
                  </c:pt>
                  <c:pt idx="178">
                    <c:v>178</c:v>
                  </c:pt>
                  <c:pt idx="179">
                    <c:v>179</c:v>
                  </c:pt>
                  <c:pt idx="180">
                    <c:v>180</c:v>
                  </c:pt>
                  <c:pt idx="181">
                    <c:v>181</c:v>
                  </c:pt>
                  <c:pt idx="182">
                    <c:v>182</c:v>
                  </c:pt>
                  <c:pt idx="183">
                    <c:v>183</c:v>
                  </c:pt>
                  <c:pt idx="184">
                    <c:v>184</c:v>
                  </c:pt>
                  <c:pt idx="185">
                    <c:v>185</c:v>
                  </c:pt>
                  <c:pt idx="186">
                    <c:v>186</c:v>
                  </c:pt>
                  <c:pt idx="187">
                    <c:v>187</c:v>
                  </c:pt>
                  <c:pt idx="188">
                    <c:v>188</c:v>
                  </c:pt>
                  <c:pt idx="189">
                    <c:v>189</c:v>
                  </c:pt>
                  <c:pt idx="190">
                    <c:v>190</c:v>
                  </c:pt>
                  <c:pt idx="191">
                    <c:v>191</c:v>
                  </c:pt>
                  <c:pt idx="192">
                    <c:v>192</c:v>
                  </c:pt>
                  <c:pt idx="193">
                    <c:v>193</c:v>
                  </c:pt>
                  <c:pt idx="194">
                    <c:v>194</c:v>
                  </c:pt>
                  <c:pt idx="195">
                    <c:v>195</c:v>
                  </c:pt>
                  <c:pt idx="196">
                    <c:v>196</c:v>
                  </c:pt>
                  <c:pt idx="197">
                    <c:v>197</c:v>
                  </c:pt>
                  <c:pt idx="198">
                    <c:v>198</c:v>
                  </c:pt>
                  <c:pt idx="199">
                    <c:v>199</c:v>
                  </c:pt>
                  <c:pt idx="200">
                    <c:v>200</c:v>
                  </c:pt>
                  <c:pt idx="201">
                    <c:v>201</c:v>
                  </c:pt>
                  <c:pt idx="202">
                    <c:v>202</c:v>
                  </c:pt>
                  <c:pt idx="203">
                    <c:v>203</c:v>
                  </c:pt>
                  <c:pt idx="204">
                    <c:v>204</c:v>
                  </c:pt>
                  <c:pt idx="205">
                    <c:v>205</c:v>
                  </c:pt>
                  <c:pt idx="206">
                    <c:v>206</c:v>
                  </c:pt>
                  <c:pt idx="207">
                    <c:v>207</c:v>
                  </c:pt>
                  <c:pt idx="208">
                    <c:v>208</c:v>
                  </c:pt>
                  <c:pt idx="209">
                    <c:v>209</c:v>
                  </c:pt>
                  <c:pt idx="210">
                    <c:v>210</c:v>
                  </c:pt>
                  <c:pt idx="211">
                    <c:v>211</c:v>
                  </c:pt>
                  <c:pt idx="212">
                    <c:v>212</c:v>
                  </c:pt>
                  <c:pt idx="213">
                    <c:v>213</c:v>
                  </c:pt>
                  <c:pt idx="214">
                    <c:v>214</c:v>
                  </c:pt>
                  <c:pt idx="215">
                    <c:v>215</c:v>
                  </c:pt>
                  <c:pt idx="216">
                    <c:v>216</c:v>
                  </c:pt>
                  <c:pt idx="217">
                    <c:v>217</c:v>
                  </c:pt>
                  <c:pt idx="218">
                    <c:v>218</c:v>
                  </c:pt>
                  <c:pt idx="219">
                    <c:v>219</c:v>
                  </c:pt>
                  <c:pt idx="220">
                    <c:v>220</c:v>
                  </c:pt>
                  <c:pt idx="221">
                    <c:v>221</c:v>
                  </c:pt>
                  <c:pt idx="222">
                    <c:v>222</c:v>
                  </c:pt>
                  <c:pt idx="223">
                    <c:v>223</c:v>
                  </c:pt>
                  <c:pt idx="224">
                    <c:v>224</c:v>
                  </c:pt>
                  <c:pt idx="225">
                    <c:v>225</c:v>
                  </c:pt>
                  <c:pt idx="226">
                    <c:v>226</c:v>
                  </c:pt>
                  <c:pt idx="227">
                    <c:v>227</c:v>
                  </c:pt>
                  <c:pt idx="228">
                    <c:v>228</c:v>
                  </c:pt>
                  <c:pt idx="229">
                    <c:v>229</c:v>
                  </c:pt>
                  <c:pt idx="230">
                    <c:v>230</c:v>
                  </c:pt>
                  <c:pt idx="231">
                    <c:v>231</c:v>
                  </c:pt>
                  <c:pt idx="232">
                    <c:v>232</c:v>
                  </c:pt>
                  <c:pt idx="233">
                    <c:v>233</c:v>
                  </c:pt>
                  <c:pt idx="234">
                    <c:v>234</c:v>
                  </c:pt>
                  <c:pt idx="235">
                    <c:v>235</c:v>
                  </c:pt>
                  <c:pt idx="236">
                    <c:v>236</c:v>
                  </c:pt>
                  <c:pt idx="237">
                    <c:v>237</c:v>
                  </c:pt>
                  <c:pt idx="238">
                    <c:v>238</c:v>
                  </c:pt>
                  <c:pt idx="239">
                    <c:v>239</c:v>
                  </c:pt>
                  <c:pt idx="240">
                    <c:v>240</c:v>
                  </c:pt>
                  <c:pt idx="241">
                    <c:v>241</c:v>
                  </c:pt>
                  <c:pt idx="242">
                    <c:v>242</c:v>
                  </c:pt>
                  <c:pt idx="243">
                    <c:v>243</c:v>
                  </c:pt>
                  <c:pt idx="244">
                    <c:v>244</c:v>
                  </c:pt>
                  <c:pt idx="245">
                    <c:v>245</c:v>
                  </c:pt>
                  <c:pt idx="246">
                    <c:v>246</c:v>
                  </c:pt>
                  <c:pt idx="247">
                    <c:v>247</c:v>
                  </c:pt>
                  <c:pt idx="248">
                    <c:v>248</c:v>
                  </c:pt>
                  <c:pt idx="249">
                    <c:v>249</c:v>
                  </c:pt>
                  <c:pt idx="250">
                    <c:v>250</c:v>
                  </c:pt>
                  <c:pt idx="251">
                    <c:v>251</c:v>
                  </c:pt>
                  <c:pt idx="252">
                    <c:v>252</c:v>
                  </c:pt>
                  <c:pt idx="253">
                    <c:v>253</c:v>
                  </c:pt>
                  <c:pt idx="254">
                    <c:v>254</c:v>
                  </c:pt>
                </c:lvl>
              </c:multiLvlStrCache>
            </c:multiLvlStrRef>
          </c:cat>
          <c:val>
            <c:numRef>
              <c:f>Sheet1!$B$2:$B$256</c:f>
              <c:numCache>
                <c:formatCode>General</c:formatCode>
                <c:ptCount val="255"/>
                <c:pt idx="0">
                  <c:v>0</c:v>
                </c:pt>
                <c:pt idx="1">
                  <c:v>0.027103250977524574</c:v>
                </c:pt>
                <c:pt idx="2">
                  <c:v>0.05420238822984034</c:v>
                </c:pt>
                <c:pt idx="3">
                  <c:v>0.08129329865611876</c:v>
                </c:pt>
                <c:pt idx="4">
                  <c:v>0.10837187040419709</c:v>
                </c:pt>
                <c:pt idx="5">
                  <c:v>0.13543399349467425</c:v>
                </c:pt>
                <c:pt idx="6">
                  <c:v>0.16247556044472272</c:v>
                </c:pt>
                <c:pt idx="7">
                  <c:v>0.18949246689152122</c:v>
                </c:pt>
                <c:pt idx="8">
                  <c:v>0.21648061221521397</c:v>
                </c:pt>
                <c:pt idx="9">
                  <c:v>0.2434359001613019</c:v>
                </c:pt>
                <c:pt idx="10">
                  <c:v>0.2703542394623711</c:v>
                </c:pt>
                <c:pt idx="11">
                  <c:v>0.29723154445906447</c:v>
                </c:pt>
                <c:pt idx="12">
                  <c:v>0.32406373572020253</c:v>
                </c:pt>
                <c:pt idx="13">
                  <c:v>0.3508467406619578</c:v>
                </c:pt>
                <c:pt idx="14">
                  <c:v>0.3775764941659912</c:v>
                </c:pt>
                <c:pt idx="15">
                  <c:v>0.4042489391964547</c:v>
                </c:pt>
                <c:pt idx="16">
                  <c:v>0.43086002741576734</c:v>
                </c:pt>
                <c:pt idx="17">
                  <c:v>0.4574057197990706</c:v>
                </c:pt>
                <c:pt idx="18">
                  <c:v>0.483881987247271</c:v>
                </c:pt>
                <c:pt idx="19">
                  <c:v>0.5102848111985759</c:v>
                </c:pt>
                <c:pt idx="20">
                  <c:v>0.5366101842384298</c:v>
                </c:pt>
                <c:pt idx="21">
                  <c:v>0.5628541107077584</c:v>
                </c:pt>
                <c:pt idx="22">
                  <c:v>0.5890126073094293</c:v>
                </c:pt>
                <c:pt idx="23">
                  <c:v>0.6150817037128363</c:v>
                </c:pt>
                <c:pt idx="24">
                  <c:v>0.6410574431565143</c:v>
                </c:pt>
                <c:pt idx="25">
                  <c:v>0.6669358830486958</c:v>
                </c:pt>
                <c:pt idx="26">
                  <c:v>0.6927130955657175</c:v>
                </c:pt>
                <c:pt idx="27">
                  <c:v>0.7183851682481833</c:v>
                </c:pt>
                <c:pt idx="28">
                  <c:v>0.7439482045947977</c:v>
                </c:pt>
                <c:pt idx="29">
                  <c:v>0.7693983246537746</c:v>
                </c:pt>
                <c:pt idx="30">
                  <c:v>0.7947316656117364</c:v>
                </c:pt>
                <c:pt idx="31">
                  <c:v>0.8199443823800108</c:v>
                </c:pt>
                <c:pt idx="32">
                  <c:v>0.845032648178237</c:v>
                </c:pt>
                <c:pt idx="33">
                  <c:v>0.8699926551151936</c:v>
                </c:pt>
                <c:pt idx="34">
                  <c:v>0.8948206147667606</c:v>
                </c:pt>
                <c:pt idx="35">
                  <c:v>0.9195127587509235</c:v>
                </c:pt>
                <c:pt idx="36">
                  <c:v>0.9440653392997399</c:v>
                </c:pt>
                <c:pt idx="37">
                  <c:v>0.9684746298281721</c:v>
                </c:pt>
                <c:pt idx="38">
                  <c:v>0.9927369254997102</c:v>
                </c:pt>
                <c:pt idx="39">
                  <c:v>1.016848543788689</c:v>
                </c:pt>
                <c:pt idx="40">
                  <c:v>1.0408058250392223</c:v>
                </c:pt>
                <c:pt idx="41">
                  <c:v>1.0646051330206634</c:v>
                </c:pt>
                <c:pt idx="42">
                  <c:v>1.0882428554795134</c:v>
                </c:pt>
                <c:pt idx="43">
                  <c:v>1.1117154046876856</c:v>
                </c:pt>
                <c:pt idx="44">
                  <c:v>1.1350192179870522</c:v>
                </c:pt>
                <c:pt idx="45">
                  <c:v>1.1581507583301827</c:v>
                </c:pt>
                <c:pt idx="46">
                  <c:v>1.181106514817196</c:v>
                </c:pt>
                <c:pt idx="47">
                  <c:v>1.2038830032286447</c:v>
                </c:pt>
                <c:pt idx="48">
                  <c:v>1.2264767665543483</c:v>
                </c:pt>
                <c:pt idx="49">
                  <c:v>1.2488843755180983</c:v>
                </c:pt>
                <c:pt idx="50">
                  <c:v>1.2711024290981525</c:v>
                </c:pt>
                <c:pt idx="51">
                  <c:v>1.293127555043441</c:v>
                </c:pt>
                <c:pt idx="52">
                  <c:v>1.3149564103854063</c:v>
                </c:pt>
                <c:pt idx="53">
                  <c:v>1.3365856819453972</c:v>
                </c:pt>
                <c:pt idx="54">
                  <c:v>1.3580120868375445</c:v>
                </c:pt>
                <c:pt idx="55">
                  <c:v>1.3792323729670344</c:v>
                </c:pt>
                <c:pt idx="56">
                  <c:v>1.4002433195237112</c:v>
                </c:pt>
                <c:pt idx="57">
                  <c:v>1.4210417374709323</c:v>
                </c:pt>
                <c:pt idx="58">
                  <c:v>1.441624470029598</c:v>
                </c:pt>
                <c:pt idx="59">
                  <c:v>1.4619883931572877</c:v>
                </c:pt>
                <c:pt idx="60">
                  <c:v>1.4821304160224258</c:v>
                </c:pt>
                <c:pt idx="61">
                  <c:v>1.5020474814734082</c:v>
                </c:pt>
                <c:pt idx="62">
                  <c:v>1.521736566502614</c:v>
                </c:pt>
                <c:pt idx="63">
                  <c:v>1.5411946827052403</c:v>
                </c:pt>
                <c:pt idx="64">
                  <c:v>1.560418876732878</c:v>
                </c:pt>
                <c:pt idx="65">
                  <c:v>1.5794062307417722</c:v>
                </c:pt>
                <c:pt idx="66">
                  <c:v>1.598153862835693</c:v>
                </c:pt>
                <c:pt idx="67">
                  <c:v>1.6166589275033465</c:v>
                </c:pt>
                <c:pt idx="68">
                  <c:v>1.6349186160502676</c:v>
                </c:pt>
                <c:pt idx="69">
                  <c:v>1.6529301570251214</c:v>
                </c:pt>
                <c:pt idx="70">
                  <c:v>1.6706908166403558</c:v>
                </c:pt>
                <c:pt idx="71">
                  <c:v>1.6881978991871336</c:v>
                </c:pt>
                <c:pt idx="72">
                  <c:v>1.7054487474444857</c:v>
                </c:pt>
                <c:pt idx="73">
                  <c:v>1.7224407430826263</c:v>
                </c:pt>
                <c:pt idx="74">
                  <c:v>1.7391713070603594</c:v>
                </c:pt>
                <c:pt idx="75">
                  <c:v>1.755637900016527</c:v>
                </c:pt>
                <c:pt idx="76">
                  <c:v>1.7718380226554318</c:v>
                </c:pt>
                <c:pt idx="77">
                  <c:v>1.7877692161261804</c:v>
                </c:pt>
                <c:pt idx="78">
                  <c:v>1.8034290623958864</c:v>
                </c:pt>
                <c:pt idx="79">
                  <c:v>1.8188151846166798</c:v>
                </c:pt>
                <c:pt idx="80">
                  <c:v>1.833925247486463</c:v>
                </c:pt>
                <c:pt idx="81">
                  <c:v>1.848756957603364</c:v>
                </c:pt>
                <c:pt idx="82">
                  <c:v>1.8633080638138275</c:v>
                </c:pt>
                <c:pt idx="83">
                  <c:v>1.8775763575542952</c:v>
                </c:pt>
                <c:pt idx="84">
                  <c:v>1.8915596731864193</c:v>
                </c:pt>
                <c:pt idx="85">
                  <c:v>1.905255888325765</c:v>
                </c:pt>
                <c:pt idx="86">
                  <c:v>1.9186629241639437</c:v>
                </c:pt>
                <c:pt idx="87">
                  <c:v>1.9317787457841353</c:v>
                </c:pt>
                <c:pt idx="88">
                  <c:v>1.9446013624699463</c:v>
                </c:pt>
                <c:pt idx="89">
                  <c:v>1.9571288280075612</c:v>
                </c:pt>
                <c:pt idx="90">
                  <c:v>1.9693592409811373</c:v>
                </c:pt>
                <c:pt idx="91">
                  <c:v>1.9812907450614026</c:v>
                </c:pt>
                <c:pt idx="92">
                  <c:v>1.9929215292874078</c:v>
                </c:pt>
                <c:pt idx="93">
                  <c:v>2.0042498283413943</c:v>
                </c:pt>
                <c:pt idx="94">
                  <c:v>2.015273922816734</c:v>
                </c:pt>
                <c:pt idx="95">
                  <c:v>2.0259921394788982</c:v>
                </c:pt>
                <c:pt idx="96">
                  <c:v>2.0364028515194237</c:v>
                </c:pt>
                <c:pt idx="97">
                  <c:v>2.0465044788028286</c:v>
                </c:pt>
                <c:pt idx="98">
                  <c:v>2.0562954881064432</c:v>
                </c:pt>
                <c:pt idx="99">
                  <c:v>2.0657743933531245</c:v>
                </c:pt>
                <c:pt idx="100">
                  <c:v>2.0749397558368106</c:v>
                </c:pt>
                <c:pt idx="101">
                  <c:v>2.083790184440889</c:v>
                </c:pt>
                <c:pt idx="102">
                  <c:v>2.0923243358493377</c:v>
                </c:pt>
                <c:pt idx="103">
                  <c:v>2.1005409147506175</c:v>
                </c:pt>
                <c:pt idx="104">
                  <c:v>2.1084386740342693</c:v>
                </c:pt>
                <c:pt idx="105">
                  <c:v>2.116016414980202</c:v>
                </c:pt>
                <c:pt idx="106">
                  <c:v>2.123272987440636</c:v>
                </c:pt>
                <c:pt idx="107">
                  <c:v>2.1302072900146696</c:v>
                </c:pt>
                <c:pt idx="108">
                  <c:v>2.1368182702154503</c:v>
                </c:pt>
                <c:pt idx="109">
                  <c:v>2.1431049246299225</c:v>
                </c:pt>
                <c:pt idx="110">
                  <c:v>2.1490662990711216</c:v>
                </c:pt>
                <c:pt idx="111">
                  <c:v>2.154701488723005</c:v>
                </c:pt>
                <c:pt idx="112">
                  <c:v>2.1600096382777814</c:v>
                </c:pt>
                <c:pt idx="113">
                  <c:v>2.1649899420657297</c:v>
                </c:pt>
                <c:pt idx="114">
                  <c:v>2.169641644177486</c:v>
                </c:pt>
                <c:pt idx="115">
                  <c:v>2.1739640385787706</c:v>
                </c:pt>
                <c:pt idx="116">
                  <c:v>2.1779564692175555</c:v>
                </c:pt>
                <c:pt idx="117">
                  <c:v>2.181618330123634</c:v>
                </c:pt>
                <c:pt idx="118">
                  <c:v>2.1849490655005996</c:v>
                </c:pt>
                <c:pt idx="119">
                  <c:v>2.1879481698102015</c:v>
                </c:pt>
                <c:pt idx="120">
                  <c:v>2.190615187849076</c:v>
                </c:pt>
                <c:pt idx="121">
                  <c:v>2.1929497148178383</c:v>
                </c:pt>
                <c:pt idx="122">
                  <c:v>2.1949513963825207</c:v>
                </c:pt>
                <c:pt idx="123">
                  <c:v>2.1966199287283548</c:v>
                </c:pt>
                <c:pt idx="124">
                  <c:v>2.197955058605885</c:v>
                </c:pt>
                <c:pt idx="125">
                  <c:v>2.198956583369405</c:v>
                </c:pt>
                <c:pt idx="126">
                  <c:v>2.1996243510077162</c:v>
                </c:pt>
                <c:pt idx="127">
                  <c:v>2.1999582601671994</c:v>
                </c:pt>
                <c:pt idx="128">
                  <c:v>2.1999582601671994</c:v>
                </c:pt>
                <c:pt idx="129">
                  <c:v>2.1996243510077162</c:v>
                </c:pt>
                <c:pt idx="130">
                  <c:v>2.198956583369405</c:v>
                </c:pt>
                <c:pt idx="131">
                  <c:v>2.197955058605885</c:v>
                </c:pt>
                <c:pt idx="132">
                  <c:v>2.1966199287283548</c:v>
                </c:pt>
                <c:pt idx="133">
                  <c:v>2.1949513963825207</c:v>
                </c:pt>
                <c:pt idx="134">
                  <c:v>2.1929497148178383</c:v>
                </c:pt>
                <c:pt idx="135">
                  <c:v>2.190615187849076</c:v>
                </c:pt>
                <c:pt idx="136">
                  <c:v>2.1879481698102015</c:v>
                </c:pt>
                <c:pt idx="137">
                  <c:v>2.1849490655005996</c:v>
                </c:pt>
                <c:pt idx="138">
                  <c:v>2.181618330123634</c:v>
                </c:pt>
                <c:pt idx="139">
                  <c:v>2.1779564692175555</c:v>
                </c:pt>
                <c:pt idx="140">
                  <c:v>2.1739640385787706</c:v>
                </c:pt>
                <c:pt idx="141">
                  <c:v>2.169641644177486</c:v>
                </c:pt>
                <c:pt idx="142">
                  <c:v>2.1649899420657297</c:v>
                </c:pt>
                <c:pt idx="143">
                  <c:v>2.1600096382777814</c:v>
                </c:pt>
                <c:pt idx="144">
                  <c:v>2.154701488723005</c:v>
                </c:pt>
                <c:pt idx="145">
                  <c:v>2.1490662990711216</c:v>
                </c:pt>
                <c:pt idx="146">
                  <c:v>2.1431049246299225</c:v>
                </c:pt>
                <c:pt idx="147">
                  <c:v>2.1368182702154503</c:v>
                </c:pt>
                <c:pt idx="148">
                  <c:v>2.1302072900146696</c:v>
                </c:pt>
                <c:pt idx="149">
                  <c:v>2.1232729874406364</c:v>
                </c:pt>
                <c:pt idx="150">
                  <c:v>2.1160164149802023</c:v>
                </c:pt>
                <c:pt idx="151">
                  <c:v>2.1084386740342693</c:v>
                </c:pt>
                <c:pt idx="152">
                  <c:v>2.100540914750618</c:v>
                </c:pt>
                <c:pt idx="153">
                  <c:v>2.092324335849338</c:v>
                </c:pt>
                <c:pt idx="154">
                  <c:v>2.083790184440889</c:v>
                </c:pt>
                <c:pt idx="155">
                  <c:v>2.074939755836811</c:v>
                </c:pt>
                <c:pt idx="156">
                  <c:v>2.065774393353125</c:v>
                </c:pt>
                <c:pt idx="157">
                  <c:v>2.0562954881064437</c:v>
                </c:pt>
                <c:pt idx="158">
                  <c:v>2.046504478802829</c:v>
                </c:pt>
                <c:pt idx="159">
                  <c:v>2.036402851519424</c:v>
                </c:pt>
                <c:pt idx="160">
                  <c:v>2.0259921394788982</c:v>
                </c:pt>
                <c:pt idx="161">
                  <c:v>2.015273922816734</c:v>
                </c:pt>
                <c:pt idx="162">
                  <c:v>2.0042498283413948</c:v>
                </c:pt>
                <c:pt idx="163">
                  <c:v>1.9929215292874078</c:v>
                </c:pt>
                <c:pt idx="164">
                  <c:v>1.981290745061403</c:v>
                </c:pt>
                <c:pt idx="165">
                  <c:v>1.9693592409811378</c:v>
                </c:pt>
                <c:pt idx="166">
                  <c:v>1.9571288280075612</c:v>
                </c:pt>
                <c:pt idx="167">
                  <c:v>1.9446013624699467</c:v>
                </c:pt>
                <c:pt idx="168">
                  <c:v>1.9317787457841358</c:v>
                </c:pt>
                <c:pt idx="169">
                  <c:v>1.9186629241639443</c:v>
                </c:pt>
                <c:pt idx="170">
                  <c:v>1.9052558883257653</c:v>
                </c:pt>
                <c:pt idx="171">
                  <c:v>1.8915596731864197</c:v>
                </c:pt>
                <c:pt idx="172">
                  <c:v>1.8775763575542956</c:v>
                </c:pt>
                <c:pt idx="173">
                  <c:v>1.8633080638138282</c:v>
                </c:pt>
                <c:pt idx="174">
                  <c:v>1.8487569576033647</c:v>
                </c:pt>
                <c:pt idx="175">
                  <c:v>1.8339252474864636</c:v>
                </c:pt>
                <c:pt idx="176">
                  <c:v>1.8188151846166802</c:v>
                </c:pt>
                <c:pt idx="177">
                  <c:v>1.8034290623958866</c:v>
                </c:pt>
                <c:pt idx="178">
                  <c:v>1.7877692161261804</c:v>
                </c:pt>
                <c:pt idx="179">
                  <c:v>1.7718380226554322</c:v>
                </c:pt>
                <c:pt idx="180">
                  <c:v>1.7556379000165272</c:v>
                </c:pt>
                <c:pt idx="181">
                  <c:v>1.7391713070603598</c:v>
                </c:pt>
                <c:pt idx="182">
                  <c:v>1.7224407430826265</c:v>
                </c:pt>
                <c:pt idx="183">
                  <c:v>1.7054487474444862</c:v>
                </c:pt>
                <c:pt idx="184">
                  <c:v>1.6881978991871338</c:v>
                </c:pt>
                <c:pt idx="185">
                  <c:v>1.6706908166403562</c:v>
                </c:pt>
                <c:pt idx="186">
                  <c:v>1.6529301570251218</c:v>
                </c:pt>
                <c:pt idx="187">
                  <c:v>1.6349186160502676</c:v>
                </c:pt>
                <c:pt idx="188">
                  <c:v>1.6166589275033465</c:v>
                </c:pt>
                <c:pt idx="189">
                  <c:v>1.598153862835693</c:v>
                </c:pt>
                <c:pt idx="190">
                  <c:v>1.5794062307417724</c:v>
                </c:pt>
                <c:pt idx="191">
                  <c:v>1.560418876732878</c:v>
                </c:pt>
                <c:pt idx="192">
                  <c:v>1.5411946827052405</c:v>
                </c:pt>
                <c:pt idx="193">
                  <c:v>1.5217365665026144</c:v>
                </c:pt>
                <c:pt idx="194">
                  <c:v>1.5020474814734084</c:v>
                </c:pt>
                <c:pt idx="195">
                  <c:v>1.4821304160224265</c:v>
                </c:pt>
                <c:pt idx="196">
                  <c:v>1.4619883931572881</c:v>
                </c:pt>
                <c:pt idx="197">
                  <c:v>1.4416244700295984</c:v>
                </c:pt>
                <c:pt idx="198">
                  <c:v>1.421041737470932</c:v>
                </c:pt>
                <c:pt idx="199">
                  <c:v>1.4002433195237112</c:v>
                </c:pt>
                <c:pt idx="200">
                  <c:v>1.3792323729670344</c:v>
                </c:pt>
                <c:pt idx="201">
                  <c:v>1.3580120868375445</c:v>
                </c:pt>
                <c:pt idx="202">
                  <c:v>1.3365856819453972</c:v>
                </c:pt>
                <c:pt idx="203">
                  <c:v>1.3149564103854063</c:v>
                </c:pt>
                <c:pt idx="204">
                  <c:v>1.2931275550434413</c:v>
                </c:pt>
                <c:pt idx="205">
                  <c:v>1.2711024290981527</c:v>
                </c:pt>
                <c:pt idx="206">
                  <c:v>1.2488843755180987</c:v>
                </c:pt>
                <c:pt idx="207">
                  <c:v>1.2264767665543488</c:v>
                </c:pt>
                <c:pt idx="208">
                  <c:v>1.2038830032286443</c:v>
                </c:pt>
                <c:pt idx="209">
                  <c:v>1.1811065148171958</c:v>
                </c:pt>
                <c:pt idx="210">
                  <c:v>1.1581507583301827</c:v>
                </c:pt>
                <c:pt idx="211">
                  <c:v>1.1350192179870522</c:v>
                </c:pt>
                <c:pt idx="212">
                  <c:v>1.1117154046876856</c:v>
                </c:pt>
                <c:pt idx="213">
                  <c:v>1.0882428554795134</c:v>
                </c:pt>
                <c:pt idx="214">
                  <c:v>1.0646051330206636</c:v>
                </c:pt>
                <c:pt idx="215">
                  <c:v>1.0408058250392223</c:v>
                </c:pt>
                <c:pt idx="216">
                  <c:v>1.0168485437886894</c:v>
                </c:pt>
                <c:pt idx="217">
                  <c:v>0.9927369254997105</c:v>
                </c:pt>
                <c:pt idx="218">
                  <c:v>0.9684746298281726</c:v>
                </c:pt>
                <c:pt idx="219">
                  <c:v>0.9440653392997392</c:v>
                </c:pt>
                <c:pt idx="220">
                  <c:v>0.9195127587509232</c:v>
                </c:pt>
                <c:pt idx="221">
                  <c:v>0.8948206147667601</c:v>
                </c:pt>
                <c:pt idx="222">
                  <c:v>0.8699926551151934</c:v>
                </c:pt>
                <c:pt idx="223">
                  <c:v>0.8450326481782368</c:v>
                </c:pt>
                <c:pt idx="224">
                  <c:v>0.8199443823800107</c:v>
                </c:pt>
                <c:pt idx="225">
                  <c:v>0.7947316656117365</c:v>
                </c:pt>
                <c:pt idx="226">
                  <c:v>0.7693983246537746</c:v>
                </c:pt>
                <c:pt idx="227">
                  <c:v>0.7439482045947977</c:v>
                </c:pt>
                <c:pt idx="228">
                  <c:v>0.7183851682481834</c:v>
                </c:pt>
                <c:pt idx="229">
                  <c:v>0.6927130955657185</c:v>
                </c:pt>
                <c:pt idx="230">
                  <c:v>0.6669358830486961</c:v>
                </c:pt>
                <c:pt idx="231">
                  <c:v>0.6410574431565146</c:v>
                </c:pt>
                <c:pt idx="232">
                  <c:v>0.6150817037128369</c:v>
                </c:pt>
                <c:pt idx="233">
                  <c:v>0.58901260730943</c:v>
                </c:pt>
                <c:pt idx="234">
                  <c:v>0.5628541107077589</c:v>
                </c:pt>
                <c:pt idx="235">
                  <c:v>0.5366101842384304</c:v>
                </c:pt>
                <c:pt idx="236">
                  <c:v>0.5102848111985767</c:v>
                </c:pt>
                <c:pt idx="237">
                  <c:v>0.4838819872472718</c:v>
                </c:pt>
                <c:pt idx="238">
                  <c:v>0.45740571979907146</c:v>
                </c:pt>
                <c:pt idx="239">
                  <c:v>0.43086002741576834</c:v>
                </c:pt>
                <c:pt idx="240">
                  <c:v>0.4042489391964558</c:v>
                </c:pt>
                <c:pt idx="241">
                  <c:v>0.37757649416599137</c:v>
                </c:pt>
                <c:pt idx="242">
                  <c:v>0.35084674066195803</c:v>
                </c:pt>
                <c:pt idx="243">
                  <c:v>0.32406373572020286</c:v>
                </c:pt>
                <c:pt idx="244">
                  <c:v>0.2972315444590649</c:v>
                </c:pt>
                <c:pt idx="245">
                  <c:v>0.2703542394623716</c:v>
                </c:pt>
                <c:pt idx="246">
                  <c:v>0.24343590016130243</c:v>
                </c:pt>
                <c:pt idx="247">
                  <c:v>0.2164806122152146</c:v>
                </c:pt>
                <c:pt idx="248">
                  <c:v>0.18949246689152194</c:v>
                </c:pt>
                <c:pt idx="249">
                  <c:v>0.16247556044472353</c:v>
                </c:pt>
                <c:pt idx="250">
                  <c:v>0.1354339934946751</c:v>
                </c:pt>
                <c:pt idx="251">
                  <c:v>0.10837187040419705</c:v>
                </c:pt>
                <c:pt idx="252">
                  <c:v>0.08129329865611881</c:v>
                </c:pt>
                <c:pt idx="253">
                  <c:v>0.05420238822984046</c:v>
                </c:pt>
                <c:pt idx="254">
                  <c:v>0.027103250977524765</c:v>
                </c:pt>
              </c:numCache>
            </c:numRef>
          </c:val>
          <c:smooth val="0"/>
        </c:ser>
        <c:ser>
          <c:idx val="1"/>
          <c:order val="1"/>
          <c:tx>
            <c:strRef>
              <c:f>Sheet1!$C$1</c:f>
              <c:strCache>
                <c:ptCount val="1"/>
                <c:pt idx="0">
                  <c:v>S-shaped INL → mostly HD3</c:v>
                </c:pt>
              </c:strCache>
            </c:strRef>
          </c:tx>
          <c:spPr>
            <a:solidFill>
              <a:srgbClr val="FFB703"/>
            </a:solidFill>
            <a:ln w="19050" cap="flat">
              <a:solidFill>
                <a:srgbClr val="FFB703"/>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FFB703"/>
              </a:solidFill>
              <a:ln w="9525" cap="flat">
                <a:solidFill>
                  <a:srgbClr val="FFB703"/>
                </a:solidFill>
                <a:prstDash val="solid"/>
                <a:round/>
              </a:ln>
              <a:effectLst/>
            </c:spPr>
          </c:marker>
          <c:cat>
            <c:multiLvlStrRef>
              <c:f>Sheet1!$A$2:$A$256</c:f>
              <c:multiLvlStrCache>
                <c:ptCount val="255"/>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pt idx="101">
                    <c:v>101</c:v>
                  </c:pt>
                  <c:pt idx="102">
                    <c:v>102</c:v>
                  </c:pt>
                  <c:pt idx="103">
                    <c:v>103</c:v>
                  </c:pt>
                  <c:pt idx="104">
                    <c:v>104</c:v>
                  </c:pt>
                  <c:pt idx="105">
                    <c:v>105</c:v>
                  </c:pt>
                  <c:pt idx="106">
                    <c:v>106</c:v>
                  </c:pt>
                  <c:pt idx="107">
                    <c:v>107</c:v>
                  </c:pt>
                  <c:pt idx="108">
                    <c:v>108</c:v>
                  </c:pt>
                  <c:pt idx="109">
                    <c:v>109</c:v>
                  </c:pt>
                  <c:pt idx="110">
                    <c:v>110</c:v>
                  </c:pt>
                  <c:pt idx="111">
                    <c:v>111</c:v>
                  </c:pt>
                  <c:pt idx="112">
                    <c:v>112</c:v>
                  </c:pt>
                  <c:pt idx="113">
                    <c:v>113</c:v>
                  </c:pt>
                  <c:pt idx="114">
                    <c:v>114</c:v>
                  </c:pt>
                  <c:pt idx="115">
                    <c:v>115</c:v>
                  </c:pt>
                  <c:pt idx="116">
                    <c:v>116</c:v>
                  </c:pt>
                  <c:pt idx="117">
                    <c:v>117</c:v>
                  </c:pt>
                  <c:pt idx="118">
                    <c:v>118</c:v>
                  </c:pt>
                  <c:pt idx="119">
                    <c:v>119</c:v>
                  </c:pt>
                  <c:pt idx="120">
                    <c:v>120</c:v>
                  </c:pt>
                  <c:pt idx="121">
                    <c:v>121</c:v>
                  </c:pt>
                  <c:pt idx="122">
                    <c:v>122</c:v>
                  </c:pt>
                  <c:pt idx="123">
                    <c:v>123</c:v>
                  </c:pt>
                  <c:pt idx="124">
                    <c:v>124</c:v>
                  </c:pt>
                  <c:pt idx="125">
                    <c:v>125</c:v>
                  </c:pt>
                  <c:pt idx="126">
                    <c:v>126</c:v>
                  </c:pt>
                  <c:pt idx="127">
                    <c:v>127</c:v>
                  </c:pt>
                  <c:pt idx="128">
                    <c:v>128</c:v>
                  </c:pt>
                  <c:pt idx="129">
                    <c:v>129</c:v>
                  </c:pt>
                  <c:pt idx="130">
                    <c:v>130</c:v>
                  </c:pt>
                  <c:pt idx="131">
                    <c:v>131</c:v>
                  </c:pt>
                  <c:pt idx="132">
                    <c:v>132</c:v>
                  </c:pt>
                  <c:pt idx="133">
                    <c:v>133</c:v>
                  </c:pt>
                  <c:pt idx="134">
                    <c:v>134</c:v>
                  </c:pt>
                  <c:pt idx="135">
                    <c:v>135</c:v>
                  </c:pt>
                  <c:pt idx="136">
                    <c:v>136</c:v>
                  </c:pt>
                  <c:pt idx="137">
                    <c:v>137</c:v>
                  </c:pt>
                  <c:pt idx="138">
                    <c:v>138</c:v>
                  </c:pt>
                  <c:pt idx="139">
                    <c:v>139</c:v>
                  </c:pt>
                  <c:pt idx="140">
                    <c:v>140</c:v>
                  </c:pt>
                  <c:pt idx="141">
                    <c:v>141</c:v>
                  </c:pt>
                  <c:pt idx="142">
                    <c:v>142</c:v>
                  </c:pt>
                  <c:pt idx="143">
                    <c:v>143</c:v>
                  </c:pt>
                  <c:pt idx="144">
                    <c:v>144</c:v>
                  </c:pt>
                  <c:pt idx="145">
                    <c:v>145</c:v>
                  </c:pt>
                  <c:pt idx="146">
                    <c:v>146</c:v>
                  </c:pt>
                  <c:pt idx="147">
                    <c:v>147</c:v>
                  </c:pt>
                  <c:pt idx="148">
                    <c:v>148</c:v>
                  </c:pt>
                  <c:pt idx="149">
                    <c:v>149</c:v>
                  </c:pt>
                  <c:pt idx="150">
                    <c:v>150</c:v>
                  </c:pt>
                  <c:pt idx="151">
                    <c:v>151</c:v>
                  </c:pt>
                  <c:pt idx="152">
                    <c:v>152</c:v>
                  </c:pt>
                  <c:pt idx="153">
                    <c:v>153</c:v>
                  </c:pt>
                  <c:pt idx="154">
                    <c:v>154</c:v>
                  </c:pt>
                  <c:pt idx="155">
                    <c:v>155</c:v>
                  </c:pt>
                  <c:pt idx="156">
                    <c:v>156</c:v>
                  </c:pt>
                  <c:pt idx="157">
                    <c:v>157</c:v>
                  </c:pt>
                  <c:pt idx="158">
                    <c:v>158</c:v>
                  </c:pt>
                  <c:pt idx="159">
                    <c:v>159</c:v>
                  </c:pt>
                  <c:pt idx="160">
                    <c:v>160</c:v>
                  </c:pt>
                  <c:pt idx="161">
                    <c:v>161</c:v>
                  </c:pt>
                  <c:pt idx="162">
                    <c:v>162</c:v>
                  </c:pt>
                  <c:pt idx="163">
                    <c:v>163</c:v>
                  </c:pt>
                  <c:pt idx="164">
                    <c:v>164</c:v>
                  </c:pt>
                  <c:pt idx="165">
                    <c:v>165</c:v>
                  </c:pt>
                  <c:pt idx="166">
                    <c:v>166</c:v>
                  </c:pt>
                  <c:pt idx="167">
                    <c:v>167</c:v>
                  </c:pt>
                  <c:pt idx="168">
                    <c:v>168</c:v>
                  </c:pt>
                  <c:pt idx="169">
                    <c:v>169</c:v>
                  </c:pt>
                  <c:pt idx="170">
                    <c:v>170</c:v>
                  </c:pt>
                  <c:pt idx="171">
                    <c:v>171</c:v>
                  </c:pt>
                  <c:pt idx="172">
                    <c:v>172</c:v>
                  </c:pt>
                  <c:pt idx="173">
                    <c:v>173</c:v>
                  </c:pt>
                  <c:pt idx="174">
                    <c:v>174</c:v>
                  </c:pt>
                  <c:pt idx="175">
                    <c:v>175</c:v>
                  </c:pt>
                  <c:pt idx="176">
                    <c:v>176</c:v>
                  </c:pt>
                  <c:pt idx="177">
                    <c:v>177</c:v>
                  </c:pt>
                  <c:pt idx="178">
                    <c:v>178</c:v>
                  </c:pt>
                  <c:pt idx="179">
                    <c:v>179</c:v>
                  </c:pt>
                  <c:pt idx="180">
                    <c:v>180</c:v>
                  </c:pt>
                  <c:pt idx="181">
                    <c:v>181</c:v>
                  </c:pt>
                  <c:pt idx="182">
                    <c:v>182</c:v>
                  </c:pt>
                  <c:pt idx="183">
                    <c:v>183</c:v>
                  </c:pt>
                  <c:pt idx="184">
                    <c:v>184</c:v>
                  </c:pt>
                  <c:pt idx="185">
                    <c:v>185</c:v>
                  </c:pt>
                  <c:pt idx="186">
                    <c:v>186</c:v>
                  </c:pt>
                  <c:pt idx="187">
                    <c:v>187</c:v>
                  </c:pt>
                  <c:pt idx="188">
                    <c:v>188</c:v>
                  </c:pt>
                  <c:pt idx="189">
                    <c:v>189</c:v>
                  </c:pt>
                  <c:pt idx="190">
                    <c:v>190</c:v>
                  </c:pt>
                  <c:pt idx="191">
                    <c:v>191</c:v>
                  </c:pt>
                  <c:pt idx="192">
                    <c:v>192</c:v>
                  </c:pt>
                  <c:pt idx="193">
                    <c:v>193</c:v>
                  </c:pt>
                  <c:pt idx="194">
                    <c:v>194</c:v>
                  </c:pt>
                  <c:pt idx="195">
                    <c:v>195</c:v>
                  </c:pt>
                  <c:pt idx="196">
                    <c:v>196</c:v>
                  </c:pt>
                  <c:pt idx="197">
                    <c:v>197</c:v>
                  </c:pt>
                  <c:pt idx="198">
                    <c:v>198</c:v>
                  </c:pt>
                  <c:pt idx="199">
                    <c:v>199</c:v>
                  </c:pt>
                  <c:pt idx="200">
                    <c:v>200</c:v>
                  </c:pt>
                  <c:pt idx="201">
                    <c:v>201</c:v>
                  </c:pt>
                  <c:pt idx="202">
                    <c:v>202</c:v>
                  </c:pt>
                  <c:pt idx="203">
                    <c:v>203</c:v>
                  </c:pt>
                  <c:pt idx="204">
                    <c:v>204</c:v>
                  </c:pt>
                  <c:pt idx="205">
                    <c:v>205</c:v>
                  </c:pt>
                  <c:pt idx="206">
                    <c:v>206</c:v>
                  </c:pt>
                  <c:pt idx="207">
                    <c:v>207</c:v>
                  </c:pt>
                  <c:pt idx="208">
                    <c:v>208</c:v>
                  </c:pt>
                  <c:pt idx="209">
                    <c:v>209</c:v>
                  </c:pt>
                  <c:pt idx="210">
                    <c:v>210</c:v>
                  </c:pt>
                  <c:pt idx="211">
                    <c:v>211</c:v>
                  </c:pt>
                  <c:pt idx="212">
                    <c:v>212</c:v>
                  </c:pt>
                  <c:pt idx="213">
                    <c:v>213</c:v>
                  </c:pt>
                  <c:pt idx="214">
                    <c:v>214</c:v>
                  </c:pt>
                  <c:pt idx="215">
                    <c:v>215</c:v>
                  </c:pt>
                  <c:pt idx="216">
                    <c:v>216</c:v>
                  </c:pt>
                  <c:pt idx="217">
                    <c:v>217</c:v>
                  </c:pt>
                  <c:pt idx="218">
                    <c:v>218</c:v>
                  </c:pt>
                  <c:pt idx="219">
                    <c:v>219</c:v>
                  </c:pt>
                  <c:pt idx="220">
                    <c:v>220</c:v>
                  </c:pt>
                  <c:pt idx="221">
                    <c:v>221</c:v>
                  </c:pt>
                  <c:pt idx="222">
                    <c:v>222</c:v>
                  </c:pt>
                  <c:pt idx="223">
                    <c:v>223</c:v>
                  </c:pt>
                  <c:pt idx="224">
                    <c:v>224</c:v>
                  </c:pt>
                  <c:pt idx="225">
                    <c:v>225</c:v>
                  </c:pt>
                  <c:pt idx="226">
                    <c:v>226</c:v>
                  </c:pt>
                  <c:pt idx="227">
                    <c:v>227</c:v>
                  </c:pt>
                  <c:pt idx="228">
                    <c:v>228</c:v>
                  </c:pt>
                  <c:pt idx="229">
                    <c:v>229</c:v>
                  </c:pt>
                  <c:pt idx="230">
                    <c:v>230</c:v>
                  </c:pt>
                  <c:pt idx="231">
                    <c:v>231</c:v>
                  </c:pt>
                  <c:pt idx="232">
                    <c:v>232</c:v>
                  </c:pt>
                  <c:pt idx="233">
                    <c:v>233</c:v>
                  </c:pt>
                  <c:pt idx="234">
                    <c:v>234</c:v>
                  </c:pt>
                  <c:pt idx="235">
                    <c:v>235</c:v>
                  </c:pt>
                  <c:pt idx="236">
                    <c:v>236</c:v>
                  </c:pt>
                  <c:pt idx="237">
                    <c:v>237</c:v>
                  </c:pt>
                  <c:pt idx="238">
                    <c:v>238</c:v>
                  </c:pt>
                  <c:pt idx="239">
                    <c:v>239</c:v>
                  </c:pt>
                  <c:pt idx="240">
                    <c:v>240</c:v>
                  </c:pt>
                  <c:pt idx="241">
                    <c:v>241</c:v>
                  </c:pt>
                  <c:pt idx="242">
                    <c:v>242</c:v>
                  </c:pt>
                  <c:pt idx="243">
                    <c:v>243</c:v>
                  </c:pt>
                  <c:pt idx="244">
                    <c:v>244</c:v>
                  </c:pt>
                  <c:pt idx="245">
                    <c:v>245</c:v>
                  </c:pt>
                  <c:pt idx="246">
                    <c:v>246</c:v>
                  </c:pt>
                  <c:pt idx="247">
                    <c:v>247</c:v>
                  </c:pt>
                  <c:pt idx="248">
                    <c:v>248</c:v>
                  </c:pt>
                  <c:pt idx="249">
                    <c:v>249</c:v>
                  </c:pt>
                  <c:pt idx="250">
                    <c:v>250</c:v>
                  </c:pt>
                  <c:pt idx="251">
                    <c:v>251</c:v>
                  </c:pt>
                  <c:pt idx="252">
                    <c:v>252</c:v>
                  </c:pt>
                  <c:pt idx="253">
                    <c:v>253</c:v>
                  </c:pt>
                  <c:pt idx="254">
                    <c:v>254</c:v>
                  </c:pt>
                </c:lvl>
              </c:multiLvlStrCache>
            </c:multiLvlStrRef>
          </c:cat>
          <c:val>
            <c:numRef>
              <c:f>Sheet1!$C$2:$C$256</c:f>
              <c:numCache>
                <c:formatCode>General</c:formatCode>
                <c:ptCount val="255"/>
                <c:pt idx="0">
                  <c:v>0</c:v>
                </c:pt>
                <c:pt idx="1">
                  <c:v>0.04434740855168755</c:v>
                </c:pt>
                <c:pt idx="2">
                  <c:v>0.08866789396707034</c:v>
                </c:pt>
                <c:pt idx="3">
                  <c:v>0.13293454945477312</c:v>
                </c:pt>
                <c:pt idx="4">
                  <c:v>0.17712050090335688</c:v>
                </c:pt>
                <c:pt idx="5">
                  <c:v>0.2211989231964854</c:v>
                </c:pt>
                <c:pt idx="6">
                  <c:v>0.2651430564983475</c:v>
                </c:pt>
                <c:pt idx="7">
                  <c:v>0.30892622249944734</c:v>
                </c:pt>
                <c:pt idx="8">
                  <c:v>0.35252184061290054</c:v>
                </c:pt>
                <c:pt idx="9">
                  <c:v>0.39590344411140355</c:v>
                </c:pt>
                <c:pt idx="10">
                  <c:v>0.43904469619507885</c:v>
                </c:pt>
                <c:pt idx="11">
                  <c:v>0.48191940598044214</c:v>
                </c:pt>
                <c:pt idx="12">
                  <c:v>0.5245015444007843</c:v>
                </c:pt>
                <c:pt idx="13">
                  <c:v>0.5667652600083143</c:v>
                </c:pt>
                <c:pt idx="14">
                  <c:v>0.6086848946684709</c:v>
                </c:pt>
                <c:pt idx="15">
                  <c:v>0.6502349991368752</c:v>
                </c:pt>
                <c:pt idx="16">
                  <c:v>0.6913903485094666</c:v>
                </c:pt>
                <c:pt idx="17">
                  <c:v>0.7321259575364404</c:v>
                </c:pt>
                <c:pt idx="18">
                  <c:v>0.7724170957906962</c:v>
                </c:pt>
                <c:pt idx="19">
                  <c:v>0.8122393026815811</c:v>
                </c:pt>
                <c:pt idx="20">
                  <c:v>0.8515684023048181</c:v>
                </c:pt>
                <c:pt idx="21">
                  <c:v>0.8903805181196018</c:v>
                </c:pt>
                <c:pt idx="22">
                  <c:v>0.9286520874439518</c:v>
                </c:pt>
                <c:pt idx="23">
                  <c:v>0.966359875759524</c:v>
                </c:pt>
                <c:pt idx="24">
                  <c:v>1.003480990817194</c:v>
                </c:pt>
                <c:pt idx="25">
                  <c:v>1.039992896534852</c:v>
                </c:pt>
                <c:pt idx="26">
                  <c:v>1.0758734266789687</c:v>
                </c:pt>
                <c:pt idx="27">
                  <c:v>1.1111007983216272</c:v>
                </c:pt>
                <c:pt idx="28">
                  <c:v>1.1456536250648546</c:v>
                </c:pt>
                <c:pt idx="29">
                  <c:v>1.1795109300242164</c:v>
                </c:pt>
                <c:pt idx="30">
                  <c:v>1.2126521585638028</c:v>
                </c:pt>
                <c:pt idx="31">
                  <c:v>1.245057190774866</c:v>
                </c:pt>
                <c:pt idx="32">
                  <c:v>1.2767063536905363</c:v>
                </c:pt>
                <c:pt idx="33">
                  <c:v>1.3075804332292034</c:v>
                </c:pt>
                <c:pt idx="34">
                  <c:v>1.3376606858593096</c:v>
                </c:pt>
                <c:pt idx="35">
                  <c:v>1.3669288499784729</c:v>
                </c:pt>
                <c:pt idx="36">
                  <c:v>1.3953671570000337</c:v>
                </c:pt>
                <c:pt idx="37">
                  <c:v>1.4229583421402938</c:v>
                </c:pt>
                <c:pt idx="38">
                  <c:v>1.4496856548998986</c:v>
                </c:pt>
                <c:pt idx="39">
                  <c:v>1.4755328692329979</c:v>
                </c:pt>
                <c:pt idx="40">
                  <c:v>1.500484293398015</c:v>
                </c:pt>
                <c:pt idx="41">
                  <c:v>1.5245247794840406</c:v>
                </c:pt>
                <c:pt idx="42">
                  <c:v>1.5476397326070703</c:v>
                </c:pt>
                <c:pt idx="43">
                  <c:v>1.5698151197704993</c:v>
                </c:pt>
                <c:pt idx="44">
                  <c:v>1.5910374783845014</c:v>
                </c:pt>
                <c:pt idx="45">
                  <c:v>1.6112939244391122</c:v>
                </c:pt>
                <c:pt idx="46">
                  <c:v>1.6305721603260608</c:v>
                </c:pt>
                <c:pt idx="47">
                  <c:v>1.6488604823046003</c:v>
                </c:pt>
                <c:pt idx="48">
                  <c:v>1.6661477876068012</c:v>
                </c:pt>
                <c:pt idx="49">
                  <c:v>1.682423581177999</c:v>
                </c:pt>
                <c:pt idx="50">
                  <c:v>1.6976779820482994</c:v>
                </c:pt>
                <c:pt idx="51">
                  <c:v>1.7119017293312764</c:v>
                </c:pt>
                <c:pt idx="52">
                  <c:v>1.7250861878462203</c:v>
                </c:pt>
                <c:pt idx="53">
                  <c:v>1.7372233533605204</c:v>
                </c:pt>
                <c:pt idx="54">
                  <c:v>1.748305857449005</c:v>
                </c:pt>
                <c:pt idx="55">
                  <c:v>1.7583269719672812</c:v>
                </c:pt>
                <c:pt idx="56">
                  <c:v>1.7672806131363663</c:v>
                </c:pt>
                <c:pt idx="57">
                  <c:v>1.7751613452361246</c:v>
                </c:pt>
                <c:pt idx="58">
                  <c:v>1.7819643839052726</c:v>
                </c:pt>
                <c:pt idx="59">
                  <c:v>1.787685599045945</c:v>
                </c:pt>
                <c:pt idx="60">
                  <c:v>1.792321517331062</c:v>
                </c:pt>
                <c:pt idx="61">
                  <c:v>1.7958693243129713</c:v>
                </c:pt>
                <c:pt idx="62">
                  <c:v>1.7983268661320877</c:v>
                </c:pt>
                <c:pt idx="63">
                  <c:v>1.7996926508244948</c:v>
                </c:pt>
                <c:pt idx="64">
                  <c:v>1.7999658492277084</c:v>
                </c:pt>
                <c:pt idx="65">
                  <c:v>1.7991462954840587</c:v>
                </c:pt>
                <c:pt idx="66">
                  <c:v>1.7972344871413812</c:v>
                </c:pt>
                <c:pt idx="67">
                  <c:v>1.7942315848509585</c:v>
                </c:pt>
                <c:pt idx="68">
                  <c:v>1.790139411662892</c:v>
                </c:pt>
                <c:pt idx="69">
                  <c:v>1.784960451919337</c:v>
                </c:pt>
                <c:pt idx="70">
                  <c:v>1.7786978497462669</c:v>
                </c:pt>
                <c:pt idx="71">
                  <c:v>1.771355407144688</c:v>
                </c:pt>
                <c:pt idx="72">
                  <c:v>1.7629375816824586</c:v>
                </c:pt>
                <c:pt idx="73">
                  <c:v>1.7534494837881183</c:v>
                </c:pt>
                <c:pt idx="74">
                  <c:v>1.742896873648366</c:v>
                </c:pt>
                <c:pt idx="75">
                  <c:v>1.7312861577110745</c:v>
                </c:pt>
                <c:pt idx="76">
                  <c:v>1.71862438479596</c:v>
                </c:pt>
                <c:pt idx="77">
                  <c:v>1.7049192418152725</c:v>
                </c:pt>
                <c:pt idx="78">
                  <c:v>1.690179049107102</c:v>
                </c:pt>
                <c:pt idx="79">
                  <c:v>1.6744127553841326</c:v>
                </c:pt>
                <c:pt idx="80">
                  <c:v>1.6576299323009167</c:v>
                </c:pt>
                <c:pt idx="81">
                  <c:v>1.6398407686429592</c:v>
                </c:pt>
                <c:pt idx="82">
                  <c:v>1.6210560641411478</c:v>
                </c:pt>
                <c:pt idx="83">
                  <c:v>1.6012872229152773</c:v>
                </c:pt>
                <c:pt idx="84">
                  <c:v>1.5805462465506566</c:v>
                </c:pt>
                <c:pt idx="85">
                  <c:v>1.5588457268119897</c:v>
                </c:pt>
                <c:pt idx="86">
                  <c:v>1.536198837998969</c:v>
                </c:pt>
                <c:pt idx="87">
                  <c:v>1.5126193289482073</c:v>
                </c:pt>
                <c:pt idx="88">
                  <c:v>1.4881215146863747</c:v>
                </c:pt>
                <c:pt idx="89">
                  <c:v>1.462720267739602</c:v>
                </c:pt>
                <c:pt idx="90">
                  <c:v>1.4364310091044312</c:v>
                </c:pt>
                <c:pt idx="91">
                  <c:v>1.4092696988857853</c:v>
                </c:pt>
                <c:pt idx="92">
                  <c:v>1.381252826607655</c:v>
                </c:pt>
                <c:pt idx="93">
                  <c:v>1.3523974012023723</c:v>
                </c:pt>
                <c:pt idx="94">
                  <c:v>1.3227209406845561</c:v>
                </c:pt>
                <c:pt idx="95">
                  <c:v>1.2922414615159956</c:v>
                </c:pt>
                <c:pt idx="96">
                  <c:v>1.260977467667924</c:v>
                </c:pt>
                <c:pt idx="97">
                  <c:v>1.2289479393873342</c:v>
                </c:pt>
                <c:pt idx="98">
                  <c:v>1.196172321674145</c:v>
                </c:pt>
                <c:pt idx="99">
                  <c:v>1.162670512476217</c:v>
                </c:pt>
                <c:pt idx="100">
                  <c:v>1.1284628506093917</c:v>
                </c:pt>
                <c:pt idx="101">
                  <c:v>1.0935701034098704</c:v>
                </c:pt>
                <c:pt idx="102">
                  <c:v>1.0580134541264519</c:v>
                </c:pt>
                <c:pt idx="103">
                  <c:v>1.0218144890602625</c:v>
                </c:pt>
                <c:pt idx="104">
                  <c:v>0.9849951844597997</c:v>
                </c:pt>
                <c:pt idx="105">
                  <c:v>0.9475778931792403</c:v>
                </c:pt>
                <c:pt idx="106">
                  <c:v>0.9095853311081064</c:v>
                </c:pt>
                <c:pt idx="107">
                  <c:v>0.8710405633805429</c:v>
                </c:pt>
                <c:pt idx="108">
                  <c:v>0.8319669903725639</c:v>
                </c:pt>
                <c:pt idx="109">
                  <c:v>0.7923883334957774</c:v>
                </c:pt>
                <c:pt idx="110">
                  <c:v>0.7523286207962099</c:v>
                </c:pt>
                <c:pt idx="111">
                  <c:v>0.7118121723669764</c:v>
                </c:pt>
                <c:pt idx="112">
                  <c:v>0.6708635855836451</c:v>
                </c:pt>
                <c:pt idx="113">
                  <c:v>0.6295077201712701</c:v>
                </c:pt>
                <c:pt idx="114">
                  <c:v>0.58776968311215</c:v>
                </c:pt>
                <c:pt idx="115">
                  <c:v>0.5456748134034786</c:v>
                </c:pt>
                <c:pt idx="116">
                  <c:v>0.5032486666741393</c:v>
                </c:pt>
                <c:pt idx="117">
                  <c:v>0.46051699966998455</c:v>
                </c:pt>
                <c:pt idx="118">
                  <c:v>0.4175057546170173</c:v>
                </c:pt>
                <c:pt idx="119">
                  <c:v>0.3742410434719675</c:v>
                </c:pt>
                <c:pt idx="120">
                  <c:v>0.3307491320698275</c:v>
                </c:pt>
                <c:pt idx="121">
                  <c:v>0.2870564241779656</c:v>
                </c:pt>
                <c:pt idx="122">
                  <c:v>0.24318944546650764</c:v>
                </c:pt>
                <c:pt idx="123">
                  <c:v>0.199174827404702</c:v>
                </c:pt>
                <c:pt idx="124">
                  <c:v>0.15503929109306339</c:v>
                </c:pt>
                <c:pt idx="125">
                  <c:v>0.11080963104109781</c:v>
                </c:pt>
                <c:pt idx="126">
                  <c:v>0.06651269890046084</c:v>
                </c:pt>
                <c:pt idx="127">
                  <c:v>0.02217538716342935</c:v>
                </c:pt>
                <c:pt idx="128">
                  <c:v>-0.022175387163428914</c:v>
                </c:pt>
                <c:pt idx="129">
                  <c:v>-0.0665126989004604</c:v>
                </c:pt>
                <c:pt idx="130">
                  <c:v>-0.11080963104109656</c:v>
                </c:pt>
                <c:pt idx="131">
                  <c:v>-0.15503929109306294</c:v>
                </c:pt>
                <c:pt idx="132">
                  <c:v>-0.19917482740470155</c:v>
                </c:pt>
                <c:pt idx="133">
                  <c:v>-0.24318944546650725</c:v>
                </c:pt>
                <c:pt idx="134">
                  <c:v>-0.2870564241779652</c:v>
                </c:pt>
                <c:pt idx="135">
                  <c:v>-0.3307491320698262</c:v>
                </c:pt>
                <c:pt idx="136">
                  <c:v>-0.3742410434719671</c:v>
                </c:pt>
                <c:pt idx="137">
                  <c:v>-0.41750575461701683</c:v>
                </c:pt>
                <c:pt idx="138">
                  <c:v>-0.46051699966998416</c:v>
                </c:pt>
                <c:pt idx="139">
                  <c:v>-0.5032486666741388</c:v>
                </c:pt>
                <c:pt idx="140">
                  <c:v>-0.5456748134034781</c:v>
                </c:pt>
                <c:pt idx="141">
                  <c:v>-0.5877696831121496</c:v>
                </c:pt>
                <c:pt idx="142">
                  <c:v>-0.6295077201712704</c:v>
                </c:pt>
                <c:pt idx="143">
                  <c:v>-0.6708635855836454</c:v>
                </c:pt>
                <c:pt idx="144">
                  <c:v>-0.7118121723669767</c:v>
                </c:pt>
                <c:pt idx="145">
                  <c:v>-0.7523286207962101</c:v>
                </c:pt>
                <c:pt idx="146">
                  <c:v>-0.7923883334957771</c:v>
                </c:pt>
                <c:pt idx="147">
                  <c:v>-0.8319669903725635</c:v>
                </c:pt>
                <c:pt idx="148">
                  <c:v>-0.8710405633805426</c:v>
                </c:pt>
                <c:pt idx="149">
                  <c:v>-0.909585331108106</c:v>
                </c:pt>
                <c:pt idx="150">
                  <c:v>-0.9475778931792399</c:v>
                </c:pt>
                <c:pt idx="151">
                  <c:v>-0.9849951844597995</c:v>
                </c:pt>
                <c:pt idx="152">
                  <c:v>-1.0218144890602614</c:v>
                </c:pt>
                <c:pt idx="153">
                  <c:v>-1.0580134541264514</c:v>
                </c:pt>
                <c:pt idx="154">
                  <c:v>-1.0935701034098702</c:v>
                </c:pt>
                <c:pt idx="155">
                  <c:v>-1.1284628506093912</c:v>
                </c:pt>
                <c:pt idx="156">
                  <c:v>-1.1626705124762167</c:v>
                </c:pt>
                <c:pt idx="157">
                  <c:v>-1.1961723216741438</c:v>
                </c:pt>
                <c:pt idx="158">
                  <c:v>-1.228947939387334</c:v>
                </c:pt>
                <c:pt idx="159">
                  <c:v>-1.2609774676679235</c:v>
                </c:pt>
                <c:pt idx="160">
                  <c:v>-1.2922414615159952</c:v>
                </c:pt>
                <c:pt idx="161">
                  <c:v>-1.322720940684556</c:v>
                </c:pt>
                <c:pt idx="162">
                  <c:v>-1.3523974012023714</c:v>
                </c:pt>
                <c:pt idx="163">
                  <c:v>-1.3812528266076545</c:v>
                </c:pt>
                <c:pt idx="164">
                  <c:v>-1.409269698885784</c:v>
                </c:pt>
                <c:pt idx="165">
                  <c:v>-1.4364310091044301</c:v>
                </c:pt>
                <c:pt idx="166">
                  <c:v>-1.462720267739602</c:v>
                </c:pt>
                <c:pt idx="167">
                  <c:v>-1.488121514686374</c:v>
                </c:pt>
                <c:pt idx="168">
                  <c:v>-1.5126193289482066</c:v>
                </c:pt>
                <c:pt idx="169">
                  <c:v>-1.5361988379989684</c:v>
                </c:pt>
                <c:pt idx="170">
                  <c:v>-1.5588457268119893</c:v>
                </c:pt>
                <c:pt idx="171">
                  <c:v>-1.580546246550656</c:v>
                </c:pt>
                <c:pt idx="172">
                  <c:v>-1.6012872229152768</c:v>
                </c:pt>
                <c:pt idx="173">
                  <c:v>-1.621056064141147</c:v>
                </c:pt>
                <c:pt idx="174">
                  <c:v>-1.6398407686429584</c:v>
                </c:pt>
                <c:pt idx="175">
                  <c:v>-1.657629932300916</c:v>
                </c:pt>
                <c:pt idx="176">
                  <c:v>-1.6744127553841321</c:v>
                </c:pt>
                <c:pt idx="177">
                  <c:v>-1.6901790491071018</c:v>
                </c:pt>
                <c:pt idx="178">
                  <c:v>-1.7049192418152725</c:v>
                </c:pt>
                <c:pt idx="179">
                  <c:v>-1.7186243847959597</c:v>
                </c:pt>
                <c:pt idx="180">
                  <c:v>-1.7312861577110743</c:v>
                </c:pt>
                <c:pt idx="181">
                  <c:v>-1.7428968736483659</c:v>
                </c:pt>
                <c:pt idx="182">
                  <c:v>-1.753449483788118</c:v>
                </c:pt>
                <c:pt idx="183">
                  <c:v>-1.7629375816824584</c:v>
                </c:pt>
                <c:pt idx="184">
                  <c:v>-1.7713554071446878</c:v>
                </c:pt>
                <c:pt idx="185">
                  <c:v>-1.7786978497462667</c:v>
                </c:pt>
                <c:pt idx="186">
                  <c:v>-1.7849604519193367</c:v>
                </c:pt>
                <c:pt idx="187">
                  <c:v>-1.7901394116628921</c:v>
                </c:pt>
                <c:pt idx="188">
                  <c:v>-1.7942315848509585</c:v>
                </c:pt>
                <c:pt idx="189">
                  <c:v>-1.7972344871413812</c:v>
                </c:pt>
                <c:pt idx="190">
                  <c:v>-1.7991462954840587</c:v>
                </c:pt>
                <c:pt idx="191">
                  <c:v>-1.7999658492277084</c:v>
                </c:pt>
                <c:pt idx="192">
                  <c:v>-1.7996926508244948</c:v>
                </c:pt>
                <c:pt idx="193">
                  <c:v>-1.7983268661320877</c:v>
                </c:pt>
                <c:pt idx="194">
                  <c:v>-1.7958693243129713</c:v>
                </c:pt>
                <c:pt idx="195">
                  <c:v>-1.7923215173310623</c:v>
                </c:pt>
                <c:pt idx="196">
                  <c:v>-1.7876855990459453</c:v>
                </c:pt>
                <c:pt idx="197">
                  <c:v>-1.7819643839052728</c:v>
                </c:pt>
                <c:pt idx="198">
                  <c:v>-1.7751613452361246</c:v>
                </c:pt>
                <c:pt idx="199">
                  <c:v>-1.7672806131363663</c:v>
                </c:pt>
                <c:pt idx="200">
                  <c:v>-1.7583269719672812</c:v>
                </c:pt>
                <c:pt idx="201">
                  <c:v>-1.748305857449005</c:v>
                </c:pt>
                <c:pt idx="202">
                  <c:v>-1.7372233533605206</c:v>
                </c:pt>
                <c:pt idx="203">
                  <c:v>-1.7250861878462203</c:v>
                </c:pt>
                <c:pt idx="204">
                  <c:v>-1.7119017293312766</c:v>
                </c:pt>
                <c:pt idx="205">
                  <c:v>-1.6976779820482997</c:v>
                </c:pt>
                <c:pt idx="206">
                  <c:v>-1.6824235811779993</c:v>
                </c:pt>
                <c:pt idx="207">
                  <c:v>-1.6661477876068016</c:v>
                </c:pt>
                <c:pt idx="208">
                  <c:v>-1.6488604823046</c:v>
                </c:pt>
                <c:pt idx="209">
                  <c:v>-1.6305721603260606</c:v>
                </c:pt>
                <c:pt idx="210">
                  <c:v>-1.611293924439112</c:v>
                </c:pt>
                <c:pt idx="211">
                  <c:v>-1.5910374783845014</c:v>
                </c:pt>
                <c:pt idx="212">
                  <c:v>-1.5698151197704995</c:v>
                </c:pt>
                <c:pt idx="213">
                  <c:v>-1.5476397326070703</c:v>
                </c:pt>
                <c:pt idx="214">
                  <c:v>-1.5245247794840409</c:v>
                </c:pt>
                <c:pt idx="215">
                  <c:v>-1.5004842933980151</c:v>
                </c:pt>
                <c:pt idx="216">
                  <c:v>-1.4755328692329983</c:v>
                </c:pt>
                <c:pt idx="217">
                  <c:v>-1.4496856548998989</c:v>
                </c:pt>
                <c:pt idx="218">
                  <c:v>-1.4229583421402943</c:v>
                </c:pt>
                <c:pt idx="219">
                  <c:v>-1.395367157000033</c:v>
                </c:pt>
                <c:pt idx="220">
                  <c:v>-1.3669288499784722</c:v>
                </c:pt>
                <c:pt idx="221">
                  <c:v>-1.3376606858593092</c:v>
                </c:pt>
                <c:pt idx="222">
                  <c:v>-1.307580433229203</c:v>
                </c:pt>
                <c:pt idx="223">
                  <c:v>-1.2767063536905359</c:v>
                </c:pt>
                <c:pt idx="224">
                  <c:v>-1.245057190774866</c:v>
                </c:pt>
                <c:pt idx="225">
                  <c:v>-1.2126521585638028</c:v>
                </c:pt>
                <c:pt idx="226">
                  <c:v>-1.1795109300242164</c:v>
                </c:pt>
                <c:pt idx="227">
                  <c:v>-1.1456536250648546</c:v>
                </c:pt>
                <c:pt idx="228">
                  <c:v>-1.1111007983216274</c:v>
                </c:pt>
                <c:pt idx="229">
                  <c:v>-1.07587342667897</c:v>
                </c:pt>
                <c:pt idx="230">
                  <c:v>-1.0399928965348524</c:v>
                </c:pt>
                <c:pt idx="231">
                  <c:v>-1.0034809908171947</c:v>
                </c:pt>
                <c:pt idx="232">
                  <c:v>-0.9663598757595246</c:v>
                </c:pt>
                <c:pt idx="233">
                  <c:v>-0.9286520874439528</c:v>
                </c:pt>
                <c:pt idx="234">
                  <c:v>-0.8903805181196027</c:v>
                </c:pt>
                <c:pt idx="235">
                  <c:v>-0.8515684023048191</c:v>
                </c:pt>
                <c:pt idx="236">
                  <c:v>-0.8122393026815822</c:v>
                </c:pt>
                <c:pt idx="237">
                  <c:v>-0.7724170957906974</c:v>
                </c:pt>
                <c:pt idx="238">
                  <c:v>-0.7321259575364417</c:v>
                </c:pt>
                <c:pt idx="239">
                  <c:v>-0.691390348509468</c:v>
                </c:pt>
                <c:pt idx="240">
                  <c:v>-0.650234999136877</c:v>
                </c:pt>
                <c:pt idx="241">
                  <c:v>-0.608684894668471</c:v>
                </c:pt>
                <c:pt idx="242">
                  <c:v>-0.5667652600083145</c:v>
                </c:pt>
                <c:pt idx="243">
                  <c:v>-0.5245015444007848</c:v>
                </c:pt>
                <c:pt idx="244">
                  <c:v>-0.48191940598044286</c:v>
                </c:pt>
                <c:pt idx="245">
                  <c:v>-0.43904469619507963</c:v>
                </c:pt>
                <c:pt idx="246">
                  <c:v>-0.39590344411140443</c:v>
                </c:pt>
                <c:pt idx="247">
                  <c:v>-0.35252184061290154</c:v>
                </c:pt>
                <c:pt idx="248">
                  <c:v>-0.30892622249944846</c:v>
                </c:pt>
                <c:pt idx="249">
                  <c:v>-0.2651430564983488</c:v>
                </c:pt>
                <c:pt idx="250">
                  <c:v>-0.22119892319648682</c:v>
                </c:pt>
                <c:pt idx="251">
                  <c:v>-0.17712050090335682</c:v>
                </c:pt>
                <c:pt idx="252">
                  <c:v>-0.13293454945477318</c:v>
                </c:pt>
                <c:pt idx="253">
                  <c:v>-0.08866789396707052</c:v>
                </c:pt>
                <c:pt idx="254">
                  <c:v>-0.04434740855168787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900" b="0" i="0" u="none" strike="noStrike">
                    <a:solidFill>
                      <a:srgbClr val="5B6B7F"/>
                    </a:solidFill>
                    <a:latin typeface="Calibri"/>
                  </a:defRPr>
                </a:pPr>
                <a:r>
                  <a:rPr sz="900" b="0" i="0" u="none" strike="noStrike">
                    <a:solidFill>
                      <a:srgbClr val="5B6B7F"/>
                    </a:solidFill>
                    <a:latin typeface="Calibri"/>
                  </a:rPr>
                  <a:t>code</a:t>
                </a:r>
              </a:p>
            </c:rich>
          </c:tx>
          <c:layout/>
          <c:overlay val="0"/>
        </c:title>
        <c:numFmt formatCode="General" sourceLinked="1"/>
        <c:majorTickMark val="none"/>
        <c:minorTickMark val="none"/>
        <c:tickLblPos val="low"/>
        <c:spPr>
          <a:ln w="12700" cap="flat">
            <a:solidFill>
              <a:srgbClr val="888888"/>
            </a:solidFill>
            <a:prstDash val="solid"/>
            <a:round/>
          </a:ln>
        </c:spPr>
        <c:txPr>
          <a:bodyPr/>
          <a:lstStyle/>
          <a:p>
            <a:pPr>
              <a:defRPr sz="900" b="0" i="0" u="none" strike="noStrike">
                <a:solidFill>
                  <a:srgbClr val="5B6B7F"/>
                </a:solidFill>
                <a:latin typeface="Calibri"/>
              </a:defRPr>
            </a:pPr>
            <a:endParaRPr lang="en-US"/>
          </a:p>
        </c:txPr>
        <c:crossAx val="2094734552"/>
        <c:crosses val="min"/>
        <c:auto val="1"/>
        <c:lblAlgn val="ctr"/>
        <c:noMultiLvlLbl val="1"/>
        <c:tickLblSkip val="32"/>
      </c:catAx>
      <c:valAx>
        <c:axId val="2094734552"/>
        <c:scaling>
          <c:orientation val="minMax"/>
          <c:max val="2.5"/>
          <c:min val="-2.5"/>
        </c:scaling>
        <c:delete val="0"/>
        <c:axPos val="l"/>
        <c:majorGridlines>
          <c:spPr>
            <a:ln w="6350" cap="flat">
              <a:solidFill>
                <a:srgbClr val="D9E1EA"/>
              </a:solidFill>
              <a:prstDash val="solid"/>
              <a:round/>
            </a:ln>
          </c:spPr>
        </c:majorGridlines>
        <c:title>
          <c:tx>
            <c:rich>
              <a:bodyPr/>
              <a:lstStyle/>
              <a:p>
                <a:pPr>
                  <a:defRPr sz="900" b="0" i="0" u="none" strike="noStrike">
                    <a:solidFill>
                      <a:srgbClr val="5B6B7F"/>
                    </a:solidFill>
                    <a:latin typeface="Calibri"/>
                  </a:defRPr>
                </a:pPr>
                <a:r>
                  <a:rPr sz="900" b="0" i="0" u="none" strike="noStrike">
                    <a:solidFill>
                      <a:srgbClr val="5B6B7F"/>
                    </a:solidFill>
                    <a:latin typeface="Calibri"/>
                  </a:rPr>
                  <a:t>INL (LSB)</a:t>
                </a:r>
              </a:p>
            </c:rich>
          </c:tx>
          <c:layout/>
          <c:overlay val="0"/>
        </c:title>
        <c:numFmt formatCode="General" sourceLinked="0"/>
        <c:majorTickMark val="none"/>
        <c:minorTickMark val="none"/>
        <c:tickLblPos val="nextTo"/>
        <c:spPr>
          <a:ln w="12700" cap="flat">
            <a:noFill/>
            <a:prstDash val="solid"/>
            <a:round/>
          </a:ln>
        </c:spPr>
        <c:txPr>
          <a:bodyPr/>
          <a:lstStyle/>
          <a:p>
            <a:pPr>
              <a:defRPr sz="900" b="0" i="0" u="none" strike="noStrike">
                <a:solidFill>
                  <a:srgbClr val="5B6B7F"/>
                </a:solidFill>
                <a:latin typeface="Calibri"/>
              </a:defRPr>
            </a:pPr>
            <a:endParaRPr lang="en-US"/>
          </a:p>
        </c:txPr>
        <c:crossAx val="2094734554"/>
        <c:crosses val="autoZero"/>
        <c:crossBetween val="between"/>
        <c:majorUnit val="1"/>
      </c:valAx>
      <c:spPr>
        <a:solidFill>
          <a:srgbClr val="FFFFFF"/>
        </a:solidFill>
        <a:ln>
          <a:noFill/>
        </a:ln>
        <a:effectLst/>
      </c:spPr>
    </c:plotArea>
    <c:legend>
      <c:legendPos val="b"/>
      <c:overlay val="0"/>
      <c:txPr>
        <a:bodyPr/>
        <a:lstStyle/>
        <a:p>
          <a:pPr>
            <a:defRPr sz="900">
              <a:solidFill>
                <a:srgbClr val="14213D"/>
              </a:solidFill>
              <a:latin typeface="Calibri"/>
              <a:cs typeface="Calibri"/>
            </a:defRPr>
          </a:pPr>
          <a:endParaRPr lang="en-US"/>
        </a:p>
      </c:txPr>
    </c:legend>
    <c:plotVisOnly val="1"/>
    <c:dispBlanksAs val="span"/>
  </c:chart>
  <c:spPr>
    <a:solidFill>
      <a:srgbClr val="FFFFFF"/>
    </a:solid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barChart>
        <c:barDir val="col"/>
        <c:grouping val="clustered"/>
        <c:varyColors val="0"/>
        <c:ser>
          <c:idx val="0"/>
          <c:order val="0"/>
          <c:tx>
            <c:strRef>
              <c:f>Sheet1!$B$1</c:f>
              <c:strCache>
                <c:ptCount val="1"/>
                <c:pt idx="0">
                  <c:v>contribution (LSB)</c:v>
                </c:pt>
              </c:strCache>
            </c:strRef>
          </c:tx>
          <c:spPr>
            <a:solidFill>
              <a:srgbClr val="2EC4B6"/>
            </a:solidFill>
            <a:effectLst/>
          </c:spPr>
          <c:invertIfNegative val="0"/>
          <c:dLbls>
            <c:numFmt formatCode="0.0" sourceLinked="0"/>
            <c:txPr>
              <a:bodyPr/>
              <a:lstStyle/>
              <a:p>
                <a:pPr>
                  <a:defRPr b="0" i="0" strike="noStrike" sz="900" u="none">
                    <a:solidFill>
                      <a:srgbClr val="14213D"/>
                    </a:solidFill>
                    <a:latin typeface="Calibri"/>
                  </a:defRPr>
                </a:pPr>
              </a:p>
            </c:txPr>
            <c:showLegendKey val="0"/>
            <c:showVal val="1"/>
            <c:showCatName val="0"/>
            <c:showSerName val="0"/>
            <c:showPercent val="0"/>
            <c:showBubbleSize val="0"/>
            <c:showLeaderLines val="0"/>
          </c:dLbls>
          <c:cat>
            <c:multiLvlStrRef>
              <c:f>Sheet1!$A$2:$A$7</c:f>
              <c:multiLvlStrCache>
                <c:ptCount val="6"/>
                <c:lvl>
                  <c:pt idx="0">
                    <c:v>offset</c:v>
                  </c:pt>
                  <c:pt idx="1">
                    <c:v>gain</c:v>
                  </c:pt>
                  <c:pt idx="2">
                    <c:v>INL</c:v>
                  </c:pt>
                  <c:pt idx="3">
                    <c:v>quantisation</c:v>
                  </c:pt>
                  <c:pt idx="4">
                    <c:v>RSS total</c:v>
                  </c:pt>
                  <c:pt idx="5">
                    <c:v>worst case</c:v>
                  </c:pt>
                </c:lvl>
              </c:multiLvlStrCache>
            </c:multiLvlStrRef>
          </c:cat>
          <c:val>
            <c:numRef>
              <c:f>Sheet1!$B$2:$B$7</c:f>
              <c:numCache>
                <c:formatCode>General</c:formatCode>
                <c:ptCount val="6"/>
                <c:pt idx="0">
                  <c:v>2</c:v>
                </c:pt>
                <c:pt idx="1">
                  <c:v>3</c:v>
                </c:pt>
                <c:pt idx="2">
                  <c:v>1.5</c:v>
                </c:pt>
                <c:pt idx="3">
                  <c:v>0.5</c:v>
                </c:pt>
                <c:pt idx="4">
                  <c:v>3.9</c:v>
                </c:pt>
                <c:pt idx="5">
                  <c:v>7</c:v>
                </c:pt>
              </c:numCache>
            </c:numRef>
          </c:val>
        </c:ser>
        <c:dLbls>
          <c:numFmt formatCode="0.0" sourceLinked="0"/>
          <c:txPr>
            <a:bodyPr/>
            <a:lstStyle/>
            <a:p>
              <a:pPr>
                <a:defRPr b="0" i="0" strike="noStrike" sz="900" u="none">
                  <a:solidFill>
                    <a:srgbClr val="14213D"/>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title>
          <c:tx>
            <c:rich>
              <a:bodyPr/>
              <a:lstStyle/>
              <a:p>
                <a:pPr>
                  <a:defRPr sz="900" b="0" i="0" u="none" strike="noStrike">
                    <a:solidFill>
                      <a:srgbClr val="5B6B7F"/>
                    </a:solidFill>
                    <a:latin typeface="Calibri"/>
                  </a:defRPr>
                </a:pPr>
                <a:r>
                  <a:rPr sz="900" b="0" i="0" u="none" strike="noStrike">
                    <a:solidFill>
                      <a:srgbClr val="5B6B7F"/>
                    </a:solidFill>
                    <a:latin typeface="Calibri"/>
                  </a:rPr>
                  <a:t>uncalibrated 12-bit converter</a:t>
                </a:r>
              </a:p>
            </c:rich>
          </c:tx>
          <c:layout/>
          <c:overlay val="0"/>
        </c:title>
        <c:numFmt formatCode="General" sourceLinked="1"/>
        <c:majorTickMark val="none"/>
        <c:minorTickMark val="none"/>
        <c:tickLblPos val="low"/>
        <c:spPr>
          <a:ln w="12700" cap="flat">
            <a:solidFill>
              <a:srgbClr val="888888"/>
            </a:solidFill>
            <a:prstDash val="solid"/>
            <a:round/>
          </a:ln>
        </c:spPr>
        <c:txPr>
          <a:bodyPr/>
          <a:lstStyle/>
          <a:p>
            <a:pPr>
              <a:defRPr sz="900" b="0" i="0" u="none" strike="noStrike">
                <a:solidFill>
                  <a:srgbClr val="5B6B7F"/>
                </a:solidFill>
                <a:latin typeface="Calibri"/>
              </a:defRPr>
            </a:pPr>
            <a:endParaRPr lang="en-US"/>
          </a:p>
        </c:txPr>
        <c:crossAx val="2094734552"/>
        <c:crosses val="min"/>
        <c:auto val="1"/>
        <c:lblAlgn val="ctr"/>
        <c:noMultiLvlLbl val="1"/>
      </c:catAx>
      <c:valAx>
        <c:axId val="2094734552"/>
        <c:scaling>
          <c:orientation val="minMax"/>
        </c:scaling>
        <c:delete val="0"/>
        <c:axPos val="l"/>
        <c:majorGridlines>
          <c:spPr>
            <a:ln w="6350" cap="flat">
              <a:solidFill>
                <a:srgbClr val="D9E1EA"/>
              </a:solidFill>
              <a:prstDash val="solid"/>
              <a:round/>
            </a:ln>
          </c:spPr>
        </c:majorGridlines>
        <c:numFmt formatCode="General" sourceLinked="0"/>
        <c:majorTickMark val="none"/>
        <c:minorTickMark val="none"/>
        <c:tickLblPos val="nextTo"/>
        <c:spPr>
          <a:ln w="12700" cap="flat">
            <a:noFill/>
            <a:prstDash val="solid"/>
            <a:round/>
          </a:ln>
        </c:spPr>
        <c:txPr>
          <a:bodyPr/>
          <a:lstStyle/>
          <a:p>
            <a:pPr>
              <a:defRPr sz="900" b="0" i="0" u="none" strike="noStrike">
                <a:solidFill>
                  <a:srgbClr val="5B6B7F"/>
                </a:solidFill>
                <a:latin typeface="Calibri"/>
              </a:defRPr>
            </a:pPr>
            <a:endParaRPr lang="en-US"/>
          </a:p>
        </c:txPr>
        <c:crossAx val="2094734554"/>
        <c:crosses val="autoZero"/>
        <c:crossBetween val="between"/>
        <c:majorUnit val="2"/>
      </c:valAx>
      <c:spPr>
        <a:solidFill>
          <a:srgbClr val="FFFFFF"/>
        </a:solidFill>
        <a:ln>
          <a:noFill/>
        </a:ln>
        <a:effectLst/>
      </c:spPr>
    </c:plotArea>
    <c:plotVisOnly val="1"/>
    <c:dispBlanksAs val="span"/>
  </c:chart>
  <c:spPr>
    <a:solidFill>
      <a:srgbClr val="FFFFFF"/>
    </a:solid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lineChart>
        <c:varyColors val="0"/>
        <c:ser>
          <c:idx val="0"/>
          <c:order val="0"/>
          <c:tx>
            <c:strRef>
              <c:f>Sheet1!$B$1</c:f>
              <c:strCache>
                <c:ptCount val="1"/>
                <c:pt idx="0">
                  <c:v>offset drift 1 µV/°C</c:v>
                </c:pt>
              </c:strCache>
            </c:strRef>
          </c:tx>
          <c:spPr>
            <a:solidFill>
              <a:srgbClr val="2EC4B6"/>
            </a:solidFill>
            <a:ln w="19050" cap="flat">
              <a:solidFill>
                <a:srgbClr val="2EC4B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4"/>
            <c:spPr>
              <a:solidFill>
                <a:srgbClr val="2EC4B6"/>
              </a:solidFill>
              <a:ln w="9525" cap="flat">
                <a:solidFill>
                  <a:srgbClr val="2EC4B6"/>
                </a:solidFill>
                <a:prstDash val="solid"/>
                <a:round/>
              </a:ln>
              <a:effectLst/>
            </c:spPr>
          </c:marker>
          <c:cat>
            <c:multiLvlStrRef>
              <c:f>Sheet1!$A$2:$A$14</c:f>
              <c:multiLvlStrCache>
                <c:ptCount val="13"/>
                <c:lvl>
                  <c:pt idx="0">
                    <c:v>-40</c:v>
                  </c:pt>
                  <c:pt idx="1">
                    <c:v>-30</c:v>
                  </c:pt>
                  <c:pt idx="2">
                    <c:v>-20</c:v>
                  </c:pt>
                  <c:pt idx="3">
                    <c:v>-10</c:v>
                  </c:pt>
                  <c:pt idx="4">
                    <c:v>0</c:v>
                  </c:pt>
                  <c:pt idx="5">
                    <c:v>10</c:v>
                  </c:pt>
                  <c:pt idx="6">
                    <c:v>20</c:v>
                  </c:pt>
                  <c:pt idx="7">
                    <c:v>30</c:v>
                  </c:pt>
                  <c:pt idx="8">
                    <c:v>40</c:v>
                  </c:pt>
                  <c:pt idx="9">
                    <c:v>50</c:v>
                  </c:pt>
                  <c:pt idx="10">
                    <c:v>60</c:v>
                  </c:pt>
                  <c:pt idx="11">
                    <c:v>70</c:v>
                  </c:pt>
                  <c:pt idx="12">
                    <c:v>80</c:v>
                  </c:pt>
                </c:lvl>
              </c:multiLvlStrCache>
            </c:multiLvlStrRef>
          </c:cat>
          <c:val>
            <c:numRef>
              <c:f>Sheet1!$B$2:$B$14</c:f>
              <c:numCache>
                <c:formatCode>General</c:formatCode>
                <c:ptCount val="13"/>
                <c:pt idx="0">
                  <c:v>2.1311475409836067</c:v>
                </c:pt>
                <c:pt idx="1">
                  <c:v>1.8032786885245902</c:v>
                </c:pt>
                <c:pt idx="2">
                  <c:v>1.4754098360655739</c:v>
                </c:pt>
                <c:pt idx="3">
                  <c:v>1.1475409836065573</c:v>
                </c:pt>
                <c:pt idx="4">
                  <c:v>0.819672131147541</c:v>
                </c:pt>
                <c:pt idx="5">
                  <c:v>0.4918032786885246</c:v>
                </c:pt>
                <c:pt idx="6">
                  <c:v>0.16393442622950818</c:v>
                </c:pt>
                <c:pt idx="7">
                  <c:v>0.16393442622950818</c:v>
                </c:pt>
                <c:pt idx="8">
                  <c:v>0.4918032786885246</c:v>
                </c:pt>
                <c:pt idx="9">
                  <c:v>0.819672131147541</c:v>
                </c:pt>
                <c:pt idx="10">
                  <c:v>1.1475409836065573</c:v>
                </c:pt>
                <c:pt idx="11">
                  <c:v>1.4754098360655739</c:v>
                </c:pt>
                <c:pt idx="12">
                  <c:v>1.8032786885245902</c:v>
                </c:pt>
              </c:numCache>
            </c:numRef>
          </c:val>
          <c:smooth val="0"/>
        </c:ser>
        <c:ser>
          <c:idx val="1"/>
          <c:order val="1"/>
          <c:tx>
            <c:strRef>
              <c:f>Sheet1!$C$1</c:f>
              <c:strCache>
                <c:ptCount val="1"/>
                <c:pt idx="0">
                  <c:v>gain drift 5 ppm/°C</c:v>
                </c:pt>
              </c:strCache>
            </c:strRef>
          </c:tx>
          <c:spPr>
            <a:solidFill>
              <a:srgbClr val="E76F51"/>
            </a:solidFill>
            <a:ln w="19050" cap="flat">
              <a:solidFill>
                <a:srgbClr val="E76F5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4"/>
            <c:spPr>
              <a:solidFill>
                <a:srgbClr val="E76F51"/>
              </a:solidFill>
              <a:ln w="9525" cap="flat">
                <a:solidFill>
                  <a:srgbClr val="E76F51"/>
                </a:solidFill>
                <a:prstDash val="solid"/>
                <a:round/>
              </a:ln>
              <a:effectLst/>
            </c:spPr>
          </c:marker>
          <c:cat>
            <c:multiLvlStrRef>
              <c:f>Sheet1!$A$2:$A$14</c:f>
              <c:multiLvlStrCache>
                <c:ptCount val="13"/>
                <c:lvl>
                  <c:pt idx="0">
                    <c:v>-40</c:v>
                  </c:pt>
                  <c:pt idx="1">
                    <c:v>-30</c:v>
                  </c:pt>
                  <c:pt idx="2">
                    <c:v>-20</c:v>
                  </c:pt>
                  <c:pt idx="3">
                    <c:v>-10</c:v>
                  </c:pt>
                  <c:pt idx="4">
                    <c:v>0</c:v>
                  </c:pt>
                  <c:pt idx="5">
                    <c:v>10</c:v>
                  </c:pt>
                  <c:pt idx="6">
                    <c:v>20</c:v>
                  </c:pt>
                  <c:pt idx="7">
                    <c:v>30</c:v>
                  </c:pt>
                  <c:pt idx="8">
                    <c:v>40</c:v>
                  </c:pt>
                  <c:pt idx="9">
                    <c:v>50</c:v>
                  </c:pt>
                  <c:pt idx="10">
                    <c:v>60</c:v>
                  </c:pt>
                  <c:pt idx="11">
                    <c:v>70</c:v>
                  </c:pt>
                  <c:pt idx="12">
                    <c:v>80</c:v>
                  </c:pt>
                </c:lvl>
              </c:multiLvlStrCache>
            </c:multiLvlStrRef>
          </c:cat>
          <c:val>
            <c:numRef>
              <c:f>Sheet1!$C$2:$C$14</c:f>
              <c:numCache>
                <c:formatCode>General</c:formatCode>
                <c:ptCount val="13"/>
                <c:pt idx="0">
                  <c:v>21.299200000000003</c:v>
                </c:pt>
                <c:pt idx="1">
                  <c:v>18.0224</c:v>
                </c:pt>
                <c:pt idx="2">
                  <c:v>14.745600000000001</c:v>
                </c:pt>
                <c:pt idx="3">
                  <c:v>11.468800000000002</c:v>
                </c:pt>
                <c:pt idx="4">
                  <c:v>8.192</c:v>
                </c:pt>
                <c:pt idx="5">
                  <c:v>4.9152000000000005</c:v>
                </c:pt>
                <c:pt idx="6">
                  <c:v>1.6384</c:v>
                </c:pt>
                <c:pt idx="7">
                  <c:v>1.6384</c:v>
                </c:pt>
                <c:pt idx="8">
                  <c:v>4.9152000000000005</c:v>
                </c:pt>
                <c:pt idx="9">
                  <c:v>8.192</c:v>
                </c:pt>
                <c:pt idx="10">
                  <c:v>11.468800000000002</c:v>
                </c:pt>
                <c:pt idx="11">
                  <c:v>14.745600000000001</c:v>
                </c:pt>
                <c:pt idx="12">
                  <c:v>18.0224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900" b="0" i="0" u="none" strike="noStrike">
                    <a:solidFill>
                      <a:srgbClr val="5B6B7F"/>
                    </a:solidFill>
                    <a:latin typeface="Calibri"/>
                  </a:defRPr>
                </a:pPr>
                <a:r>
                  <a:rPr sz="900" b="0" i="0" u="none" strike="noStrike">
                    <a:solidFill>
                      <a:srgbClr val="5B6B7F"/>
                    </a:solidFill>
                    <a:latin typeface="Calibri"/>
                  </a:rPr>
                  <a:t>temperature (°C) · calibrated at 25 °C</a:t>
                </a:r>
              </a:p>
            </c:rich>
          </c:tx>
          <c:layout/>
          <c:overlay val="0"/>
        </c:title>
        <c:numFmt formatCode="General" sourceLinked="1"/>
        <c:majorTickMark val="none"/>
        <c:minorTickMark val="none"/>
        <c:tickLblPos val="low"/>
        <c:spPr>
          <a:ln w="12700" cap="flat">
            <a:solidFill>
              <a:srgbClr val="888888"/>
            </a:solidFill>
            <a:prstDash val="solid"/>
            <a:round/>
          </a:ln>
        </c:spPr>
        <c:txPr>
          <a:bodyPr/>
          <a:lstStyle/>
          <a:p>
            <a:pPr>
              <a:defRPr sz="900" b="0" i="0" u="none" strike="noStrike">
                <a:solidFill>
                  <a:srgbClr val="5B6B7F"/>
                </a:solidFill>
                <a:latin typeface="Calibri"/>
              </a:defRPr>
            </a:pPr>
            <a:endParaRPr lang="en-US"/>
          </a:p>
        </c:txPr>
        <c:crossAx val="2094734552"/>
        <c:crosses val="min"/>
        <c:auto val="1"/>
        <c:lblAlgn val="ctr"/>
        <c:noMultiLvlLbl val="1"/>
      </c:catAx>
      <c:valAx>
        <c:axId val="2094734552"/>
        <c:scaling>
          <c:orientation val="minMax"/>
        </c:scaling>
        <c:delete val="0"/>
        <c:axPos val="l"/>
        <c:majorGridlines>
          <c:spPr>
            <a:ln w="6350" cap="flat">
              <a:solidFill>
                <a:srgbClr val="D9E1EA"/>
              </a:solidFill>
              <a:prstDash val="solid"/>
              <a:round/>
            </a:ln>
          </c:spPr>
        </c:majorGridlines>
        <c:title>
          <c:tx>
            <c:rich>
              <a:bodyPr/>
              <a:lstStyle/>
              <a:p>
                <a:pPr>
                  <a:defRPr sz="900" b="0" i="0" u="none" strike="noStrike">
                    <a:solidFill>
                      <a:srgbClr val="5B6B7F"/>
                    </a:solidFill>
                    <a:latin typeface="Calibri"/>
                  </a:defRPr>
                </a:pPr>
                <a:r>
                  <a:rPr sz="900" b="0" i="0" u="none" strike="noStrike">
                    <a:solidFill>
                      <a:srgbClr val="5B6B7F"/>
                    </a:solidFill>
                    <a:latin typeface="Calibri"/>
                  </a:rPr>
                  <a:t>error at 16 bits (LSB)</a:t>
                </a:r>
              </a:p>
            </c:rich>
          </c:tx>
          <c:layout/>
          <c:overlay val="0"/>
        </c:title>
        <c:numFmt formatCode="General" sourceLinked="0"/>
        <c:majorTickMark val="none"/>
        <c:minorTickMark val="none"/>
        <c:tickLblPos val="nextTo"/>
        <c:spPr>
          <a:ln w="12700" cap="flat">
            <a:noFill/>
            <a:prstDash val="solid"/>
            <a:round/>
          </a:ln>
        </c:spPr>
        <c:txPr>
          <a:bodyPr/>
          <a:lstStyle/>
          <a:p>
            <a:pPr>
              <a:defRPr sz="900" b="0" i="0" u="none" strike="noStrike">
                <a:solidFill>
                  <a:srgbClr val="5B6B7F"/>
                </a:solidFill>
                <a:latin typeface="Calibri"/>
              </a:defRPr>
            </a:pPr>
            <a:endParaRPr lang="en-US"/>
          </a:p>
        </c:txPr>
        <c:crossAx val="2094734554"/>
        <c:crosses val="autoZero"/>
        <c:crossBetween val="between"/>
        <c:majorUnit val="5"/>
      </c:valAx>
      <c:spPr>
        <a:solidFill>
          <a:srgbClr val="FFFFFF"/>
        </a:solidFill>
        <a:ln>
          <a:noFill/>
        </a:ln>
        <a:effectLst/>
      </c:spPr>
    </c:plotArea>
    <c:legend>
      <c:legendPos val="b"/>
      <c:overlay val="0"/>
      <c:txPr>
        <a:bodyPr/>
        <a:lstStyle/>
        <a:p>
          <a:pPr>
            <a:defRPr sz="900">
              <a:solidFill>
                <a:srgbClr val="14213D"/>
              </a:solidFill>
              <a:latin typeface="Calibri"/>
              <a:cs typeface="Calibri"/>
            </a:defRPr>
          </a:pPr>
          <a:endParaRPr lang="en-US"/>
        </a:p>
      </c:txPr>
    </c:legend>
    <c:plotVisOnly val="1"/>
    <c:dispBlanksAs val="span"/>
  </c:chart>
  <c:spPr>
    <a:solidFill>
      <a:srgbClr val="FFFFFF"/>
    </a:solidFill>
    <a:ln>
      <a:noFill/>
    </a:ln>
    <a:effectLst/>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lineChart>
        <c:varyColors val="0"/>
        <c:ser>
          <c:idx val="0"/>
          <c:order val="0"/>
          <c:tx>
            <c:strRef>
              <c:f>Sheet1!$B$1</c:f>
              <c:strCache>
                <c:ptCount val="1"/>
                <c:pt idx="0">
                  <c:v>PSRR (dB)</c:v>
                </c:pt>
              </c:strCache>
            </c:strRef>
          </c:tx>
          <c:spPr>
            <a:solidFill>
              <a:srgbClr val="2EC4B6"/>
            </a:solidFill>
            <a:ln w="19050" cap="flat">
              <a:solidFill>
                <a:srgbClr val="2EC4B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2EC4B6"/>
              </a:solidFill>
              <a:ln w="9525" cap="flat">
                <a:solidFill>
                  <a:srgbClr val="2EC4B6"/>
                </a:solidFill>
                <a:prstDash val="solid"/>
                <a:round/>
              </a:ln>
              <a:effectLst/>
            </c:spPr>
          </c:marker>
          <c:cat>
            <c:multiLvlStrRef>
              <c:f>Sheet1!$A$2:$A$8</c:f>
              <c:multiLvlStrCache>
                <c:ptCount val="7"/>
                <c:lvl>
                  <c:pt idx="0">
                    <c:v>10 </c:v>
                  </c:pt>
                  <c:pt idx="1">
                    <c:v>100 </c:v>
                  </c:pt>
                  <c:pt idx="2">
                    <c:v>1 k</c:v>
                  </c:pt>
                  <c:pt idx="3">
                    <c:v>10 k</c:v>
                  </c:pt>
                  <c:pt idx="4">
                    <c:v>100 k</c:v>
                  </c:pt>
                  <c:pt idx="5">
                    <c:v>1 M</c:v>
                  </c:pt>
                  <c:pt idx="6">
                    <c:v>10 M</c:v>
                  </c:pt>
                </c:lvl>
              </c:multiLvlStrCache>
            </c:multiLvlStrRef>
          </c:cat>
          <c:val>
            <c:numRef>
              <c:f>Sheet1!$B$2:$B$8</c:f>
              <c:numCache>
                <c:formatCode>General</c:formatCode>
                <c:ptCount val="7"/>
                <c:pt idx="0">
                  <c:v>130</c:v>
                </c:pt>
                <c:pt idx="1">
                  <c:v>110</c:v>
                </c:pt>
                <c:pt idx="2">
                  <c:v>90</c:v>
                </c:pt>
                <c:pt idx="3">
                  <c:v>70</c:v>
                </c:pt>
                <c:pt idx="4">
                  <c:v>50</c:v>
                </c:pt>
                <c:pt idx="5">
                  <c:v>30</c:v>
                </c:pt>
                <c:pt idx="6">
                  <c:v>20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900" b="0" i="0" u="none" strike="noStrike">
                    <a:solidFill>
                      <a:srgbClr val="5B6B7F"/>
                    </a:solidFill>
                    <a:latin typeface="Calibri"/>
                  </a:defRPr>
                </a:pPr>
                <a:r>
                  <a:rPr sz="900" b="0" i="0" u="none" strike="noStrike">
                    <a:solidFill>
                      <a:srgbClr val="5B6B7F"/>
                    </a:solidFill>
                    <a:latin typeface="Calibri"/>
                  </a:rPr>
                  <a:t>supply ripple frequency (Hz)</a:t>
                </a:r>
              </a:p>
            </c:rich>
          </c:tx>
          <c:layout/>
          <c:overlay val="0"/>
        </c:title>
        <c:numFmt formatCode="General" sourceLinked="1"/>
        <c:majorTickMark val="none"/>
        <c:minorTickMark val="none"/>
        <c:tickLblPos val="low"/>
        <c:spPr>
          <a:ln w="12700" cap="flat">
            <a:solidFill>
              <a:srgbClr val="888888"/>
            </a:solidFill>
            <a:prstDash val="solid"/>
            <a:round/>
          </a:ln>
        </c:spPr>
        <c:txPr>
          <a:bodyPr/>
          <a:lstStyle/>
          <a:p>
            <a:pPr>
              <a:defRPr sz="900" b="0" i="0" u="none" strike="noStrike">
                <a:solidFill>
                  <a:srgbClr val="5B6B7F"/>
                </a:solidFill>
                <a:latin typeface="Calibri"/>
              </a:defRPr>
            </a:pPr>
            <a:endParaRPr lang="en-US"/>
          </a:p>
        </c:txPr>
        <c:crossAx val="2094734552"/>
        <c:crosses val="min"/>
        <c:auto val="1"/>
        <c:lblAlgn val="ctr"/>
        <c:noMultiLvlLbl val="1"/>
      </c:catAx>
      <c:valAx>
        <c:axId val="2094734552"/>
        <c:scaling>
          <c:orientation val="minMax"/>
          <c:max val="100"/>
          <c:min val="0"/>
        </c:scaling>
        <c:delete val="0"/>
        <c:axPos val="l"/>
        <c:majorGridlines>
          <c:spPr>
            <a:ln w="6350" cap="flat">
              <a:solidFill>
                <a:srgbClr val="D9E1EA"/>
              </a:solidFill>
              <a:prstDash val="solid"/>
              <a:round/>
            </a:ln>
          </c:spPr>
        </c:majorGridlines>
        <c:title>
          <c:tx>
            <c:rich>
              <a:bodyPr/>
              <a:lstStyle/>
              <a:p>
                <a:pPr>
                  <a:defRPr sz="900" b="0" i="0" u="none" strike="noStrike">
                    <a:solidFill>
                      <a:srgbClr val="5B6B7F"/>
                    </a:solidFill>
                    <a:latin typeface="Calibri"/>
                  </a:defRPr>
                </a:pPr>
                <a:r>
                  <a:rPr sz="900" b="0" i="0" u="none" strike="noStrike">
                    <a:solidFill>
                      <a:srgbClr val="5B6B7F"/>
                    </a:solidFill>
                    <a:latin typeface="Calibri"/>
                  </a:rPr>
                  <a:t>rejection (dB)</a:t>
                </a:r>
              </a:p>
            </c:rich>
          </c:tx>
          <c:layout/>
          <c:overlay val="0"/>
        </c:title>
        <c:numFmt formatCode="General" sourceLinked="0"/>
        <c:majorTickMark val="none"/>
        <c:minorTickMark val="none"/>
        <c:tickLblPos val="nextTo"/>
        <c:spPr>
          <a:ln w="12700" cap="flat">
            <a:noFill/>
            <a:prstDash val="solid"/>
            <a:round/>
          </a:ln>
        </c:spPr>
        <c:txPr>
          <a:bodyPr/>
          <a:lstStyle/>
          <a:p>
            <a:pPr>
              <a:defRPr sz="900" b="0" i="0" u="none" strike="noStrike">
                <a:solidFill>
                  <a:srgbClr val="5B6B7F"/>
                </a:solidFill>
                <a:latin typeface="Calibri"/>
              </a:defRPr>
            </a:pPr>
            <a:endParaRPr lang="en-US"/>
          </a:p>
        </c:txPr>
        <c:crossAx val="2094734554"/>
        <c:crosses val="autoZero"/>
        <c:crossBetween val="between"/>
        <c:majorUnit val="25"/>
      </c:valAx>
      <c:spPr>
        <a:solidFill>
          <a:srgbClr val="FFFFFF"/>
        </a:solidFill>
        <a:ln>
          <a:noFill/>
        </a:ln>
        <a:effectLst/>
      </c:spPr>
    </c:plotArea>
    <c:plotVisOnly val="1"/>
    <c:dispBlanksAs val="span"/>
  </c:chart>
  <c:spPr>
    <a:solidFill>
      <a:srgbClr val="FFFFFF"/>
    </a:solidFill>
    <a:ln>
      <a:noFill/>
    </a:ln>
    <a:effectLst/>
  </c:sp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lineChart>
        <c:varyColors val="0"/>
        <c:ser>
          <c:idx val="0"/>
          <c:order val="0"/>
          <c:tx>
            <c:strRef>
              <c:f>Sheet1!$B$1</c:f>
              <c:strCache>
                <c:ptCount val="1"/>
                <c:pt idx="0">
                  <c:v>ideal 6.02N + 1.76</c:v>
                </c:pt>
              </c:strCache>
            </c:strRef>
          </c:tx>
          <c:spPr>
            <a:solidFill>
              <a:srgbClr val="2EC4B6"/>
            </a:solidFill>
            <a:ln w="19050" cap="flat">
              <a:solidFill>
                <a:srgbClr val="2EC4B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2EC4B6"/>
              </a:solidFill>
              <a:ln w="9525" cap="flat">
                <a:solidFill>
                  <a:srgbClr val="2EC4B6"/>
                </a:solidFill>
                <a:prstDash val="solid"/>
                <a:round/>
              </a:ln>
              <a:effectLst/>
            </c:spPr>
          </c:marker>
          <c:cat>
            <c:multiLvlStrRef>
              <c:f>Sheet1!$A$2:$A$7</c:f>
              <c:multiLvlStrCache>
                <c:ptCount val="6"/>
                <c:lvl>
                  <c:pt idx="0">
                    <c:v>8</c:v>
                  </c:pt>
                  <c:pt idx="1">
                    <c:v>10</c:v>
                  </c:pt>
                  <c:pt idx="2">
                    <c:v>12</c:v>
                  </c:pt>
                  <c:pt idx="3">
                    <c:v>14</c:v>
                  </c:pt>
                  <c:pt idx="4">
                    <c:v>16</c:v>
                  </c:pt>
                  <c:pt idx="5">
                    <c:v>18</c:v>
                  </c:pt>
                </c:lvl>
              </c:multiLvlStrCache>
            </c:multiLvlStrRef>
          </c:cat>
          <c:val>
            <c:numRef>
              <c:f>Sheet1!$B$2:$B$7</c:f>
              <c:numCache>
                <c:formatCode>General</c:formatCode>
                <c:ptCount val="6"/>
                <c:pt idx="0">
                  <c:v>49.919999999999995</c:v>
                </c:pt>
                <c:pt idx="1">
                  <c:v>61.959999999999994</c:v>
                </c:pt>
                <c:pt idx="2">
                  <c:v>74</c:v>
                </c:pt>
                <c:pt idx="3">
                  <c:v>86.04</c:v>
                </c:pt>
                <c:pt idx="4">
                  <c:v>98.08</c:v>
                </c:pt>
                <c:pt idx="5">
                  <c:v>110.11999999999999</c:v>
                </c:pt>
              </c:numCache>
            </c:numRef>
          </c:val>
          <c:smooth val="0"/>
        </c:ser>
        <c:ser>
          <c:idx val="1"/>
          <c:order val="1"/>
          <c:tx>
            <c:strRef>
              <c:f>Sheet1!$C$1</c:f>
              <c:strCache>
                <c:ptCount val="1"/>
                <c:pt idx="0">
                  <c:v>a typical real part</c:v>
                </c:pt>
              </c:strCache>
            </c:strRef>
          </c:tx>
          <c:spPr>
            <a:solidFill>
              <a:srgbClr val="E76F51"/>
            </a:solidFill>
            <a:ln w="19050" cap="flat">
              <a:solidFill>
                <a:srgbClr val="E76F5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E76F51"/>
              </a:solidFill>
              <a:ln w="9525" cap="flat">
                <a:solidFill>
                  <a:srgbClr val="E76F51"/>
                </a:solidFill>
                <a:prstDash val="solid"/>
                <a:round/>
              </a:ln>
              <a:effectLst/>
            </c:spPr>
          </c:marker>
          <c:cat>
            <c:multiLvlStrRef>
              <c:f>Sheet1!$A$2:$A$7</c:f>
              <c:multiLvlStrCache>
                <c:ptCount val="6"/>
                <c:lvl>
                  <c:pt idx="0">
                    <c:v>8</c:v>
                  </c:pt>
                  <c:pt idx="1">
                    <c:v>10</c:v>
                  </c:pt>
                  <c:pt idx="2">
                    <c:v>12</c:v>
                  </c:pt>
                  <c:pt idx="3">
                    <c:v>14</c:v>
                  </c:pt>
                  <c:pt idx="4">
                    <c:v>16</c:v>
                  </c:pt>
                  <c:pt idx="5">
                    <c:v>18</c:v>
                  </c:pt>
                </c:lvl>
              </c:multiLvlStrCache>
            </c:multiLvlStrRef>
          </c:cat>
          <c:val>
            <c:numRef>
              <c:f>Sheet1!$C$2:$C$7</c:f>
              <c:numCache>
                <c:formatCode>General</c:formatCode>
                <c:ptCount val="6"/>
                <c:pt idx="0">
                  <c:v>47.919999999999995</c:v>
                </c:pt>
                <c:pt idx="1">
                  <c:v>59.25999999999999</c:v>
                </c:pt>
                <c:pt idx="2">
                  <c:v>70.6</c:v>
                </c:pt>
                <c:pt idx="3">
                  <c:v>81.94000000000001</c:v>
                </c:pt>
                <c:pt idx="4">
                  <c:v>93.28</c:v>
                </c:pt>
                <c:pt idx="5">
                  <c:v>104.61999999999999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900" b="0" i="0" u="none" strike="noStrike">
                    <a:solidFill>
                      <a:srgbClr val="5B6B7F"/>
                    </a:solidFill>
                    <a:latin typeface="Calibri"/>
                  </a:defRPr>
                </a:pPr>
                <a:r>
                  <a:rPr sz="900" b="0" i="0" u="none" strike="noStrike">
                    <a:solidFill>
                      <a:srgbClr val="5B6B7F"/>
                    </a:solidFill>
                    <a:latin typeface="Calibri"/>
                  </a:rPr>
                  <a:t>resolution (bits)</a:t>
                </a:r>
              </a:p>
            </c:rich>
          </c:tx>
          <c:layout/>
          <c:overlay val="0"/>
        </c:title>
        <c:numFmt formatCode="General" sourceLinked="1"/>
        <c:majorTickMark val="none"/>
        <c:minorTickMark val="none"/>
        <c:tickLblPos val="low"/>
        <c:spPr>
          <a:ln w="12700" cap="flat">
            <a:solidFill>
              <a:srgbClr val="888888"/>
            </a:solidFill>
            <a:prstDash val="solid"/>
            <a:round/>
          </a:ln>
        </c:spPr>
        <c:txPr>
          <a:bodyPr/>
          <a:lstStyle/>
          <a:p>
            <a:pPr>
              <a:defRPr sz="900" b="0" i="0" u="none" strike="noStrike">
                <a:solidFill>
                  <a:srgbClr val="5B6B7F"/>
                </a:solidFill>
                <a:latin typeface="Calibri"/>
              </a:defRPr>
            </a:pPr>
            <a:endParaRPr lang="en-US"/>
          </a:p>
        </c:txPr>
        <c:crossAx val="2094734552"/>
        <c:crosses val="min"/>
        <c:auto val="1"/>
        <c:lblAlgn val="ctr"/>
        <c:noMultiLvlLbl val="1"/>
      </c:catAx>
      <c:valAx>
        <c:axId val="2094734552"/>
        <c:scaling>
          <c:orientation val="minMax"/>
          <c:max val="120"/>
          <c:min val="40"/>
        </c:scaling>
        <c:delete val="0"/>
        <c:axPos val="l"/>
        <c:majorGridlines>
          <c:spPr>
            <a:ln w="6350" cap="flat">
              <a:solidFill>
                <a:srgbClr val="D9E1EA"/>
              </a:solidFill>
              <a:prstDash val="solid"/>
              <a:round/>
            </a:ln>
          </c:spPr>
        </c:majorGridlines>
        <c:title>
          <c:tx>
            <c:rich>
              <a:bodyPr/>
              <a:lstStyle/>
              <a:p>
                <a:pPr>
                  <a:defRPr sz="900" b="0" i="0" u="none" strike="noStrike">
                    <a:solidFill>
                      <a:srgbClr val="5B6B7F"/>
                    </a:solidFill>
                    <a:latin typeface="Calibri"/>
                  </a:defRPr>
                </a:pPr>
                <a:r>
                  <a:rPr sz="900" b="0" i="0" u="none" strike="noStrike">
                    <a:solidFill>
                      <a:srgbClr val="5B6B7F"/>
                    </a:solidFill>
                    <a:latin typeface="Calibri"/>
                  </a:rPr>
                  <a:t>SNR (dB)</a:t>
                </a:r>
              </a:p>
            </c:rich>
          </c:tx>
          <c:layout/>
          <c:overlay val="0"/>
        </c:title>
        <c:numFmt formatCode="General" sourceLinked="0"/>
        <c:majorTickMark val="none"/>
        <c:minorTickMark val="none"/>
        <c:tickLblPos val="nextTo"/>
        <c:spPr>
          <a:ln w="12700" cap="flat">
            <a:noFill/>
            <a:prstDash val="solid"/>
            <a:round/>
          </a:ln>
        </c:spPr>
        <c:txPr>
          <a:bodyPr/>
          <a:lstStyle/>
          <a:p>
            <a:pPr>
              <a:defRPr sz="900" b="0" i="0" u="none" strike="noStrike">
                <a:solidFill>
                  <a:srgbClr val="5B6B7F"/>
                </a:solidFill>
                <a:latin typeface="Calibri"/>
              </a:defRPr>
            </a:pPr>
            <a:endParaRPr lang="en-US"/>
          </a:p>
        </c:txPr>
        <c:crossAx val="2094734554"/>
        <c:crosses val="autoZero"/>
        <c:crossBetween val="between"/>
        <c:majorUnit val="20"/>
      </c:valAx>
      <c:spPr>
        <a:solidFill>
          <a:srgbClr val="FFFFFF"/>
        </a:solidFill>
        <a:ln>
          <a:noFill/>
        </a:ln>
        <a:effectLst/>
      </c:spPr>
    </c:plotArea>
    <c:legend>
      <c:legendPos val="b"/>
      <c:overlay val="0"/>
      <c:txPr>
        <a:bodyPr/>
        <a:lstStyle/>
        <a:p>
          <a:pPr>
            <a:defRPr sz="900">
              <a:solidFill>
                <a:srgbClr val="14213D"/>
              </a:solidFill>
              <a:latin typeface="Calibri"/>
              <a:cs typeface="Calibri"/>
            </a:defRPr>
          </a:pPr>
          <a:endParaRPr lang="en-US"/>
        </a:p>
      </c:txPr>
    </c:legend>
    <c:plotVisOnly val="1"/>
    <c:dispBlanksAs val="span"/>
  </c:chart>
  <c:spPr>
    <a:solidFill>
      <a:srgbClr val="FFFFFF"/>
    </a:solidFill>
    <a:ln>
      <a:noFill/>
    </a:ln>
    <a:effectLst/>
  </c:sp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barChart>
        <c:barDir val="col"/>
        <c:grouping val="clustered"/>
        <c:varyColors val="0"/>
        <c:ser>
          <c:idx val="0"/>
          <c:order val="0"/>
          <c:tx>
            <c:strRef>
              <c:f>Sheet1!$B$1</c:f>
              <c:strCache>
                <c:ptCount val="1"/>
                <c:pt idx="0">
                  <c:v>readings per code</c:v>
                </c:pt>
              </c:strCache>
            </c:strRef>
          </c:tx>
          <c:spPr>
            <a:solidFill>
              <a:srgbClr val="2EC4B6"/>
            </a:solidFill>
            <a:effectLst/>
          </c:spPr>
          <c:invertIfNegative val="0"/>
          <c:dLbls>
            <c:numFmt formatCode="#,##0" sourceLinked="0"/>
            <c:txPr>
              <a:bodyPr/>
              <a:lstStyle/>
              <a:p>
                <a:pPr>
                  <a:defRPr b="0" i="0" strike="noStrike" sz="900" u="none">
                    <a:solidFill>
                      <a:srgbClr val="14213D"/>
                    </a:solidFill>
                    <a:latin typeface="Calibri"/>
                  </a:defRPr>
                </a:pPr>
              </a:p>
            </c:txPr>
            <c:showLegendKey val="0"/>
            <c:showVal val="0"/>
            <c:showCatName val="0"/>
            <c:showSerName val="0"/>
            <c:showPercent val="0"/>
            <c:showBubbleSize val="0"/>
            <c:showLeaderLines val="0"/>
          </c:dLbls>
          <c:cat>
            <c:multiLvlStrRef>
              <c:f>Sheet1!$A$2:$A$14</c:f>
              <c:multiLvlStrCache>
                <c:ptCount val="13"/>
                <c:lvl>
                  <c:pt idx="0">
                    <c:v>-6</c:v>
                  </c:pt>
                  <c:pt idx="1">
                    <c:v>-5</c:v>
                  </c:pt>
                  <c:pt idx="2">
                    <c:v>-4</c:v>
                  </c:pt>
                  <c:pt idx="3">
                    <c:v>-3</c:v>
                  </c:pt>
                  <c:pt idx="4">
                    <c:v>-2</c:v>
                  </c:pt>
                  <c:pt idx="5">
                    <c:v>-1</c:v>
                  </c:pt>
                  <c:pt idx="6">
                    <c:v>0</c:v>
                  </c:pt>
                  <c:pt idx="7">
                    <c:v>1</c:v>
                  </c:pt>
                  <c:pt idx="8">
                    <c:v>2</c:v>
                  </c:pt>
                  <c:pt idx="9">
                    <c:v>3</c:v>
                  </c:pt>
                  <c:pt idx="10">
                    <c:v>4</c:v>
                  </c:pt>
                  <c:pt idx="11">
                    <c:v>5</c:v>
                  </c:pt>
                  <c:pt idx="12">
                    <c:v>6</c:v>
                  </c:pt>
                </c:lvl>
              </c:multiLvlStrCache>
            </c:multiLvlStrRef>
          </c:cat>
          <c:val>
            <c:numRef>
              <c:f>Sheet1!$B$2:$B$14</c:f>
              <c:numCache>
                <c:formatCode>General</c:formatCode>
                <c:ptCount val="13"/>
                <c:pt idx="0">
                  <c:v>26</c:v>
                </c:pt>
                <c:pt idx="1">
                  <c:v>144</c:v>
                </c:pt>
                <c:pt idx="2">
                  <c:v>493</c:v>
                </c:pt>
                <c:pt idx="3">
                  <c:v>1210</c:v>
                </c:pt>
                <c:pt idx="4">
                  <c:v>2468</c:v>
                </c:pt>
                <c:pt idx="5">
                  <c:v>3652</c:v>
                </c:pt>
                <c:pt idx="6">
                  <c:v>4057</c:v>
                </c:pt>
                <c:pt idx="7">
                  <c:v>3582</c:v>
                </c:pt>
                <c:pt idx="8">
                  <c:v>2518</c:v>
                </c:pt>
                <c:pt idx="9">
                  <c:v>1222</c:v>
                </c:pt>
                <c:pt idx="10">
                  <c:v>455</c:v>
                </c:pt>
                <c:pt idx="11">
                  <c:v>136</c:v>
                </c:pt>
                <c:pt idx="12">
                  <c:v>34</c:v>
                </c:pt>
              </c:numCache>
            </c:numRef>
          </c:val>
        </c:ser>
        <c:dLbls>
          <c:numFmt formatCode="#,##0" sourceLinked="0"/>
          <c:txPr>
            <a:bodyPr/>
            <a:lstStyle/>
            <a:p>
              <a:pPr>
                <a:defRPr b="0" i="0" strike="noStrike" sz="900" u="none">
                  <a:solidFill>
                    <a:srgbClr val="14213D"/>
                  </a:solidFill>
                  <a:latin typeface="Calibri"/>
                </a:defRPr>
              </a:pPr>
            </a:p>
          </c:txPr>
          <c:showLegendKey val="0"/>
          <c:showVal val="0"/>
          <c:showCatName val="0"/>
          <c:showSerName val="0"/>
          <c:showPercent val="0"/>
          <c:showBubbleSize val="0"/>
          <c:showLeaderLines val="0"/>
        </c:dLbls>
        <c:gapWidth val="15"/>
        <c:overlap val="0"/>
        <c:axId val="2094734554"/>
        <c:axId val="2094734552"/>
        <c:axId val="2094734556"/>
      </c:barChart>
      <c:catAx>
        <c:axId val="2094734554"/>
        <c:scaling>
          <c:orientation val="minMax"/>
        </c:scaling>
        <c:delete val="0"/>
        <c:axPos val="b"/>
        <c:title>
          <c:tx>
            <c:rich>
              <a:bodyPr/>
              <a:lstStyle/>
              <a:p>
                <a:pPr>
                  <a:defRPr sz="900" b="0" i="0" u="none" strike="noStrike">
                    <a:solidFill>
                      <a:srgbClr val="5B6B7F"/>
                    </a:solidFill>
                    <a:latin typeface="Calibri"/>
                  </a:defRPr>
                </a:pPr>
                <a:r>
                  <a:rPr sz="900" b="0" i="0" u="none" strike="noStrike">
                    <a:solidFill>
                      <a:srgbClr val="5B6B7F"/>
                    </a:solidFill>
                    <a:latin typeface="Calibri"/>
                  </a:rPr>
                  <a:t>output code, input shorted · σ = 1.9 LSB</a:t>
                </a:r>
              </a:p>
            </c:rich>
          </c:tx>
          <c:layout/>
          <c:overlay val="0"/>
        </c:title>
        <c:numFmt formatCode="General" sourceLinked="1"/>
        <c:majorTickMark val="none"/>
        <c:minorTickMark val="none"/>
        <c:tickLblPos val="low"/>
        <c:spPr>
          <a:ln w="12700" cap="flat">
            <a:solidFill>
              <a:srgbClr val="888888"/>
            </a:solidFill>
            <a:prstDash val="solid"/>
            <a:round/>
          </a:ln>
        </c:spPr>
        <c:txPr>
          <a:bodyPr/>
          <a:lstStyle/>
          <a:p>
            <a:pPr>
              <a:defRPr sz="900" b="0" i="0" u="none" strike="noStrike">
                <a:solidFill>
                  <a:srgbClr val="5B6B7F"/>
                </a:solidFill>
                <a:latin typeface="Calibri"/>
              </a:defRPr>
            </a:pPr>
            <a:endParaRPr lang="en-US"/>
          </a:p>
        </c:txPr>
        <c:crossAx val="2094734552"/>
        <c:crosses val="min"/>
        <c:auto val="1"/>
        <c:lblAlgn val="ctr"/>
        <c:noMultiLvlLbl val="1"/>
      </c:catAx>
      <c:valAx>
        <c:axId val="2094734552"/>
        <c:scaling>
          <c:orientation val="minMax"/>
        </c:scaling>
        <c:delete val="0"/>
        <c:axPos val="l"/>
        <c:majorGridlines>
          <c:spPr>
            <a:ln w="6350" cap="flat">
              <a:solidFill>
                <a:srgbClr val="D9E1EA"/>
              </a:solidFill>
              <a:prstDash val="solid"/>
              <a:round/>
            </a:ln>
          </c:spPr>
        </c:majorGridlines>
        <c:numFmt formatCode="General" sourceLinked="0"/>
        <c:majorTickMark val="none"/>
        <c:minorTickMark val="none"/>
        <c:tickLblPos val="nextTo"/>
        <c:spPr>
          <a:ln w="12700" cap="flat">
            <a:noFill/>
            <a:prstDash val="solid"/>
            <a:round/>
          </a:ln>
        </c:spPr>
        <c:txPr>
          <a:bodyPr/>
          <a:lstStyle/>
          <a:p>
            <a:pPr>
              <a:defRPr sz="900" b="0" i="0" u="none" strike="noStrike">
                <a:solidFill>
                  <a:srgbClr val="5B6B7F"/>
                </a:solidFill>
                <a:latin typeface="Calibri"/>
              </a:defRPr>
            </a:pPr>
            <a:endParaRPr lang="en-US"/>
          </a:p>
        </c:txPr>
        <c:crossAx val="2094734554"/>
        <c:crosses val="autoZero"/>
        <c:crossBetween val="between"/>
      </c:valAx>
      <c:spPr>
        <a:solidFill>
          <a:srgbClr val="FFFFFF"/>
        </a:solidFill>
        <a:ln>
          <a:noFill/>
        </a:ln>
        <a:effectLst/>
      </c:spPr>
    </c:plotArea>
    <c:plotVisOnly val="1"/>
    <c:dispBlanksAs val="span"/>
  </c:chart>
  <c:spPr>
    <a:solidFill>
      <a:srgbClr val="FFFFFF"/>
    </a:solidFill>
    <a:ln>
      <a:noFill/>
    </a:ln>
    <a:effectLst/>
  </c:sp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lineChart>
        <c:varyColors val="0"/>
        <c:ser>
          <c:idx val="0"/>
          <c:order val="0"/>
          <c:tx>
            <c:strRef>
              <c:f>Sheet1!$B$1</c:f>
              <c:strCache>
                <c:ptCount val="1"/>
                <c:pt idx="0">
                  <c:v>one tone in, harmonics out</c:v>
                </c:pt>
              </c:strCache>
            </c:strRef>
          </c:tx>
          <c:spPr>
            <a:solidFill>
              <a:srgbClr val="2EC4B6"/>
            </a:solidFill>
            <a:ln w="15875" cap="flat">
              <a:solidFill>
                <a:srgbClr val="2EC4B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EC4B6"/>
              </a:solidFill>
              <a:ln w="9525" cap="flat">
                <a:solidFill>
                  <a:srgbClr val="2EC4B6"/>
                </a:solidFill>
                <a:prstDash val="solid"/>
                <a:round/>
              </a:ln>
              <a:effectLst/>
            </c:spPr>
          </c:marker>
          <c:cat>
            <c:multiLvlStrRef>
              <c:f>Sheet1!$A$2:$A$701</c:f>
              <c:multiLvlStrCache>
                <c:ptCount val="700"/>
                <c:lvl>
                  <c:pt idx="0">
                    <c:v>0.00</c:v>
                  </c:pt>
                  <c:pt idx="1">
                    <c:v>0.00</c:v>
                  </c:pt>
                  <c:pt idx="2">
                    <c:v>0.00</c:v>
                  </c:pt>
                  <c:pt idx="3">
                    <c:v>0.00</c:v>
                  </c:pt>
                  <c:pt idx="4">
                    <c:v>0.00</c:v>
                  </c:pt>
                  <c:pt idx="5">
                    <c:v>0.00</c:v>
                  </c:pt>
                  <c:pt idx="6">
                    <c:v>0.00</c:v>
                  </c:pt>
                  <c:pt idx="7">
                    <c:v>0.00</c:v>
                  </c:pt>
                  <c:pt idx="8">
                    <c:v>0.00</c:v>
                  </c:pt>
                  <c:pt idx="9">
                    <c:v>0.00</c:v>
                  </c:pt>
                  <c:pt idx="10">
                    <c:v>0.00</c:v>
                  </c:pt>
                  <c:pt idx="11">
                    <c:v>0.00</c:v>
                  </c:pt>
                  <c:pt idx="12">
                    <c:v>0.00</c:v>
                  </c:pt>
                  <c:pt idx="13">
                    <c:v>0.00</c:v>
                  </c:pt>
                  <c:pt idx="14">
                    <c:v>0.00</c:v>
                  </c:pt>
                  <c:pt idx="15">
                    <c:v>0.00</c:v>
                  </c:pt>
                  <c:pt idx="16">
                    <c:v>0.00</c:v>
                  </c:pt>
                  <c:pt idx="17">
                    <c:v>0.00</c:v>
                  </c:pt>
                  <c:pt idx="18">
                    <c:v>0.00</c:v>
                  </c:pt>
                  <c:pt idx="19">
                    <c:v>0.00</c:v>
                  </c:pt>
                  <c:pt idx="20">
                    <c:v>0.00</c:v>
                  </c:pt>
                  <c:pt idx="21">
                    <c:v>0.01</c:v>
                  </c:pt>
                  <c:pt idx="22">
                    <c:v>0.01</c:v>
                  </c:pt>
                  <c:pt idx="23">
                    <c:v>0.01</c:v>
                  </c:pt>
                  <c:pt idx="24">
                    <c:v>0.01</c:v>
                  </c:pt>
                  <c:pt idx="25">
                    <c:v>0.01</c:v>
                  </c:pt>
                  <c:pt idx="26">
                    <c:v>0.01</c:v>
                  </c:pt>
                  <c:pt idx="27">
                    <c:v>0.01</c:v>
                  </c:pt>
                  <c:pt idx="28">
                    <c:v>0.01</c:v>
                  </c:pt>
                  <c:pt idx="29">
                    <c:v>0.01</c:v>
                  </c:pt>
                  <c:pt idx="30">
                    <c:v>0.01</c:v>
                  </c:pt>
                  <c:pt idx="31">
                    <c:v>0.01</c:v>
                  </c:pt>
                  <c:pt idx="32">
                    <c:v>0.01</c:v>
                  </c:pt>
                  <c:pt idx="33">
                    <c:v>0.01</c:v>
                  </c:pt>
                  <c:pt idx="34">
                    <c:v>0.01</c:v>
                  </c:pt>
                  <c:pt idx="35">
                    <c:v>0.01</c:v>
                  </c:pt>
                  <c:pt idx="36">
                    <c:v>0.01</c:v>
                  </c:pt>
                  <c:pt idx="37">
                    <c:v>0.01</c:v>
                  </c:pt>
                  <c:pt idx="38">
                    <c:v>0.01</c:v>
                  </c:pt>
                  <c:pt idx="39">
                    <c:v>0.01</c:v>
                  </c:pt>
                  <c:pt idx="40">
                    <c:v>0.01</c:v>
                  </c:pt>
                  <c:pt idx="41">
                    <c:v>0.01</c:v>
                  </c:pt>
                  <c:pt idx="42">
                    <c:v>0.01</c:v>
                  </c:pt>
                  <c:pt idx="43">
                    <c:v>0.01</c:v>
                  </c:pt>
                  <c:pt idx="44">
                    <c:v>0.01</c:v>
                  </c:pt>
                  <c:pt idx="45">
                    <c:v>0.01</c:v>
                  </c:pt>
                  <c:pt idx="46">
                    <c:v>0.01</c:v>
                  </c:pt>
                  <c:pt idx="47">
                    <c:v>0.01</c:v>
                  </c:pt>
                  <c:pt idx="48">
                    <c:v>0.01</c:v>
                  </c:pt>
                  <c:pt idx="49">
                    <c:v>0.01</c:v>
                  </c:pt>
                  <c:pt idx="50">
                    <c:v>0.01</c:v>
                  </c:pt>
                  <c:pt idx="51">
                    <c:v>0.01</c:v>
                  </c:pt>
                  <c:pt idx="52">
                    <c:v>0.01</c:v>
                  </c:pt>
                  <c:pt idx="53">
                    <c:v>0.01</c:v>
                  </c:pt>
                  <c:pt idx="54">
                    <c:v>0.01</c:v>
                  </c:pt>
                  <c:pt idx="55">
                    <c:v>0.01</c:v>
                  </c:pt>
                  <c:pt idx="56">
                    <c:v>0.01</c:v>
                  </c:pt>
                  <c:pt idx="57">
                    <c:v>0.01</c:v>
                  </c:pt>
                  <c:pt idx="58">
                    <c:v>0.01</c:v>
                  </c:pt>
                  <c:pt idx="59">
                    <c:v>0.01</c:v>
                  </c:pt>
                  <c:pt idx="60">
                    <c:v>0.01</c:v>
                  </c:pt>
                  <c:pt idx="61">
                    <c:v>0.01</c:v>
                  </c:pt>
                  <c:pt idx="62">
                    <c:v>0.02</c:v>
                  </c:pt>
                  <c:pt idx="63">
                    <c:v>0.02</c:v>
                  </c:pt>
                  <c:pt idx="64">
                    <c:v>0.02</c:v>
                  </c:pt>
                  <c:pt idx="65">
                    <c:v>0.02</c:v>
                  </c:pt>
                  <c:pt idx="66">
                    <c:v>0.02</c:v>
                  </c:pt>
                  <c:pt idx="67">
                    <c:v>0.02</c:v>
                  </c:pt>
                  <c:pt idx="68">
                    <c:v>0.02</c:v>
                  </c:pt>
                  <c:pt idx="69">
                    <c:v>0.02</c:v>
                  </c:pt>
                  <c:pt idx="70">
                    <c:v>0.02</c:v>
                  </c:pt>
                  <c:pt idx="71">
                    <c:v>0.02</c:v>
                  </c:pt>
                  <c:pt idx="72">
                    <c:v>0.02</c:v>
                  </c:pt>
                  <c:pt idx="73">
                    <c:v>0.02</c:v>
                  </c:pt>
                  <c:pt idx="74">
                    <c:v>0.02</c:v>
                  </c:pt>
                  <c:pt idx="75">
                    <c:v>0.02</c:v>
                  </c:pt>
                  <c:pt idx="76">
                    <c:v>0.02</c:v>
                  </c:pt>
                  <c:pt idx="77">
                    <c:v>0.02</c:v>
                  </c:pt>
                  <c:pt idx="78">
                    <c:v>0.02</c:v>
                  </c:pt>
                  <c:pt idx="79">
                    <c:v>0.02</c:v>
                  </c:pt>
                  <c:pt idx="80">
                    <c:v>0.02</c:v>
                  </c:pt>
                  <c:pt idx="81">
                    <c:v>0.02</c:v>
                  </c:pt>
                  <c:pt idx="82">
                    <c:v>0.02</c:v>
                  </c:pt>
                  <c:pt idx="83">
                    <c:v>0.02</c:v>
                  </c:pt>
                  <c:pt idx="84">
                    <c:v>0.02</c:v>
                  </c:pt>
                  <c:pt idx="85">
                    <c:v>0.02</c:v>
                  </c:pt>
                  <c:pt idx="86">
                    <c:v>0.02</c:v>
                  </c:pt>
                  <c:pt idx="87">
                    <c:v>0.02</c:v>
                  </c:pt>
                  <c:pt idx="88">
                    <c:v>0.02</c:v>
                  </c:pt>
                  <c:pt idx="89">
                    <c:v>0.02</c:v>
                  </c:pt>
                  <c:pt idx="90">
                    <c:v>0.02</c:v>
                  </c:pt>
                  <c:pt idx="91">
                    <c:v>0.02</c:v>
                  </c:pt>
                  <c:pt idx="92">
                    <c:v>0.02</c:v>
                  </c:pt>
                  <c:pt idx="93">
                    <c:v>0.02</c:v>
                  </c:pt>
                  <c:pt idx="94">
                    <c:v>0.02</c:v>
                  </c:pt>
                  <c:pt idx="95">
                    <c:v>0.02</c:v>
                  </c:pt>
                  <c:pt idx="96">
                    <c:v>0.02</c:v>
                  </c:pt>
                  <c:pt idx="97">
                    <c:v>0.02</c:v>
                  </c:pt>
                  <c:pt idx="98">
                    <c:v>0.02</c:v>
                  </c:pt>
                  <c:pt idx="99">
                    <c:v>0.02</c:v>
                  </c:pt>
                  <c:pt idx="100">
                    <c:v>0.02</c:v>
                  </c:pt>
                  <c:pt idx="101">
                    <c:v>0.02</c:v>
                  </c:pt>
                  <c:pt idx="102">
                    <c:v>0.02</c:v>
                  </c:pt>
                  <c:pt idx="103">
                    <c:v>0.03</c:v>
                  </c:pt>
                  <c:pt idx="104">
                    <c:v>0.03</c:v>
                  </c:pt>
                  <c:pt idx="105">
                    <c:v>0.03</c:v>
                  </c:pt>
                  <c:pt idx="106">
                    <c:v>0.03</c:v>
                  </c:pt>
                  <c:pt idx="107">
                    <c:v>0.03</c:v>
                  </c:pt>
                  <c:pt idx="108">
                    <c:v>0.03</c:v>
                  </c:pt>
                  <c:pt idx="109">
                    <c:v>0.03</c:v>
                  </c:pt>
                  <c:pt idx="110">
                    <c:v>0.03</c:v>
                  </c:pt>
                  <c:pt idx="111">
                    <c:v>0.03</c:v>
                  </c:pt>
                  <c:pt idx="112">
                    <c:v>0.03</c:v>
                  </c:pt>
                  <c:pt idx="113">
                    <c:v>0.03</c:v>
                  </c:pt>
                  <c:pt idx="114">
                    <c:v>0.03</c:v>
                  </c:pt>
                  <c:pt idx="115">
                    <c:v>0.03</c:v>
                  </c:pt>
                  <c:pt idx="116">
                    <c:v>0.03</c:v>
                  </c:pt>
                  <c:pt idx="117">
                    <c:v>0.03</c:v>
                  </c:pt>
                  <c:pt idx="118">
                    <c:v>0.03</c:v>
                  </c:pt>
                  <c:pt idx="119">
                    <c:v>0.03</c:v>
                  </c:pt>
                  <c:pt idx="120">
                    <c:v>0.03</c:v>
                  </c:pt>
                  <c:pt idx="121">
                    <c:v>0.03</c:v>
                  </c:pt>
                  <c:pt idx="122">
                    <c:v>0.03</c:v>
                  </c:pt>
                  <c:pt idx="123">
                    <c:v>0.03</c:v>
                  </c:pt>
                  <c:pt idx="124">
                    <c:v>0.03</c:v>
                  </c:pt>
                  <c:pt idx="125">
                    <c:v>0.03</c:v>
                  </c:pt>
                  <c:pt idx="126">
                    <c:v>0.03</c:v>
                  </c:pt>
                  <c:pt idx="127">
                    <c:v>0.03</c:v>
                  </c:pt>
                  <c:pt idx="128">
                    <c:v>0.03</c:v>
                  </c:pt>
                  <c:pt idx="129">
                    <c:v>0.03</c:v>
                  </c:pt>
                  <c:pt idx="130">
                    <c:v>0.03</c:v>
                  </c:pt>
                  <c:pt idx="131">
                    <c:v>0.03</c:v>
                  </c:pt>
                  <c:pt idx="132">
                    <c:v>0.03</c:v>
                  </c:pt>
                  <c:pt idx="133">
                    <c:v>0.03</c:v>
                  </c:pt>
                  <c:pt idx="134">
                    <c:v>0.03</c:v>
                  </c:pt>
                  <c:pt idx="135">
                    <c:v>0.03</c:v>
                  </c:pt>
                  <c:pt idx="136">
                    <c:v>0.03</c:v>
                  </c:pt>
                  <c:pt idx="137">
                    <c:v>0.03</c:v>
                  </c:pt>
                  <c:pt idx="138">
                    <c:v>0.03</c:v>
                  </c:pt>
                  <c:pt idx="139">
                    <c:v>0.03</c:v>
                  </c:pt>
                  <c:pt idx="140">
                    <c:v>0.03</c:v>
                  </c:pt>
                  <c:pt idx="141">
                    <c:v>0.03</c:v>
                  </c:pt>
                  <c:pt idx="142">
                    <c:v>0.03</c:v>
                  </c:pt>
                  <c:pt idx="143">
                    <c:v>0.03</c:v>
                  </c:pt>
                  <c:pt idx="144">
                    <c:v>0.04</c:v>
                  </c:pt>
                  <c:pt idx="145">
                    <c:v>0.04</c:v>
                  </c:pt>
                  <c:pt idx="146">
                    <c:v>0.04</c:v>
                  </c:pt>
                  <c:pt idx="147">
                    <c:v>0.04</c:v>
                  </c:pt>
                  <c:pt idx="148">
                    <c:v>0.04</c:v>
                  </c:pt>
                  <c:pt idx="149">
                    <c:v>0.04</c:v>
                  </c:pt>
                  <c:pt idx="150">
                    <c:v>0.04</c:v>
                  </c:pt>
                  <c:pt idx="151">
                    <c:v>0.04</c:v>
                  </c:pt>
                  <c:pt idx="152">
                    <c:v>0.04</c:v>
                  </c:pt>
                  <c:pt idx="153">
                    <c:v>0.04</c:v>
                  </c:pt>
                  <c:pt idx="154">
                    <c:v>0.04</c:v>
                  </c:pt>
                  <c:pt idx="155">
                    <c:v>0.04</c:v>
                  </c:pt>
                  <c:pt idx="156">
                    <c:v>0.04</c:v>
                  </c:pt>
                  <c:pt idx="157">
                    <c:v>0.04</c:v>
                  </c:pt>
                  <c:pt idx="158">
                    <c:v>0.04</c:v>
                  </c:pt>
                  <c:pt idx="159">
                    <c:v>0.04</c:v>
                  </c:pt>
                  <c:pt idx="160">
                    <c:v>0.04</c:v>
                  </c:pt>
                  <c:pt idx="161">
                    <c:v>0.04</c:v>
                  </c:pt>
                  <c:pt idx="162">
                    <c:v>0.04</c:v>
                  </c:pt>
                  <c:pt idx="163">
                    <c:v>0.04</c:v>
                  </c:pt>
                  <c:pt idx="164">
                    <c:v>0.04</c:v>
                  </c:pt>
                  <c:pt idx="165">
                    <c:v>0.04</c:v>
                  </c:pt>
                  <c:pt idx="166">
                    <c:v>0.04</c:v>
                  </c:pt>
                  <c:pt idx="167">
                    <c:v>0.04</c:v>
                  </c:pt>
                  <c:pt idx="168">
                    <c:v>0.04</c:v>
                  </c:pt>
                  <c:pt idx="169">
                    <c:v>0.04</c:v>
                  </c:pt>
                  <c:pt idx="170">
                    <c:v>0.04</c:v>
                  </c:pt>
                  <c:pt idx="171">
                    <c:v>0.04</c:v>
                  </c:pt>
                  <c:pt idx="172">
                    <c:v>0.04</c:v>
                  </c:pt>
                  <c:pt idx="173">
                    <c:v>0.04</c:v>
                  </c:pt>
                  <c:pt idx="174">
                    <c:v>0.04</c:v>
                  </c:pt>
                  <c:pt idx="175">
                    <c:v>0.04</c:v>
                  </c:pt>
                  <c:pt idx="176">
                    <c:v>0.04</c:v>
                  </c:pt>
                  <c:pt idx="177">
                    <c:v>0.04</c:v>
                  </c:pt>
                  <c:pt idx="178">
                    <c:v>0.04</c:v>
                  </c:pt>
                  <c:pt idx="179">
                    <c:v>0.04</c:v>
                  </c:pt>
                  <c:pt idx="180">
                    <c:v>0.04</c:v>
                  </c:pt>
                  <c:pt idx="181">
                    <c:v>0.04</c:v>
                  </c:pt>
                  <c:pt idx="182">
                    <c:v>0.04</c:v>
                  </c:pt>
                  <c:pt idx="183">
                    <c:v>0.04</c:v>
                  </c:pt>
                  <c:pt idx="184">
                    <c:v>0.04</c:v>
                  </c:pt>
                  <c:pt idx="185">
                    <c:v>0.05</c:v>
                  </c:pt>
                  <c:pt idx="186">
                    <c:v>0.05</c:v>
                  </c:pt>
                  <c:pt idx="187">
                    <c:v>0.05</c:v>
                  </c:pt>
                  <c:pt idx="188">
                    <c:v>0.05</c:v>
                  </c:pt>
                  <c:pt idx="189">
                    <c:v>0.05</c:v>
                  </c:pt>
                  <c:pt idx="190">
                    <c:v>0.05</c:v>
                  </c:pt>
                  <c:pt idx="191">
                    <c:v>0.05</c:v>
                  </c:pt>
                  <c:pt idx="192">
                    <c:v>0.05</c:v>
                  </c:pt>
                  <c:pt idx="193">
                    <c:v>0.05</c:v>
                  </c:pt>
                  <c:pt idx="194">
                    <c:v>0.05</c:v>
                  </c:pt>
                  <c:pt idx="195">
                    <c:v>0.05</c:v>
                  </c:pt>
                  <c:pt idx="196">
                    <c:v>0.05</c:v>
                  </c:pt>
                  <c:pt idx="197">
                    <c:v>0.05</c:v>
                  </c:pt>
                  <c:pt idx="198">
                    <c:v>0.05</c:v>
                  </c:pt>
                  <c:pt idx="199">
                    <c:v>0.05</c:v>
                  </c:pt>
                  <c:pt idx="200">
                    <c:v>0.05</c:v>
                  </c:pt>
                  <c:pt idx="201">
                    <c:v>0.05</c:v>
                  </c:pt>
                  <c:pt idx="202">
                    <c:v>0.05</c:v>
                  </c:pt>
                  <c:pt idx="203">
                    <c:v>0.05</c:v>
                  </c:pt>
                  <c:pt idx="204">
                    <c:v>0.05</c:v>
                  </c:pt>
                  <c:pt idx="205">
                    <c:v>0.05</c:v>
                  </c:pt>
                  <c:pt idx="206">
                    <c:v>0.05</c:v>
                  </c:pt>
                  <c:pt idx="207">
                    <c:v>0.05</c:v>
                  </c:pt>
                  <c:pt idx="208">
                    <c:v>0.05</c:v>
                  </c:pt>
                  <c:pt idx="209">
                    <c:v>0.05</c:v>
                  </c:pt>
                  <c:pt idx="210">
                    <c:v>0.05</c:v>
                  </c:pt>
                  <c:pt idx="211">
                    <c:v>0.05</c:v>
                  </c:pt>
                  <c:pt idx="212">
                    <c:v>0.05</c:v>
                  </c:pt>
                  <c:pt idx="213">
                    <c:v>0.05</c:v>
                  </c:pt>
                  <c:pt idx="214">
                    <c:v>0.05</c:v>
                  </c:pt>
                  <c:pt idx="215">
                    <c:v>0.05</c:v>
                  </c:pt>
                  <c:pt idx="216">
                    <c:v>0.05</c:v>
                  </c:pt>
                  <c:pt idx="217">
                    <c:v>0.05</c:v>
                  </c:pt>
                  <c:pt idx="218">
                    <c:v>0.05</c:v>
                  </c:pt>
                  <c:pt idx="219">
                    <c:v>0.05</c:v>
                  </c:pt>
                  <c:pt idx="220">
                    <c:v>0.05</c:v>
                  </c:pt>
                  <c:pt idx="221">
                    <c:v>0.05</c:v>
                  </c:pt>
                  <c:pt idx="222">
                    <c:v>0.05</c:v>
                  </c:pt>
                  <c:pt idx="223">
                    <c:v>0.05</c:v>
                  </c:pt>
                  <c:pt idx="224">
                    <c:v>0.05</c:v>
                  </c:pt>
                  <c:pt idx="225">
                    <c:v>0.05</c:v>
                  </c:pt>
                  <c:pt idx="226">
                    <c:v>0.06</c:v>
                  </c:pt>
                  <c:pt idx="227">
                    <c:v>0.06</c:v>
                  </c:pt>
                  <c:pt idx="228">
                    <c:v>0.06</c:v>
                  </c:pt>
                  <c:pt idx="229">
                    <c:v>0.06</c:v>
                  </c:pt>
                  <c:pt idx="230">
                    <c:v>0.06</c:v>
                  </c:pt>
                  <c:pt idx="231">
                    <c:v>0.06</c:v>
                  </c:pt>
                  <c:pt idx="232">
                    <c:v>0.06</c:v>
                  </c:pt>
                  <c:pt idx="233">
                    <c:v>0.06</c:v>
                  </c:pt>
                  <c:pt idx="234">
                    <c:v>0.06</c:v>
                  </c:pt>
                  <c:pt idx="235">
                    <c:v>0.06</c:v>
                  </c:pt>
                  <c:pt idx="236">
                    <c:v>0.06</c:v>
                  </c:pt>
                  <c:pt idx="237">
                    <c:v>0.06</c:v>
                  </c:pt>
                  <c:pt idx="238">
                    <c:v>0.06</c:v>
                  </c:pt>
                  <c:pt idx="239">
                    <c:v>0.06</c:v>
                  </c:pt>
                  <c:pt idx="240">
                    <c:v>0.06</c:v>
                  </c:pt>
                  <c:pt idx="241">
                    <c:v>0.06</c:v>
                  </c:pt>
                  <c:pt idx="242">
                    <c:v>0.06</c:v>
                  </c:pt>
                  <c:pt idx="243">
                    <c:v>0.06</c:v>
                  </c:pt>
                  <c:pt idx="244">
                    <c:v>0.06</c:v>
                  </c:pt>
                  <c:pt idx="245">
                    <c:v>0.06</c:v>
                  </c:pt>
                  <c:pt idx="246">
                    <c:v>0.06</c:v>
                  </c:pt>
                  <c:pt idx="247">
                    <c:v>0.06</c:v>
                  </c:pt>
                  <c:pt idx="248">
                    <c:v>0.06</c:v>
                  </c:pt>
                  <c:pt idx="249">
                    <c:v>0.06</c:v>
                  </c:pt>
                  <c:pt idx="250">
                    <c:v>0.06</c:v>
                  </c:pt>
                  <c:pt idx="251">
                    <c:v>0.06</c:v>
                  </c:pt>
                  <c:pt idx="252">
                    <c:v>0.06</c:v>
                  </c:pt>
                  <c:pt idx="253">
                    <c:v>0.06</c:v>
                  </c:pt>
                  <c:pt idx="254">
                    <c:v>0.06</c:v>
                  </c:pt>
                  <c:pt idx="255">
                    <c:v>0.06</c:v>
                  </c:pt>
                  <c:pt idx="256">
                    <c:v>0.06</c:v>
                  </c:pt>
                  <c:pt idx="257">
                    <c:v>0.06</c:v>
                  </c:pt>
                  <c:pt idx="258">
                    <c:v>0.06</c:v>
                  </c:pt>
                  <c:pt idx="259">
                    <c:v>0.06</c:v>
                  </c:pt>
                  <c:pt idx="260">
                    <c:v>0.06</c:v>
                  </c:pt>
                  <c:pt idx="261">
                    <c:v>0.06</c:v>
                  </c:pt>
                  <c:pt idx="262">
                    <c:v>0.06</c:v>
                  </c:pt>
                  <c:pt idx="263">
                    <c:v>0.06</c:v>
                  </c:pt>
                  <c:pt idx="264">
                    <c:v>0.06</c:v>
                  </c:pt>
                  <c:pt idx="265">
                    <c:v>0.06</c:v>
                  </c:pt>
                  <c:pt idx="266">
                    <c:v>0.06</c:v>
                  </c:pt>
                  <c:pt idx="267">
                    <c:v>0.07</c:v>
                  </c:pt>
                  <c:pt idx="268">
                    <c:v>0.07</c:v>
                  </c:pt>
                  <c:pt idx="269">
                    <c:v>0.07</c:v>
                  </c:pt>
                  <c:pt idx="270">
                    <c:v>0.07</c:v>
                  </c:pt>
                  <c:pt idx="271">
                    <c:v>0.07</c:v>
                  </c:pt>
                  <c:pt idx="272">
                    <c:v>0.07</c:v>
                  </c:pt>
                  <c:pt idx="273">
                    <c:v>0.07</c:v>
                  </c:pt>
                  <c:pt idx="274">
                    <c:v>0.07</c:v>
                  </c:pt>
                  <c:pt idx="275">
                    <c:v>0.07</c:v>
                  </c:pt>
                  <c:pt idx="276">
                    <c:v>0.07</c:v>
                  </c:pt>
                  <c:pt idx="277">
                    <c:v>0.07</c:v>
                  </c:pt>
                  <c:pt idx="278">
                    <c:v>0.07</c:v>
                  </c:pt>
                  <c:pt idx="279">
                    <c:v>0.07</c:v>
                  </c:pt>
                  <c:pt idx="280">
                    <c:v>0.07</c:v>
                  </c:pt>
                  <c:pt idx="281">
                    <c:v>0.07</c:v>
                  </c:pt>
                  <c:pt idx="282">
                    <c:v>0.07</c:v>
                  </c:pt>
                  <c:pt idx="283">
                    <c:v>0.07</c:v>
                  </c:pt>
                  <c:pt idx="284">
                    <c:v>0.07</c:v>
                  </c:pt>
                  <c:pt idx="285">
                    <c:v>0.07</c:v>
                  </c:pt>
                  <c:pt idx="286">
                    <c:v>0.07</c:v>
                  </c:pt>
                  <c:pt idx="287">
                    <c:v>0.07</c:v>
                  </c:pt>
                  <c:pt idx="288">
                    <c:v>0.07</c:v>
                  </c:pt>
                  <c:pt idx="289">
                    <c:v>0.07</c:v>
                  </c:pt>
                  <c:pt idx="290">
                    <c:v>0.07</c:v>
                  </c:pt>
                  <c:pt idx="291">
                    <c:v>0.07</c:v>
                  </c:pt>
                  <c:pt idx="292">
                    <c:v>0.07</c:v>
                  </c:pt>
                  <c:pt idx="293">
                    <c:v>0.07</c:v>
                  </c:pt>
                  <c:pt idx="294">
                    <c:v>0.07</c:v>
                  </c:pt>
                  <c:pt idx="295">
                    <c:v>0.07</c:v>
                  </c:pt>
                  <c:pt idx="296">
                    <c:v>0.07</c:v>
                  </c:pt>
                  <c:pt idx="297">
                    <c:v>0.07</c:v>
                  </c:pt>
                  <c:pt idx="298">
                    <c:v>0.07</c:v>
                  </c:pt>
                  <c:pt idx="299">
                    <c:v>0.07</c:v>
                  </c:pt>
                  <c:pt idx="300">
                    <c:v>0.07</c:v>
                  </c:pt>
                  <c:pt idx="301">
                    <c:v>0.07</c:v>
                  </c:pt>
                  <c:pt idx="302">
                    <c:v>0.07</c:v>
                  </c:pt>
                  <c:pt idx="303">
                    <c:v>0.07</c:v>
                  </c:pt>
                  <c:pt idx="304">
                    <c:v>0.07</c:v>
                  </c:pt>
                  <c:pt idx="305">
                    <c:v>0.07</c:v>
                  </c:pt>
                  <c:pt idx="306">
                    <c:v>0.07</c:v>
                  </c:pt>
                  <c:pt idx="307">
                    <c:v>0.07</c:v>
                  </c:pt>
                  <c:pt idx="308">
                    <c:v>0.08</c:v>
                  </c:pt>
                  <c:pt idx="309">
                    <c:v>0.08</c:v>
                  </c:pt>
                  <c:pt idx="310">
                    <c:v>0.08</c:v>
                  </c:pt>
                  <c:pt idx="311">
                    <c:v>0.08</c:v>
                  </c:pt>
                  <c:pt idx="312">
                    <c:v>0.08</c:v>
                  </c:pt>
                  <c:pt idx="313">
                    <c:v>0.08</c:v>
                  </c:pt>
                  <c:pt idx="314">
                    <c:v>0.08</c:v>
                  </c:pt>
                  <c:pt idx="315">
                    <c:v>0.08</c:v>
                  </c:pt>
                  <c:pt idx="316">
                    <c:v>0.08</c:v>
                  </c:pt>
                  <c:pt idx="317">
                    <c:v>0.08</c:v>
                  </c:pt>
                  <c:pt idx="318">
                    <c:v>0.08</c:v>
                  </c:pt>
                  <c:pt idx="319">
                    <c:v>0.08</c:v>
                  </c:pt>
                  <c:pt idx="320">
                    <c:v>0.08</c:v>
                  </c:pt>
                  <c:pt idx="321">
                    <c:v>0.08</c:v>
                  </c:pt>
                  <c:pt idx="322">
                    <c:v>0.08</c:v>
                  </c:pt>
                  <c:pt idx="323">
                    <c:v>0.08</c:v>
                  </c:pt>
                  <c:pt idx="324">
                    <c:v>0.08</c:v>
                  </c:pt>
                  <c:pt idx="325">
                    <c:v>0.08</c:v>
                  </c:pt>
                  <c:pt idx="326">
                    <c:v>0.08</c:v>
                  </c:pt>
                  <c:pt idx="327">
                    <c:v>0.08</c:v>
                  </c:pt>
                  <c:pt idx="328">
                    <c:v>0.08</c:v>
                  </c:pt>
                  <c:pt idx="329">
                    <c:v>0.08</c:v>
                  </c:pt>
                  <c:pt idx="330">
                    <c:v>0.08</c:v>
                  </c:pt>
                  <c:pt idx="331">
                    <c:v>0.08</c:v>
                  </c:pt>
                  <c:pt idx="332">
                    <c:v>0.08</c:v>
                  </c:pt>
                  <c:pt idx="333">
                    <c:v>0.08</c:v>
                  </c:pt>
                  <c:pt idx="334">
                    <c:v>0.08</c:v>
                  </c:pt>
                  <c:pt idx="335">
                    <c:v>0.08</c:v>
                  </c:pt>
                  <c:pt idx="336">
                    <c:v>0.08</c:v>
                  </c:pt>
                  <c:pt idx="337">
                    <c:v>0.08</c:v>
                  </c:pt>
                  <c:pt idx="338">
                    <c:v>0.08</c:v>
                  </c:pt>
                  <c:pt idx="339">
                    <c:v>0.08</c:v>
                  </c:pt>
                  <c:pt idx="340">
                    <c:v>0.08</c:v>
                  </c:pt>
                  <c:pt idx="341">
                    <c:v>0.08</c:v>
                  </c:pt>
                  <c:pt idx="342">
                    <c:v>0.08</c:v>
                  </c:pt>
                  <c:pt idx="343">
                    <c:v>0.08</c:v>
                  </c:pt>
                  <c:pt idx="344">
                    <c:v>0.08</c:v>
                  </c:pt>
                  <c:pt idx="345">
                    <c:v>0.08</c:v>
                  </c:pt>
                  <c:pt idx="346">
                    <c:v>0.08</c:v>
                  </c:pt>
                  <c:pt idx="347">
                    <c:v>0.08</c:v>
                  </c:pt>
                  <c:pt idx="348">
                    <c:v>0.08</c:v>
                  </c:pt>
                  <c:pt idx="349">
                    <c:v>0.09</c:v>
                  </c:pt>
                  <c:pt idx="350">
                    <c:v>0.09</c:v>
                  </c:pt>
                  <c:pt idx="351">
                    <c:v>0.09</c:v>
                  </c:pt>
                  <c:pt idx="352">
                    <c:v>0.09</c:v>
                  </c:pt>
                  <c:pt idx="353">
                    <c:v>0.09</c:v>
                  </c:pt>
                  <c:pt idx="354">
                    <c:v>0.09</c:v>
                  </c:pt>
                  <c:pt idx="355">
                    <c:v>0.09</c:v>
                  </c:pt>
                  <c:pt idx="356">
                    <c:v>0.09</c:v>
                  </c:pt>
                  <c:pt idx="357">
                    <c:v>0.09</c:v>
                  </c:pt>
                  <c:pt idx="358">
                    <c:v>0.09</c:v>
                  </c:pt>
                  <c:pt idx="359">
                    <c:v>0.09</c:v>
                  </c:pt>
                  <c:pt idx="360">
                    <c:v>0.09</c:v>
                  </c:pt>
                  <c:pt idx="361">
                    <c:v>0.09</c:v>
                  </c:pt>
                  <c:pt idx="362">
                    <c:v>0.09</c:v>
                  </c:pt>
                  <c:pt idx="363">
                    <c:v>0.09</c:v>
                  </c:pt>
                  <c:pt idx="364">
                    <c:v>0.09</c:v>
                  </c:pt>
                  <c:pt idx="365">
                    <c:v>0.09</c:v>
                  </c:pt>
                  <c:pt idx="366">
                    <c:v>0.09</c:v>
                  </c:pt>
                  <c:pt idx="367">
                    <c:v>0.09</c:v>
                  </c:pt>
                  <c:pt idx="368">
                    <c:v>0.09</c:v>
                  </c:pt>
                  <c:pt idx="369">
                    <c:v>0.09</c:v>
                  </c:pt>
                  <c:pt idx="370">
                    <c:v>0.09</c:v>
                  </c:pt>
                  <c:pt idx="371">
                    <c:v>0.09</c:v>
                  </c:pt>
                  <c:pt idx="372">
                    <c:v>0.09</c:v>
                  </c:pt>
                  <c:pt idx="373">
                    <c:v>0.09</c:v>
                  </c:pt>
                  <c:pt idx="374">
                    <c:v>0.09</c:v>
                  </c:pt>
                  <c:pt idx="375">
                    <c:v>0.09</c:v>
                  </c:pt>
                  <c:pt idx="376">
                    <c:v>0.09</c:v>
                  </c:pt>
                  <c:pt idx="377">
                    <c:v>0.09</c:v>
                  </c:pt>
                  <c:pt idx="378">
                    <c:v>0.09</c:v>
                  </c:pt>
                  <c:pt idx="379">
                    <c:v>0.09</c:v>
                  </c:pt>
                  <c:pt idx="380">
                    <c:v>0.09</c:v>
                  </c:pt>
                  <c:pt idx="381">
                    <c:v>0.09</c:v>
                  </c:pt>
                  <c:pt idx="382">
                    <c:v>0.09</c:v>
                  </c:pt>
                  <c:pt idx="383">
                    <c:v>0.09</c:v>
                  </c:pt>
                  <c:pt idx="384">
                    <c:v>0.09</c:v>
                  </c:pt>
                  <c:pt idx="385">
                    <c:v>0.09</c:v>
                  </c:pt>
                  <c:pt idx="386">
                    <c:v>0.09</c:v>
                  </c:pt>
                  <c:pt idx="387">
                    <c:v>0.09</c:v>
                  </c:pt>
                  <c:pt idx="388">
                    <c:v>0.09</c:v>
                  </c:pt>
                  <c:pt idx="389">
                    <c:v>0.09</c:v>
                  </c:pt>
                  <c:pt idx="390">
                    <c:v>0.10</c:v>
                  </c:pt>
                  <c:pt idx="391">
                    <c:v>0.10</c:v>
                  </c:pt>
                  <c:pt idx="392">
                    <c:v>0.10</c:v>
                  </c:pt>
                  <c:pt idx="393">
                    <c:v>0.10</c:v>
                  </c:pt>
                  <c:pt idx="394">
                    <c:v>0.10</c:v>
                  </c:pt>
                  <c:pt idx="395">
                    <c:v>0.10</c:v>
                  </c:pt>
                  <c:pt idx="396">
                    <c:v>0.10</c:v>
                  </c:pt>
                  <c:pt idx="397">
                    <c:v>0.10</c:v>
                  </c:pt>
                  <c:pt idx="398">
                    <c:v>0.10</c:v>
                  </c:pt>
                  <c:pt idx="399">
                    <c:v>0.10</c:v>
                  </c:pt>
                  <c:pt idx="400">
                    <c:v>0.10</c:v>
                  </c:pt>
                  <c:pt idx="401">
                    <c:v>0.10</c:v>
                  </c:pt>
                  <c:pt idx="402">
                    <c:v>0.10</c:v>
                  </c:pt>
                  <c:pt idx="403">
                    <c:v>0.10</c:v>
                  </c:pt>
                  <c:pt idx="404">
                    <c:v>0.10</c:v>
                  </c:pt>
                  <c:pt idx="405">
                    <c:v>0.10</c:v>
                  </c:pt>
                  <c:pt idx="406">
                    <c:v>0.10</c:v>
                  </c:pt>
                  <c:pt idx="407">
                    <c:v>0.10</c:v>
                  </c:pt>
                  <c:pt idx="408">
                    <c:v>0.10</c:v>
                  </c:pt>
                  <c:pt idx="409">
                    <c:v>0.10</c:v>
                  </c:pt>
                  <c:pt idx="410">
                    <c:v>0.10</c:v>
                  </c:pt>
                  <c:pt idx="411">
                    <c:v>0.10</c:v>
                  </c:pt>
                  <c:pt idx="412">
                    <c:v>0.10</c:v>
                  </c:pt>
                  <c:pt idx="413">
                    <c:v>0.10</c:v>
                  </c:pt>
                  <c:pt idx="414">
                    <c:v>0.10</c:v>
                  </c:pt>
                  <c:pt idx="415">
                    <c:v>0.10</c:v>
                  </c:pt>
                  <c:pt idx="416">
                    <c:v>0.10</c:v>
                  </c:pt>
                  <c:pt idx="417">
                    <c:v>0.10</c:v>
                  </c:pt>
                  <c:pt idx="418">
                    <c:v>0.10</c:v>
                  </c:pt>
                  <c:pt idx="419">
                    <c:v>0.10</c:v>
                  </c:pt>
                  <c:pt idx="420">
                    <c:v>0.10</c:v>
                  </c:pt>
                  <c:pt idx="421">
                    <c:v>0.10</c:v>
                  </c:pt>
                  <c:pt idx="422">
                    <c:v>0.10</c:v>
                  </c:pt>
                  <c:pt idx="423">
                    <c:v>0.10</c:v>
                  </c:pt>
                  <c:pt idx="424">
                    <c:v>0.10</c:v>
                  </c:pt>
                  <c:pt idx="425">
                    <c:v>0.10</c:v>
                  </c:pt>
                  <c:pt idx="426">
                    <c:v>0.10</c:v>
                  </c:pt>
                  <c:pt idx="427">
                    <c:v>0.10</c:v>
                  </c:pt>
                  <c:pt idx="428">
                    <c:v>0.10</c:v>
                  </c:pt>
                  <c:pt idx="429">
                    <c:v>0.10</c:v>
                  </c:pt>
                  <c:pt idx="430">
                    <c:v>0.10</c:v>
                  </c:pt>
                  <c:pt idx="431">
                    <c:v>0.11</c:v>
                  </c:pt>
                  <c:pt idx="432">
                    <c:v>0.11</c:v>
                  </c:pt>
                  <c:pt idx="433">
                    <c:v>0.11</c:v>
                  </c:pt>
                  <c:pt idx="434">
                    <c:v>0.11</c:v>
                  </c:pt>
                  <c:pt idx="435">
                    <c:v>0.11</c:v>
                  </c:pt>
                  <c:pt idx="436">
                    <c:v>0.11</c:v>
                  </c:pt>
                  <c:pt idx="437">
                    <c:v>0.11</c:v>
                  </c:pt>
                  <c:pt idx="438">
                    <c:v>0.11</c:v>
                  </c:pt>
                  <c:pt idx="439">
                    <c:v>0.11</c:v>
                  </c:pt>
                  <c:pt idx="440">
                    <c:v>0.11</c:v>
                  </c:pt>
                  <c:pt idx="441">
                    <c:v>0.11</c:v>
                  </c:pt>
                  <c:pt idx="442">
                    <c:v>0.11</c:v>
                  </c:pt>
                  <c:pt idx="443">
                    <c:v>0.11</c:v>
                  </c:pt>
                  <c:pt idx="444">
                    <c:v>0.11</c:v>
                  </c:pt>
                  <c:pt idx="445">
                    <c:v>0.11</c:v>
                  </c:pt>
                  <c:pt idx="446">
                    <c:v>0.11</c:v>
                  </c:pt>
                  <c:pt idx="447">
                    <c:v>0.11</c:v>
                  </c:pt>
                  <c:pt idx="448">
                    <c:v>0.11</c:v>
                  </c:pt>
                  <c:pt idx="449">
                    <c:v>0.11</c:v>
                  </c:pt>
                  <c:pt idx="450">
                    <c:v>0.11</c:v>
                  </c:pt>
                  <c:pt idx="451">
                    <c:v>0.11</c:v>
                  </c:pt>
                  <c:pt idx="452">
                    <c:v>0.11</c:v>
                  </c:pt>
                  <c:pt idx="453">
                    <c:v>0.11</c:v>
                  </c:pt>
                  <c:pt idx="454">
                    <c:v>0.11</c:v>
                  </c:pt>
                  <c:pt idx="455">
                    <c:v>0.11</c:v>
                  </c:pt>
                  <c:pt idx="456">
                    <c:v>0.11</c:v>
                  </c:pt>
                  <c:pt idx="457">
                    <c:v>0.11</c:v>
                  </c:pt>
                  <c:pt idx="458">
                    <c:v>0.11</c:v>
                  </c:pt>
                  <c:pt idx="459">
                    <c:v>0.11</c:v>
                  </c:pt>
                  <c:pt idx="460">
                    <c:v>0.11</c:v>
                  </c:pt>
                  <c:pt idx="461">
                    <c:v>0.11</c:v>
                  </c:pt>
                  <c:pt idx="462">
                    <c:v>0.11</c:v>
                  </c:pt>
                  <c:pt idx="463">
                    <c:v>0.11</c:v>
                  </c:pt>
                  <c:pt idx="464">
                    <c:v>0.11</c:v>
                  </c:pt>
                  <c:pt idx="465">
                    <c:v>0.11</c:v>
                  </c:pt>
                  <c:pt idx="466">
                    <c:v>0.11</c:v>
                  </c:pt>
                  <c:pt idx="467">
                    <c:v>0.11</c:v>
                  </c:pt>
                  <c:pt idx="468">
                    <c:v>0.11</c:v>
                  </c:pt>
                  <c:pt idx="469">
                    <c:v>0.11</c:v>
                  </c:pt>
                  <c:pt idx="470">
                    <c:v>0.11</c:v>
                  </c:pt>
                  <c:pt idx="471">
                    <c:v>0.11</c:v>
                  </c:pt>
                  <c:pt idx="472">
                    <c:v>0.12</c:v>
                  </c:pt>
                  <c:pt idx="473">
                    <c:v>0.12</c:v>
                  </c:pt>
                  <c:pt idx="474">
                    <c:v>0.12</c:v>
                  </c:pt>
                  <c:pt idx="475">
                    <c:v>0.12</c:v>
                  </c:pt>
                  <c:pt idx="476">
                    <c:v>0.12</c:v>
                  </c:pt>
                  <c:pt idx="477">
                    <c:v>0.12</c:v>
                  </c:pt>
                  <c:pt idx="478">
                    <c:v>0.12</c:v>
                  </c:pt>
                  <c:pt idx="479">
                    <c:v>0.12</c:v>
                  </c:pt>
                  <c:pt idx="480">
                    <c:v>0.12</c:v>
                  </c:pt>
                  <c:pt idx="481">
                    <c:v>0.12</c:v>
                  </c:pt>
                  <c:pt idx="482">
                    <c:v>0.12</c:v>
                  </c:pt>
                  <c:pt idx="483">
                    <c:v>0.12</c:v>
                  </c:pt>
                  <c:pt idx="484">
                    <c:v>0.12</c:v>
                  </c:pt>
                  <c:pt idx="485">
                    <c:v>0.12</c:v>
                  </c:pt>
                  <c:pt idx="486">
                    <c:v>0.12</c:v>
                  </c:pt>
                  <c:pt idx="487">
                    <c:v>0.12</c:v>
                  </c:pt>
                  <c:pt idx="488">
                    <c:v>0.12</c:v>
                  </c:pt>
                  <c:pt idx="489">
                    <c:v>0.12</c:v>
                  </c:pt>
                  <c:pt idx="490">
                    <c:v>0.12</c:v>
                  </c:pt>
                  <c:pt idx="491">
                    <c:v>0.12</c:v>
                  </c:pt>
                  <c:pt idx="492">
                    <c:v>0.12</c:v>
                  </c:pt>
                  <c:pt idx="493">
                    <c:v>0.12</c:v>
                  </c:pt>
                  <c:pt idx="494">
                    <c:v>0.12</c:v>
                  </c:pt>
                  <c:pt idx="495">
                    <c:v>0.12</c:v>
                  </c:pt>
                  <c:pt idx="496">
                    <c:v>0.12</c:v>
                  </c:pt>
                  <c:pt idx="497">
                    <c:v>0.12</c:v>
                  </c:pt>
                  <c:pt idx="498">
                    <c:v>0.12</c:v>
                  </c:pt>
                  <c:pt idx="499">
                    <c:v>0.12</c:v>
                  </c:pt>
                  <c:pt idx="500">
                    <c:v>0.12</c:v>
                  </c:pt>
                  <c:pt idx="501">
                    <c:v>0.12</c:v>
                  </c:pt>
                  <c:pt idx="502">
                    <c:v>0.12</c:v>
                  </c:pt>
                  <c:pt idx="503">
                    <c:v>0.12</c:v>
                  </c:pt>
                  <c:pt idx="504">
                    <c:v>0.12</c:v>
                  </c:pt>
                  <c:pt idx="505">
                    <c:v>0.12</c:v>
                  </c:pt>
                  <c:pt idx="506">
                    <c:v>0.12</c:v>
                  </c:pt>
                  <c:pt idx="507">
                    <c:v>0.12</c:v>
                  </c:pt>
                  <c:pt idx="508">
                    <c:v>0.12</c:v>
                  </c:pt>
                  <c:pt idx="509">
                    <c:v>0.12</c:v>
                  </c:pt>
                  <c:pt idx="510">
                    <c:v>0.12</c:v>
                  </c:pt>
                  <c:pt idx="511">
                    <c:v>0.12</c:v>
                  </c:pt>
                  <c:pt idx="512">
                    <c:v>0.13</c:v>
                  </c:pt>
                  <c:pt idx="513">
                    <c:v>0.13</c:v>
                  </c:pt>
                  <c:pt idx="514">
                    <c:v>0.13</c:v>
                  </c:pt>
                  <c:pt idx="515">
                    <c:v>0.13</c:v>
                  </c:pt>
                  <c:pt idx="516">
                    <c:v>0.13</c:v>
                  </c:pt>
                  <c:pt idx="517">
                    <c:v>0.13</c:v>
                  </c:pt>
                  <c:pt idx="518">
                    <c:v>0.13</c:v>
                  </c:pt>
                  <c:pt idx="519">
                    <c:v>0.13</c:v>
                  </c:pt>
                  <c:pt idx="520">
                    <c:v>0.13</c:v>
                  </c:pt>
                  <c:pt idx="521">
                    <c:v>0.13</c:v>
                  </c:pt>
                  <c:pt idx="522">
                    <c:v>0.13</c:v>
                  </c:pt>
                  <c:pt idx="523">
                    <c:v>0.13</c:v>
                  </c:pt>
                  <c:pt idx="524">
                    <c:v>0.13</c:v>
                  </c:pt>
                  <c:pt idx="525">
                    <c:v>0.13</c:v>
                  </c:pt>
                  <c:pt idx="526">
                    <c:v>0.13</c:v>
                  </c:pt>
                  <c:pt idx="527">
                    <c:v>0.13</c:v>
                  </c:pt>
                  <c:pt idx="528">
                    <c:v>0.13</c:v>
                  </c:pt>
                  <c:pt idx="529">
                    <c:v>0.13</c:v>
                  </c:pt>
                  <c:pt idx="530">
                    <c:v>0.13</c:v>
                  </c:pt>
                  <c:pt idx="531">
                    <c:v>0.13</c:v>
                  </c:pt>
                  <c:pt idx="532">
                    <c:v>0.13</c:v>
                  </c:pt>
                  <c:pt idx="533">
                    <c:v>0.13</c:v>
                  </c:pt>
                  <c:pt idx="534">
                    <c:v>0.13</c:v>
                  </c:pt>
                  <c:pt idx="535">
                    <c:v>0.13</c:v>
                  </c:pt>
                  <c:pt idx="536">
                    <c:v>0.13</c:v>
                  </c:pt>
                  <c:pt idx="537">
                    <c:v>0.13</c:v>
                  </c:pt>
                  <c:pt idx="538">
                    <c:v>0.13</c:v>
                  </c:pt>
                  <c:pt idx="539">
                    <c:v>0.13</c:v>
                  </c:pt>
                  <c:pt idx="540">
                    <c:v>0.13</c:v>
                  </c:pt>
                  <c:pt idx="541">
                    <c:v>0.13</c:v>
                  </c:pt>
                  <c:pt idx="542">
                    <c:v>0.13</c:v>
                  </c:pt>
                  <c:pt idx="543">
                    <c:v>0.13</c:v>
                  </c:pt>
                  <c:pt idx="544">
                    <c:v>0.13</c:v>
                  </c:pt>
                  <c:pt idx="545">
                    <c:v>0.13</c:v>
                  </c:pt>
                  <c:pt idx="546">
                    <c:v>0.13</c:v>
                  </c:pt>
                  <c:pt idx="547">
                    <c:v>0.13</c:v>
                  </c:pt>
                  <c:pt idx="548">
                    <c:v>0.13</c:v>
                  </c:pt>
                  <c:pt idx="549">
                    <c:v>0.13</c:v>
                  </c:pt>
                  <c:pt idx="550">
                    <c:v>0.13</c:v>
                  </c:pt>
                  <c:pt idx="551">
                    <c:v>0.13</c:v>
                  </c:pt>
                  <c:pt idx="552">
                    <c:v>0.13</c:v>
                  </c:pt>
                  <c:pt idx="553">
                    <c:v>0.14</c:v>
                  </c:pt>
                  <c:pt idx="554">
                    <c:v>0.14</c:v>
                  </c:pt>
                  <c:pt idx="555">
                    <c:v>0.14</c:v>
                  </c:pt>
                  <c:pt idx="556">
                    <c:v>0.14</c:v>
                  </c:pt>
                  <c:pt idx="557">
                    <c:v>0.14</c:v>
                  </c:pt>
                  <c:pt idx="558">
                    <c:v>0.14</c:v>
                  </c:pt>
                  <c:pt idx="559">
                    <c:v>0.14</c:v>
                  </c:pt>
                  <c:pt idx="560">
                    <c:v>0.14</c:v>
                  </c:pt>
                  <c:pt idx="561">
                    <c:v>0.14</c:v>
                  </c:pt>
                  <c:pt idx="562">
                    <c:v>0.14</c:v>
                  </c:pt>
                  <c:pt idx="563">
                    <c:v>0.14</c:v>
                  </c:pt>
                  <c:pt idx="564">
                    <c:v>0.14</c:v>
                  </c:pt>
                  <c:pt idx="565">
                    <c:v>0.14</c:v>
                  </c:pt>
                  <c:pt idx="566">
                    <c:v>0.14</c:v>
                  </c:pt>
                  <c:pt idx="567">
                    <c:v>0.14</c:v>
                  </c:pt>
                  <c:pt idx="568">
                    <c:v>0.14</c:v>
                  </c:pt>
                  <c:pt idx="569">
                    <c:v>0.14</c:v>
                  </c:pt>
                  <c:pt idx="570">
                    <c:v>0.14</c:v>
                  </c:pt>
                  <c:pt idx="571">
                    <c:v>0.14</c:v>
                  </c:pt>
                  <c:pt idx="572">
                    <c:v>0.14</c:v>
                  </c:pt>
                  <c:pt idx="573">
                    <c:v>0.14</c:v>
                  </c:pt>
                  <c:pt idx="574">
                    <c:v>0.14</c:v>
                  </c:pt>
                  <c:pt idx="575">
                    <c:v>0.14</c:v>
                  </c:pt>
                  <c:pt idx="576">
                    <c:v>0.14</c:v>
                  </c:pt>
                  <c:pt idx="577">
                    <c:v>0.14</c:v>
                  </c:pt>
                  <c:pt idx="578">
                    <c:v>0.14</c:v>
                  </c:pt>
                  <c:pt idx="579">
                    <c:v>0.14</c:v>
                  </c:pt>
                  <c:pt idx="580">
                    <c:v>0.14</c:v>
                  </c:pt>
                  <c:pt idx="581">
                    <c:v>0.14</c:v>
                  </c:pt>
                  <c:pt idx="582">
                    <c:v>0.14</c:v>
                  </c:pt>
                  <c:pt idx="583">
                    <c:v>0.14</c:v>
                  </c:pt>
                  <c:pt idx="584">
                    <c:v>0.14</c:v>
                  </c:pt>
                  <c:pt idx="585">
                    <c:v>0.14</c:v>
                  </c:pt>
                  <c:pt idx="586">
                    <c:v>0.14</c:v>
                  </c:pt>
                  <c:pt idx="587">
                    <c:v>0.14</c:v>
                  </c:pt>
                  <c:pt idx="588">
                    <c:v>0.14</c:v>
                  </c:pt>
                  <c:pt idx="589">
                    <c:v>0.14</c:v>
                  </c:pt>
                  <c:pt idx="590">
                    <c:v>0.14</c:v>
                  </c:pt>
                  <c:pt idx="591">
                    <c:v>0.14</c:v>
                  </c:pt>
                  <c:pt idx="592">
                    <c:v>0.14</c:v>
                  </c:pt>
                  <c:pt idx="593">
                    <c:v>0.14</c:v>
                  </c:pt>
                  <c:pt idx="594">
                    <c:v>0.15</c:v>
                  </c:pt>
                  <c:pt idx="595">
                    <c:v>0.15</c:v>
                  </c:pt>
                  <c:pt idx="596">
                    <c:v>0.15</c:v>
                  </c:pt>
                  <c:pt idx="597">
                    <c:v>0.15</c:v>
                  </c:pt>
                  <c:pt idx="598">
                    <c:v>0.15</c:v>
                  </c:pt>
                  <c:pt idx="599">
                    <c:v>0.15</c:v>
                  </c:pt>
                  <c:pt idx="600">
                    <c:v>0.15</c:v>
                  </c:pt>
                  <c:pt idx="601">
                    <c:v>0.15</c:v>
                  </c:pt>
                  <c:pt idx="602">
                    <c:v>0.15</c:v>
                  </c:pt>
                  <c:pt idx="603">
                    <c:v>0.15</c:v>
                  </c:pt>
                  <c:pt idx="604">
                    <c:v>0.15</c:v>
                  </c:pt>
                  <c:pt idx="605">
                    <c:v>0.15</c:v>
                  </c:pt>
                  <c:pt idx="606">
                    <c:v>0.15</c:v>
                  </c:pt>
                  <c:pt idx="607">
                    <c:v>0.15</c:v>
                  </c:pt>
                  <c:pt idx="608">
                    <c:v>0.15</c:v>
                  </c:pt>
                  <c:pt idx="609">
                    <c:v>0.15</c:v>
                  </c:pt>
                  <c:pt idx="610">
                    <c:v>0.15</c:v>
                  </c:pt>
                  <c:pt idx="611">
                    <c:v>0.15</c:v>
                  </c:pt>
                  <c:pt idx="612">
                    <c:v>0.15</c:v>
                  </c:pt>
                  <c:pt idx="613">
                    <c:v>0.15</c:v>
                  </c:pt>
                  <c:pt idx="614">
                    <c:v>0.15</c:v>
                  </c:pt>
                  <c:pt idx="615">
                    <c:v>0.15</c:v>
                  </c:pt>
                  <c:pt idx="616">
                    <c:v>0.15</c:v>
                  </c:pt>
                  <c:pt idx="617">
                    <c:v>0.15</c:v>
                  </c:pt>
                  <c:pt idx="618">
                    <c:v>0.15</c:v>
                  </c:pt>
                  <c:pt idx="619">
                    <c:v>0.15</c:v>
                  </c:pt>
                  <c:pt idx="620">
                    <c:v>0.15</c:v>
                  </c:pt>
                  <c:pt idx="621">
                    <c:v>0.15</c:v>
                  </c:pt>
                  <c:pt idx="622">
                    <c:v>0.15</c:v>
                  </c:pt>
                  <c:pt idx="623">
                    <c:v>0.15</c:v>
                  </c:pt>
                  <c:pt idx="624">
                    <c:v>0.15</c:v>
                  </c:pt>
                  <c:pt idx="625">
                    <c:v>0.15</c:v>
                  </c:pt>
                  <c:pt idx="626">
                    <c:v>0.15</c:v>
                  </c:pt>
                  <c:pt idx="627">
                    <c:v>0.15</c:v>
                  </c:pt>
                  <c:pt idx="628">
                    <c:v>0.15</c:v>
                  </c:pt>
                  <c:pt idx="629">
                    <c:v>0.15</c:v>
                  </c:pt>
                  <c:pt idx="630">
                    <c:v>0.15</c:v>
                  </c:pt>
                  <c:pt idx="631">
                    <c:v>0.15</c:v>
                  </c:pt>
                  <c:pt idx="632">
                    <c:v>0.15</c:v>
                  </c:pt>
                  <c:pt idx="633">
                    <c:v>0.15</c:v>
                  </c:pt>
                  <c:pt idx="634">
                    <c:v>0.15</c:v>
                  </c:pt>
                  <c:pt idx="635">
                    <c:v>0.16</c:v>
                  </c:pt>
                  <c:pt idx="636">
                    <c:v>0.16</c:v>
                  </c:pt>
                  <c:pt idx="637">
                    <c:v>0.16</c:v>
                  </c:pt>
                  <c:pt idx="638">
                    <c:v>0.16</c:v>
                  </c:pt>
                  <c:pt idx="639">
                    <c:v>0.16</c:v>
                  </c:pt>
                  <c:pt idx="640">
                    <c:v>0.16</c:v>
                  </c:pt>
                  <c:pt idx="641">
                    <c:v>0.16</c:v>
                  </c:pt>
                  <c:pt idx="642">
                    <c:v>0.16</c:v>
                  </c:pt>
                  <c:pt idx="643">
                    <c:v>0.16</c:v>
                  </c:pt>
                  <c:pt idx="644">
                    <c:v>0.16</c:v>
                  </c:pt>
                  <c:pt idx="645">
                    <c:v>0.16</c:v>
                  </c:pt>
                  <c:pt idx="646">
                    <c:v>0.16</c:v>
                  </c:pt>
                  <c:pt idx="647">
                    <c:v>0.16</c:v>
                  </c:pt>
                  <c:pt idx="648">
                    <c:v>0.16</c:v>
                  </c:pt>
                  <c:pt idx="649">
                    <c:v>0.16</c:v>
                  </c:pt>
                  <c:pt idx="650">
                    <c:v>0.16</c:v>
                  </c:pt>
                  <c:pt idx="651">
                    <c:v>0.16</c:v>
                  </c:pt>
                  <c:pt idx="652">
                    <c:v>0.16</c:v>
                  </c:pt>
                  <c:pt idx="653">
                    <c:v>0.16</c:v>
                  </c:pt>
                  <c:pt idx="654">
                    <c:v>0.16</c:v>
                  </c:pt>
                  <c:pt idx="655">
                    <c:v>0.16</c:v>
                  </c:pt>
                  <c:pt idx="656">
                    <c:v>0.16</c:v>
                  </c:pt>
                  <c:pt idx="657">
                    <c:v>0.16</c:v>
                  </c:pt>
                  <c:pt idx="658">
                    <c:v>0.16</c:v>
                  </c:pt>
                  <c:pt idx="659">
                    <c:v>0.16</c:v>
                  </c:pt>
                  <c:pt idx="660">
                    <c:v>0.16</c:v>
                  </c:pt>
                  <c:pt idx="661">
                    <c:v>0.16</c:v>
                  </c:pt>
                  <c:pt idx="662">
                    <c:v>0.16</c:v>
                  </c:pt>
                  <c:pt idx="663">
                    <c:v>0.16</c:v>
                  </c:pt>
                  <c:pt idx="664">
                    <c:v>0.16</c:v>
                  </c:pt>
                  <c:pt idx="665">
                    <c:v>0.16</c:v>
                  </c:pt>
                  <c:pt idx="666">
                    <c:v>0.16</c:v>
                  </c:pt>
                  <c:pt idx="667">
                    <c:v>0.16</c:v>
                  </c:pt>
                  <c:pt idx="668">
                    <c:v>0.16</c:v>
                  </c:pt>
                  <c:pt idx="669">
                    <c:v>0.16</c:v>
                  </c:pt>
                  <c:pt idx="670">
                    <c:v>0.16</c:v>
                  </c:pt>
                  <c:pt idx="671">
                    <c:v>0.16</c:v>
                  </c:pt>
                  <c:pt idx="672">
                    <c:v>0.16</c:v>
                  </c:pt>
                  <c:pt idx="673">
                    <c:v>0.16</c:v>
                  </c:pt>
                  <c:pt idx="674">
                    <c:v>0.16</c:v>
                  </c:pt>
                  <c:pt idx="675">
                    <c:v>0.16</c:v>
                  </c:pt>
                  <c:pt idx="676">
                    <c:v>0.17</c:v>
                  </c:pt>
                  <c:pt idx="677">
                    <c:v>0.17</c:v>
                  </c:pt>
                  <c:pt idx="678">
                    <c:v>0.17</c:v>
                  </c:pt>
                  <c:pt idx="679">
                    <c:v>0.17</c:v>
                  </c:pt>
                  <c:pt idx="680">
                    <c:v>0.17</c:v>
                  </c:pt>
                  <c:pt idx="681">
                    <c:v>0.17</c:v>
                  </c:pt>
                  <c:pt idx="682">
                    <c:v>0.17</c:v>
                  </c:pt>
                  <c:pt idx="683">
                    <c:v>0.17</c:v>
                  </c:pt>
                  <c:pt idx="684">
                    <c:v>0.17</c:v>
                  </c:pt>
                  <c:pt idx="685">
                    <c:v>0.17</c:v>
                  </c:pt>
                  <c:pt idx="686">
                    <c:v>0.17</c:v>
                  </c:pt>
                  <c:pt idx="687">
                    <c:v>0.17</c:v>
                  </c:pt>
                  <c:pt idx="688">
                    <c:v>0.17</c:v>
                  </c:pt>
                  <c:pt idx="689">
                    <c:v>0.17</c:v>
                  </c:pt>
                  <c:pt idx="690">
                    <c:v>0.17</c:v>
                  </c:pt>
                  <c:pt idx="691">
                    <c:v>0.17</c:v>
                  </c:pt>
                  <c:pt idx="692">
                    <c:v>0.17</c:v>
                  </c:pt>
                  <c:pt idx="693">
                    <c:v>0.17</c:v>
                  </c:pt>
                  <c:pt idx="694">
                    <c:v>0.17</c:v>
                  </c:pt>
                  <c:pt idx="695">
                    <c:v>0.17</c:v>
                  </c:pt>
                  <c:pt idx="696">
                    <c:v>0.17</c:v>
                  </c:pt>
                  <c:pt idx="697">
                    <c:v>0.17</c:v>
                  </c:pt>
                  <c:pt idx="698">
                    <c:v>0.17</c:v>
                  </c:pt>
                  <c:pt idx="699">
                    <c:v>0.17</c:v>
                  </c:pt>
                </c:lvl>
              </c:multiLvlStrCache>
            </c:multiLvlStrRef>
          </c:cat>
          <c:val>
            <c:numRef>
              <c:f>Sheet1!$B$2:$B$701</c:f>
              <c:numCache>
                <c:formatCode>General</c:formatCode>
                <c:ptCount val="700"/>
                <c:pt idx="0">
                  <c:v>-118.0500120240326</c:v>
                </c:pt>
                <c:pt idx="1">
                  <c:v>-118.57013703766243</c:v>
                </c:pt>
                <c:pt idx="2">
                  <c:v>-116.375767782702</c:v>
                </c:pt>
                <c:pt idx="3">
                  <c:v>-126.80379214473885</c:v>
                </c:pt>
                <c:pt idx="4">
                  <c:v>-126.89350066971892</c:v>
                </c:pt>
                <c:pt idx="5">
                  <c:v>-118.64926383693343</c:v>
                </c:pt>
                <c:pt idx="6">
                  <c:v>-131.78446941256917</c:v>
                </c:pt>
                <c:pt idx="7">
                  <c:v>-125.68164748670364</c:v>
                </c:pt>
                <c:pt idx="8">
                  <c:v>-124.48854688810088</c:v>
                </c:pt>
                <c:pt idx="9">
                  <c:v>-124.01293623500035</c:v>
                </c:pt>
                <c:pt idx="10">
                  <c:v>-124.89402659580449</c:v>
                </c:pt>
                <c:pt idx="11">
                  <c:v>-116.04482000933754</c:v>
                </c:pt>
                <c:pt idx="12">
                  <c:v>-122.86380615977163</c:v>
                </c:pt>
                <c:pt idx="13">
                  <c:v>-127.23676262008081</c:v>
                </c:pt>
                <c:pt idx="14">
                  <c:v>-124.5881411468727</c:v>
                </c:pt>
                <c:pt idx="15">
                  <c:v>-123.91923134527737</c:v>
                </c:pt>
                <c:pt idx="16">
                  <c:v>-113.69706984024168</c:v>
                </c:pt>
                <c:pt idx="17">
                  <c:v>-124.48647474488291</c:v>
                </c:pt>
                <c:pt idx="18">
                  <c:v>-119.11565328776008</c:v>
                </c:pt>
                <c:pt idx="19">
                  <c:v>-124.75671354969523</c:v>
                </c:pt>
                <c:pt idx="20">
                  <c:v>-115.8379624054107</c:v>
                </c:pt>
                <c:pt idx="21">
                  <c:v>-115.3613951025796</c:v>
                </c:pt>
                <c:pt idx="22">
                  <c:v>-119.8190210942912</c:v>
                </c:pt>
                <c:pt idx="23">
                  <c:v>-121.65803104149036</c:v>
                </c:pt>
                <c:pt idx="24">
                  <c:v>-132.8246002390509</c:v>
                </c:pt>
                <c:pt idx="25">
                  <c:v>-127.35155744669648</c:v>
                </c:pt>
                <c:pt idx="26">
                  <c:v>-128.9819243543871</c:v>
                </c:pt>
                <c:pt idx="27">
                  <c:v>-110.86234145692117</c:v>
                </c:pt>
                <c:pt idx="28">
                  <c:v>-124.01512175244916</c:v>
                </c:pt>
                <c:pt idx="29">
                  <c:v>-122.72681842966415</c:v>
                </c:pt>
                <c:pt idx="30">
                  <c:v>-117.61221335429337</c:v>
                </c:pt>
                <c:pt idx="31">
                  <c:v>-124.08552636247643</c:v>
                </c:pt>
                <c:pt idx="32">
                  <c:v>-112.93115794119612</c:v>
                </c:pt>
                <c:pt idx="33">
                  <c:v>-115.72157094203035</c:v>
                </c:pt>
                <c:pt idx="34">
                  <c:v>-120.7597855207632</c:v>
                </c:pt>
                <c:pt idx="35">
                  <c:v>-120.34525470027616</c:v>
                </c:pt>
                <c:pt idx="36">
                  <c:v>-127.99515087710662</c:v>
                </c:pt>
                <c:pt idx="37">
                  <c:v>-125.43726702347611</c:v>
                </c:pt>
                <c:pt idx="38">
                  <c:v>-125.16371752555733</c:v>
                </c:pt>
                <c:pt idx="39">
                  <c:v>-123.29902481204046</c:v>
                </c:pt>
                <c:pt idx="40">
                  <c:v>-116.53757798140424</c:v>
                </c:pt>
                <c:pt idx="41">
                  <c:v>-120.01985454195876</c:v>
                </c:pt>
                <c:pt idx="42">
                  <c:v>-124.4575006014383</c:v>
                </c:pt>
                <c:pt idx="43">
                  <c:v>-115.5856063625418</c:v>
                </c:pt>
                <c:pt idx="44">
                  <c:v>-118.56716361277877</c:v>
                </c:pt>
                <c:pt idx="45">
                  <c:v>-121.0952782880377</c:v>
                </c:pt>
                <c:pt idx="46">
                  <c:v>-116.43215119999938</c:v>
                </c:pt>
                <c:pt idx="47">
                  <c:v>-119.57430035948435</c:v>
                </c:pt>
                <c:pt idx="48">
                  <c:v>-134.68753812071392</c:v>
                </c:pt>
                <c:pt idx="49">
                  <c:v>-120.81015550737919</c:v>
                </c:pt>
                <c:pt idx="50">
                  <c:v>-123.31534803426713</c:v>
                </c:pt>
                <c:pt idx="51">
                  <c:v>-117.71558529780712</c:v>
                </c:pt>
                <c:pt idx="52">
                  <c:v>-123.62567293341266</c:v>
                </c:pt>
                <c:pt idx="53">
                  <c:v>-116.93302756682662</c:v>
                </c:pt>
                <c:pt idx="54">
                  <c:v>-121.69124957850289</c:v>
                </c:pt>
                <c:pt idx="55">
                  <c:v>-121.30045086761875</c:v>
                </c:pt>
                <c:pt idx="56">
                  <c:v>-122.20666293432319</c:v>
                </c:pt>
                <c:pt idx="57">
                  <c:v>-122.7449684982578</c:v>
                </c:pt>
                <c:pt idx="58">
                  <c:v>-113.17042515737889</c:v>
                </c:pt>
                <c:pt idx="59">
                  <c:v>-126.75935193298005</c:v>
                </c:pt>
                <c:pt idx="60">
                  <c:v>-128.0939086830239</c:v>
                </c:pt>
                <c:pt idx="61">
                  <c:v>-116.53747696227954</c:v>
                </c:pt>
                <c:pt idx="62">
                  <c:v>-118.57198504679218</c:v>
                </c:pt>
                <c:pt idx="63">
                  <c:v>-121.82956912565828</c:v>
                </c:pt>
                <c:pt idx="64">
                  <c:v>-121.83949856834116</c:v>
                </c:pt>
                <c:pt idx="65">
                  <c:v>-127.36604243898796</c:v>
                </c:pt>
                <c:pt idx="66">
                  <c:v>-121.43380921269667</c:v>
                </c:pt>
                <c:pt idx="67">
                  <c:v>-133.3610341576117</c:v>
                </c:pt>
                <c:pt idx="68">
                  <c:v>-127.44780923295139</c:v>
                </c:pt>
                <c:pt idx="69">
                  <c:v>-115.91338729073235</c:v>
                </c:pt>
                <c:pt idx="70">
                  <c:v>-114.91470489650915</c:v>
                </c:pt>
                <c:pt idx="71">
                  <c:v>-124.36048120280415</c:v>
                </c:pt>
                <c:pt idx="72">
                  <c:v>-117.66381175766938</c:v>
                </c:pt>
                <c:pt idx="73">
                  <c:v>-132.75682351031375</c:v>
                </c:pt>
                <c:pt idx="74">
                  <c:v>-121.01291330766257</c:v>
                </c:pt>
                <c:pt idx="75">
                  <c:v>-117.97241040877147</c:v>
                </c:pt>
                <c:pt idx="76">
                  <c:v>-123.38502315020233</c:v>
                </c:pt>
                <c:pt idx="77">
                  <c:v>-117.79901848096834</c:v>
                </c:pt>
                <c:pt idx="78">
                  <c:v>-119.03865564832864</c:v>
                </c:pt>
                <c:pt idx="79">
                  <c:v>-117.10678114432912</c:v>
                </c:pt>
                <c:pt idx="80">
                  <c:v>-116.83072700456415</c:v>
                </c:pt>
                <c:pt idx="81">
                  <c:v>-115.34523795667215</c:v>
                </c:pt>
                <c:pt idx="82">
                  <c:v>-120.76376087341188</c:v>
                </c:pt>
                <c:pt idx="83">
                  <c:v>-122.28934074671815</c:v>
                </c:pt>
                <c:pt idx="84">
                  <c:v>-125.09424537911704</c:v>
                </c:pt>
                <c:pt idx="85">
                  <c:v>-128.36886167551344</c:v>
                </c:pt>
                <c:pt idx="86">
                  <c:v>-117.81169222688852</c:v>
                </c:pt>
                <c:pt idx="87">
                  <c:v>-122.65132187637506</c:v>
                </c:pt>
                <c:pt idx="88">
                  <c:v>-114.07113657034728</c:v>
                </c:pt>
                <c:pt idx="89">
                  <c:v>-124.17140303759808</c:v>
                </c:pt>
                <c:pt idx="90">
                  <c:v>-125.58414888347798</c:v>
                </c:pt>
                <c:pt idx="91">
                  <c:v>-124.59368800428513</c:v>
                </c:pt>
                <c:pt idx="92">
                  <c:v>-138.41734335568543</c:v>
                </c:pt>
                <c:pt idx="93">
                  <c:v>-127.87862673053039</c:v>
                </c:pt>
                <c:pt idx="94">
                  <c:v>-115.37417170437922</c:v>
                </c:pt>
                <c:pt idx="95">
                  <c:v>-121.51190666608754</c:v>
                </c:pt>
                <c:pt idx="96">
                  <c:v>-114.82748853070545</c:v>
                </c:pt>
                <c:pt idx="97">
                  <c:v>-125.29368610158933</c:v>
                </c:pt>
                <c:pt idx="98">
                  <c:v>-124.28804059044393</c:v>
                </c:pt>
                <c:pt idx="99">
                  <c:v>-113.80181329510009</c:v>
                </c:pt>
                <c:pt idx="100">
                  <c:v>-126.4929350045616</c:v>
                </c:pt>
                <c:pt idx="101">
                  <c:v>-121.83619179043895</c:v>
                </c:pt>
                <c:pt idx="102">
                  <c:v>-114.03561010552141</c:v>
                </c:pt>
                <c:pt idx="103">
                  <c:v>-122.75662722202485</c:v>
                </c:pt>
                <c:pt idx="104">
                  <c:v>-116.82456315167119</c:v>
                </c:pt>
                <c:pt idx="105">
                  <c:v>-118.15201305057776</c:v>
                </c:pt>
                <c:pt idx="106">
                  <c:v>-122.66111038289952</c:v>
                </c:pt>
                <c:pt idx="107">
                  <c:v>-118.21539920227279</c:v>
                </c:pt>
                <c:pt idx="108">
                  <c:v>-118.7212456629846</c:v>
                </c:pt>
                <c:pt idx="109">
                  <c:v>-119.92088703948895</c:v>
                </c:pt>
                <c:pt idx="110">
                  <c:v>-125.43888466012048</c:v>
                </c:pt>
                <c:pt idx="111">
                  <c:v>-0.9151540351082038</c:v>
                </c:pt>
                <c:pt idx="112">
                  <c:v>-113.30143615343087</c:v>
                </c:pt>
                <c:pt idx="113">
                  <c:v>-117.09130627175767</c:v>
                </c:pt>
                <c:pt idx="114">
                  <c:v>-134.56924395689086</c:v>
                </c:pt>
                <c:pt idx="115">
                  <c:v>-121.95410620058831</c:v>
                </c:pt>
                <c:pt idx="116">
                  <c:v>-126.23185353557994</c:v>
                </c:pt>
                <c:pt idx="117">
                  <c:v>-120.20408334595287</c:v>
                </c:pt>
                <c:pt idx="118">
                  <c:v>-117.41429910361346</c:v>
                </c:pt>
                <c:pt idx="119">
                  <c:v>-116.2031139177568</c:v>
                </c:pt>
                <c:pt idx="120">
                  <c:v>-116.15842701652244</c:v>
                </c:pt>
                <c:pt idx="121">
                  <c:v>-125.88575730505859</c:v>
                </c:pt>
                <c:pt idx="122">
                  <c:v>-131.32641077521606</c:v>
                </c:pt>
                <c:pt idx="123">
                  <c:v>-114.14368634479823</c:v>
                </c:pt>
                <c:pt idx="124">
                  <c:v>-118.63230465828553</c:v>
                </c:pt>
                <c:pt idx="125">
                  <c:v>-125.64464027138231</c:v>
                </c:pt>
                <c:pt idx="126">
                  <c:v>-120.68170431148283</c:v>
                </c:pt>
                <c:pt idx="127">
                  <c:v>-121.52374732371044</c:v>
                </c:pt>
                <c:pt idx="128">
                  <c:v>-114.17073198607929</c:v>
                </c:pt>
                <c:pt idx="129">
                  <c:v>-120.96232345565822</c:v>
                </c:pt>
                <c:pt idx="130">
                  <c:v>-123.10606979422565</c:v>
                </c:pt>
                <c:pt idx="131">
                  <c:v>-115.91636120788121</c:v>
                </c:pt>
                <c:pt idx="132">
                  <c:v>-123.52477958671093</c:v>
                </c:pt>
                <c:pt idx="133">
                  <c:v>-120.91960091727779</c:v>
                </c:pt>
                <c:pt idx="134">
                  <c:v>-118.39582213149521</c:v>
                </c:pt>
                <c:pt idx="135">
                  <c:v>-115.35904799742968</c:v>
                </c:pt>
                <c:pt idx="136">
                  <c:v>-120.88465893488703</c:v>
                </c:pt>
                <c:pt idx="137">
                  <c:v>-119.80391796370438</c:v>
                </c:pt>
                <c:pt idx="138">
                  <c:v>-120.03073813285309</c:v>
                </c:pt>
                <c:pt idx="139">
                  <c:v>-119.58006864310536</c:v>
                </c:pt>
                <c:pt idx="140">
                  <c:v>-122.93494291481761</c:v>
                </c:pt>
                <c:pt idx="141">
                  <c:v>-116.9579719492153</c:v>
                </c:pt>
                <c:pt idx="142">
                  <c:v>-124.49314751889875</c:v>
                </c:pt>
                <c:pt idx="143">
                  <c:v>-122.84912724106857</c:v>
                </c:pt>
                <c:pt idx="144">
                  <c:v>-115.57491993108084</c:v>
                </c:pt>
                <c:pt idx="145">
                  <c:v>-122.5987684558156</c:v>
                </c:pt>
                <c:pt idx="146">
                  <c:v>-119.05769629561496</c:v>
                </c:pt>
                <c:pt idx="147">
                  <c:v>-122.85268106463229</c:v>
                </c:pt>
                <c:pt idx="148">
                  <c:v>-120.81424169728874</c:v>
                </c:pt>
                <c:pt idx="149">
                  <c:v>-119.70890883018596</c:v>
                </c:pt>
                <c:pt idx="150">
                  <c:v>-118.46390763426027</c:v>
                </c:pt>
                <c:pt idx="151">
                  <c:v>-117.88855103318916</c:v>
                </c:pt>
                <c:pt idx="152">
                  <c:v>-118.76034570296343</c:v>
                </c:pt>
                <c:pt idx="153">
                  <c:v>-116.43072601488828</c:v>
                </c:pt>
                <c:pt idx="154">
                  <c:v>-121.2796033089858</c:v>
                </c:pt>
                <c:pt idx="155">
                  <c:v>-123.76903381016972</c:v>
                </c:pt>
                <c:pt idx="156">
                  <c:v>-114.04730520875815</c:v>
                </c:pt>
                <c:pt idx="157">
                  <c:v>-122.93475128970479</c:v>
                </c:pt>
                <c:pt idx="158">
                  <c:v>-116.1866744756349</c:v>
                </c:pt>
                <c:pt idx="159">
                  <c:v>-118.8751365648429</c:v>
                </c:pt>
                <c:pt idx="160">
                  <c:v>-120.36839022753652</c:v>
                </c:pt>
                <c:pt idx="161">
                  <c:v>-137.59250068314455</c:v>
                </c:pt>
                <c:pt idx="162">
                  <c:v>-114.67738655670361</c:v>
                </c:pt>
                <c:pt idx="163">
                  <c:v>-115.9360735739445</c:v>
                </c:pt>
                <c:pt idx="164">
                  <c:v>-122.87246783113861</c:v>
                </c:pt>
                <c:pt idx="165">
                  <c:v>-120.47773080388251</c:v>
                </c:pt>
                <c:pt idx="166">
                  <c:v>-121.6549637443046</c:v>
                </c:pt>
                <c:pt idx="167">
                  <c:v>-119.97175590571325</c:v>
                </c:pt>
                <c:pt idx="168">
                  <c:v>-121.24350543714112</c:v>
                </c:pt>
                <c:pt idx="169">
                  <c:v>-119.29792527024794</c:v>
                </c:pt>
                <c:pt idx="170">
                  <c:v>-116.87680793282462</c:v>
                </c:pt>
                <c:pt idx="171">
                  <c:v>-126.67364285927958</c:v>
                </c:pt>
                <c:pt idx="172">
                  <c:v>-118.87184166756347</c:v>
                </c:pt>
                <c:pt idx="173">
                  <c:v>-128.18512080847236</c:v>
                </c:pt>
                <c:pt idx="174">
                  <c:v>-132.84478011643435</c:v>
                </c:pt>
                <c:pt idx="175">
                  <c:v>-118.89628907063916</c:v>
                </c:pt>
                <c:pt idx="176">
                  <c:v>-112.169266307156</c:v>
                </c:pt>
                <c:pt idx="177">
                  <c:v>-117.00003499254802</c:v>
                </c:pt>
                <c:pt idx="178">
                  <c:v>-118.89148909320855</c:v>
                </c:pt>
                <c:pt idx="179">
                  <c:v>-119.72653071819218</c:v>
                </c:pt>
                <c:pt idx="180">
                  <c:v>-118.76949474796581</c:v>
                </c:pt>
                <c:pt idx="181">
                  <c:v>-116.55904856020562</c:v>
                </c:pt>
                <c:pt idx="182">
                  <c:v>-113.96560159484636</c:v>
                </c:pt>
                <c:pt idx="183">
                  <c:v>-126.86878774026107</c:v>
                </c:pt>
                <c:pt idx="184">
                  <c:v>-117.55559932109298</c:v>
                </c:pt>
                <c:pt idx="185">
                  <c:v>-124.06590215405191</c:v>
                </c:pt>
                <c:pt idx="186">
                  <c:v>-157.81374226384423</c:v>
                </c:pt>
                <c:pt idx="187">
                  <c:v>-127.38312956579409</c:v>
                </c:pt>
                <c:pt idx="188">
                  <c:v>-122.50822908745882</c:v>
                </c:pt>
                <c:pt idx="189">
                  <c:v>-116.28711714958327</c:v>
                </c:pt>
                <c:pt idx="190">
                  <c:v>-127.284006007806</c:v>
                </c:pt>
                <c:pt idx="191">
                  <c:v>-120.16935695713141</c:v>
                </c:pt>
                <c:pt idx="192">
                  <c:v>-117.93930610136348</c:v>
                </c:pt>
                <c:pt idx="193">
                  <c:v>-125.07741977392584</c:v>
                </c:pt>
                <c:pt idx="194">
                  <c:v>-128.28771494928193</c:v>
                </c:pt>
                <c:pt idx="195">
                  <c:v>-120.44008057494756</c:v>
                </c:pt>
                <c:pt idx="196">
                  <c:v>-112.7299758934469</c:v>
                </c:pt>
                <c:pt idx="197">
                  <c:v>-117.53062975593991</c:v>
                </c:pt>
                <c:pt idx="198">
                  <c:v>-122.5244585200514</c:v>
                </c:pt>
                <c:pt idx="199">
                  <c:v>-125.08306120538329</c:v>
                </c:pt>
                <c:pt idx="200">
                  <c:v>-129.27485436523844</c:v>
                </c:pt>
                <c:pt idx="201">
                  <c:v>-122.72660011322913</c:v>
                </c:pt>
                <c:pt idx="202">
                  <c:v>-118.24606124650713</c:v>
                </c:pt>
                <c:pt idx="203">
                  <c:v>-113.62142533705062</c:v>
                </c:pt>
                <c:pt idx="204">
                  <c:v>-125.15586552127922</c:v>
                </c:pt>
                <c:pt idx="205">
                  <c:v>-112.39839593925238</c:v>
                </c:pt>
                <c:pt idx="206">
                  <c:v>-122.12230073917598</c:v>
                </c:pt>
                <c:pt idx="207">
                  <c:v>-131.47759785450313</c:v>
                </c:pt>
                <c:pt idx="208">
                  <c:v>-120.86794023334711</c:v>
                </c:pt>
                <c:pt idx="209">
                  <c:v>-117.19083508145104</c:v>
                </c:pt>
                <c:pt idx="210">
                  <c:v>-121.46885631247767</c:v>
                </c:pt>
                <c:pt idx="211">
                  <c:v>-124.21033109112793</c:v>
                </c:pt>
                <c:pt idx="212">
                  <c:v>-125.40328651879533</c:v>
                </c:pt>
                <c:pt idx="213">
                  <c:v>-120.48867405103272</c:v>
                </c:pt>
                <c:pt idx="214">
                  <c:v>-115.76366157021036</c:v>
                </c:pt>
                <c:pt idx="215">
                  <c:v>-126.33322903631795</c:v>
                </c:pt>
                <c:pt idx="216">
                  <c:v>-121.49243137918099</c:v>
                </c:pt>
                <c:pt idx="217">
                  <c:v>-123.20241117801153</c:v>
                </c:pt>
                <c:pt idx="218">
                  <c:v>-117.99328093588605</c:v>
                </c:pt>
                <c:pt idx="219">
                  <c:v>-127.17260504125703</c:v>
                </c:pt>
                <c:pt idx="220">
                  <c:v>-119.95200374339876</c:v>
                </c:pt>
                <c:pt idx="221">
                  <c:v>-118.05310613590626</c:v>
                </c:pt>
                <c:pt idx="222">
                  <c:v>-72.89174823397809</c:v>
                </c:pt>
                <c:pt idx="223">
                  <c:v>-113.50485458279422</c:v>
                </c:pt>
                <c:pt idx="224">
                  <c:v>-119.25780086914483</c:v>
                </c:pt>
                <c:pt idx="225">
                  <c:v>-127.46257922423082</c:v>
                </c:pt>
                <c:pt idx="226">
                  <c:v>-128.86045762637644</c:v>
                </c:pt>
                <c:pt idx="227">
                  <c:v>-119.3652072149865</c:v>
                </c:pt>
                <c:pt idx="228">
                  <c:v>-131.81821112233183</c:v>
                </c:pt>
                <c:pt idx="229">
                  <c:v>-120.00453827794077</c:v>
                </c:pt>
                <c:pt idx="230">
                  <c:v>-119.53197084852962</c:v>
                </c:pt>
                <c:pt idx="231">
                  <c:v>-118.63577042347822</c:v>
                </c:pt>
                <c:pt idx="232">
                  <c:v>-116.81280878842925</c:v>
                </c:pt>
                <c:pt idx="233">
                  <c:v>-125.59156132270829</c:v>
                </c:pt>
                <c:pt idx="234">
                  <c:v>-118.75851005059594</c:v>
                </c:pt>
                <c:pt idx="235">
                  <c:v>-120.22385017760305</c:v>
                </c:pt>
                <c:pt idx="236">
                  <c:v>-122.54704221554404</c:v>
                </c:pt>
                <c:pt idx="237">
                  <c:v>-118.01641994932089</c:v>
                </c:pt>
                <c:pt idx="238">
                  <c:v>-114.60845898234345</c:v>
                </c:pt>
                <c:pt idx="239">
                  <c:v>-120.51870022116985</c:v>
                </c:pt>
                <c:pt idx="240">
                  <c:v>-118.26654443320444</c:v>
                </c:pt>
                <c:pt idx="241">
                  <c:v>-122.471589555913</c:v>
                </c:pt>
                <c:pt idx="242">
                  <c:v>-126.7836162871929</c:v>
                </c:pt>
                <c:pt idx="243">
                  <c:v>-123.22495698373068</c:v>
                </c:pt>
                <c:pt idx="244">
                  <c:v>-122.98630792642923</c:v>
                </c:pt>
                <c:pt idx="245">
                  <c:v>-124.01128189684862</c:v>
                </c:pt>
                <c:pt idx="246">
                  <c:v>-125.83056246334829</c:v>
                </c:pt>
                <c:pt idx="247">
                  <c:v>-130.99767655206134</c:v>
                </c:pt>
                <c:pt idx="248">
                  <c:v>-121.39811493837044</c:v>
                </c:pt>
                <c:pt idx="249">
                  <c:v>-126.68674030804058</c:v>
                </c:pt>
                <c:pt idx="250">
                  <c:v>-123.18455137080782</c:v>
                </c:pt>
                <c:pt idx="251">
                  <c:v>-124.1160464663818</c:v>
                </c:pt>
                <c:pt idx="252">
                  <c:v>-112.14824945384649</c:v>
                </c:pt>
                <c:pt idx="253">
                  <c:v>-119.30298550702703</c:v>
                </c:pt>
                <c:pt idx="254">
                  <c:v>-116.33195401071634</c:v>
                </c:pt>
                <c:pt idx="255">
                  <c:v>-120.60599643428345</c:v>
                </c:pt>
                <c:pt idx="256">
                  <c:v>-123.58582403645059</c:v>
                </c:pt>
                <c:pt idx="257">
                  <c:v>-118.33162718081938</c:v>
                </c:pt>
                <c:pt idx="258">
                  <c:v>-116.35960442097729</c:v>
                </c:pt>
                <c:pt idx="259">
                  <c:v>-120.02505196404795</c:v>
                </c:pt>
                <c:pt idx="260">
                  <c:v>-124.23164647790497</c:v>
                </c:pt>
                <c:pt idx="261">
                  <c:v>-126.23969231582552</c:v>
                </c:pt>
                <c:pt idx="262">
                  <c:v>-120.29446992599097</c:v>
                </c:pt>
                <c:pt idx="263">
                  <c:v>-117.62709311143925</c:v>
                </c:pt>
                <c:pt idx="264">
                  <c:v>-121.33638772003974</c:v>
                </c:pt>
                <c:pt idx="265">
                  <c:v>-115.8623909003832</c:v>
                </c:pt>
                <c:pt idx="266">
                  <c:v>-118.78949029680982</c:v>
                </c:pt>
                <c:pt idx="267">
                  <c:v>-128.5955066769028</c:v>
                </c:pt>
                <c:pt idx="268">
                  <c:v>-114.61537273413717</c:v>
                </c:pt>
                <c:pt idx="269">
                  <c:v>-118.36378132881703</c:v>
                </c:pt>
                <c:pt idx="270">
                  <c:v>-119.18135401389863</c:v>
                </c:pt>
                <c:pt idx="271">
                  <c:v>-118.71458826913702</c:v>
                </c:pt>
                <c:pt idx="272">
                  <c:v>-129.35483314113333</c:v>
                </c:pt>
                <c:pt idx="273">
                  <c:v>-118.33084274530606</c:v>
                </c:pt>
                <c:pt idx="274">
                  <c:v>-120.06533094923476</c:v>
                </c:pt>
                <c:pt idx="275">
                  <c:v>-126.00633906094183</c:v>
                </c:pt>
                <c:pt idx="276">
                  <c:v>-134.88807046424023</c:v>
                </c:pt>
                <c:pt idx="277">
                  <c:v>-131.04079643817096</c:v>
                </c:pt>
                <c:pt idx="278">
                  <c:v>-115.51706595071312</c:v>
                </c:pt>
                <c:pt idx="279">
                  <c:v>-127.51088604046262</c:v>
                </c:pt>
                <c:pt idx="280">
                  <c:v>-127.67371046087818</c:v>
                </c:pt>
                <c:pt idx="281">
                  <c:v>-124.12863133873431</c:v>
                </c:pt>
                <c:pt idx="282">
                  <c:v>-116.79771347448124</c:v>
                </c:pt>
                <c:pt idx="283">
                  <c:v>-113.87126863453476</c:v>
                </c:pt>
                <c:pt idx="284">
                  <c:v>-129.5476932272589</c:v>
                </c:pt>
                <c:pt idx="285">
                  <c:v>-116.2224408342463</c:v>
                </c:pt>
                <c:pt idx="286">
                  <c:v>-117.62826480697774</c:v>
                </c:pt>
                <c:pt idx="287">
                  <c:v>-121.10544555398383</c:v>
                </c:pt>
                <c:pt idx="288">
                  <c:v>-122.05994187548202</c:v>
                </c:pt>
                <c:pt idx="289">
                  <c:v>-127.79359731999068</c:v>
                </c:pt>
                <c:pt idx="290">
                  <c:v>-131.11910478447032</c:v>
                </c:pt>
                <c:pt idx="291">
                  <c:v>-122.9456422308061</c:v>
                </c:pt>
                <c:pt idx="292">
                  <c:v>-123.7827843444777</c:v>
                </c:pt>
                <c:pt idx="293">
                  <c:v>-118.01045182833285</c:v>
                </c:pt>
                <c:pt idx="294">
                  <c:v>-118.62620901798698</c:v>
                </c:pt>
                <c:pt idx="295">
                  <c:v>-117.35457986970012</c:v>
                </c:pt>
                <c:pt idx="296">
                  <c:v>-125.02779068951665</c:v>
                </c:pt>
                <c:pt idx="297">
                  <c:v>-116.48023645193084</c:v>
                </c:pt>
                <c:pt idx="298">
                  <c:v>-119.10753198175199</c:v>
                </c:pt>
                <c:pt idx="299">
                  <c:v>-129.38346545156068</c:v>
                </c:pt>
                <c:pt idx="300">
                  <c:v>-118.1693332987904</c:v>
                </c:pt>
                <c:pt idx="301">
                  <c:v>-117.53974293206986</c:v>
                </c:pt>
                <c:pt idx="302">
                  <c:v>-122.35528010495261</c:v>
                </c:pt>
                <c:pt idx="303">
                  <c:v>-115.80876870079047</c:v>
                </c:pt>
                <c:pt idx="304">
                  <c:v>-119.13483744834596</c:v>
                </c:pt>
                <c:pt idx="305">
                  <c:v>-118.69783091228751</c:v>
                </c:pt>
                <c:pt idx="306">
                  <c:v>-119.3601975873618</c:v>
                </c:pt>
                <c:pt idx="307">
                  <c:v>-128.09667774880216</c:v>
                </c:pt>
                <c:pt idx="308">
                  <c:v>-127.31615982609097</c:v>
                </c:pt>
                <c:pt idx="309">
                  <c:v>-117.1647881204195</c:v>
                </c:pt>
                <c:pt idx="310">
                  <c:v>-117.87036498439048</c:v>
                </c:pt>
                <c:pt idx="311">
                  <c:v>-122.63483047057326</c:v>
                </c:pt>
                <c:pt idx="312">
                  <c:v>-125.73245692986276</c:v>
                </c:pt>
                <c:pt idx="313">
                  <c:v>-118.29831020797837</c:v>
                </c:pt>
                <c:pt idx="314">
                  <c:v>-121.83900700310937</c:v>
                </c:pt>
                <c:pt idx="315">
                  <c:v>-124.30080882684345</c:v>
                </c:pt>
                <c:pt idx="316">
                  <c:v>-118.12690733659055</c:v>
                </c:pt>
                <c:pt idx="317">
                  <c:v>-129.15239503179754</c:v>
                </c:pt>
                <c:pt idx="318">
                  <c:v>-128.30001665441162</c:v>
                </c:pt>
                <c:pt idx="319">
                  <c:v>-136.9009328363559</c:v>
                </c:pt>
                <c:pt idx="320">
                  <c:v>-119.66623809940242</c:v>
                </c:pt>
                <c:pt idx="321">
                  <c:v>-121.92271295508597</c:v>
                </c:pt>
                <c:pt idx="322">
                  <c:v>-123.18981878007574</c:v>
                </c:pt>
                <c:pt idx="323">
                  <c:v>-118.2190119213618</c:v>
                </c:pt>
                <c:pt idx="324">
                  <c:v>-128.2254479115076</c:v>
                </c:pt>
                <c:pt idx="325">
                  <c:v>-119.71443757217743</c:v>
                </c:pt>
                <c:pt idx="326">
                  <c:v>-115.12703515754042</c:v>
                </c:pt>
                <c:pt idx="327">
                  <c:v>-126.26135807589904</c:v>
                </c:pt>
                <c:pt idx="328">
                  <c:v>-116.03050222475196</c:v>
                </c:pt>
                <c:pt idx="329">
                  <c:v>-124.30436729674588</c:v>
                </c:pt>
                <c:pt idx="330">
                  <c:v>-123.50439951877624</c:v>
                </c:pt>
                <c:pt idx="331">
                  <c:v>-121.32277491752178</c:v>
                </c:pt>
                <c:pt idx="332">
                  <c:v>-123.18050637561298</c:v>
                </c:pt>
                <c:pt idx="333">
                  <c:v>-78.86328460886672</c:v>
                </c:pt>
                <c:pt idx="334">
                  <c:v>-118.95257359847224</c:v>
                </c:pt>
                <c:pt idx="335">
                  <c:v>-128.5429991642687</c:v>
                </c:pt>
                <c:pt idx="336">
                  <c:v>-118.74062047660466</c:v>
                </c:pt>
                <c:pt idx="337">
                  <c:v>-115.8354787289676</c:v>
                </c:pt>
                <c:pt idx="338">
                  <c:v>-126.8451874441538</c:v>
                </c:pt>
                <c:pt idx="339">
                  <c:v>-122.67257276783218</c:v>
                </c:pt>
                <c:pt idx="340">
                  <c:v>-114.93180872402496</c:v>
                </c:pt>
                <c:pt idx="341">
                  <c:v>-121.41599491415698</c:v>
                </c:pt>
                <c:pt idx="342">
                  <c:v>-118.6648976198572</c:v>
                </c:pt>
                <c:pt idx="343">
                  <c:v>-127.18132998935167</c:v>
                </c:pt>
                <c:pt idx="344">
                  <c:v>-125.90792471577957</c:v>
                </c:pt>
                <c:pt idx="345">
                  <c:v>-116.45319032649877</c:v>
                </c:pt>
                <c:pt idx="346">
                  <c:v>-129.12261823538495</c:v>
                </c:pt>
                <c:pt idx="347">
                  <c:v>-117.41937840537173</c:v>
                </c:pt>
                <c:pt idx="348">
                  <c:v>-115.20208284385413</c:v>
                </c:pt>
                <c:pt idx="349">
                  <c:v>-130.17631954993738</c:v>
                </c:pt>
                <c:pt idx="350">
                  <c:v>-123.78491579771377</c:v>
                </c:pt>
                <c:pt idx="351">
                  <c:v>-129.43589409912238</c:v>
                </c:pt>
                <c:pt idx="352">
                  <c:v>-118.73767315027159</c:v>
                </c:pt>
                <c:pt idx="353">
                  <c:v>-115.56356202890798</c:v>
                </c:pt>
                <c:pt idx="354">
                  <c:v>-120.15530211852709</c:v>
                </c:pt>
                <c:pt idx="355">
                  <c:v>-120.45073229322475</c:v>
                </c:pt>
                <c:pt idx="356">
                  <c:v>-124.95848357234912</c:v>
                </c:pt>
                <c:pt idx="357">
                  <c:v>-119.32868756849152</c:v>
                </c:pt>
                <c:pt idx="358">
                  <c:v>-124.94984576339948</c:v>
                </c:pt>
                <c:pt idx="359">
                  <c:v>-122.252023537647</c:v>
                </c:pt>
                <c:pt idx="360">
                  <c:v>-122.10611721291924</c:v>
                </c:pt>
                <c:pt idx="361">
                  <c:v>-122.98268696805394</c:v>
                </c:pt>
                <c:pt idx="362">
                  <c:v>-120.47973166604092</c:v>
                </c:pt>
                <c:pt idx="363">
                  <c:v>-117.20351165689954</c:v>
                </c:pt>
                <c:pt idx="364">
                  <c:v>-120.0638856395334</c:v>
                </c:pt>
                <c:pt idx="365">
                  <c:v>-117.09059562923633</c:v>
                </c:pt>
                <c:pt idx="366">
                  <c:v>-115.85943252431349</c:v>
                </c:pt>
                <c:pt idx="367">
                  <c:v>-122.5703957130692</c:v>
                </c:pt>
                <c:pt idx="368">
                  <c:v>-123.26646922737638</c:v>
                </c:pt>
                <c:pt idx="369">
                  <c:v>-127.86619807757452</c:v>
                </c:pt>
                <c:pt idx="370">
                  <c:v>-126.86891736214253</c:v>
                </c:pt>
                <c:pt idx="371">
                  <c:v>-131.5162085443386</c:v>
                </c:pt>
                <c:pt idx="372">
                  <c:v>-127.14879065468907</c:v>
                </c:pt>
                <c:pt idx="373">
                  <c:v>-131.7761600030763</c:v>
                </c:pt>
                <c:pt idx="374">
                  <c:v>-112.37639728626425</c:v>
                </c:pt>
                <c:pt idx="375">
                  <c:v>-120.23616465936186</c:v>
                </c:pt>
                <c:pt idx="376">
                  <c:v>-136.5360948660013</c:v>
                </c:pt>
                <c:pt idx="377">
                  <c:v>-118.63923090751042</c:v>
                </c:pt>
                <c:pt idx="378">
                  <c:v>-132.07501894205694</c:v>
                </c:pt>
                <c:pt idx="379">
                  <c:v>-126.99325851491876</c:v>
                </c:pt>
                <c:pt idx="380">
                  <c:v>-132.2639461055657</c:v>
                </c:pt>
                <c:pt idx="381">
                  <c:v>-124.28066985779415</c:v>
                </c:pt>
                <c:pt idx="382">
                  <c:v>-121.30640461453795</c:v>
                </c:pt>
                <c:pt idx="383">
                  <c:v>-119.01289873082032</c:v>
                </c:pt>
                <c:pt idx="384">
                  <c:v>-127.28054161378537</c:v>
                </c:pt>
                <c:pt idx="385">
                  <c:v>-116.74298254797384</c:v>
                </c:pt>
                <c:pt idx="386">
                  <c:v>-116.9048984661766</c:v>
                </c:pt>
                <c:pt idx="387">
                  <c:v>-120.158807372766</c:v>
                </c:pt>
                <c:pt idx="388">
                  <c:v>-121.40964959266496</c:v>
                </c:pt>
                <c:pt idx="389">
                  <c:v>-120.7338770647971</c:v>
                </c:pt>
                <c:pt idx="390">
                  <c:v>-120.50321149466026</c:v>
                </c:pt>
                <c:pt idx="391">
                  <c:v>-122.48390291810841</c:v>
                </c:pt>
                <c:pt idx="392">
                  <c:v>-127.71759137953454</c:v>
                </c:pt>
                <c:pt idx="393">
                  <c:v>-124.08450386414145</c:v>
                </c:pt>
                <c:pt idx="394">
                  <c:v>-125.9914472604772</c:v>
                </c:pt>
                <c:pt idx="395">
                  <c:v>-120.90270393704151</c:v>
                </c:pt>
                <c:pt idx="396">
                  <c:v>-130.2859224345102</c:v>
                </c:pt>
                <c:pt idx="397">
                  <c:v>-113.34262961903119</c:v>
                </c:pt>
                <c:pt idx="398">
                  <c:v>-116.30802427995384</c:v>
                </c:pt>
                <c:pt idx="399">
                  <c:v>-115.64553476417862</c:v>
                </c:pt>
                <c:pt idx="400">
                  <c:v>-124.27356301679762</c:v>
                </c:pt>
                <c:pt idx="401">
                  <c:v>-123.01086052977138</c:v>
                </c:pt>
                <c:pt idx="402">
                  <c:v>-118.72421231452148</c:v>
                </c:pt>
                <c:pt idx="403">
                  <c:v>-121.70337315631866</c:v>
                </c:pt>
                <c:pt idx="404">
                  <c:v>-120.11316201240362</c:v>
                </c:pt>
                <c:pt idx="405">
                  <c:v>-116.89484877435738</c:v>
                </c:pt>
                <c:pt idx="406">
                  <c:v>-128.27645158214665</c:v>
                </c:pt>
                <c:pt idx="407">
                  <c:v>-126.30767067224963</c:v>
                </c:pt>
                <c:pt idx="408">
                  <c:v>-125.33365294461424</c:v>
                </c:pt>
                <c:pt idx="409">
                  <c:v>-120.33588353349884</c:v>
                </c:pt>
                <c:pt idx="410">
                  <c:v>-116.14943114004862</c:v>
                </c:pt>
                <c:pt idx="411">
                  <c:v>-113.74707709503838</c:v>
                </c:pt>
                <c:pt idx="412">
                  <c:v>-122.87956634338593</c:v>
                </c:pt>
                <c:pt idx="413">
                  <c:v>-118.12826668104763</c:v>
                </c:pt>
                <c:pt idx="414">
                  <c:v>-123.98525281158001</c:v>
                </c:pt>
                <c:pt idx="415">
                  <c:v>-117.99253277084723</c:v>
                </c:pt>
                <c:pt idx="416">
                  <c:v>-129.48422083265964</c:v>
                </c:pt>
                <c:pt idx="417">
                  <c:v>-123.83020127967754</c:v>
                </c:pt>
                <c:pt idx="418">
                  <c:v>-132.95255219738988</c:v>
                </c:pt>
                <c:pt idx="419">
                  <c:v>-123.37212119011221</c:v>
                </c:pt>
                <c:pt idx="420">
                  <c:v>-117.56620018238829</c:v>
                </c:pt>
                <c:pt idx="421">
                  <c:v>-121.99596255380428</c:v>
                </c:pt>
                <c:pt idx="422">
                  <c:v>-115.99108055104901</c:v>
                </c:pt>
                <c:pt idx="423">
                  <c:v>-118.07091257445558</c:v>
                </c:pt>
                <c:pt idx="424">
                  <c:v>-117.53701788283529</c:v>
                </c:pt>
                <c:pt idx="425">
                  <c:v>-122.34955369852452</c:v>
                </c:pt>
                <c:pt idx="426">
                  <c:v>-126.08028571132132</c:v>
                </c:pt>
                <c:pt idx="427">
                  <c:v>-112.92116456959656</c:v>
                </c:pt>
                <c:pt idx="428">
                  <c:v>-120.85695657575008</c:v>
                </c:pt>
                <c:pt idx="429">
                  <c:v>-123.13267386207782</c:v>
                </c:pt>
                <c:pt idx="430">
                  <c:v>-122.85760522432427</c:v>
                </c:pt>
                <c:pt idx="431">
                  <c:v>-120.09082435006191</c:v>
                </c:pt>
                <c:pt idx="432">
                  <c:v>-113.55752783750249</c:v>
                </c:pt>
                <c:pt idx="433">
                  <c:v>-119.72940386094643</c:v>
                </c:pt>
                <c:pt idx="434">
                  <c:v>-117.85577802012088</c:v>
                </c:pt>
                <c:pt idx="435">
                  <c:v>-119.1883557735761</c:v>
                </c:pt>
                <c:pt idx="436">
                  <c:v>-121.17059735030088</c:v>
                </c:pt>
                <c:pt idx="437">
                  <c:v>-128.61792364985638</c:v>
                </c:pt>
                <c:pt idx="438">
                  <c:v>-120.20359116287695</c:v>
                </c:pt>
                <c:pt idx="439">
                  <c:v>-118.89645766848533</c:v>
                </c:pt>
                <c:pt idx="440">
                  <c:v>-117.53844467473387</c:v>
                </c:pt>
                <c:pt idx="441">
                  <c:v>-118.82122913547917</c:v>
                </c:pt>
                <c:pt idx="442">
                  <c:v>-122.15868344465888</c:v>
                </c:pt>
                <c:pt idx="443">
                  <c:v>-116.7884976114599</c:v>
                </c:pt>
                <c:pt idx="444">
                  <c:v>-133.14435879248026</c:v>
                </c:pt>
                <c:pt idx="445">
                  <c:v>-116.6956442060105</c:v>
                </c:pt>
                <c:pt idx="446">
                  <c:v>-122.79006006599204</c:v>
                </c:pt>
                <c:pt idx="447">
                  <c:v>-126.405846781732</c:v>
                </c:pt>
                <c:pt idx="448">
                  <c:v>-114.66825730755738</c:v>
                </c:pt>
                <c:pt idx="449">
                  <c:v>-117.55193654564202</c:v>
                </c:pt>
                <c:pt idx="450">
                  <c:v>-128.6845300735581</c:v>
                </c:pt>
                <c:pt idx="451">
                  <c:v>-122.5780185330403</c:v>
                </c:pt>
                <c:pt idx="452">
                  <c:v>-122.7743992642624</c:v>
                </c:pt>
                <c:pt idx="453">
                  <c:v>-117.09826897902889</c:v>
                </c:pt>
                <c:pt idx="454">
                  <c:v>-119.81165080983641</c:v>
                </c:pt>
                <c:pt idx="455">
                  <c:v>-114.34740853983439</c:v>
                </c:pt>
                <c:pt idx="456">
                  <c:v>-119.9715696656728</c:v>
                </c:pt>
                <c:pt idx="457">
                  <c:v>-120.52828904167345</c:v>
                </c:pt>
                <c:pt idx="458">
                  <c:v>-121.02993070391693</c:v>
                </c:pt>
                <c:pt idx="459">
                  <c:v>-122.60526662904816</c:v>
                </c:pt>
                <c:pt idx="460">
                  <c:v>-120.61632891118307</c:v>
                </c:pt>
                <c:pt idx="461">
                  <c:v>-119.12173307186993</c:v>
                </c:pt>
                <c:pt idx="462">
                  <c:v>-122.20696740208467</c:v>
                </c:pt>
                <c:pt idx="463">
                  <c:v>-119.58077040126442</c:v>
                </c:pt>
                <c:pt idx="464">
                  <c:v>-121.24495618149133</c:v>
                </c:pt>
                <c:pt idx="465">
                  <c:v>-120.14768052958637</c:v>
                </c:pt>
                <c:pt idx="466">
                  <c:v>-115.61720423000175</c:v>
                </c:pt>
                <c:pt idx="467">
                  <c:v>-116.03010921948128</c:v>
                </c:pt>
                <c:pt idx="468">
                  <c:v>-117.62906540328922</c:v>
                </c:pt>
                <c:pt idx="469">
                  <c:v>-115.84378904477525</c:v>
                </c:pt>
                <c:pt idx="470">
                  <c:v>-124.90782971613288</c:v>
                </c:pt>
                <c:pt idx="471">
                  <c:v>-119.43908382629922</c:v>
                </c:pt>
                <c:pt idx="472">
                  <c:v>-122.88045171175453</c:v>
                </c:pt>
                <c:pt idx="473">
                  <c:v>-131.36040883387454</c:v>
                </c:pt>
                <c:pt idx="474">
                  <c:v>-118.4828929550084</c:v>
                </c:pt>
                <c:pt idx="475">
                  <c:v>-121.3805912507699</c:v>
                </c:pt>
                <c:pt idx="476">
                  <c:v>-123.23550219531111</c:v>
                </c:pt>
                <c:pt idx="477">
                  <c:v>-123.28094340533733</c:v>
                </c:pt>
                <c:pt idx="478">
                  <c:v>-113.43003221932526</c:v>
                </c:pt>
                <c:pt idx="479">
                  <c:v>-117.73354117474665</c:v>
                </c:pt>
                <c:pt idx="480">
                  <c:v>-117.61432418546903</c:v>
                </c:pt>
                <c:pt idx="481">
                  <c:v>-131.8749105342924</c:v>
                </c:pt>
                <c:pt idx="482">
                  <c:v>-121.71674707902262</c:v>
                </c:pt>
                <c:pt idx="483">
                  <c:v>-124.04159103907803</c:v>
                </c:pt>
                <c:pt idx="484">
                  <c:v>-118.7790207516567</c:v>
                </c:pt>
                <c:pt idx="485">
                  <c:v>-114.74673261096476</c:v>
                </c:pt>
                <c:pt idx="486">
                  <c:v>-133.24303457846176</c:v>
                </c:pt>
                <c:pt idx="487">
                  <c:v>-127.62436036363448</c:v>
                </c:pt>
                <c:pt idx="488">
                  <c:v>-117.86988761558965</c:v>
                </c:pt>
                <c:pt idx="489">
                  <c:v>-118.49226930710026</c:v>
                </c:pt>
                <c:pt idx="490">
                  <c:v>-122.13355505823893</c:v>
                </c:pt>
                <c:pt idx="491">
                  <c:v>-123.81082039203844</c:v>
                </c:pt>
                <c:pt idx="492">
                  <c:v>-124.57632359537124</c:v>
                </c:pt>
                <c:pt idx="493">
                  <c:v>-129.47620894480383</c:v>
                </c:pt>
                <c:pt idx="494">
                  <c:v>-127.10602615909977</c:v>
                </c:pt>
                <c:pt idx="495">
                  <c:v>-121.58107090455331</c:v>
                </c:pt>
                <c:pt idx="496">
                  <c:v>-125.47390277508617</c:v>
                </c:pt>
                <c:pt idx="497">
                  <c:v>-117.594323795317</c:v>
                </c:pt>
                <c:pt idx="498">
                  <c:v>-114.28162639585906</c:v>
                </c:pt>
                <c:pt idx="499">
                  <c:v>-126.65238021748897</c:v>
                </c:pt>
                <c:pt idx="500">
                  <c:v>-124.61829184973712</c:v>
                </c:pt>
                <c:pt idx="501">
                  <c:v>-117.82359746972652</c:v>
                </c:pt>
                <c:pt idx="502">
                  <c:v>-117.9373035144843</c:v>
                </c:pt>
                <c:pt idx="503">
                  <c:v>-120.8616551208313</c:v>
                </c:pt>
                <c:pt idx="504">
                  <c:v>-114.1443623515513</c:v>
                </c:pt>
                <c:pt idx="505">
                  <c:v>-122.4816281956248</c:v>
                </c:pt>
                <c:pt idx="506">
                  <c:v>-118.18907027926349</c:v>
                </c:pt>
                <c:pt idx="507">
                  <c:v>-120.06721547784677</c:v>
                </c:pt>
                <c:pt idx="508">
                  <c:v>-118.11753579256705</c:v>
                </c:pt>
                <c:pt idx="509">
                  <c:v>-128.3947988017223</c:v>
                </c:pt>
                <c:pt idx="510">
                  <c:v>-119.83897204999296</c:v>
                </c:pt>
                <c:pt idx="511">
                  <c:v>-117.26231519860475</c:v>
                </c:pt>
                <c:pt idx="512">
                  <c:v>-120.82879389344055</c:v>
                </c:pt>
                <c:pt idx="513">
                  <c:v>-118.44275039318251</c:v>
                </c:pt>
                <c:pt idx="514">
                  <c:v>-112.59402592946016</c:v>
                </c:pt>
                <c:pt idx="515">
                  <c:v>-124.30787216253043</c:v>
                </c:pt>
                <c:pt idx="516">
                  <c:v>-118.80073475557361</c:v>
                </c:pt>
                <c:pt idx="517">
                  <c:v>-117.01840557841747</c:v>
                </c:pt>
                <c:pt idx="518">
                  <c:v>-119.11071534106551</c:v>
                </c:pt>
                <c:pt idx="519">
                  <c:v>-125.37792551652716</c:v>
                </c:pt>
                <c:pt idx="520">
                  <c:v>-134.27484747833287</c:v>
                </c:pt>
                <c:pt idx="521">
                  <c:v>-125.17328164935599</c:v>
                </c:pt>
                <c:pt idx="522">
                  <c:v>-115.11516376300207</c:v>
                </c:pt>
                <c:pt idx="523">
                  <c:v>-117.99195405923237</c:v>
                </c:pt>
                <c:pt idx="524">
                  <c:v>-117.93862083098601</c:v>
                </c:pt>
                <c:pt idx="525">
                  <c:v>-116.3151373106826</c:v>
                </c:pt>
                <c:pt idx="526">
                  <c:v>-125.89946544278298</c:v>
                </c:pt>
                <c:pt idx="527">
                  <c:v>-116.70831360481333</c:v>
                </c:pt>
                <c:pt idx="528">
                  <c:v>-119.07389891045892</c:v>
                </c:pt>
                <c:pt idx="529">
                  <c:v>-135.79317188415126</c:v>
                </c:pt>
                <c:pt idx="530">
                  <c:v>-113.58896238337502</c:v>
                </c:pt>
                <c:pt idx="531">
                  <c:v>-122.36414712063832</c:v>
                </c:pt>
                <c:pt idx="532">
                  <c:v>-115.24515110078319</c:v>
                </c:pt>
                <c:pt idx="533">
                  <c:v>-128.95557663811314</c:v>
                </c:pt>
                <c:pt idx="534">
                  <c:v>-117.80009044033991</c:v>
                </c:pt>
                <c:pt idx="535">
                  <c:v>-121.84811580971825</c:v>
                </c:pt>
                <c:pt idx="536">
                  <c:v>-133.0064258665805</c:v>
                </c:pt>
                <c:pt idx="537">
                  <c:v>-131.9631096998504</c:v>
                </c:pt>
                <c:pt idx="538">
                  <c:v>-114.7732882844001</c:v>
                </c:pt>
                <c:pt idx="539">
                  <c:v>-120.21363043379819</c:v>
                </c:pt>
                <c:pt idx="540">
                  <c:v>-111.20439036789541</c:v>
                </c:pt>
                <c:pt idx="541">
                  <c:v>-118.21620701315987</c:v>
                </c:pt>
                <c:pt idx="542">
                  <c:v>-114.79463377281135</c:v>
                </c:pt>
                <c:pt idx="543">
                  <c:v>-113.98280307157584</c:v>
                </c:pt>
                <c:pt idx="544">
                  <c:v>-118.05129688428966</c:v>
                </c:pt>
                <c:pt idx="545">
                  <c:v>-130.01922860039483</c:v>
                </c:pt>
                <c:pt idx="546">
                  <c:v>-115.3507026432359</c:v>
                </c:pt>
                <c:pt idx="547">
                  <c:v>-122.83727990778486</c:v>
                </c:pt>
                <c:pt idx="548">
                  <c:v>-118.32533803691857</c:v>
                </c:pt>
                <c:pt idx="549">
                  <c:v>-116.21570169048451</c:v>
                </c:pt>
                <c:pt idx="550">
                  <c:v>-119.5293370910228</c:v>
                </c:pt>
                <c:pt idx="551">
                  <c:v>-115.73660035581779</c:v>
                </c:pt>
                <c:pt idx="552">
                  <c:v>-130.22069008726245</c:v>
                </c:pt>
                <c:pt idx="553">
                  <c:v>-118.373073426608</c:v>
                </c:pt>
                <c:pt idx="554">
                  <c:v>-121.28576999635472</c:v>
                </c:pt>
                <c:pt idx="555">
                  <c:v>-123.3924716269654</c:v>
                </c:pt>
                <c:pt idx="556">
                  <c:v>-124.39855640721305</c:v>
                </c:pt>
                <c:pt idx="557">
                  <c:v>-118.25714913872163</c:v>
                </c:pt>
                <c:pt idx="558">
                  <c:v>-123.5370606929921</c:v>
                </c:pt>
                <c:pt idx="559">
                  <c:v>-129.30041693688597</c:v>
                </c:pt>
                <c:pt idx="560">
                  <c:v>-119.31494973279644</c:v>
                </c:pt>
                <c:pt idx="561">
                  <c:v>-120.60508768447062</c:v>
                </c:pt>
                <c:pt idx="562">
                  <c:v>-126.05660752306825</c:v>
                </c:pt>
                <c:pt idx="563">
                  <c:v>-120.41038543929174</c:v>
                </c:pt>
                <c:pt idx="564">
                  <c:v>-122.38036696441868</c:v>
                </c:pt>
                <c:pt idx="565">
                  <c:v>-124.28992940432857</c:v>
                </c:pt>
                <c:pt idx="566">
                  <c:v>-117.20902308298442</c:v>
                </c:pt>
                <c:pt idx="567">
                  <c:v>-114.97854909906359</c:v>
                </c:pt>
                <c:pt idx="568">
                  <c:v>-117.23148794482003</c:v>
                </c:pt>
                <c:pt idx="569">
                  <c:v>-119.40224613746416</c:v>
                </c:pt>
                <c:pt idx="570">
                  <c:v>-113.4486372989445</c:v>
                </c:pt>
                <c:pt idx="571">
                  <c:v>-122.98768080192605</c:v>
                </c:pt>
                <c:pt idx="572">
                  <c:v>-126.70839224843066</c:v>
                </c:pt>
                <c:pt idx="573">
                  <c:v>-128.51077484781814</c:v>
                </c:pt>
                <c:pt idx="574">
                  <c:v>-115.67661365998603</c:v>
                </c:pt>
                <c:pt idx="575">
                  <c:v>-124.42154315683182</c:v>
                </c:pt>
                <c:pt idx="576">
                  <c:v>-124.60063501710462</c:v>
                </c:pt>
                <c:pt idx="577">
                  <c:v>-127.79575345185233</c:v>
                </c:pt>
                <c:pt idx="578">
                  <c:v>-133.13800358897166</c:v>
                </c:pt>
                <c:pt idx="579">
                  <c:v>-129.10128283187845</c:v>
                </c:pt>
                <c:pt idx="580">
                  <c:v>-125.46384528091352</c:v>
                </c:pt>
                <c:pt idx="581">
                  <c:v>-136.34253632758842</c:v>
                </c:pt>
                <c:pt idx="582">
                  <c:v>-113.5043348560557</c:v>
                </c:pt>
                <c:pt idx="583">
                  <c:v>-119.14276985494206</c:v>
                </c:pt>
                <c:pt idx="584">
                  <c:v>-123.20013405399499</c:v>
                </c:pt>
                <c:pt idx="585">
                  <c:v>-125.06809104224644</c:v>
                </c:pt>
                <c:pt idx="586">
                  <c:v>-118.91133088471238</c:v>
                </c:pt>
                <c:pt idx="587">
                  <c:v>-120.97997142602489</c:v>
                </c:pt>
                <c:pt idx="588">
                  <c:v>-124.51155069854471</c:v>
                </c:pt>
                <c:pt idx="589">
                  <c:v>-120.02498351709725</c:v>
                </c:pt>
                <c:pt idx="590">
                  <c:v>-115.96135811856112</c:v>
                </c:pt>
                <c:pt idx="591">
                  <c:v>-121.1205526867063</c:v>
                </c:pt>
                <c:pt idx="592">
                  <c:v>-123.68853391378246</c:v>
                </c:pt>
                <c:pt idx="593">
                  <c:v>-119.62613535036667</c:v>
                </c:pt>
                <c:pt idx="594">
                  <c:v>-127.24897969608976</c:v>
                </c:pt>
                <c:pt idx="595">
                  <c:v>-133.0766802145534</c:v>
                </c:pt>
                <c:pt idx="596">
                  <c:v>-124.27004920158423</c:v>
                </c:pt>
                <c:pt idx="597">
                  <c:v>-129.57953048011063</c:v>
                </c:pt>
                <c:pt idx="598">
                  <c:v>-127.99086268000592</c:v>
                </c:pt>
                <c:pt idx="599">
                  <c:v>-118.86631589214666</c:v>
                </c:pt>
                <c:pt idx="600">
                  <c:v>-115.78960413313007</c:v>
                </c:pt>
                <c:pt idx="601">
                  <c:v>-116.2502193526868</c:v>
                </c:pt>
                <c:pt idx="602">
                  <c:v>-117.46537383907274</c:v>
                </c:pt>
                <c:pt idx="603">
                  <c:v>-126.79148318794923</c:v>
                </c:pt>
                <c:pt idx="604">
                  <c:v>-120.93818391077616</c:v>
                </c:pt>
                <c:pt idx="605">
                  <c:v>-137.67916370226573</c:v>
                </c:pt>
                <c:pt idx="606">
                  <c:v>-119.76424243235425</c:v>
                </c:pt>
                <c:pt idx="607">
                  <c:v>-115.44454822331363</c:v>
                </c:pt>
                <c:pt idx="608">
                  <c:v>-123.97410912511297</c:v>
                </c:pt>
                <c:pt idx="609">
                  <c:v>-117.05890349409323</c:v>
                </c:pt>
                <c:pt idx="610">
                  <c:v>-118.20590424924589</c:v>
                </c:pt>
                <c:pt idx="611">
                  <c:v>-127.1969755851328</c:v>
                </c:pt>
                <c:pt idx="612">
                  <c:v>-117.17084354053682</c:v>
                </c:pt>
                <c:pt idx="613">
                  <c:v>-117.39443576932419</c:v>
                </c:pt>
                <c:pt idx="614">
                  <c:v>-125.71872237289543</c:v>
                </c:pt>
                <c:pt idx="615">
                  <c:v>-125.87306014101982</c:v>
                </c:pt>
                <c:pt idx="616">
                  <c:v>-120.8722058675774</c:v>
                </c:pt>
                <c:pt idx="617">
                  <c:v>-121.369652656005</c:v>
                </c:pt>
                <c:pt idx="618">
                  <c:v>-119.98175708150696</c:v>
                </c:pt>
                <c:pt idx="619">
                  <c:v>-112.50759382954897</c:v>
                </c:pt>
                <c:pt idx="620">
                  <c:v>-118.69189531305565</c:v>
                </c:pt>
                <c:pt idx="621">
                  <c:v>-123.08973090333795</c:v>
                </c:pt>
                <c:pt idx="622">
                  <c:v>-137.59847239332964</c:v>
                </c:pt>
                <c:pt idx="623">
                  <c:v>-120.06659525442855</c:v>
                </c:pt>
                <c:pt idx="624">
                  <c:v>-121.24782044084967</c:v>
                </c:pt>
                <c:pt idx="625">
                  <c:v>-120.49140835269023</c:v>
                </c:pt>
                <c:pt idx="626">
                  <c:v>-121.41546414112224</c:v>
                </c:pt>
                <c:pt idx="627">
                  <c:v>-117.90130539342597</c:v>
                </c:pt>
                <c:pt idx="628">
                  <c:v>-122.64466631804805</c:v>
                </c:pt>
                <c:pt idx="629">
                  <c:v>-123.12575295851083</c:v>
                </c:pt>
                <c:pt idx="630">
                  <c:v>-113.41906057784557</c:v>
                </c:pt>
                <c:pt idx="631">
                  <c:v>-131.44768613779627</c:v>
                </c:pt>
                <c:pt idx="632">
                  <c:v>-117.1478053035436</c:v>
                </c:pt>
                <c:pt idx="633">
                  <c:v>-119.1555815008684</c:v>
                </c:pt>
                <c:pt idx="634">
                  <c:v>-115.24431764878166</c:v>
                </c:pt>
                <c:pt idx="635">
                  <c:v>-118.476861982548</c:v>
                </c:pt>
                <c:pt idx="636">
                  <c:v>-116.89760612568107</c:v>
                </c:pt>
                <c:pt idx="637">
                  <c:v>-119.17363077728375</c:v>
                </c:pt>
                <c:pt idx="638">
                  <c:v>-123.81116709203467</c:v>
                </c:pt>
                <c:pt idx="639">
                  <c:v>-120.23971958214233</c:v>
                </c:pt>
                <c:pt idx="640">
                  <c:v>-130.6272632467136</c:v>
                </c:pt>
                <c:pt idx="641">
                  <c:v>-128.23776297600457</c:v>
                </c:pt>
                <c:pt idx="642">
                  <c:v>-126.04816064013758</c:v>
                </c:pt>
                <c:pt idx="643">
                  <c:v>-123.18326761051662</c:v>
                </c:pt>
                <c:pt idx="644">
                  <c:v>-136.23567398641214</c:v>
                </c:pt>
                <c:pt idx="645">
                  <c:v>-115.21429901986886</c:v>
                </c:pt>
                <c:pt idx="646">
                  <c:v>-132.84621080074226</c:v>
                </c:pt>
                <c:pt idx="647">
                  <c:v>-116.71844297084938</c:v>
                </c:pt>
                <c:pt idx="648">
                  <c:v>-118.82658882278209</c:v>
                </c:pt>
                <c:pt idx="649">
                  <c:v>-130.77568224374892</c:v>
                </c:pt>
                <c:pt idx="650">
                  <c:v>-128.5567122599168</c:v>
                </c:pt>
                <c:pt idx="651">
                  <c:v>-127.27075186405199</c:v>
                </c:pt>
                <c:pt idx="652">
                  <c:v>-117.91144467559612</c:v>
                </c:pt>
                <c:pt idx="653">
                  <c:v>-126.35145456371232</c:v>
                </c:pt>
                <c:pt idx="654">
                  <c:v>-118.66180575469767</c:v>
                </c:pt>
                <c:pt idx="655">
                  <c:v>-119.19373762157173</c:v>
                </c:pt>
                <c:pt idx="656">
                  <c:v>-116.4275040131214</c:v>
                </c:pt>
                <c:pt idx="657">
                  <c:v>-122.11738526450199</c:v>
                </c:pt>
                <c:pt idx="658">
                  <c:v>-126.07941168259191</c:v>
                </c:pt>
                <c:pt idx="659">
                  <c:v>-116.76358812212257</c:v>
                </c:pt>
                <c:pt idx="660">
                  <c:v>-133.13822828471422</c:v>
                </c:pt>
                <c:pt idx="661">
                  <c:v>-122.39724858160464</c:v>
                </c:pt>
                <c:pt idx="662">
                  <c:v>-116.76016939811905</c:v>
                </c:pt>
                <c:pt idx="663">
                  <c:v>-116.8788963368863</c:v>
                </c:pt>
                <c:pt idx="664">
                  <c:v>-137.63569539986324</c:v>
                </c:pt>
                <c:pt idx="665">
                  <c:v>-112.14707831765708</c:v>
                </c:pt>
                <c:pt idx="666">
                  <c:v>-123.68802563283553</c:v>
                </c:pt>
                <c:pt idx="667">
                  <c:v>-119.38704935795704</c:v>
                </c:pt>
                <c:pt idx="668">
                  <c:v>-115.18348044824508</c:v>
                </c:pt>
                <c:pt idx="669">
                  <c:v>-123.56846089402312</c:v>
                </c:pt>
                <c:pt idx="670">
                  <c:v>-122.63593289394862</c:v>
                </c:pt>
                <c:pt idx="671">
                  <c:v>-119.40898624086238</c:v>
                </c:pt>
                <c:pt idx="672">
                  <c:v>-115.2992813380663</c:v>
                </c:pt>
                <c:pt idx="673">
                  <c:v>-118.83356762608871</c:v>
                </c:pt>
                <c:pt idx="674">
                  <c:v>-114.85729486039892</c:v>
                </c:pt>
                <c:pt idx="675">
                  <c:v>-121.9622319646279</c:v>
                </c:pt>
                <c:pt idx="676">
                  <c:v>-117.35633300271653</c:v>
                </c:pt>
                <c:pt idx="677">
                  <c:v>-121.10879466628492</c:v>
                </c:pt>
                <c:pt idx="678">
                  <c:v>-121.57855804419965</c:v>
                </c:pt>
                <c:pt idx="679">
                  <c:v>-117.57576538072396</c:v>
                </c:pt>
                <c:pt idx="680">
                  <c:v>-123.31084860354022</c:v>
                </c:pt>
                <c:pt idx="681">
                  <c:v>-125.40356275745617</c:v>
                </c:pt>
                <c:pt idx="682">
                  <c:v>-128.788960210304</c:v>
                </c:pt>
                <c:pt idx="683">
                  <c:v>-129.53601652724072</c:v>
                </c:pt>
                <c:pt idx="684">
                  <c:v>-113.79229993494613</c:v>
                </c:pt>
                <c:pt idx="685">
                  <c:v>-121.01548781738049</c:v>
                </c:pt>
                <c:pt idx="686">
                  <c:v>-122.74497650000916</c:v>
                </c:pt>
                <c:pt idx="687">
                  <c:v>-113.57978506834898</c:v>
                </c:pt>
                <c:pt idx="688">
                  <c:v>-123.17641543186227</c:v>
                </c:pt>
                <c:pt idx="689">
                  <c:v>-129.51940360455035</c:v>
                </c:pt>
                <c:pt idx="690">
                  <c:v>-113.65801006914792</c:v>
                </c:pt>
                <c:pt idx="691">
                  <c:v>-119.82951242850774</c:v>
                </c:pt>
                <c:pt idx="692">
                  <c:v>-120.67318246569474</c:v>
                </c:pt>
                <c:pt idx="693">
                  <c:v>-120.30992861712156</c:v>
                </c:pt>
                <c:pt idx="694">
                  <c:v>-123.56661003934511</c:v>
                </c:pt>
                <c:pt idx="695">
                  <c:v>-118.9417325283349</c:v>
                </c:pt>
                <c:pt idx="696">
                  <c:v>-118.42390312302095</c:v>
                </c:pt>
                <c:pt idx="697">
                  <c:v>-131.58833975447138</c:v>
                </c:pt>
                <c:pt idx="698">
                  <c:v>-120.097658409726</c:v>
                </c:pt>
                <c:pt idx="699">
                  <c:v>-118.88156958909953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900" b="0" i="0" u="none" strike="noStrike">
                    <a:solidFill>
                      <a:srgbClr val="5B6B7F"/>
                    </a:solidFill>
                    <a:latin typeface="Calibri"/>
                  </a:defRPr>
                </a:pPr>
                <a:r>
                  <a:rPr sz="900" b="0" i="0" u="none" strike="noStrike">
                    <a:solidFill>
                      <a:srgbClr val="5B6B7F"/>
                    </a:solidFill>
                    <a:latin typeface="Calibri"/>
                  </a:rPr>
                  <a:t>frequency (fraction of f_s) · HD2 and HD3 marked by the peaks</a:t>
                </a:r>
              </a:p>
            </c:rich>
          </c:tx>
          <c:layout/>
          <c:overlay val="0"/>
        </c:title>
        <c:numFmt formatCode="General" sourceLinked="1"/>
        <c:majorTickMark val="none"/>
        <c:minorTickMark val="none"/>
        <c:tickLblPos val="low"/>
        <c:spPr>
          <a:ln w="12700" cap="flat">
            <a:solidFill>
              <a:srgbClr val="888888"/>
            </a:solidFill>
            <a:prstDash val="solid"/>
            <a:round/>
          </a:ln>
        </c:spPr>
        <c:txPr>
          <a:bodyPr/>
          <a:lstStyle/>
          <a:p>
            <a:pPr>
              <a:defRPr sz="900" b="0" i="0" u="none" strike="noStrike">
                <a:solidFill>
                  <a:srgbClr val="5B6B7F"/>
                </a:solidFill>
                <a:latin typeface="Calibri"/>
              </a:defRPr>
            </a:pPr>
            <a:endParaRPr lang="en-US"/>
          </a:p>
        </c:txPr>
        <c:crossAx val="2094734552"/>
        <c:crosses val="min"/>
        <c:auto val="1"/>
        <c:lblAlgn val="ctr"/>
        <c:noMultiLvlLbl val="1"/>
        <c:tickLblSkip val="88"/>
      </c:catAx>
      <c:valAx>
        <c:axId val="2094734552"/>
        <c:scaling>
          <c:orientation val="minMax"/>
          <c:max val="5"/>
          <c:min val="-130"/>
        </c:scaling>
        <c:delete val="0"/>
        <c:axPos val="l"/>
        <c:majorGridlines>
          <c:spPr>
            <a:ln w="6350" cap="flat">
              <a:solidFill>
                <a:srgbClr val="D9E1EA"/>
              </a:solidFill>
              <a:prstDash val="solid"/>
              <a:round/>
            </a:ln>
          </c:spPr>
        </c:majorGridlines>
        <c:numFmt formatCode="General" sourceLinked="0"/>
        <c:majorTickMark val="none"/>
        <c:minorTickMark val="none"/>
        <c:tickLblPos val="nextTo"/>
        <c:spPr>
          <a:ln w="12700" cap="flat">
            <a:noFill/>
            <a:prstDash val="solid"/>
            <a:round/>
          </a:ln>
        </c:spPr>
        <c:txPr>
          <a:bodyPr/>
          <a:lstStyle/>
          <a:p>
            <a:pPr>
              <a:defRPr sz="900" b="0" i="0" u="none" strike="noStrike">
                <a:solidFill>
                  <a:srgbClr val="5B6B7F"/>
                </a:solidFill>
                <a:latin typeface="Calibri"/>
              </a:defRPr>
            </a:pPr>
            <a:endParaRPr lang="en-US"/>
          </a:p>
        </c:txPr>
        <c:crossAx val="2094734554"/>
        <c:crosses val="autoZero"/>
        <c:crossBetween val="between"/>
        <c:majorUnit val="25"/>
      </c:valAx>
      <c:spPr>
        <a:solidFill>
          <a:srgbClr val="FFFFFF"/>
        </a:solidFill>
        <a:ln>
          <a:noFill/>
        </a:ln>
        <a:effectLst/>
      </c:spPr>
    </c:plotArea>
    <c:plotVisOnly val="1"/>
    <c:dispBlanksAs val="span"/>
  </c:chart>
  <c:spPr>
    <a:solidFill>
      <a:srgbClr val="FFFFFF"/>
    </a:solidFill>
    <a:ln>
      <a:noFill/>
    </a:ln>
    <a:effectLst/>
  </c:sp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barChart>
        <c:barDir val="col"/>
        <c:grouping val="clustered"/>
        <c:varyColors val="0"/>
        <c:ser>
          <c:idx val="0"/>
          <c:order val="0"/>
          <c:tx>
            <c:strRef>
              <c:f>Sheet1!$B$1</c:f>
              <c:strCache>
                <c:ptCount val="1"/>
                <c:pt idx="0">
                  <c:v>dB</c:v>
                </c:pt>
              </c:strCache>
            </c:strRef>
          </c:tx>
          <c:spPr>
            <a:solidFill>
              <a:srgbClr val="2EC4B6"/>
            </a:solidFill>
            <a:effectLst/>
          </c:spPr>
          <c:invertIfNegative val="0"/>
          <c:dLbls>
            <c:numFmt formatCode="0.0&quot;dB&quot;" sourceLinked="0"/>
            <c:txPr>
              <a:bodyPr/>
              <a:lstStyle/>
              <a:p>
                <a:pPr>
                  <a:defRPr b="0" i="0" strike="noStrike" sz="900" u="none">
                    <a:solidFill>
                      <a:srgbClr val="14213D"/>
                    </a:solidFill>
                    <a:latin typeface="Calibri"/>
                  </a:defRPr>
                </a:pPr>
              </a:p>
            </c:txPr>
            <c:showLegendKey val="0"/>
            <c:showVal val="1"/>
            <c:showCatName val="0"/>
            <c:showSerName val="0"/>
            <c:showPercent val="0"/>
            <c:showBubbleSize val="0"/>
            <c:showLeaderLines val="0"/>
          </c:dLbls>
          <c:cat>
            <c:multiLvlStrRef>
              <c:f>Sheet1!$A$2:$A$4</c:f>
              <c:multiLvlStrCache>
                <c:ptCount val="3"/>
                <c:lvl>
                  <c:pt idx="0">
                    <c:v>SNR</c:v>
                  </c:pt>
                  <c:pt idx="1">
                    <c:v>THD (as a ratio)</c:v>
                  </c:pt>
                  <c:pt idx="2">
                    <c:v>SINAD</c:v>
                  </c:pt>
                </c:lvl>
              </c:multiLvlStrCache>
            </c:multiLvlStrRef>
          </c:cat>
          <c:val>
            <c:numRef>
              <c:f>Sheet1!$B$2:$B$4</c:f>
              <c:numCache>
                <c:formatCode>General</c:formatCode>
                <c:ptCount val="3"/>
                <c:pt idx="0">
                  <c:v>72</c:v>
                </c:pt>
                <c:pt idx="1">
                  <c:v>76</c:v>
                </c:pt>
                <c:pt idx="2">
                  <c:v>70.5</c:v>
                </c:pt>
              </c:numCache>
            </c:numRef>
          </c:val>
        </c:ser>
        <c:dLbls>
          <c:numFmt formatCode="0.0&quot;dB&quot;" sourceLinked="0"/>
          <c:txPr>
            <a:bodyPr/>
            <a:lstStyle/>
            <a:p>
              <a:pPr>
                <a:defRPr b="0" i="0" strike="noStrike" sz="900" u="none">
                  <a:solidFill>
                    <a:srgbClr val="14213D"/>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title>
          <c:tx>
            <c:rich>
              <a:bodyPr/>
              <a:lstStyle/>
              <a:p>
                <a:pPr>
                  <a:defRPr sz="900" b="0" i="0" u="none" strike="noStrike">
                    <a:solidFill>
                      <a:srgbClr val="5B6B7F"/>
                    </a:solidFill>
                    <a:latin typeface="Calibri"/>
                  </a:defRPr>
                </a:pPr>
                <a:r>
                  <a:rPr sz="900" b="0" i="0" u="none" strike="noStrike">
                    <a:solidFill>
                      <a:srgbClr val="5B6B7F"/>
                    </a:solidFill>
                    <a:latin typeface="Calibri"/>
                  </a:rPr>
                  <a:t>SINAD is always below both</a:t>
                </a:r>
              </a:p>
            </c:rich>
          </c:tx>
          <c:layout/>
          <c:overlay val="0"/>
        </c:title>
        <c:numFmt formatCode="General" sourceLinked="1"/>
        <c:majorTickMark val="none"/>
        <c:minorTickMark val="none"/>
        <c:tickLblPos val="low"/>
        <c:spPr>
          <a:ln w="12700" cap="flat">
            <a:solidFill>
              <a:srgbClr val="888888"/>
            </a:solidFill>
            <a:prstDash val="solid"/>
            <a:round/>
          </a:ln>
        </c:spPr>
        <c:txPr>
          <a:bodyPr/>
          <a:lstStyle/>
          <a:p>
            <a:pPr>
              <a:defRPr sz="900" b="0" i="0" u="none" strike="noStrike">
                <a:solidFill>
                  <a:srgbClr val="5B6B7F"/>
                </a:solidFill>
                <a:latin typeface="Calibri"/>
              </a:defRPr>
            </a:pPr>
            <a:endParaRPr lang="en-US"/>
          </a:p>
        </c:txPr>
        <c:crossAx val="2094734552"/>
        <c:crosses val="min"/>
        <c:auto val="1"/>
        <c:lblAlgn val="ctr"/>
        <c:noMultiLvlLbl val="1"/>
      </c:catAx>
      <c:valAx>
        <c:axId val="2094734552"/>
        <c:scaling>
          <c:orientation val="minMax"/>
          <c:max val="80"/>
          <c:min val="60"/>
        </c:scaling>
        <c:delete val="0"/>
        <c:axPos val="l"/>
        <c:majorGridlines>
          <c:spPr>
            <a:ln w="6350" cap="flat">
              <a:solidFill>
                <a:srgbClr val="D9E1EA"/>
              </a:solidFill>
              <a:prstDash val="solid"/>
              <a:round/>
            </a:ln>
          </c:spPr>
        </c:majorGridlines>
        <c:numFmt formatCode="General" sourceLinked="0"/>
        <c:majorTickMark val="none"/>
        <c:minorTickMark val="none"/>
        <c:tickLblPos val="nextTo"/>
        <c:spPr>
          <a:ln w="12700" cap="flat">
            <a:noFill/>
            <a:prstDash val="solid"/>
            <a:round/>
          </a:ln>
        </c:spPr>
        <c:txPr>
          <a:bodyPr/>
          <a:lstStyle/>
          <a:p>
            <a:pPr>
              <a:defRPr sz="900" b="0" i="0" u="none" strike="noStrike">
                <a:solidFill>
                  <a:srgbClr val="5B6B7F"/>
                </a:solidFill>
                <a:latin typeface="Calibri"/>
              </a:defRPr>
            </a:pPr>
            <a:endParaRPr lang="en-US"/>
          </a:p>
        </c:txPr>
        <c:crossAx val="2094734554"/>
        <c:crosses val="autoZero"/>
        <c:crossBetween val="between"/>
        <c:majorUnit val="5"/>
      </c:valAx>
      <c:spPr>
        <a:solidFill>
          <a:srgbClr val="FFFFFF"/>
        </a:solidFill>
        <a:ln>
          <a:noFill/>
        </a:ln>
        <a:effectLst/>
      </c:spPr>
    </c:plotArea>
    <c:plotVisOnly val="1"/>
    <c:dispBlanksAs val="span"/>
  </c:chart>
  <c:spPr>
    <a:solidFill>
      <a:srgbClr val="FFFFFF"/>
    </a:solidFill>
    <a:ln>
      <a:noFill/>
    </a:ln>
    <a:effectLst/>
  </c:sp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lineChart>
        <c:varyColors val="0"/>
        <c:ser>
          <c:idx val="0"/>
          <c:order val="0"/>
          <c:tx>
            <c:strRef>
              <c:f>Sheet1!$B$1</c:f>
              <c:strCache>
                <c:ptCount val="1"/>
                <c:pt idx="0">
                  <c:v>ENOB of a "14-bit" part</c:v>
                </c:pt>
              </c:strCache>
            </c:strRef>
          </c:tx>
          <c:spPr>
            <a:solidFill>
              <a:srgbClr val="2EC4B6"/>
            </a:solidFill>
            <a:ln w="19050" cap="flat">
              <a:solidFill>
                <a:srgbClr val="2EC4B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2EC4B6"/>
              </a:solidFill>
              <a:ln w="9525" cap="flat">
                <a:solidFill>
                  <a:srgbClr val="2EC4B6"/>
                </a:solidFill>
                <a:prstDash val="solid"/>
                <a:round/>
              </a:ln>
              <a:effectLst/>
            </c:spPr>
          </c:marker>
          <c:cat>
            <c:multiLvlStrRef>
              <c:f>Sheet1!$A$2:$A$10</c:f>
              <c:multiLvlStrCache>
                <c:ptCount val="9"/>
                <c:lvl>
                  <c:pt idx="0">
                    <c:v>1</c:v>
                  </c:pt>
                  <c:pt idx="1">
                    <c:v>5</c:v>
                  </c:pt>
                  <c:pt idx="2">
                    <c:v>10</c:v>
                  </c:pt>
                  <c:pt idx="3">
                    <c:v>20</c:v>
                  </c:pt>
                  <c:pt idx="4">
                    <c:v>50</c:v>
                  </c:pt>
                  <c:pt idx="5">
                    <c:v>70</c:v>
                  </c:pt>
                  <c:pt idx="6">
                    <c:v>100</c:v>
                  </c:pt>
                  <c:pt idx="7">
                    <c:v>150</c:v>
                  </c:pt>
                  <c:pt idx="8">
                    <c:v>200</c:v>
                  </c:pt>
                </c:lvl>
              </c:multiLvlStrCache>
            </c:multiLvlStrRef>
          </c:cat>
          <c:val>
            <c:numRef>
              <c:f>Sheet1!$B$2:$B$10</c:f>
              <c:numCache>
                <c:formatCode>General</c:formatCode>
                <c:ptCount val="9"/>
                <c:pt idx="0">
                  <c:v>12.3</c:v>
                </c:pt>
                <c:pt idx="1">
                  <c:v>11.684906396184305</c:v>
                </c:pt>
                <c:pt idx="2">
                  <c:v>11.42</c:v>
                </c:pt>
                <c:pt idx="3">
                  <c:v>11.155093603815697</c:v>
                </c:pt>
                <c:pt idx="4">
                  <c:v>10.804906396184304</c:v>
                </c:pt>
                <c:pt idx="5">
                  <c:v>10.676313724787455</c:v>
                </c:pt>
                <c:pt idx="6">
                  <c:v>10.540000000000001</c:v>
                </c:pt>
                <c:pt idx="7">
                  <c:v>10.385039692031</c:v>
                </c:pt>
                <c:pt idx="8">
                  <c:v>10.275093603815698</c:v>
                </c:pt>
              </c:numCache>
            </c:numRef>
          </c:val>
          <c:smooth val="0"/>
        </c:ser>
        <c:ser>
          <c:idx val="1"/>
          <c:order val="1"/>
          <c:tx>
            <c:strRef>
              <c:f>Sheet1!$C$1</c:f>
              <c:strCache>
                <c:ptCount val="1"/>
                <c:pt idx="0">
                  <c:v>headline resolution</c:v>
                </c:pt>
              </c:strCache>
            </c:strRef>
          </c:tx>
          <c:spPr>
            <a:solidFill>
              <a:srgbClr val="5B6B7F"/>
            </a:solidFill>
            <a:ln w="19050" cap="flat">
              <a:solidFill>
                <a:srgbClr val="5B6B7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5B6B7F"/>
              </a:solidFill>
              <a:ln w="9525" cap="flat">
                <a:solidFill>
                  <a:srgbClr val="5B6B7F"/>
                </a:solidFill>
                <a:prstDash val="solid"/>
                <a:round/>
              </a:ln>
              <a:effectLst/>
            </c:spPr>
          </c:marker>
          <c:cat>
            <c:multiLvlStrRef>
              <c:f>Sheet1!$A$2:$A$10</c:f>
              <c:multiLvlStrCache>
                <c:ptCount val="9"/>
                <c:lvl>
                  <c:pt idx="0">
                    <c:v>1</c:v>
                  </c:pt>
                  <c:pt idx="1">
                    <c:v>5</c:v>
                  </c:pt>
                  <c:pt idx="2">
                    <c:v>10</c:v>
                  </c:pt>
                  <c:pt idx="3">
                    <c:v>20</c:v>
                  </c:pt>
                  <c:pt idx="4">
                    <c:v>50</c:v>
                  </c:pt>
                  <c:pt idx="5">
                    <c:v>70</c:v>
                  </c:pt>
                  <c:pt idx="6">
                    <c:v>100</c:v>
                  </c:pt>
                  <c:pt idx="7">
                    <c:v>150</c:v>
                  </c:pt>
                  <c:pt idx="8">
                    <c:v>200</c:v>
                  </c:pt>
                </c:lvl>
              </c:multiLvlStrCache>
            </c:multiLvlStrRef>
          </c:cat>
          <c:val>
            <c:numRef>
              <c:f>Sheet1!$C$2:$C$10</c:f>
              <c:numCache>
                <c:formatCode>General</c:formatCode>
                <c:ptCount val="9"/>
                <c:pt idx="0">
                  <c:v>14</c:v>
                </c:pt>
                <c:pt idx="1">
                  <c:v>14</c:v>
                </c:pt>
                <c:pt idx="2">
                  <c:v>14</c:v>
                </c:pt>
                <c:pt idx="3">
                  <c:v>14</c:v>
                </c:pt>
                <c:pt idx="4">
                  <c:v>14</c:v>
                </c:pt>
                <c:pt idx="5">
                  <c:v>14</c:v>
                </c:pt>
                <c:pt idx="6">
                  <c:v>14</c:v>
                </c:pt>
                <c:pt idx="7">
                  <c:v>14</c:v>
                </c:pt>
                <c:pt idx="8">
                  <c:v>14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900" b="0" i="0" u="none" strike="noStrike">
                    <a:solidFill>
                      <a:srgbClr val="5B6B7F"/>
                    </a:solidFill>
                    <a:latin typeface="Calibri"/>
                  </a:defRPr>
                </a:pPr>
                <a:r>
                  <a:rPr sz="900" b="0" i="0" u="none" strike="noStrike">
                    <a:solidFill>
                      <a:srgbClr val="5B6B7F"/>
                    </a:solidFill>
                    <a:latin typeface="Calibri"/>
                  </a:rPr>
                  <a:t>input frequency (MHz)</a:t>
                </a:r>
              </a:p>
            </c:rich>
          </c:tx>
          <c:layout/>
          <c:overlay val="0"/>
        </c:title>
        <c:numFmt formatCode="General" sourceLinked="1"/>
        <c:majorTickMark val="none"/>
        <c:minorTickMark val="none"/>
        <c:tickLblPos val="low"/>
        <c:spPr>
          <a:ln w="12700" cap="flat">
            <a:solidFill>
              <a:srgbClr val="888888"/>
            </a:solidFill>
            <a:prstDash val="solid"/>
            <a:round/>
          </a:ln>
        </c:spPr>
        <c:txPr>
          <a:bodyPr/>
          <a:lstStyle/>
          <a:p>
            <a:pPr>
              <a:defRPr sz="900" b="0" i="0" u="none" strike="noStrike">
                <a:solidFill>
                  <a:srgbClr val="5B6B7F"/>
                </a:solidFill>
                <a:latin typeface="Calibri"/>
              </a:defRPr>
            </a:pPr>
            <a:endParaRPr lang="en-US"/>
          </a:p>
        </c:txPr>
        <c:crossAx val="2094734552"/>
        <c:crosses val="min"/>
        <c:auto val="1"/>
        <c:lblAlgn val="ctr"/>
        <c:noMultiLvlLbl val="1"/>
      </c:catAx>
      <c:valAx>
        <c:axId val="2094734552"/>
        <c:scaling>
          <c:orientation val="minMax"/>
          <c:max val="15"/>
          <c:min val="8"/>
        </c:scaling>
        <c:delete val="0"/>
        <c:axPos val="l"/>
        <c:majorGridlines>
          <c:spPr>
            <a:ln w="6350" cap="flat">
              <a:solidFill>
                <a:srgbClr val="D9E1EA"/>
              </a:solidFill>
              <a:prstDash val="solid"/>
              <a:round/>
            </a:ln>
          </c:spPr>
        </c:majorGridlines>
        <c:title>
          <c:tx>
            <c:rich>
              <a:bodyPr/>
              <a:lstStyle/>
              <a:p>
                <a:pPr>
                  <a:defRPr sz="900" b="0" i="0" u="none" strike="noStrike">
                    <a:solidFill>
                      <a:srgbClr val="5B6B7F"/>
                    </a:solidFill>
                    <a:latin typeface="Calibri"/>
                  </a:defRPr>
                </a:pPr>
                <a:r>
                  <a:rPr sz="900" b="0" i="0" u="none" strike="noStrike">
                    <a:solidFill>
                      <a:srgbClr val="5B6B7F"/>
                    </a:solidFill>
                    <a:latin typeface="Calibri"/>
                  </a:rPr>
                  <a:t>bits</a:t>
                </a:r>
              </a:p>
            </c:rich>
          </c:tx>
          <c:layout/>
          <c:overlay val="0"/>
        </c:title>
        <c:numFmt formatCode="General" sourceLinked="0"/>
        <c:majorTickMark val="none"/>
        <c:minorTickMark val="none"/>
        <c:tickLblPos val="nextTo"/>
        <c:spPr>
          <a:ln w="12700" cap="flat">
            <a:noFill/>
            <a:prstDash val="solid"/>
            <a:round/>
          </a:ln>
        </c:spPr>
        <c:txPr>
          <a:bodyPr/>
          <a:lstStyle/>
          <a:p>
            <a:pPr>
              <a:defRPr sz="900" b="0" i="0" u="none" strike="noStrike">
                <a:solidFill>
                  <a:srgbClr val="5B6B7F"/>
                </a:solidFill>
                <a:latin typeface="Calibri"/>
              </a:defRPr>
            </a:pPr>
            <a:endParaRPr lang="en-US"/>
          </a:p>
        </c:txPr>
        <c:crossAx val="2094734554"/>
        <c:crosses val="autoZero"/>
        <c:crossBetween val="between"/>
        <c:majorUnit val="2"/>
      </c:valAx>
      <c:spPr>
        <a:solidFill>
          <a:srgbClr val="FFFFFF"/>
        </a:solidFill>
        <a:ln>
          <a:noFill/>
        </a:ln>
        <a:effectLst/>
      </c:spPr>
    </c:plotArea>
    <c:legend>
      <c:legendPos val="b"/>
      <c:overlay val="0"/>
      <c:txPr>
        <a:bodyPr/>
        <a:lstStyle/>
        <a:p>
          <a:pPr>
            <a:defRPr sz="900">
              <a:solidFill>
                <a:srgbClr val="14213D"/>
              </a:solidFill>
              <a:latin typeface="Calibri"/>
              <a:cs typeface="Calibri"/>
            </a:defRPr>
          </a:pPr>
          <a:endParaRPr lang="en-US"/>
        </a:p>
      </c:txPr>
    </c:legend>
    <c:plotVisOnly val="1"/>
    <c:dispBlanksAs val="span"/>
  </c:chart>
  <c:spPr>
    <a:solidFill>
      <a:srgbClr val="FFFFFF"/>
    </a:solidFill>
    <a:ln>
      <a:noFill/>
    </a:ln>
    <a:effectLst/>
  </c:spPr>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lineChart>
        <c:varyColors val="0"/>
        <c:ser>
          <c:idx val="0"/>
          <c:order val="0"/>
          <c:tx>
            <c:strRef>
              <c:f>Sheet1!$B$1</c:f>
              <c:strCache>
                <c:ptCount val="1"/>
                <c:pt idx="0">
                  <c:v>spectrum (dBFS)</c:v>
                </c:pt>
              </c:strCache>
            </c:strRef>
          </c:tx>
          <c:spPr>
            <a:solidFill>
              <a:srgbClr val="2EC4B6"/>
            </a:solidFill>
            <a:ln w="15875" cap="flat">
              <a:solidFill>
                <a:srgbClr val="2EC4B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EC4B6"/>
              </a:solidFill>
              <a:ln w="9525" cap="flat">
                <a:solidFill>
                  <a:srgbClr val="2EC4B6"/>
                </a:solidFill>
                <a:prstDash val="solid"/>
                <a:round/>
              </a:ln>
              <a:effectLst/>
            </c:spPr>
          </c:marker>
          <c:cat>
            <c:multiLvlStrRef>
              <c:f>Sheet1!$A$2:$A$701</c:f>
              <c:multiLvlStrCache>
                <c:ptCount val="700"/>
                <c:lvl>
                  <c:pt idx="0">
                    <c:v>0.00</c:v>
                  </c:pt>
                  <c:pt idx="1">
                    <c:v>0.00</c:v>
                  </c:pt>
                  <c:pt idx="2">
                    <c:v>0.00</c:v>
                  </c:pt>
                  <c:pt idx="3">
                    <c:v>0.00</c:v>
                  </c:pt>
                  <c:pt idx="4">
                    <c:v>0.00</c:v>
                  </c:pt>
                  <c:pt idx="5">
                    <c:v>0.00</c:v>
                  </c:pt>
                  <c:pt idx="6">
                    <c:v>0.00</c:v>
                  </c:pt>
                  <c:pt idx="7">
                    <c:v>0.00</c:v>
                  </c:pt>
                  <c:pt idx="8">
                    <c:v>0.00</c:v>
                  </c:pt>
                  <c:pt idx="9">
                    <c:v>0.00</c:v>
                  </c:pt>
                  <c:pt idx="10">
                    <c:v>0.00</c:v>
                  </c:pt>
                  <c:pt idx="11">
                    <c:v>0.00</c:v>
                  </c:pt>
                  <c:pt idx="12">
                    <c:v>0.00</c:v>
                  </c:pt>
                  <c:pt idx="13">
                    <c:v>0.00</c:v>
                  </c:pt>
                  <c:pt idx="14">
                    <c:v>0.00</c:v>
                  </c:pt>
                  <c:pt idx="15">
                    <c:v>0.00</c:v>
                  </c:pt>
                  <c:pt idx="16">
                    <c:v>0.00</c:v>
                  </c:pt>
                  <c:pt idx="17">
                    <c:v>0.00</c:v>
                  </c:pt>
                  <c:pt idx="18">
                    <c:v>0.00</c:v>
                  </c:pt>
                  <c:pt idx="19">
                    <c:v>0.00</c:v>
                  </c:pt>
                  <c:pt idx="20">
                    <c:v>0.00</c:v>
                  </c:pt>
                  <c:pt idx="21">
                    <c:v>0.01</c:v>
                  </c:pt>
                  <c:pt idx="22">
                    <c:v>0.01</c:v>
                  </c:pt>
                  <c:pt idx="23">
                    <c:v>0.01</c:v>
                  </c:pt>
                  <c:pt idx="24">
                    <c:v>0.01</c:v>
                  </c:pt>
                  <c:pt idx="25">
                    <c:v>0.01</c:v>
                  </c:pt>
                  <c:pt idx="26">
                    <c:v>0.01</c:v>
                  </c:pt>
                  <c:pt idx="27">
                    <c:v>0.01</c:v>
                  </c:pt>
                  <c:pt idx="28">
                    <c:v>0.01</c:v>
                  </c:pt>
                  <c:pt idx="29">
                    <c:v>0.01</c:v>
                  </c:pt>
                  <c:pt idx="30">
                    <c:v>0.01</c:v>
                  </c:pt>
                  <c:pt idx="31">
                    <c:v>0.01</c:v>
                  </c:pt>
                  <c:pt idx="32">
                    <c:v>0.01</c:v>
                  </c:pt>
                  <c:pt idx="33">
                    <c:v>0.01</c:v>
                  </c:pt>
                  <c:pt idx="34">
                    <c:v>0.01</c:v>
                  </c:pt>
                  <c:pt idx="35">
                    <c:v>0.01</c:v>
                  </c:pt>
                  <c:pt idx="36">
                    <c:v>0.01</c:v>
                  </c:pt>
                  <c:pt idx="37">
                    <c:v>0.01</c:v>
                  </c:pt>
                  <c:pt idx="38">
                    <c:v>0.01</c:v>
                  </c:pt>
                  <c:pt idx="39">
                    <c:v>0.01</c:v>
                  </c:pt>
                  <c:pt idx="40">
                    <c:v>0.01</c:v>
                  </c:pt>
                  <c:pt idx="41">
                    <c:v>0.01</c:v>
                  </c:pt>
                  <c:pt idx="42">
                    <c:v>0.01</c:v>
                  </c:pt>
                  <c:pt idx="43">
                    <c:v>0.01</c:v>
                  </c:pt>
                  <c:pt idx="44">
                    <c:v>0.01</c:v>
                  </c:pt>
                  <c:pt idx="45">
                    <c:v>0.01</c:v>
                  </c:pt>
                  <c:pt idx="46">
                    <c:v>0.01</c:v>
                  </c:pt>
                  <c:pt idx="47">
                    <c:v>0.01</c:v>
                  </c:pt>
                  <c:pt idx="48">
                    <c:v>0.01</c:v>
                  </c:pt>
                  <c:pt idx="49">
                    <c:v>0.01</c:v>
                  </c:pt>
                  <c:pt idx="50">
                    <c:v>0.01</c:v>
                  </c:pt>
                  <c:pt idx="51">
                    <c:v>0.01</c:v>
                  </c:pt>
                  <c:pt idx="52">
                    <c:v>0.01</c:v>
                  </c:pt>
                  <c:pt idx="53">
                    <c:v>0.01</c:v>
                  </c:pt>
                  <c:pt idx="54">
                    <c:v>0.01</c:v>
                  </c:pt>
                  <c:pt idx="55">
                    <c:v>0.01</c:v>
                  </c:pt>
                  <c:pt idx="56">
                    <c:v>0.01</c:v>
                  </c:pt>
                  <c:pt idx="57">
                    <c:v>0.01</c:v>
                  </c:pt>
                  <c:pt idx="58">
                    <c:v>0.01</c:v>
                  </c:pt>
                  <c:pt idx="59">
                    <c:v>0.01</c:v>
                  </c:pt>
                  <c:pt idx="60">
                    <c:v>0.01</c:v>
                  </c:pt>
                  <c:pt idx="61">
                    <c:v>0.01</c:v>
                  </c:pt>
                  <c:pt idx="62">
                    <c:v>0.02</c:v>
                  </c:pt>
                  <c:pt idx="63">
                    <c:v>0.02</c:v>
                  </c:pt>
                  <c:pt idx="64">
                    <c:v>0.02</c:v>
                  </c:pt>
                  <c:pt idx="65">
                    <c:v>0.02</c:v>
                  </c:pt>
                  <c:pt idx="66">
                    <c:v>0.02</c:v>
                  </c:pt>
                  <c:pt idx="67">
                    <c:v>0.02</c:v>
                  </c:pt>
                  <c:pt idx="68">
                    <c:v>0.02</c:v>
                  </c:pt>
                  <c:pt idx="69">
                    <c:v>0.02</c:v>
                  </c:pt>
                  <c:pt idx="70">
                    <c:v>0.02</c:v>
                  </c:pt>
                  <c:pt idx="71">
                    <c:v>0.02</c:v>
                  </c:pt>
                  <c:pt idx="72">
                    <c:v>0.02</c:v>
                  </c:pt>
                  <c:pt idx="73">
                    <c:v>0.02</c:v>
                  </c:pt>
                  <c:pt idx="74">
                    <c:v>0.02</c:v>
                  </c:pt>
                  <c:pt idx="75">
                    <c:v>0.02</c:v>
                  </c:pt>
                  <c:pt idx="76">
                    <c:v>0.02</c:v>
                  </c:pt>
                  <c:pt idx="77">
                    <c:v>0.02</c:v>
                  </c:pt>
                  <c:pt idx="78">
                    <c:v>0.02</c:v>
                  </c:pt>
                  <c:pt idx="79">
                    <c:v>0.02</c:v>
                  </c:pt>
                  <c:pt idx="80">
                    <c:v>0.02</c:v>
                  </c:pt>
                  <c:pt idx="81">
                    <c:v>0.02</c:v>
                  </c:pt>
                  <c:pt idx="82">
                    <c:v>0.02</c:v>
                  </c:pt>
                  <c:pt idx="83">
                    <c:v>0.02</c:v>
                  </c:pt>
                  <c:pt idx="84">
                    <c:v>0.02</c:v>
                  </c:pt>
                  <c:pt idx="85">
                    <c:v>0.02</c:v>
                  </c:pt>
                  <c:pt idx="86">
                    <c:v>0.02</c:v>
                  </c:pt>
                  <c:pt idx="87">
                    <c:v>0.02</c:v>
                  </c:pt>
                  <c:pt idx="88">
                    <c:v>0.02</c:v>
                  </c:pt>
                  <c:pt idx="89">
                    <c:v>0.02</c:v>
                  </c:pt>
                  <c:pt idx="90">
                    <c:v>0.02</c:v>
                  </c:pt>
                  <c:pt idx="91">
                    <c:v>0.02</c:v>
                  </c:pt>
                  <c:pt idx="92">
                    <c:v>0.02</c:v>
                  </c:pt>
                  <c:pt idx="93">
                    <c:v>0.02</c:v>
                  </c:pt>
                  <c:pt idx="94">
                    <c:v>0.02</c:v>
                  </c:pt>
                  <c:pt idx="95">
                    <c:v>0.02</c:v>
                  </c:pt>
                  <c:pt idx="96">
                    <c:v>0.02</c:v>
                  </c:pt>
                  <c:pt idx="97">
                    <c:v>0.02</c:v>
                  </c:pt>
                  <c:pt idx="98">
                    <c:v>0.02</c:v>
                  </c:pt>
                  <c:pt idx="99">
                    <c:v>0.02</c:v>
                  </c:pt>
                  <c:pt idx="100">
                    <c:v>0.02</c:v>
                  </c:pt>
                  <c:pt idx="101">
                    <c:v>0.02</c:v>
                  </c:pt>
                  <c:pt idx="102">
                    <c:v>0.02</c:v>
                  </c:pt>
                  <c:pt idx="103">
                    <c:v>0.03</c:v>
                  </c:pt>
                  <c:pt idx="104">
                    <c:v>0.03</c:v>
                  </c:pt>
                  <c:pt idx="105">
                    <c:v>0.03</c:v>
                  </c:pt>
                  <c:pt idx="106">
                    <c:v>0.03</c:v>
                  </c:pt>
                  <c:pt idx="107">
                    <c:v>0.03</c:v>
                  </c:pt>
                  <c:pt idx="108">
                    <c:v>0.03</c:v>
                  </c:pt>
                  <c:pt idx="109">
                    <c:v>0.03</c:v>
                  </c:pt>
                  <c:pt idx="110">
                    <c:v>0.03</c:v>
                  </c:pt>
                  <c:pt idx="111">
                    <c:v>0.03</c:v>
                  </c:pt>
                  <c:pt idx="112">
                    <c:v>0.03</c:v>
                  </c:pt>
                  <c:pt idx="113">
                    <c:v>0.03</c:v>
                  </c:pt>
                  <c:pt idx="114">
                    <c:v>0.03</c:v>
                  </c:pt>
                  <c:pt idx="115">
                    <c:v>0.03</c:v>
                  </c:pt>
                  <c:pt idx="116">
                    <c:v>0.03</c:v>
                  </c:pt>
                  <c:pt idx="117">
                    <c:v>0.03</c:v>
                  </c:pt>
                  <c:pt idx="118">
                    <c:v>0.03</c:v>
                  </c:pt>
                  <c:pt idx="119">
                    <c:v>0.03</c:v>
                  </c:pt>
                  <c:pt idx="120">
                    <c:v>0.03</c:v>
                  </c:pt>
                  <c:pt idx="121">
                    <c:v>0.03</c:v>
                  </c:pt>
                  <c:pt idx="122">
                    <c:v>0.03</c:v>
                  </c:pt>
                  <c:pt idx="123">
                    <c:v>0.03</c:v>
                  </c:pt>
                  <c:pt idx="124">
                    <c:v>0.03</c:v>
                  </c:pt>
                  <c:pt idx="125">
                    <c:v>0.03</c:v>
                  </c:pt>
                  <c:pt idx="126">
                    <c:v>0.03</c:v>
                  </c:pt>
                  <c:pt idx="127">
                    <c:v>0.03</c:v>
                  </c:pt>
                  <c:pt idx="128">
                    <c:v>0.03</c:v>
                  </c:pt>
                  <c:pt idx="129">
                    <c:v>0.03</c:v>
                  </c:pt>
                  <c:pt idx="130">
                    <c:v>0.03</c:v>
                  </c:pt>
                  <c:pt idx="131">
                    <c:v>0.03</c:v>
                  </c:pt>
                  <c:pt idx="132">
                    <c:v>0.03</c:v>
                  </c:pt>
                  <c:pt idx="133">
                    <c:v>0.03</c:v>
                  </c:pt>
                  <c:pt idx="134">
                    <c:v>0.03</c:v>
                  </c:pt>
                  <c:pt idx="135">
                    <c:v>0.03</c:v>
                  </c:pt>
                  <c:pt idx="136">
                    <c:v>0.03</c:v>
                  </c:pt>
                  <c:pt idx="137">
                    <c:v>0.03</c:v>
                  </c:pt>
                  <c:pt idx="138">
                    <c:v>0.03</c:v>
                  </c:pt>
                  <c:pt idx="139">
                    <c:v>0.03</c:v>
                  </c:pt>
                  <c:pt idx="140">
                    <c:v>0.03</c:v>
                  </c:pt>
                  <c:pt idx="141">
                    <c:v>0.03</c:v>
                  </c:pt>
                  <c:pt idx="142">
                    <c:v>0.03</c:v>
                  </c:pt>
                  <c:pt idx="143">
                    <c:v>0.03</c:v>
                  </c:pt>
                  <c:pt idx="144">
                    <c:v>0.04</c:v>
                  </c:pt>
                  <c:pt idx="145">
                    <c:v>0.04</c:v>
                  </c:pt>
                  <c:pt idx="146">
                    <c:v>0.04</c:v>
                  </c:pt>
                  <c:pt idx="147">
                    <c:v>0.04</c:v>
                  </c:pt>
                  <c:pt idx="148">
                    <c:v>0.04</c:v>
                  </c:pt>
                  <c:pt idx="149">
                    <c:v>0.04</c:v>
                  </c:pt>
                  <c:pt idx="150">
                    <c:v>0.04</c:v>
                  </c:pt>
                  <c:pt idx="151">
                    <c:v>0.04</c:v>
                  </c:pt>
                  <c:pt idx="152">
                    <c:v>0.04</c:v>
                  </c:pt>
                  <c:pt idx="153">
                    <c:v>0.04</c:v>
                  </c:pt>
                  <c:pt idx="154">
                    <c:v>0.04</c:v>
                  </c:pt>
                  <c:pt idx="155">
                    <c:v>0.04</c:v>
                  </c:pt>
                  <c:pt idx="156">
                    <c:v>0.04</c:v>
                  </c:pt>
                  <c:pt idx="157">
                    <c:v>0.04</c:v>
                  </c:pt>
                  <c:pt idx="158">
                    <c:v>0.04</c:v>
                  </c:pt>
                  <c:pt idx="159">
                    <c:v>0.04</c:v>
                  </c:pt>
                  <c:pt idx="160">
                    <c:v>0.04</c:v>
                  </c:pt>
                  <c:pt idx="161">
                    <c:v>0.04</c:v>
                  </c:pt>
                  <c:pt idx="162">
                    <c:v>0.04</c:v>
                  </c:pt>
                  <c:pt idx="163">
                    <c:v>0.04</c:v>
                  </c:pt>
                  <c:pt idx="164">
                    <c:v>0.04</c:v>
                  </c:pt>
                  <c:pt idx="165">
                    <c:v>0.04</c:v>
                  </c:pt>
                  <c:pt idx="166">
                    <c:v>0.04</c:v>
                  </c:pt>
                  <c:pt idx="167">
                    <c:v>0.04</c:v>
                  </c:pt>
                  <c:pt idx="168">
                    <c:v>0.04</c:v>
                  </c:pt>
                  <c:pt idx="169">
                    <c:v>0.04</c:v>
                  </c:pt>
                  <c:pt idx="170">
                    <c:v>0.04</c:v>
                  </c:pt>
                  <c:pt idx="171">
                    <c:v>0.04</c:v>
                  </c:pt>
                  <c:pt idx="172">
                    <c:v>0.04</c:v>
                  </c:pt>
                  <c:pt idx="173">
                    <c:v>0.04</c:v>
                  </c:pt>
                  <c:pt idx="174">
                    <c:v>0.04</c:v>
                  </c:pt>
                  <c:pt idx="175">
                    <c:v>0.04</c:v>
                  </c:pt>
                  <c:pt idx="176">
                    <c:v>0.04</c:v>
                  </c:pt>
                  <c:pt idx="177">
                    <c:v>0.04</c:v>
                  </c:pt>
                  <c:pt idx="178">
                    <c:v>0.04</c:v>
                  </c:pt>
                  <c:pt idx="179">
                    <c:v>0.04</c:v>
                  </c:pt>
                  <c:pt idx="180">
                    <c:v>0.04</c:v>
                  </c:pt>
                  <c:pt idx="181">
                    <c:v>0.04</c:v>
                  </c:pt>
                  <c:pt idx="182">
                    <c:v>0.04</c:v>
                  </c:pt>
                  <c:pt idx="183">
                    <c:v>0.04</c:v>
                  </c:pt>
                  <c:pt idx="184">
                    <c:v>0.04</c:v>
                  </c:pt>
                  <c:pt idx="185">
                    <c:v>0.05</c:v>
                  </c:pt>
                  <c:pt idx="186">
                    <c:v>0.05</c:v>
                  </c:pt>
                  <c:pt idx="187">
                    <c:v>0.05</c:v>
                  </c:pt>
                  <c:pt idx="188">
                    <c:v>0.05</c:v>
                  </c:pt>
                  <c:pt idx="189">
                    <c:v>0.05</c:v>
                  </c:pt>
                  <c:pt idx="190">
                    <c:v>0.05</c:v>
                  </c:pt>
                  <c:pt idx="191">
                    <c:v>0.05</c:v>
                  </c:pt>
                  <c:pt idx="192">
                    <c:v>0.05</c:v>
                  </c:pt>
                  <c:pt idx="193">
                    <c:v>0.05</c:v>
                  </c:pt>
                  <c:pt idx="194">
                    <c:v>0.05</c:v>
                  </c:pt>
                  <c:pt idx="195">
                    <c:v>0.05</c:v>
                  </c:pt>
                  <c:pt idx="196">
                    <c:v>0.05</c:v>
                  </c:pt>
                  <c:pt idx="197">
                    <c:v>0.05</c:v>
                  </c:pt>
                  <c:pt idx="198">
                    <c:v>0.05</c:v>
                  </c:pt>
                  <c:pt idx="199">
                    <c:v>0.05</c:v>
                  </c:pt>
                  <c:pt idx="200">
                    <c:v>0.05</c:v>
                  </c:pt>
                  <c:pt idx="201">
                    <c:v>0.05</c:v>
                  </c:pt>
                  <c:pt idx="202">
                    <c:v>0.05</c:v>
                  </c:pt>
                  <c:pt idx="203">
                    <c:v>0.05</c:v>
                  </c:pt>
                  <c:pt idx="204">
                    <c:v>0.05</c:v>
                  </c:pt>
                  <c:pt idx="205">
                    <c:v>0.05</c:v>
                  </c:pt>
                  <c:pt idx="206">
                    <c:v>0.05</c:v>
                  </c:pt>
                  <c:pt idx="207">
                    <c:v>0.05</c:v>
                  </c:pt>
                  <c:pt idx="208">
                    <c:v>0.05</c:v>
                  </c:pt>
                  <c:pt idx="209">
                    <c:v>0.05</c:v>
                  </c:pt>
                  <c:pt idx="210">
                    <c:v>0.05</c:v>
                  </c:pt>
                  <c:pt idx="211">
                    <c:v>0.05</c:v>
                  </c:pt>
                  <c:pt idx="212">
                    <c:v>0.05</c:v>
                  </c:pt>
                  <c:pt idx="213">
                    <c:v>0.05</c:v>
                  </c:pt>
                  <c:pt idx="214">
                    <c:v>0.05</c:v>
                  </c:pt>
                  <c:pt idx="215">
                    <c:v>0.05</c:v>
                  </c:pt>
                  <c:pt idx="216">
                    <c:v>0.05</c:v>
                  </c:pt>
                  <c:pt idx="217">
                    <c:v>0.05</c:v>
                  </c:pt>
                  <c:pt idx="218">
                    <c:v>0.05</c:v>
                  </c:pt>
                  <c:pt idx="219">
                    <c:v>0.05</c:v>
                  </c:pt>
                  <c:pt idx="220">
                    <c:v>0.05</c:v>
                  </c:pt>
                  <c:pt idx="221">
                    <c:v>0.05</c:v>
                  </c:pt>
                  <c:pt idx="222">
                    <c:v>0.05</c:v>
                  </c:pt>
                  <c:pt idx="223">
                    <c:v>0.05</c:v>
                  </c:pt>
                  <c:pt idx="224">
                    <c:v>0.05</c:v>
                  </c:pt>
                  <c:pt idx="225">
                    <c:v>0.05</c:v>
                  </c:pt>
                  <c:pt idx="226">
                    <c:v>0.06</c:v>
                  </c:pt>
                  <c:pt idx="227">
                    <c:v>0.06</c:v>
                  </c:pt>
                  <c:pt idx="228">
                    <c:v>0.06</c:v>
                  </c:pt>
                  <c:pt idx="229">
                    <c:v>0.06</c:v>
                  </c:pt>
                  <c:pt idx="230">
                    <c:v>0.06</c:v>
                  </c:pt>
                  <c:pt idx="231">
                    <c:v>0.06</c:v>
                  </c:pt>
                  <c:pt idx="232">
                    <c:v>0.06</c:v>
                  </c:pt>
                  <c:pt idx="233">
                    <c:v>0.06</c:v>
                  </c:pt>
                  <c:pt idx="234">
                    <c:v>0.06</c:v>
                  </c:pt>
                  <c:pt idx="235">
                    <c:v>0.06</c:v>
                  </c:pt>
                  <c:pt idx="236">
                    <c:v>0.06</c:v>
                  </c:pt>
                  <c:pt idx="237">
                    <c:v>0.06</c:v>
                  </c:pt>
                  <c:pt idx="238">
                    <c:v>0.06</c:v>
                  </c:pt>
                  <c:pt idx="239">
                    <c:v>0.06</c:v>
                  </c:pt>
                  <c:pt idx="240">
                    <c:v>0.06</c:v>
                  </c:pt>
                  <c:pt idx="241">
                    <c:v>0.06</c:v>
                  </c:pt>
                  <c:pt idx="242">
                    <c:v>0.06</c:v>
                  </c:pt>
                  <c:pt idx="243">
                    <c:v>0.06</c:v>
                  </c:pt>
                  <c:pt idx="244">
                    <c:v>0.06</c:v>
                  </c:pt>
                  <c:pt idx="245">
                    <c:v>0.06</c:v>
                  </c:pt>
                  <c:pt idx="246">
                    <c:v>0.06</c:v>
                  </c:pt>
                  <c:pt idx="247">
                    <c:v>0.06</c:v>
                  </c:pt>
                  <c:pt idx="248">
                    <c:v>0.06</c:v>
                  </c:pt>
                  <c:pt idx="249">
                    <c:v>0.06</c:v>
                  </c:pt>
                  <c:pt idx="250">
                    <c:v>0.06</c:v>
                  </c:pt>
                  <c:pt idx="251">
                    <c:v>0.06</c:v>
                  </c:pt>
                  <c:pt idx="252">
                    <c:v>0.06</c:v>
                  </c:pt>
                  <c:pt idx="253">
                    <c:v>0.06</c:v>
                  </c:pt>
                  <c:pt idx="254">
                    <c:v>0.06</c:v>
                  </c:pt>
                  <c:pt idx="255">
                    <c:v>0.06</c:v>
                  </c:pt>
                  <c:pt idx="256">
                    <c:v>0.06</c:v>
                  </c:pt>
                  <c:pt idx="257">
                    <c:v>0.06</c:v>
                  </c:pt>
                  <c:pt idx="258">
                    <c:v>0.06</c:v>
                  </c:pt>
                  <c:pt idx="259">
                    <c:v>0.06</c:v>
                  </c:pt>
                  <c:pt idx="260">
                    <c:v>0.06</c:v>
                  </c:pt>
                  <c:pt idx="261">
                    <c:v>0.06</c:v>
                  </c:pt>
                  <c:pt idx="262">
                    <c:v>0.06</c:v>
                  </c:pt>
                  <c:pt idx="263">
                    <c:v>0.06</c:v>
                  </c:pt>
                  <c:pt idx="264">
                    <c:v>0.06</c:v>
                  </c:pt>
                  <c:pt idx="265">
                    <c:v>0.06</c:v>
                  </c:pt>
                  <c:pt idx="266">
                    <c:v>0.06</c:v>
                  </c:pt>
                  <c:pt idx="267">
                    <c:v>0.07</c:v>
                  </c:pt>
                  <c:pt idx="268">
                    <c:v>0.07</c:v>
                  </c:pt>
                  <c:pt idx="269">
                    <c:v>0.07</c:v>
                  </c:pt>
                  <c:pt idx="270">
                    <c:v>0.07</c:v>
                  </c:pt>
                  <c:pt idx="271">
                    <c:v>0.07</c:v>
                  </c:pt>
                  <c:pt idx="272">
                    <c:v>0.07</c:v>
                  </c:pt>
                  <c:pt idx="273">
                    <c:v>0.07</c:v>
                  </c:pt>
                  <c:pt idx="274">
                    <c:v>0.07</c:v>
                  </c:pt>
                  <c:pt idx="275">
                    <c:v>0.07</c:v>
                  </c:pt>
                  <c:pt idx="276">
                    <c:v>0.07</c:v>
                  </c:pt>
                  <c:pt idx="277">
                    <c:v>0.07</c:v>
                  </c:pt>
                  <c:pt idx="278">
                    <c:v>0.07</c:v>
                  </c:pt>
                  <c:pt idx="279">
                    <c:v>0.07</c:v>
                  </c:pt>
                  <c:pt idx="280">
                    <c:v>0.07</c:v>
                  </c:pt>
                  <c:pt idx="281">
                    <c:v>0.07</c:v>
                  </c:pt>
                  <c:pt idx="282">
                    <c:v>0.07</c:v>
                  </c:pt>
                  <c:pt idx="283">
                    <c:v>0.07</c:v>
                  </c:pt>
                  <c:pt idx="284">
                    <c:v>0.07</c:v>
                  </c:pt>
                  <c:pt idx="285">
                    <c:v>0.07</c:v>
                  </c:pt>
                  <c:pt idx="286">
                    <c:v>0.07</c:v>
                  </c:pt>
                  <c:pt idx="287">
                    <c:v>0.07</c:v>
                  </c:pt>
                  <c:pt idx="288">
                    <c:v>0.07</c:v>
                  </c:pt>
                  <c:pt idx="289">
                    <c:v>0.07</c:v>
                  </c:pt>
                  <c:pt idx="290">
                    <c:v>0.07</c:v>
                  </c:pt>
                  <c:pt idx="291">
                    <c:v>0.07</c:v>
                  </c:pt>
                  <c:pt idx="292">
                    <c:v>0.07</c:v>
                  </c:pt>
                  <c:pt idx="293">
                    <c:v>0.07</c:v>
                  </c:pt>
                  <c:pt idx="294">
                    <c:v>0.07</c:v>
                  </c:pt>
                  <c:pt idx="295">
                    <c:v>0.07</c:v>
                  </c:pt>
                  <c:pt idx="296">
                    <c:v>0.07</c:v>
                  </c:pt>
                  <c:pt idx="297">
                    <c:v>0.07</c:v>
                  </c:pt>
                  <c:pt idx="298">
                    <c:v>0.07</c:v>
                  </c:pt>
                  <c:pt idx="299">
                    <c:v>0.07</c:v>
                  </c:pt>
                  <c:pt idx="300">
                    <c:v>0.07</c:v>
                  </c:pt>
                  <c:pt idx="301">
                    <c:v>0.07</c:v>
                  </c:pt>
                  <c:pt idx="302">
                    <c:v>0.07</c:v>
                  </c:pt>
                  <c:pt idx="303">
                    <c:v>0.07</c:v>
                  </c:pt>
                  <c:pt idx="304">
                    <c:v>0.07</c:v>
                  </c:pt>
                  <c:pt idx="305">
                    <c:v>0.07</c:v>
                  </c:pt>
                  <c:pt idx="306">
                    <c:v>0.07</c:v>
                  </c:pt>
                  <c:pt idx="307">
                    <c:v>0.07</c:v>
                  </c:pt>
                  <c:pt idx="308">
                    <c:v>0.08</c:v>
                  </c:pt>
                  <c:pt idx="309">
                    <c:v>0.08</c:v>
                  </c:pt>
                  <c:pt idx="310">
                    <c:v>0.08</c:v>
                  </c:pt>
                  <c:pt idx="311">
                    <c:v>0.08</c:v>
                  </c:pt>
                  <c:pt idx="312">
                    <c:v>0.08</c:v>
                  </c:pt>
                  <c:pt idx="313">
                    <c:v>0.08</c:v>
                  </c:pt>
                  <c:pt idx="314">
                    <c:v>0.08</c:v>
                  </c:pt>
                  <c:pt idx="315">
                    <c:v>0.08</c:v>
                  </c:pt>
                  <c:pt idx="316">
                    <c:v>0.08</c:v>
                  </c:pt>
                  <c:pt idx="317">
                    <c:v>0.08</c:v>
                  </c:pt>
                  <c:pt idx="318">
                    <c:v>0.08</c:v>
                  </c:pt>
                  <c:pt idx="319">
                    <c:v>0.08</c:v>
                  </c:pt>
                  <c:pt idx="320">
                    <c:v>0.08</c:v>
                  </c:pt>
                  <c:pt idx="321">
                    <c:v>0.08</c:v>
                  </c:pt>
                  <c:pt idx="322">
                    <c:v>0.08</c:v>
                  </c:pt>
                  <c:pt idx="323">
                    <c:v>0.08</c:v>
                  </c:pt>
                  <c:pt idx="324">
                    <c:v>0.08</c:v>
                  </c:pt>
                  <c:pt idx="325">
                    <c:v>0.08</c:v>
                  </c:pt>
                  <c:pt idx="326">
                    <c:v>0.08</c:v>
                  </c:pt>
                  <c:pt idx="327">
                    <c:v>0.08</c:v>
                  </c:pt>
                  <c:pt idx="328">
                    <c:v>0.08</c:v>
                  </c:pt>
                  <c:pt idx="329">
                    <c:v>0.08</c:v>
                  </c:pt>
                  <c:pt idx="330">
                    <c:v>0.08</c:v>
                  </c:pt>
                  <c:pt idx="331">
                    <c:v>0.08</c:v>
                  </c:pt>
                  <c:pt idx="332">
                    <c:v>0.08</c:v>
                  </c:pt>
                  <c:pt idx="333">
                    <c:v>0.08</c:v>
                  </c:pt>
                  <c:pt idx="334">
                    <c:v>0.08</c:v>
                  </c:pt>
                  <c:pt idx="335">
                    <c:v>0.08</c:v>
                  </c:pt>
                  <c:pt idx="336">
                    <c:v>0.08</c:v>
                  </c:pt>
                  <c:pt idx="337">
                    <c:v>0.08</c:v>
                  </c:pt>
                  <c:pt idx="338">
                    <c:v>0.08</c:v>
                  </c:pt>
                  <c:pt idx="339">
                    <c:v>0.08</c:v>
                  </c:pt>
                  <c:pt idx="340">
                    <c:v>0.08</c:v>
                  </c:pt>
                  <c:pt idx="341">
                    <c:v>0.08</c:v>
                  </c:pt>
                  <c:pt idx="342">
                    <c:v>0.08</c:v>
                  </c:pt>
                  <c:pt idx="343">
                    <c:v>0.08</c:v>
                  </c:pt>
                  <c:pt idx="344">
                    <c:v>0.08</c:v>
                  </c:pt>
                  <c:pt idx="345">
                    <c:v>0.08</c:v>
                  </c:pt>
                  <c:pt idx="346">
                    <c:v>0.08</c:v>
                  </c:pt>
                  <c:pt idx="347">
                    <c:v>0.08</c:v>
                  </c:pt>
                  <c:pt idx="348">
                    <c:v>0.08</c:v>
                  </c:pt>
                  <c:pt idx="349">
                    <c:v>0.09</c:v>
                  </c:pt>
                  <c:pt idx="350">
                    <c:v>0.09</c:v>
                  </c:pt>
                  <c:pt idx="351">
                    <c:v>0.09</c:v>
                  </c:pt>
                  <c:pt idx="352">
                    <c:v>0.09</c:v>
                  </c:pt>
                  <c:pt idx="353">
                    <c:v>0.09</c:v>
                  </c:pt>
                  <c:pt idx="354">
                    <c:v>0.09</c:v>
                  </c:pt>
                  <c:pt idx="355">
                    <c:v>0.09</c:v>
                  </c:pt>
                  <c:pt idx="356">
                    <c:v>0.09</c:v>
                  </c:pt>
                  <c:pt idx="357">
                    <c:v>0.09</c:v>
                  </c:pt>
                  <c:pt idx="358">
                    <c:v>0.09</c:v>
                  </c:pt>
                  <c:pt idx="359">
                    <c:v>0.09</c:v>
                  </c:pt>
                  <c:pt idx="360">
                    <c:v>0.09</c:v>
                  </c:pt>
                  <c:pt idx="361">
                    <c:v>0.09</c:v>
                  </c:pt>
                  <c:pt idx="362">
                    <c:v>0.09</c:v>
                  </c:pt>
                  <c:pt idx="363">
                    <c:v>0.09</c:v>
                  </c:pt>
                  <c:pt idx="364">
                    <c:v>0.09</c:v>
                  </c:pt>
                  <c:pt idx="365">
                    <c:v>0.09</c:v>
                  </c:pt>
                  <c:pt idx="366">
                    <c:v>0.09</c:v>
                  </c:pt>
                  <c:pt idx="367">
                    <c:v>0.09</c:v>
                  </c:pt>
                  <c:pt idx="368">
                    <c:v>0.09</c:v>
                  </c:pt>
                  <c:pt idx="369">
                    <c:v>0.09</c:v>
                  </c:pt>
                  <c:pt idx="370">
                    <c:v>0.09</c:v>
                  </c:pt>
                  <c:pt idx="371">
                    <c:v>0.09</c:v>
                  </c:pt>
                  <c:pt idx="372">
                    <c:v>0.09</c:v>
                  </c:pt>
                  <c:pt idx="373">
                    <c:v>0.09</c:v>
                  </c:pt>
                  <c:pt idx="374">
                    <c:v>0.09</c:v>
                  </c:pt>
                  <c:pt idx="375">
                    <c:v>0.09</c:v>
                  </c:pt>
                  <c:pt idx="376">
                    <c:v>0.09</c:v>
                  </c:pt>
                  <c:pt idx="377">
                    <c:v>0.09</c:v>
                  </c:pt>
                  <c:pt idx="378">
                    <c:v>0.09</c:v>
                  </c:pt>
                  <c:pt idx="379">
                    <c:v>0.09</c:v>
                  </c:pt>
                  <c:pt idx="380">
                    <c:v>0.09</c:v>
                  </c:pt>
                  <c:pt idx="381">
                    <c:v>0.09</c:v>
                  </c:pt>
                  <c:pt idx="382">
                    <c:v>0.09</c:v>
                  </c:pt>
                  <c:pt idx="383">
                    <c:v>0.09</c:v>
                  </c:pt>
                  <c:pt idx="384">
                    <c:v>0.09</c:v>
                  </c:pt>
                  <c:pt idx="385">
                    <c:v>0.09</c:v>
                  </c:pt>
                  <c:pt idx="386">
                    <c:v>0.09</c:v>
                  </c:pt>
                  <c:pt idx="387">
                    <c:v>0.09</c:v>
                  </c:pt>
                  <c:pt idx="388">
                    <c:v>0.09</c:v>
                  </c:pt>
                  <c:pt idx="389">
                    <c:v>0.09</c:v>
                  </c:pt>
                  <c:pt idx="390">
                    <c:v>0.10</c:v>
                  </c:pt>
                  <c:pt idx="391">
                    <c:v>0.10</c:v>
                  </c:pt>
                  <c:pt idx="392">
                    <c:v>0.10</c:v>
                  </c:pt>
                  <c:pt idx="393">
                    <c:v>0.10</c:v>
                  </c:pt>
                  <c:pt idx="394">
                    <c:v>0.10</c:v>
                  </c:pt>
                  <c:pt idx="395">
                    <c:v>0.10</c:v>
                  </c:pt>
                  <c:pt idx="396">
                    <c:v>0.10</c:v>
                  </c:pt>
                  <c:pt idx="397">
                    <c:v>0.10</c:v>
                  </c:pt>
                  <c:pt idx="398">
                    <c:v>0.10</c:v>
                  </c:pt>
                  <c:pt idx="399">
                    <c:v>0.10</c:v>
                  </c:pt>
                  <c:pt idx="400">
                    <c:v>0.10</c:v>
                  </c:pt>
                  <c:pt idx="401">
                    <c:v>0.10</c:v>
                  </c:pt>
                  <c:pt idx="402">
                    <c:v>0.10</c:v>
                  </c:pt>
                  <c:pt idx="403">
                    <c:v>0.10</c:v>
                  </c:pt>
                  <c:pt idx="404">
                    <c:v>0.10</c:v>
                  </c:pt>
                  <c:pt idx="405">
                    <c:v>0.10</c:v>
                  </c:pt>
                  <c:pt idx="406">
                    <c:v>0.10</c:v>
                  </c:pt>
                  <c:pt idx="407">
                    <c:v>0.10</c:v>
                  </c:pt>
                  <c:pt idx="408">
                    <c:v>0.10</c:v>
                  </c:pt>
                  <c:pt idx="409">
                    <c:v>0.10</c:v>
                  </c:pt>
                  <c:pt idx="410">
                    <c:v>0.10</c:v>
                  </c:pt>
                  <c:pt idx="411">
                    <c:v>0.10</c:v>
                  </c:pt>
                  <c:pt idx="412">
                    <c:v>0.10</c:v>
                  </c:pt>
                  <c:pt idx="413">
                    <c:v>0.10</c:v>
                  </c:pt>
                  <c:pt idx="414">
                    <c:v>0.10</c:v>
                  </c:pt>
                  <c:pt idx="415">
                    <c:v>0.10</c:v>
                  </c:pt>
                  <c:pt idx="416">
                    <c:v>0.10</c:v>
                  </c:pt>
                  <c:pt idx="417">
                    <c:v>0.10</c:v>
                  </c:pt>
                  <c:pt idx="418">
                    <c:v>0.10</c:v>
                  </c:pt>
                  <c:pt idx="419">
                    <c:v>0.10</c:v>
                  </c:pt>
                  <c:pt idx="420">
                    <c:v>0.10</c:v>
                  </c:pt>
                  <c:pt idx="421">
                    <c:v>0.10</c:v>
                  </c:pt>
                  <c:pt idx="422">
                    <c:v>0.10</c:v>
                  </c:pt>
                  <c:pt idx="423">
                    <c:v>0.10</c:v>
                  </c:pt>
                  <c:pt idx="424">
                    <c:v>0.10</c:v>
                  </c:pt>
                  <c:pt idx="425">
                    <c:v>0.10</c:v>
                  </c:pt>
                  <c:pt idx="426">
                    <c:v>0.10</c:v>
                  </c:pt>
                  <c:pt idx="427">
                    <c:v>0.10</c:v>
                  </c:pt>
                  <c:pt idx="428">
                    <c:v>0.10</c:v>
                  </c:pt>
                  <c:pt idx="429">
                    <c:v>0.10</c:v>
                  </c:pt>
                  <c:pt idx="430">
                    <c:v>0.10</c:v>
                  </c:pt>
                  <c:pt idx="431">
                    <c:v>0.11</c:v>
                  </c:pt>
                  <c:pt idx="432">
                    <c:v>0.11</c:v>
                  </c:pt>
                  <c:pt idx="433">
                    <c:v>0.11</c:v>
                  </c:pt>
                  <c:pt idx="434">
                    <c:v>0.11</c:v>
                  </c:pt>
                  <c:pt idx="435">
                    <c:v>0.11</c:v>
                  </c:pt>
                  <c:pt idx="436">
                    <c:v>0.11</c:v>
                  </c:pt>
                  <c:pt idx="437">
                    <c:v>0.11</c:v>
                  </c:pt>
                  <c:pt idx="438">
                    <c:v>0.11</c:v>
                  </c:pt>
                  <c:pt idx="439">
                    <c:v>0.11</c:v>
                  </c:pt>
                  <c:pt idx="440">
                    <c:v>0.11</c:v>
                  </c:pt>
                  <c:pt idx="441">
                    <c:v>0.11</c:v>
                  </c:pt>
                  <c:pt idx="442">
                    <c:v>0.11</c:v>
                  </c:pt>
                  <c:pt idx="443">
                    <c:v>0.11</c:v>
                  </c:pt>
                  <c:pt idx="444">
                    <c:v>0.11</c:v>
                  </c:pt>
                  <c:pt idx="445">
                    <c:v>0.11</c:v>
                  </c:pt>
                  <c:pt idx="446">
                    <c:v>0.11</c:v>
                  </c:pt>
                  <c:pt idx="447">
                    <c:v>0.11</c:v>
                  </c:pt>
                  <c:pt idx="448">
                    <c:v>0.11</c:v>
                  </c:pt>
                  <c:pt idx="449">
                    <c:v>0.11</c:v>
                  </c:pt>
                  <c:pt idx="450">
                    <c:v>0.11</c:v>
                  </c:pt>
                  <c:pt idx="451">
                    <c:v>0.11</c:v>
                  </c:pt>
                  <c:pt idx="452">
                    <c:v>0.11</c:v>
                  </c:pt>
                  <c:pt idx="453">
                    <c:v>0.11</c:v>
                  </c:pt>
                  <c:pt idx="454">
                    <c:v>0.11</c:v>
                  </c:pt>
                  <c:pt idx="455">
                    <c:v>0.11</c:v>
                  </c:pt>
                  <c:pt idx="456">
                    <c:v>0.11</c:v>
                  </c:pt>
                  <c:pt idx="457">
                    <c:v>0.11</c:v>
                  </c:pt>
                  <c:pt idx="458">
                    <c:v>0.11</c:v>
                  </c:pt>
                  <c:pt idx="459">
                    <c:v>0.11</c:v>
                  </c:pt>
                  <c:pt idx="460">
                    <c:v>0.11</c:v>
                  </c:pt>
                  <c:pt idx="461">
                    <c:v>0.11</c:v>
                  </c:pt>
                  <c:pt idx="462">
                    <c:v>0.11</c:v>
                  </c:pt>
                  <c:pt idx="463">
                    <c:v>0.11</c:v>
                  </c:pt>
                  <c:pt idx="464">
                    <c:v>0.11</c:v>
                  </c:pt>
                  <c:pt idx="465">
                    <c:v>0.11</c:v>
                  </c:pt>
                  <c:pt idx="466">
                    <c:v>0.11</c:v>
                  </c:pt>
                  <c:pt idx="467">
                    <c:v>0.11</c:v>
                  </c:pt>
                  <c:pt idx="468">
                    <c:v>0.11</c:v>
                  </c:pt>
                  <c:pt idx="469">
                    <c:v>0.11</c:v>
                  </c:pt>
                  <c:pt idx="470">
                    <c:v>0.11</c:v>
                  </c:pt>
                  <c:pt idx="471">
                    <c:v>0.11</c:v>
                  </c:pt>
                  <c:pt idx="472">
                    <c:v>0.12</c:v>
                  </c:pt>
                  <c:pt idx="473">
                    <c:v>0.12</c:v>
                  </c:pt>
                  <c:pt idx="474">
                    <c:v>0.12</c:v>
                  </c:pt>
                  <c:pt idx="475">
                    <c:v>0.12</c:v>
                  </c:pt>
                  <c:pt idx="476">
                    <c:v>0.12</c:v>
                  </c:pt>
                  <c:pt idx="477">
                    <c:v>0.12</c:v>
                  </c:pt>
                  <c:pt idx="478">
                    <c:v>0.12</c:v>
                  </c:pt>
                  <c:pt idx="479">
                    <c:v>0.12</c:v>
                  </c:pt>
                  <c:pt idx="480">
                    <c:v>0.12</c:v>
                  </c:pt>
                  <c:pt idx="481">
                    <c:v>0.12</c:v>
                  </c:pt>
                  <c:pt idx="482">
                    <c:v>0.12</c:v>
                  </c:pt>
                  <c:pt idx="483">
                    <c:v>0.12</c:v>
                  </c:pt>
                  <c:pt idx="484">
                    <c:v>0.12</c:v>
                  </c:pt>
                  <c:pt idx="485">
                    <c:v>0.12</c:v>
                  </c:pt>
                  <c:pt idx="486">
                    <c:v>0.12</c:v>
                  </c:pt>
                  <c:pt idx="487">
                    <c:v>0.12</c:v>
                  </c:pt>
                  <c:pt idx="488">
                    <c:v>0.12</c:v>
                  </c:pt>
                  <c:pt idx="489">
                    <c:v>0.12</c:v>
                  </c:pt>
                  <c:pt idx="490">
                    <c:v>0.12</c:v>
                  </c:pt>
                  <c:pt idx="491">
                    <c:v>0.12</c:v>
                  </c:pt>
                  <c:pt idx="492">
                    <c:v>0.12</c:v>
                  </c:pt>
                  <c:pt idx="493">
                    <c:v>0.12</c:v>
                  </c:pt>
                  <c:pt idx="494">
                    <c:v>0.12</c:v>
                  </c:pt>
                  <c:pt idx="495">
                    <c:v>0.12</c:v>
                  </c:pt>
                  <c:pt idx="496">
                    <c:v>0.12</c:v>
                  </c:pt>
                  <c:pt idx="497">
                    <c:v>0.12</c:v>
                  </c:pt>
                  <c:pt idx="498">
                    <c:v>0.12</c:v>
                  </c:pt>
                  <c:pt idx="499">
                    <c:v>0.12</c:v>
                  </c:pt>
                  <c:pt idx="500">
                    <c:v>0.12</c:v>
                  </c:pt>
                  <c:pt idx="501">
                    <c:v>0.12</c:v>
                  </c:pt>
                  <c:pt idx="502">
                    <c:v>0.12</c:v>
                  </c:pt>
                  <c:pt idx="503">
                    <c:v>0.12</c:v>
                  </c:pt>
                  <c:pt idx="504">
                    <c:v>0.12</c:v>
                  </c:pt>
                  <c:pt idx="505">
                    <c:v>0.12</c:v>
                  </c:pt>
                  <c:pt idx="506">
                    <c:v>0.12</c:v>
                  </c:pt>
                  <c:pt idx="507">
                    <c:v>0.12</c:v>
                  </c:pt>
                  <c:pt idx="508">
                    <c:v>0.12</c:v>
                  </c:pt>
                  <c:pt idx="509">
                    <c:v>0.12</c:v>
                  </c:pt>
                  <c:pt idx="510">
                    <c:v>0.12</c:v>
                  </c:pt>
                  <c:pt idx="511">
                    <c:v>0.12</c:v>
                  </c:pt>
                  <c:pt idx="512">
                    <c:v>0.13</c:v>
                  </c:pt>
                  <c:pt idx="513">
                    <c:v>0.13</c:v>
                  </c:pt>
                  <c:pt idx="514">
                    <c:v>0.13</c:v>
                  </c:pt>
                  <c:pt idx="515">
                    <c:v>0.13</c:v>
                  </c:pt>
                  <c:pt idx="516">
                    <c:v>0.13</c:v>
                  </c:pt>
                  <c:pt idx="517">
                    <c:v>0.13</c:v>
                  </c:pt>
                  <c:pt idx="518">
                    <c:v>0.13</c:v>
                  </c:pt>
                  <c:pt idx="519">
                    <c:v>0.13</c:v>
                  </c:pt>
                  <c:pt idx="520">
                    <c:v>0.13</c:v>
                  </c:pt>
                  <c:pt idx="521">
                    <c:v>0.13</c:v>
                  </c:pt>
                  <c:pt idx="522">
                    <c:v>0.13</c:v>
                  </c:pt>
                  <c:pt idx="523">
                    <c:v>0.13</c:v>
                  </c:pt>
                  <c:pt idx="524">
                    <c:v>0.13</c:v>
                  </c:pt>
                  <c:pt idx="525">
                    <c:v>0.13</c:v>
                  </c:pt>
                  <c:pt idx="526">
                    <c:v>0.13</c:v>
                  </c:pt>
                  <c:pt idx="527">
                    <c:v>0.13</c:v>
                  </c:pt>
                  <c:pt idx="528">
                    <c:v>0.13</c:v>
                  </c:pt>
                  <c:pt idx="529">
                    <c:v>0.13</c:v>
                  </c:pt>
                  <c:pt idx="530">
                    <c:v>0.13</c:v>
                  </c:pt>
                  <c:pt idx="531">
                    <c:v>0.13</c:v>
                  </c:pt>
                  <c:pt idx="532">
                    <c:v>0.13</c:v>
                  </c:pt>
                  <c:pt idx="533">
                    <c:v>0.13</c:v>
                  </c:pt>
                  <c:pt idx="534">
                    <c:v>0.13</c:v>
                  </c:pt>
                  <c:pt idx="535">
                    <c:v>0.13</c:v>
                  </c:pt>
                  <c:pt idx="536">
                    <c:v>0.13</c:v>
                  </c:pt>
                  <c:pt idx="537">
                    <c:v>0.13</c:v>
                  </c:pt>
                  <c:pt idx="538">
                    <c:v>0.13</c:v>
                  </c:pt>
                  <c:pt idx="539">
                    <c:v>0.13</c:v>
                  </c:pt>
                  <c:pt idx="540">
                    <c:v>0.13</c:v>
                  </c:pt>
                  <c:pt idx="541">
                    <c:v>0.13</c:v>
                  </c:pt>
                  <c:pt idx="542">
                    <c:v>0.13</c:v>
                  </c:pt>
                  <c:pt idx="543">
                    <c:v>0.13</c:v>
                  </c:pt>
                  <c:pt idx="544">
                    <c:v>0.13</c:v>
                  </c:pt>
                  <c:pt idx="545">
                    <c:v>0.13</c:v>
                  </c:pt>
                  <c:pt idx="546">
                    <c:v>0.13</c:v>
                  </c:pt>
                  <c:pt idx="547">
                    <c:v>0.13</c:v>
                  </c:pt>
                  <c:pt idx="548">
                    <c:v>0.13</c:v>
                  </c:pt>
                  <c:pt idx="549">
                    <c:v>0.13</c:v>
                  </c:pt>
                  <c:pt idx="550">
                    <c:v>0.13</c:v>
                  </c:pt>
                  <c:pt idx="551">
                    <c:v>0.13</c:v>
                  </c:pt>
                  <c:pt idx="552">
                    <c:v>0.13</c:v>
                  </c:pt>
                  <c:pt idx="553">
                    <c:v>0.14</c:v>
                  </c:pt>
                  <c:pt idx="554">
                    <c:v>0.14</c:v>
                  </c:pt>
                  <c:pt idx="555">
                    <c:v>0.14</c:v>
                  </c:pt>
                  <c:pt idx="556">
                    <c:v>0.14</c:v>
                  </c:pt>
                  <c:pt idx="557">
                    <c:v>0.14</c:v>
                  </c:pt>
                  <c:pt idx="558">
                    <c:v>0.14</c:v>
                  </c:pt>
                  <c:pt idx="559">
                    <c:v>0.14</c:v>
                  </c:pt>
                  <c:pt idx="560">
                    <c:v>0.14</c:v>
                  </c:pt>
                  <c:pt idx="561">
                    <c:v>0.14</c:v>
                  </c:pt>
                  <c:pt idx="562">
                    <c:v>0.14</c:v>
                  </c:pt>
                  <c:pt idx="563">
                    <c:v>0.14</c:v>
                  </c:pt>
                  <c:pt idx="564">
                    <c:v>0.14</c:v>
                  </c:pt>
                  <c:pt idx="565">
                    <c:v>0.14</c:v>
                  </c:pt>
                  <c:pt idx="566">
                    <c:v>0.14</c:v>
                  </c:pt>
                  <c:pt idx="567">
                    <c:v>0.14</c:v>
                  </c:pt>
                  <c:pt idx="568">
                    <c:v>0.14</c:v>
                  </c:pt>
                  <c:pt idx="569">
                    <c:v>0.14</c:v>
                  </c:pt>
                  <c:pt idx="570">
                    <c:v>0.14</c:v>
                  </c:pt>
                  <c:pt idx="571">
                    <c:v>0.14</c:v>
                  </c:pt>
                  <c:pt idx="572">
                    <c:v>0.14</c:v>
                  </c:pt>
                  <c:pt idx="573">
                    <c:v>0.14</c:v>
                  </c:pt>
                  <c:pt idx="574">
                    <c:v>0.14</c:v>
                  </c:pt>
                  <c:pt idx="575">
                    <c:v>0.14</c:v>
                  </c:pt>
                  <c:pt idx="576">
                    <c:v>0.14</c:v>
                  </c:pt>
                  <c:pt idx="577">
                    <c:v>0.14</c:v>
                  </c:pt>
                  <c:pt idx="578">
                    <c:v>0.14</c:v>
                  </c:pt>
                  <c:pt idx="579">
                    <c:v>0.14</c:v>
                  </c:pt>
                  <c:pt idx="580">
                    <c:v>0.14</c:v>
                  </c:pt>
                  <c:pt idx="581">
                    <c:v>0.14</c:v>
                  </c:pt>
                  <c:pt idx="582">
                    <c:v>0.14</c:v>
                  </c:pt>
                  <c:pt idx="583">
                    <c:v>0.14</c:v>
                  </c:pt>
                  <c:pt idx="584">
                    <c:v>0.14</c:v>
                  </c:pt>
                  <c:pt idx="585">
                    <c:v>0.14</c:v>
                  </c:pt>
                  <c:pt idx="586">
                    <c:v>0.14</c:v>
                  </c:pt>
                  <c:pt idx="587">
                    <c:v>0.14</c:v>
                  </c:pt>
                  <c:pt idx="588">
                    <c:v>0.14</c:v>
                  </c:pt>
                  <c:pt idx="589">
                    <c:v>0.14</c:v>
                  </c:pt>
                  <c:pt idx="590">
                    <c:v>0.14</c:v>
                  </c:pt>
                  <c:pt idx="591">
                    <c:v>0.14</c:v>
                  </c:pt>
                  <c:pt idx="592">
                    <c:v>0.14</c:v>
                  </c:pt>
                  <c:pt idx="593">
                    <c:v>0.14</c:v>
                  </c:pt>
                  <c:pt idx="594">
                    <c:v>0.15</c:v>
                  </c:pt>
                  <c:pt idx="595">
                    <c:v>0.15</c:v>
                  </c:pt>
                  <c:pt idx="596">
                    <c:v>0.15</c:v>
                  </c:pt>
                  <c:pt idx="597">
                    <c:v>0.15</c:v>
                  </c:pt>
                  <c:pt idx="598">
                    <c:v>0.15</c:v>
                  </c:pt>
                  <c:pt idx="599">
                    <c:v>0.15</c:v>
                  </c:pt>
                  <c:pt idx="600">
                    <c:v>0.15</c:v>
                  </c:pt>
                  <c:pt idx="601">
                    <c:v>0.15</c:v>
                  </c:pt>
                  <c:pt idx="602">
                    <c:v>0.15</c:v>
                  </c:pt>
                  <c:pt idx="603">
                    <c:v>0.15</c:v>
                  </c:pt>
                  <c:pt idx="604">
                    <c:v>0.15</c:v>
                  </c:pt>
                  <c:pt idx="605">
                    <c:v>0.15</c:v>
                  </c:pt>
                  <c:pt idx="606">
                    <c:v>0.15</c:v>
                  </c:pt>
                  <c:pt idx="607">
                    <c:v>0.15</c:v>
                  </c:pt>
                  <c:pt idx="608">
                    <c:v>0.15</c:v>
                  </c:pt>
                  <c:pt idx="609">
                    <c:v>0.15</c:v>
                  </c:pt>
                  <c:pt idx="610">
                    <c:v>0.15</c:v>
                  </c:pt>
                  <c:pt idx="611">
                    <c:v>0.15</c:v>
                  </c:pt>
                  <c:pt idx="612">
                    <c:v>0.15</c:v>
                  </c:pt>
                  <c:pt idx="613">
                    <c:v>0.15</c:v>
                  </c:pt>
                  <c:pt idx="614">
                    <c:v>0.15</c:v>
                  </c:pt>
                  <c:pt idx="615">
                    <c:v>0.15</c:v>
                  </c:pt>
                  <c:pt idx="616">
                    <c:v>0.15</c:v>
                  </c:pt>
                  <c:pt idx="617">
                    <c:v>0.15</c:v>
                  </c:pt>
                  <c:pt idx="618">
                    <c:v>0.15</c:v>
                  </c:pt>
                  <c:pt idx="619">
                    <c:v>0.15</c:v>
                  </c:pt>
                  <c:pt idx="620">
                    <c:v>0.15</c:v>
                  </c:pt>
                  <c:pt idx="621">
                    <c:v>0.15</c:v>
                  </c:pt>
                  <c:pt idx="622">
                    <c:v>0.15</c:v>
                  </c:pt>
                  <c:pt idx="623">
                    <c:v>0.15</c:v>
                  </c:pt>
                  <c:pt idx="624">
                    <c:v>0.15</c:v>
                  </c:pt>
                  <c:pt idx="625">
                    <c:v>0.15</c:v>
                  </c:pt>
                  <c:pt idx="626">
                    <c:v>0.15</c:v>
                  </c:pt>
                  <c:pt idx="627">
                    <c:v>0.15</c:v>
                  </c:pt>
                  <c:pt idx="628">
                    <c:v>0.15</c:v>
                  </c:pt>
                  <c:pt idx="629">
                    <c:v>0.15</c:v>
                  </c:pt>
                  <c:pt idx="630">
                    <c:v>0.15</c:v>
                  </c:pt>
                  <c:pt idx="631">
                    <c:v>0.15</c:v>
                  </c:pt>
                  <c:pt idx="632">
                    <c:v>0.15</c:v>
                  </c:pt>
                  <c:pt idx="633">
                    <c:v>0.15</c:v>
                  </c:pt>
                  <c:pt idx="634">
                    <c:v>0.15</c:v>
                  </c:pt>
                  <c:pt idx="635">
                    <c:v>0.16</c:v>
                  </c:pt>
                  <c:pt idx="636">
                    <c:v>0.16</c:v>
                  </c:pt>
                  <c:pt idx="637">
                    <c:v>0.16</c:v>
                  </c:pt>
                  <c:pt idx="638">
                    <c:v>0.16</c:v>
                  </c:pt>
                  <c:pt idx="639">
                    <c:v>0.16</c:v>
                  </c:pt>
                  <c:pt idx="640">
                    <c:v>0.16</c:v>
                  </c:pt>
                  <c:pt idx="641">
                    <c:v>0.16</c:v>
                  </c:pt>
                  <c:pt idx="642">
                    <c:v>0.16</c:v>
                  </c:pt>
                  <c:pt idx="643">
                    <c:v>0.16</c:v>
                  </c:pt>
                  <c:pt idx="644">
                    <c:v>0.16</c:v>
                  </c:pt>
                  <c:pt idx="645">
                    <c:v>0.16</c:v>
                  </c:pt>
                  <c:pt idx="646">
                    <c:v>0.16</c:v>
                  </c:pt>
                  <c:pt idx="647">
                    <c:v>0.16</c:v>
                  </c:pt>
                  <c:pt idx="648">
                    <c:v>0.16</c:v>
                  </c:pt>
                  <c:pt idx="649">
                    <c:v>0.16</c:v>
                  </c:pt>
                  <c:pt idx="650">
                    <c:v>0.16</c:v>
                  </c:pt>
                  <c:pt idx="651">
                    <c:v>0.16</c:v>
                  </c:pt>
                  <c:pt idx="652">
                    <c:v>0.16</c:v>
                  </c:pt>
                  <c:pt idx="653">
                    <c:v>0.16</c:v>
                  </c:pt>
                  <c:pt idx="654">
                    <c:v>0.16</c:v>
                  </c:pt>
                  <c:pt idx="655">
                    <c:v>0.16</c:v>
                  </c:pt>
                  <c:pt idx="656">
                    <c:v>0.16</c:v>
                  </c:pt>
                  <c:pt idx="657">
                    <c:v>0.16</c:v>
                  </c:pt>
                  <c:pt idx="658">
                    <c:v>0.16</c:v>
                  </c:pt>
                  <c:pt idx="659">
                    <c:v>0.16</c:v>
                  </c:pt>
                  <c:pt idx="660">
                    <c:v>0.16</c:v>
                  </c:pt>
                  <c:pt idx="661">
                    <c:v>0.16</c:v>
                  </c:pt>
                  <c:pt idx="662">
                    <c:v>0.16</c:v>
                  </c:pt>
                  <c:pt idx="663">
                    <c:v>0.16</c:v>
                  </c:pt>
                  <c:pt idx="664">
                    <c:v>0.16</c:v>
                  </c:pt>
                  <c:pt idx="665">
                    <c:v>0.16</c:v>
                  </c:pt>
                  <c:pt idx="666">
                    <c:v>0.16</c:v>
                  </c:pt>
                  <c:pt idx="667">
                    <c:v>0.16</c:v>
                  </c:pt>
                  <c:pt idx="668">
                    <c:v>0.16</c:v>
                  </c:pt>
                  <c:pt idx="669">
                    <c:v>0.16</c:v>
                  </c:pt>
                  <c:pt idx="670">
                    <c:v>0.16</c:v>
                  </c:pt>
                  <c:pt idx="671">
                    <c:v>0.16</c:v>
                  </c:pt>
                  <c:pt idx="672">
                    <c:v>0.16</c:v>
                  </c:pt>
                  <c:pt idx="673">
                    <c:v>0.16</c:v>
                  </c:pt>
                  <c:pt idx="674">
                    <c:v>0.16</c:v>
                  </c:pt>
                  <c:pt idx="675">
                    <c:v>0.16</c:v>
                  </c:pt>
                  <c:pt idx="676">
                    <c:v>0.17</c:v>
                  </c:pt>
                  <c:pt idx="677">
                    <c:v>0.17</c:v>
                  </c:pt>
                  <c:pt idx="678">
                    <c:v>0.17</c:v>
                  </c:pt>
                  <c:pt idx="679">
                    <c:v>0.17</c:v>
                  </c:pt>
                  <c:pt idx="680">
                    <c:v>0.17</c:v>
                  </c:pt>
                  <c:pt idx="681">
                    <c:v>0.17</c:v>
                  </c:pt>
                  <c:pt idx="682">
                    <c:v>0.17</c:v>
                  </c:pt>
                  <c:pt idx="683">
                    <c:v>0.17</c:v>
                  </c:pt>
                  <c:pt idx="684">
                    <c:v>0.17</c:v>
                  </c:pt>
                  <c:pt idx="685">
                    <c:v>0.17</c:v>
                  </c:pt>
                  <c:pt idx="686">
                    <c:v>0.17</c:v>
                  </c:pt>
                  <c:pt idx="687">
                    <c:v>0.17</c:v>
                  </c:pt>
                  <c:pt idx="688">
                    <c:v>0.17</c:v>
                  </c:pt>
                  <c:pt idx="689">
                    <c:v>0.17</c:v>
                  </c:pt>
                  <c:pt idx="690">
                    <c:v>0.17</c:v>
                  </c:pt>
                  <c:pt idx="691">
                    <c:v>0.17</c:v>
                  </c:pt>
                  <c:pt idx="692">
                    <c:v>0.17</c:v>
                  </c:pt>
                  <c:pt idx="693">
                    <c:v>0.17</c:v>
                  </c:pt>
                  <c:pt idx="694">
                    <c:v>0.17</c:v>
                  </c:pt>
                  <c:pt idx="695">
                    <c:v>0.17</c:v>
                  </c:pt>
                  <c:pt idx="696">
                    <c:v>0.17</c:v>
                  </c:pt>
                  <c:pt idx="697">
                    <c:v>0.17</c:v>
                  </c:pt>
                  <c:pt idx="698">
                    <c:v>0.17</c:v>
                  </c:pt>
                  <c:pt idx="699">
                    <c:v>0.17</c:v>
                  </c:pt>
                </c:lvl>
              </c:multiLvlStrCache>
            </c:multiLvlStrRef>
          </c:cat>
          <c:val>
            <c:numRef>
              <c:f>Sheet1!$B$2:$B$701</c:f>
              <c:numCache>
                <c:formatCode>General</c:formatCode>
                <c:ptCount val="700"/>
                <c:pt idx="0">
                  <c:v>-110.86957317119924</c:v>
                </c:pt>
                <c:pt idx="1">
                  <c:v>-105.42738540398146</c:v>
                </c:pt>
                <c:pt idx="2">
                  <c:v>-107.9567510869896</c:v>
                </c:pt>
                <c:pt idx="3">
                  <c:v>-111.52709855279647</c:v>
                </c:pt>
                <c:pt idx="4">
                  <c:v>-116.4280571967023</c:v>
                </c:pt>
                <c:pt idx="5">
                  <c:v>-105.46079175788607</c:v>
                </c:pt>
                <c:pt idx="6">
                  <c:v>-107.03950674542841</c:v>
                </c:pt>
                <c:pt idx="7">
                  <c:v>-114.64114484530539</c:v>
                </c:pt>
                <c:pt idx="8">
                  <c:v>-112.14019686064985</c:v>
                </c:pt>
                <c:pt idx="9">
                  <c:v>-102.5840560578758</c:v>
                </c:pt>
                <c:pt idx="10">
                  <c:v>-110.91536038128778</c:v>
                </c:pt>
                <c:pt idx="11">
                  <c:v>-116.66280834404557</c:v>
                </c:pt>
                <c:pt idx="12">
                  <c:v>-104.00770463718385</c:v>
                </c:pt>
                <c:pt idx="13">
                  <c:v>-105.52192349788378</c:v>
                </c:pt>
                <c:pt idx="14">
                  <c:v>-105.16262151299736</c:v>
                </c:pt>
                <c:pt idx="15">
                  <c:v>-101.35031892057027</c:v>
                </c:pt>
                <c:pt idx="16">
                  <c:v>-117.01294746126052</c:v>
                </c:pt>
                <c:pt idx="17">
                  <c:v>-126.30689209316114</c:v>
                </c:pt>
                <c:pt idx="18">
                  <c:v>-107.78390930344672</c:v>
                </c:pt>
                <c:pt idx="19">
                  <c:v>-131.3873513764339</c:v>
                </c:pt>
                <c:pt idx="20">
                  <c:v>-107.28350805338573</c:v>
                </c:pt>
                <c:pt idx="21">
                  <c:v>-118.5823880529494</c:v>
                </c:pt>
                <c:pt idx="22">
                  <c:v>-113.21073541445716</c:v>
                </c:pt>
                <c:pt idx="23">
                  <c:v>-110.70278521440379</c:v>
                </c:pt>
                <c:pt idx="24">
                  <c:v>-107.47343345197406</c:v>
                </c:pt>
                <c:pt idx="25">
                  <c:v>-107.26446446168778</c:v>
                </c:pt>
                <c:pt idx="26">
                  <c:v>-108.7406661431683</c:v>
                </c:pt>
                <c:pt idx="27">
                  <c:v>-115.03771317624008</c:v>
                </c:pt>
                <c:pt idx="28">
                  <c:v>-103.5081285897585</c:v>
                </c:pt>
                <c:pt idx="29">
                  <c:v>-109.91229483910183</c:v>
                </c:pt>
                <c:pt idx="30">
                  <c:v>-106.03615712196542</c:v>
                </c:pt>
                <c:pt idx="31">
                  <c:v>-105.64446509820498</c:v>
                </c:pt>
                <c:pt idx="32">
                  <c:v>-110.09357890471124</c:v>
                </c:pt>
                <c:pt idx="33">
                  <c:v>-108.24280893612864</c:v>
                </c:pt>
                <c:pt idx="34">
                  <c:v>-118.90376101997417</c:v>
                </c:pt>
                <c:pt idx="35">
                  <c:v>-108.50591216309114</c:v>
                </c:pt>
                <c:pt idx="36">
                  <c:v>-114.68358696032384</c:v>
                </c:pt>
                <c:pt idx="37">
                  <c:v>-102.84556007519093</c:v>
                </c:pt>
                <c:pt idx="38">
                  <c:v>-123.92834850437039</c:v>
                </c:pt>
                <c:pt idx="39">
                  <c:v>-102.38018218327238</c:v>
                </c:pt>
                <c:pt idx="40">
                  <c:v>-105.32211153682267</c:v>
                </c:pt>
                <c:pt idx="41">
                  <c:v>-107.30417714979473</c:v>
                </c:pt>
                <c:pt idx="42">
                  <c:v>-114.93407606368136</c:v>
                </c:pt>
                <c:pt idx="43">
                  <c:v>-104.12732712856848</c:v>
                </c:pt>
                <c:pt idx="44">
                  <c:v>-107.74968635185859</c:v>
                </c:pt>
                <c:pt idx="45">
                  <c:v>-113.37697721116552</c:v>
                </c:pt>
                <c:pt idx="46">
                  <c:v>-106.87110099617394</c:v>
                </c:pt>
                <c:pt idx="47">
                  <c:v>-114.53027770487493</c:v>
                </c:pt>
                <c:pt idx="48">
                  <c:v>-111.3797087656502</c:v>
                </c:pt>
                <c:pt idx="49">
                  <c:v>-106.05854511279753</c:v>
                </c:pt>
                <c:pt idx="50">
                  <c:v>-108.11739417916763</c:v>
                </c:pt>
                <c:pt idx="51">
                  <c:v>-104.47008215496783</c:v>
                </c:pt>
                <c:pt idx="52">
                  <c:v>-115.50478829557684</c:v>
                </c:pt>
                <c:pt idx="53">
                  <c:v>-104.8187170691769</c:v>
                </c:pt>
                <c:pt idx="54">
                  <c:v>-107.85675080243395</c:v>
                </c:pt>
                <c:pt idx="55">
                  <c:v>-111.46546588960553</c:v>
                </c:pt>
                <c:pt idx="56">
                  <c:v>-113.11994031855315</c:v>
                </c:pt>
                <c:pt idx="57">
                  <c:v>-111.11518185315538</c:v>
                </c:pt>
                <c:pt idx="58">
                  <c:v>-103.96345600517135</c:v>
                </c:pt>
                <c:pt idx="59">
                  <c:v>-111.32440424241932</c:v>
                </c:pt>
                <c:pt idx="60">
                  <c:v>-114.81140308096705</c:v>
                </c:pt>
                <c:pt idx="61">
                  <c:v>-109.40235026785717</c:v>
                </c:pt>
                <c:pt idx="62">
                  <c:v>-111.83966096367605</c:v>
                </c:pt>
                <c:pt idx="63">
                  <c:v>-110.8058189936895</c:v>
                </c:pt>
                <c:pt idx="64">
                  <c:v>-103.32552649256898</c:v>
                </c:pt>
                <c:pt idx="65">
                  <c:v>-105.67208856316947</c:v>
                </c:pt>
                <c:pt idx="66">
                  <c:v>-120.55233404482397</c:v>
                </c:pt>
                <c:pt idx="67">
                  <c:v>-114.91307238050302</c:v>
                </c:pt>
                <c:pt idx="68">
                  <c:v>-108.05232589844738</c:v>
                </c:pt>
                <c:pt idx="69">
                  <c:v>-107.08751966803737</c:v>
                </c:pt>
                <c:pt idx="70">
                  <c:v>-106.5091030192101</c:v>
                </c:pt>
                <c:pt idx="71">
                  <c:v>-100.92339889086163</c:v>
                </c:pt>
                <c:pt idx="72">
                  <c:v>-115.52152828662787</c:v>
                </c:pt>
                <c:pt idx="73">
                  <c:v>-108.96411430624016</c:v>
                </c:pt>
                <c:pt idx="74">
                  <c:v>-112.02362621254515</c:v>
                </c:pt>
                <c:pt idx="75">
                  <c:v>-111.50019821188528</c:v>
                </c:pt>
                <c:pt idx="76">
                  <c:v>-103.78993129006288</c:v>
                </c:pt>
                <c:pt idx="77">
                  <c:v>-112.32186316742053</c:v>
                </c:pt>
                <c:pt idx="78">
                  <c:v>-108.2690194757719</c:v>
                </c:pt>
                <c:pt idx="79">
                  <c:v>-108.26445643350395</c:v>
                </c:pt>
                <c:pt idx="80">
                  <c:v>-109.2077969921494</c:v>
                </c:pt>
                <c:pt idx="81">
                  <c:v>-106.07534948830484</c:v>
                </c:pt>
                <c:pt idx="82">
                  <c:v>-103.42041484992946</c:v>
                </c:pt>
                <c:pt idx="83">
                  <c:v>-111.39216150977917</c:v>
                </c:pt>
                <c:pt idx="84">
                  <c:v>-110.30555169942613</c:v>
                </c:pt>
                <c:pt idx="85">
                  <c:v>-104.07569043219745</c:v>
                </c:pt>
                <c:pt idx="86">
                  <c:v>-115.89749571162777</c:v>
                </c:pt>
                <c:pt idx="87">
                  <c:v>-117.42696484525334</c:v>
                </c:pt>
                <c:pt idx="88">
                  <c:v>-116.22337310737477</c:v>
                </c:pt>
                <c:pt idx="89">
                  <c:v>-108.60815517587378</c:v>
                </c:pt>
                <c:pt idx="90">
                  <c:v>-112.31184935301783</c:v>
                </c:pt>
                <c:pt idx="91">
                  <c:v>-106.91694209515771</c:v>
                </c:pt>
                <c:pt idx="92">
                  <c:v>-100.94192025802342</c:v>
                </c:pt>
                <c:pt idx="93">
                  <c:v>-109.3879390319873</c:v>
                </c:pt>
                <c:pt idx="94">
                  <c:v>-106.45652458275359</c:v>
                </c:pt>
                <c:pt idx="95">
                  <c:v>-105.74224424054398</c:v>
                </c:pt>
                <c:pt idx="96">
                  <c:v>-116.00931337184119</c:v>
                </c:pt>
                <c:pt idx="97">
                  <c:v>-102.2631987393598</c:v>
                </c:pt>
                <c:pt idx="98">
                  <c:v>-108.21581821401927</c:v>
                </c:pt>
                <c:pt idx="99">
                  <c:v>-111.65108068554605</c:v>
                </c:pt>
                <c:pt idx="100">
                  <c:v>-114.84630963152908</c:v>
                </c:pt>
                <c:pt idx="101">
                  <c:v>-110.36348786431313</c:v>
                </c:pt>
                <c:pt idx="102">
                  <c:v>-103.24549915516343</c:v>
                </c:pt>
                <c:pt idx="103">
                  <c:v>-106.80047611285175</c:v>
                </c:pt>
                <c:pt idx="104">
                  <c:v>-104.22854121867911</c:v>
                </c:pt>
                <c:pt idx="105">
                  <c:v>-105.04622498908589</c:v>
                </c:pt>
                <c:pt idx="106">
                  <c:v>-105.52528162810434</c:v>
                </c:pt>
                <c:pt idx="107">
                  <c:v>-105.00239087056464</c:v>
                </c:pt>
                <c:pt idx="108">
                  <c:v>-119.1929564832303</c:v>
                </c:pt>
                <c:pt idx="109">
                  <c:v>-105.98361105560032</c:v>
                </c:pt>
                <c:pt idx="110">
                  <c:v>-105.75370651903795</c:v>
                </c:pt>
                <c:pt idx="111">
                  <c:v>-0.9151720636399385</c:v>
                </c:pt>
                <c:pt idx="112">
                  <c:v>-128.20798055676167</c:v>
                </c:pt>
                <c:pt idx="113">
                  <c:v>-108.7761179795777</c:v>
                </c:pt>
                <c:pt idx="114">
                  <c:v>-104.86949121773233</c:v>
                </c:pt>
                <c:pt idx="115">
                  <c:v>-110.65204488330448</c:v>
                </c:pt>
                <c:pt idx="116">
                  <c:v>-114.16770633968157</c:v>
                </c:pt>
                <c:pt idx="117">
                  <c:v>-102.37187289603439</c:v>
                </c:pt>
                <c:pt idx="118">
                  <c:v>-108.55154338845921</c:v>
                </c:pt>
                <c:pt idx="119">
                  <c:v>-105.79650907778203</c:v>
                </c:pt>
                <c:pt idx="120">
                  <c:v>-111.5080668358646</c:v>
                </c:pt>
                <c:pt idx="121">
                  <c:v>-110.17760573863539</c:v>
                </c:pt>
                <c:pt idx="122">
                  <c:v>-115.13282592151297</c:v>
                </c:pt>
                <c:pt idx="123">
                  <c:v>-110.96708498769262</c:v>
                </c:pt>
                <c:pt idx="124">
                  <c:v>-107.07339823409397</c:v>
                </c:pt>
                <c:pt idx="125">
                  <c:v>-106.11568201063606</c:v>
                </c:pt>
                <c:pt idx="126">
                  <c:v>-124.32189964919667</c:v>
                </c:pt>
                <c:pt idx="127">
                  <c:v>-109.70861201468205</c:v>
                </c:pt>
                <c:pt idx="128">
                  <c:v>-110.53498519896941</c:v>
                </c:pt>
                <c:pt idx="129">
                  <c:v>-103.43746058329052</c:v>
                </c:pt>
                <c:pt idx="130">
                  <c:v>-103.66697224512993</c:v>
                </c:pt>
                <c:pt idx="131">
                  <c:v>-107.32085814814616</c:v>
                </c:pt>
                <c:pt idx="132">
                  <c:v>-106.26548328917946</c:v>
                </c:pt>
                <c:pt idx="133">
                  <c:v>-113.87145295716701</c:v>
                </c:pt>
                <c:pt idx="134">
                  <c:v>-120.61371348027917</c:v>
                </c:pt>
                <c:pt idx="135">
                  <c:v>-110.57718894630202</c:v>
                </c:pt>
                <c:pt idx="136">
                  <c:v>-108.12518754743186</c:v>
                </c:pt>
                <c:pt idx="137">
                  <c:v>-110.21401374486894</c:v>
                </c:pt>
                <c:pt idx="138">
                  <c:v>-106.39514087287486</c:v>
                </c:pt>
                <c:pt idx="139">
                  <c:v>-103.97530035212198</c:v>
                </c:pt>
                <c:pt idx="140">
                  <c:v>-108.2001882432278</c:v>
                </c:pt>
                <c:pt idx="141">
                  <c:v>-113.38431774690646</c:v>
                </c:pt>
                <c:pt idx="142">
                  <c:v>-116.08816790899075</c:v>
                </c:pt>
                <c:pt idx="143">
                  <c:v>-112.52582127980185</c:v>
                </c:pt>
                <c:pt idx="144">
                  <c:v>-108.70798940414463</c:v>
                </c:pt>
                <c:pt idx="145">
                  <c:v>-113.1232638974462</c:v>
                </c:pt>
                <c:pt idx="146">
                  <c:v>-101.7586559132371</c:v>
                </c:pt>
                <c:pt idx="147">
                  <c:v>-114.40908610150277</c:v>
                </c:pt>
                <c:pt idx="148">
                  <c:v>-106.18732404776834</c:v>
                </c:pt>
                <c:pt idx="149">
                  <c:v>-108.71715070849831</c:v>
                </c:pt>
                <c:pt idx="150">
                  <c:v>-103.66483965011503</c:v>
                </c:pt>
                <c:pt idx="151">
                  <c:v>-105.85683875175356</c:v>
                </c:pt>
                <c:pt idx="152">
                  <c:v>-106.15616913911906</c:v>
                </c:pt>
                <c:pt idx="153">
                  <c:v>-110.34925472112091</c:v>
                </c:pt>
                <c:pt idx="154">
                  <c:v>-109.29197725335774</c:v>
                </c:pt>
                <c:pt idx="155">
                  <c:v>-110.85424169604578</c:v>
                </c:pt>
                <c:pt idx="156">
                  <c:v>-107.63801691941565</c:v>
                </c:pt>
                <c:pt idx="157">
                  <c:v>-117.55794584692246</c:v>
                </c:pt>
                <c:pt idx="158">
                  <c:v>-104.39841403877274</c:v>
                </c:pt>
                <c:pt idx="159">
                  <c:v>-105.83513664175086</c:v>
                </c:pt>
                <c:pt idx="160">
                  <c:v>-102.02636467819593</c:v>
                </c:pt>
                <c:pt idx="161">
                  <c:v>-107.32489436388535</c:v>
                </c:pt>
                <c:pt idx="162">
                  <c:v>-118.5517529285279</c:v>
                </c:pt>
                <c:pt idx="163">
                  <c:v>-100.41648863349747</c:v>
                </c:pt>
                <c:pt idx="164">
                  <c:v>-103.04648809718734</c:v>
                </c:pt>
                <c:pt idx="165">
                  <c:v>-108.13604520516051</c:v>
                </c:pt>
                <c:pt idx="166">
                  <c:v>-99.23667274870567</c:v>
                </c:pt>
                <c:pt idx="167">
                  <c:v>-108.58296804305068</c:v>
                </c:pt>
                <c:pt idx="168">
                  <c:v>-105.09078503036122</c:v>
                </c:pt>
                <c:pt idx="169">
                  <c:v>-104.2553685436417</c:v>
                </c:pt>
                <c:pt idx="170">
                  <c:v>-121.90094248660174</c:v>
                </c:pt>
                <c:pt idx="171">
                  <c:v>-111.59348163730625</c:v>
                </c:pt>
                <c:pt idx="172">
                  <c:v>-109.16492887856803</c:v>
                </c:pt>
                <c:pt idx="173">
                  <c:v>-109.741726213361</c:v>
                </c:pt>
                <c:pt idx="174">
                  <c:v>-108.25144247180857</c:v>
                </c:pt>
                <c:pt idx="175">
                  <c:v>-109.58580086599258</c:v>
                </c:pt>
                <c:pt idx="176">
                  <c:v>-107.6657597195991</c:v>
                </c:pt>
                <c:pt idx="177">
                  <c:v>-113.27543402061154</c:v>
                </c:pt>
                <c:pt idx="178">
                  <c:v>-107.40216448020962</c:v>
                </c:pt>
                <c:pt idx="179">
                  <c:v>-115.08519689316685</c:v>
                </c:pt>
                <c:pt idx="180">
                  <c:v>-108.29507032175587</c:v>
                </c:pt>
                <c:pt idx="181">
                  <c:v>-108.66178078345614</c:v>
                </c:pt>
                <c:pt idx="182">
                  <c:v>-111.26762885662848</c:v>
                </c:pt>
                <c:pt idx="183">
                  <c:v>-107.94179804061342</c:v>
                </c:pt>
                <c:pt idx="184">
                  <c:v>-104.80932959087063</c:v>
                </c:pt>
                <c:pt idx="185">
                  <c:v>-112.22649239241144</c:v>
                </c:pt>
                <c:pt idx="186">
                  <c:v>-106.92169893353449</c:v>
                </c:pt>
                <c:pt idx="187">
                  <c:v>-111.66255112544991</c:v>
                </c:pt>
                <c:pt idx="188">
                  <c:v>-114.89682500038258</c:v>
                </c:pt>
                <c:pt idx="189">
                  <c:v>-112.76493021270703</c:v>
                </c:pt>
                <c:pt idx="190">
                  <c:v>-106.14130066707156</c:v>
                </c:pt>
                <c:pt idx="191">
                  <c:v>-104.14494996245693</c:v>
                </c:pt>
                <c:pt idx="192">
                  <c:v>-102.02298002776921</c:v>
                </c:pt>
                <c:pt idx="193">
                  <c:v>-108.87900889775791</c:v>
                </c:pt>
                <c:pt idx="194">
                  <c:v>-117.0795936474277</c:v>
                </c:pt>
                <c:pt idx="195">
                  <c:v>-113.14323552261851</c:v>
                </c:pt>
                <c:pt idx="196">
                  <c:v>-109.41839903650113</c:v>
                </c:pt>
                <c:pt idx="197">
                  <c:v>-105.24443262906225</c:v>
                </c:pt>
                <c:pt idx="198">
                  <c:v>-106.38470164751607</c:v>
                </c:pt>
                <c:pt idx="199">
                  <c:v>-112.75563518303446</c:v>
                </c:pt>
                <c:pt idx="200">
                  <c:v>-109.32519488950138</c:v>
                </c:pt>
                <c:pt idx="201">
                  <c:v>-106.94119645741364</c:v>
                </c:pt>
                <c:pt idx="202">
                  <c:v>-101.73779935709027</c:v>
                </c:pt>
                <c:pt idx="203">
                  <c:v>-114.46437117245262</c:v>
                </c:pt>
                <c:pt idx="204">
                  <c:v>-107.11297141497873</c:v>
                </c:pt>
                <c:pt idx="205">
                  <c:v>-108.2343777714611</c:v>
                </c:pt>
                <c:pt idx="206">
                  <c:v>-99.4010968092892</c:v>
                </c:pt>
                <c:pt idx="207">
                  <c:v>-103.30327370348363</c:v>
                </c:pt>
                <c:pt idx="208">
                  <c:v>-114.3839296078311</c:v>
                </c:pt>
                <c:pt idx="209">
                  <c:v>-104.03096356191449</c:v>
                </c:pt>
                <c:pt idx="210">
                  <c:v>-107.41369005099968</c:v>
                </c:pt>
                <c:pt idx="211">
                  <c:v>-116.38104280848762</c:v>
                </c:pt>
                <c:pt idx="212">
                  <c:v>-103.19963790137882</c:v>
                </c:pt>
                <c:pt idx="213">
                  <c:v>-101.80844792975094</c:v>
                </c:pt>
                <c:pt idx="214">
                  <c:v>-113.66590040467543</c:v>
                </c:pt>
                <c:pt idx="215">
                  <c:v>-107.94951934576432</c:v>
                </c:pt>
                <c:pt idx="216">
                  <c:v>-111.14645826625576</c:v>
                </c:pt>
                <c:pt idx="217">
                  <c:v>-115.56540041195227</c:v>
                </c:pt>
                <c:pt idx="218">
                  <c:v>-106.16385773516089</c:v>
                </c:pt>
                <c:pt idx="219">
                  <c:v>-111.39871978580737</c:v>
                </c:pt>
                <c:pt idx="220">
                  <c:v>-105.09916965101011</c:v>
                </c:pt>
                <c:pt idx="221">
                  <c:v>-112.68290135693346</c:v>
                </c:pt>
                <c:pt idx="222">
                  <c:v>-68.89294961044723</c:v>
                </c:pt>
                <c:pt idx="223">
                  <c:v>-108.4835036146865</c:v>
                </c:pt>
                <c:pt idx="224">
                  <c:v>-101.12150136212458</c:v>
                </c:pt>
                <c:pt idx="225">
                  <c:v>-111.85009484752555</c:v>
                </c:pt>
                <c:pt idx="226">
                  <c:v>-115.76961538361988</c:v>
                </c:pt>
                <c:pt idx="227">
                  <c:v>-114.2488732002202</c:v>
                </c:pt>
                <c:pt idx="228">
                  <c:v>-112.21860953533599</c:v>
                </c:pt>
                <c:pt idx="229">
                  <c:v>-113.28538858119148</c:v>
                </c:pt>
                <c:pt idx="230">
                  <c:v>-106.04284356220234</c:v>
                </c:pt>
                <c:pt idx="231">
                  <c:v>-108.52667098198725</c:v>
                </c:pt>
                <c:pt idx="232">
                  <c:v>-107.07658863594447</c:v>
                </c:pt>
                <c:pt idx="233">
                  <c:v>-111.46461158885215</c:v>
                </c:pt>
                <c:pt idx="234">
                  <c:v>-104.82607668642147</c:v>
                </c:pt>
                <c:pt idx="235">
                  <c:v>-112.17619658977213</c:v>
                </c:pt>
                <c:pt idx="236">
                  <c:v>-113.3361848520839</c:v>
                </c:pt>
                <c:pt idx="237">
                  <c:v>-104.36994332553968</c:v>
                </c:pt>
                <c:pt idx="238">
                  <c:v>-110.98053430470412</c:v>
                </c:pt>
                <c:pt idx="239">
                  <c:v>-127.86693890047255</c:v>
                </c:pt>
                <c:pt idx="240">
                  <c:v>-102.88406286072855</c:v>
                </c:pt>
                <c:pt idx="241">
                  <c:v>-100.706685540013</c:v>
                </c:pt>
                <c:pt idx="242">
                  <c:v>-106.58543939762441</c:v>
                </c:pt>
                <c:pt idx="243">
                  <c:v>-105.03281185715232</c:v>
                </c:pt>
                <c:pt idx="244">
                  <c:v>-113.0764652494521</c:v>
                </c:pt>
                <c:pt idx="245">
                  <c:v>-109.9027948754354</c:v>
                </c:pt>
                <c:pt idx="246">
                  <c:v>-109.33091536302727</c:v>
                </c:pt>
                <c:pt idx="247">
                  <c:v>-106.44730437805322</c:v>
                </c:pt>
                <c:pt idx="248">
                  <c:v>-110.4496534593673</c:v>
                </c:pt>
                <c:pt idx="249">
                  <c:v>-111.40624867971006</c:v>
                </c:pt>
                <c:pt idx="250">
                  <c:v>-110.12563354020122</c:v>
                </c:pt>
                <c:pt idx="251">
                  <c:v>-107.87443709377558</c:v>
                </c:pt>
                <c:pt idx="252">
                  <c:v>-105.71834647366262</c:v>
                </c:pt>
                <c:pt idx="253">
                  <c:v>-113.9749157221652</c:v>
                </c:pt>
                <c:pt idx="254">
                  <c:v>-105.37338224278011</c:v>
                </c:pt>
                <c:pt idx="255">
                  <c:v>-109.22593434666055</c:v>
                </c:pt>
                <c:pt idx="256">
                  <c:v>-109.63485513841285</c:v>
                </c:pt>
                <c:pt idx="257">
                  <c:v>-110.5746364024027</c:v>
                </c:pt>
                <c:pt idx="258">
                  <c:v>-114.05689911362252</c:v>
                </c:pt>
                <c:pt idx="259">
                  <c:v>-107.15029216722363</c:v>
                </c:pt>
                <c:pt idx="260">
                  <c:v>-109.49757860561967</c:v>
                </c:pt>
                <c:pt idx="261">
                  <c:v>-109.76433715354753</c:v>
                </c:pt>
                <c:pt idx="262">
                  <c:v>-114.86446639724181</c:v>
                </c:pt>
                <c:pt idx="263">
                  <c:v>-119.22991225276796</c:v>
                </c:pt>
                <c:pt idx="264">
                  <c:v>-107.0980739795727</c:v>
                </c:pt>
                <c:pt idx="265">
                  <c:v>-117.32720685194923</c:v>
                </c:pt>
                <c:pt idx="266">
                  <c:v>-105.25960051906205</c:v>
                </c:pt>
                <c:pt idx="267">
                  <c:v>-110.77517227585373</c:v>
                </c:pt>
                <c:pt idx="268">
                  <c:v>-114.36847265310257</c:v>
                </c:pt>
                <c:pt idx="269">
                  <c:v>-111.05598323610748</c:v>
                </c:pt>
                <c:pt idx="270">
                  <c:v>-110.57905782235758</c:v>
                </c:pt>
                <c:pt idx="271">
                  <c:v>-116.68157877807644</c:v>
                </c:pt>
                <c:pt idx="272">
                  <c:v>-113.22548506237919</c:v>
                </c:pt>
                <c:pt idx="273">
                  <c:v>-113.36663610387822</c:v>
                </c:pt>
                <c:pt idx="274">
                  <c:v>-112.6407975463118</c:v>
                </c:pt>
                <c:pt idx="275">
                  <c:v>-115.57073265638805</c:v>
                </c:pt>
                <c:pt idx="276">
                  <c:v>-126.45423550228352</c:v>
                </c:pt>
                <c:pt idx="277">
                  <c:v>-115.97121209102257</c:v>
                </c:pt>
                <c:pt idx="278">
                  <c:v>-116.2277048595198</c:v>
                </c:pt>
                <c:pt idx="279">
                  <c:v>-107.67979228364702</c:v>
                </c:pt>
                <c:pt idx="280">
                  <c:v>-110.23389100738231</c:v>
                </c:pt>
                <c:pt idx="281">
                  <c:v>-103.61523550626542</c:v>
                </c:pt>
                <c:pt idx="282">
                  <c:v>-106.00477939671363</c:v>
                </c:pt>
                <c:pt idx="283">
                  <c:v>-111.09079212420048</c:v>
                </c:pt>
                <c:pt idx="284">
                  <c:v>-104.47690549291593</c:v>
                </c:pt>
                <c:pt idx="285">
                  <c:v>-107.63957322084491</c:v>
                </c:pt>
                <c:pt idx="286">
                  <c:v>-107.85029132198187</c:v>
                </c:pt>
                <c:pt idx="287">
                  <c:v>-114.10627076657491</c:v>
                </c:pt>
                <c:pt idx="288">
                  <c:v>-104.58897808363135</c:v>
                </c:pt>
                <c:pt idx="289">
                  <c:v>-113.52251659958533</c:v>
                </c:pt>
                <c:pt idx="290">
                  <c:v>-113.47856251065578</c:v>
                </c:pt>
                <c:pt idx="291">
                  <c:v>-104.20077746047836</c:v>
                </c:pt>
                <c:pt idx="292">
                  <c:v>-105.25708589303902</c:v>
                </c:pt>
                <c:pt idx="293">
                  <c:v>-104.66190007976016</c:v>
                </c:pt>
                <c:pt idx="294">
                  <c:v>-102.4767236931169</c:v>
                </c:pt>
                <c:pt idx="295">
                  <c:v>-105.61172055341736</c:v>
                </c:pt>
                <c:pt idx="296">
                  <c:v>-113.92400636718287</c:v>
                </c:pt>
                <c:pt idx="297">
                  <c:v>-112.87488655621868</c:v>
                </c:pt>
                <c:pt idx="298">
                  <c:v>-114.44847304518667</c:v>
                </c:pt>
                <c:pt idx="299">
                  <c:v>-116.41551451762516</c:v>
                </c:pt>
                <c:pt idx="300">
                  <c:v>-110.97035242210409</c:v>
                </c:pt>
                <c:pt idx="301">
                  <c:v>-107.17169946352435</c:v>
                </c:pt>
                <c:pt idx="302">
                  <c:v>-115.53045555571659</c:v>
                </c:pt>
                <c:pt idx="303">
                  <c:v>-106.71712162778351</c:v>
                </c:pt>
                <c:pt idx="304">
                  <c:v>-114.9382633640022</c:v>
                </c:pt>
                <c:pt idx="305">
                  <c:v>-110.93695958661527</c:v>
                </c:pt>
                <c:pt idx="306">
                  <c:v>-110.72913006809134</c:v>
                </c:pt>
                <c:pt idx="307">
                  <c:v>-110.06041625356646</c:v>
                </c:pt>
                <c:pt idx="308">
                  <c:v>-106.70173140433585</c:v>
                </c:pt>
                <c:pt idx="309">
                  <c:v>-108.20157700018649</c:v>
                </c:pt>
                <c:pt idx="310">
                  <c:v>-102.45792445373071</c:v>
                </c:pt>
                <c:pt idx="311">
                  <c:v>-112.68728065334773</c:v>
                </c:pt>
                <c:pt idx="312">
                  <c:v>-115.70959582962095</c:v>
                </c:pt>
                <c:pt idx="313">
                  <c:v>-104.3458648276728</c:v>
                </c:pt>
                <c:pt idx="314">
                  <c:v>-110.53317057863848</c:v>
                </c:pt>
                <c:pt idx="315">
                  <c:v>-114.14848458025887</c:v>
                </c:pt>
                <c:pt idx="316">
                  <c:v>-107.89234741970289</c:v>
                </c:pt>
                <c:pt idx="317">
                  <c:v>-103.52229986981746</c:v>
                </c:pt>
                <c:pt idx="318">
                  <c:v>-104.4910496730877</c:v>
                </c:pt>
                <c:pt idx="319">
                  <c:v>-107.30347922786083</c:v>
                </c:pt>
                <c:pt idx="320">
                  <c:v>-102.68731474984091</c:v>
                </c:pt>
                <c:pt idx="321">
                  <c:v>-112.11622270798978</c:v>
                </c:pt>
                <c:pt idx="322">
                  <c:v>-110.27080881348078</c:v>
                </c:pt>
                <c:pt idx="323">
                  <c:v>-114.53529543688379</c:v>
                </c:pt>
                <c:pt idx="324">
                  <c:v>-104.2870491950797</c:v>
                </c:pt>
                <c:pt idx="325">
                  <c:v>-104.52627506285786</c:v>
                </c:pt>
                <c:pt idx="326">
                  <c:v>-109.7802667721112</c:v>
                </c:pt>
                <c:pt idx="327">
                  <c:v>-133.4901523235291</c:v>
                </c:pt>
                <c:pt idx="328">
                  <c:v>-108.37584015601391</c:v>
                </c:pt>
                <c:pt idx="329">
                  <c:v>-114.54677173326141</c:v>
                </c:pt>
                <c:pt idx="330">
                  <c:v>-101.80901222700138</c:v>
                </c:pt>
                <c:pt idx="331">
                  <c:v>-104.03634970206443</c:v>
                </c:pt>
                <c:pt idx="332">
                  <c:v>-105.01295568223456</c:v>
                </c:pt>
                <c:pt idx="333">
                  <c:v>-74.9757003800929</c:v>
                </c:pt>
                <c:pt idx="334">
                  <c:v>-112.79432623868914</c:v>
                </c:pt>
                <c:pt idx="335">
                  <c:v>-107.68977704615622</c:v>
                </c:pt>
                <c:pt idx="336">
                  <c:v>-112.38221308403695</c:v>
                </c:pt>
                <c:pt idx="337">
                  <c:v>-110.85687447812066</c:v>
                </c:pt>
                <c:pt idx="338">
                  <c:v>-110.16259051270438</c:v>
                </c:pt>
                <c:pt idx="339">
                  <c:v>-112.50033966442983</c:v>
                </c:pt>
                <c:pt idx="340">
                  <c:v>-110.54890117781093</c:v>
                </c:pt>
                <c:pt idx="341">
                  <c:v>-108.19025883257393</c:v>
                </c:pt>
                <c:pt idx="342">
                  <c:v>-109.87563960759259</c:v>
                </c:pt>
                <c:pt idx="343">
                  <c:v>-119.76960761602149</c:v>
                </c:pt>
                <c:pt idx="344">
                  <c:v>-102.49167650104255</c:v>
                </c:pt>
                <c:pt idx="345">
                  <c:v>-107.0965508814993</c:v>
                </c:pt>
                <c:pt idx="346">
                  <c:v>-103.94358222066826</c:v>
                </c:pt>
                <c:pt idx="347">
                  <c:v>-122.35090010069611</c:v>
                </c:pt>
                <c:pt idx="348">
                  <c:v>-105.69029862834945</c:v>
                </c:pt>
                <c:pt idx="349">
                  <c:v>-104.9407373696904</c:v>
                </c:pt>
                <c:pt idx="350">
                  <c:v>-111.3826633763223</c:v>
                </c:pt>
                <c:pt idx="351">
                  <c:v>-102.84904210461255</c:v>
                </c:pt>
                <c:pt idx="352">
                  <c:v>-107.92862646490198</c:v>
                </c:pt>
                <c:pt idx="353">
                  <c:v>-110.45736587492071</c:v>
                </c:pt>
                <c:pt idx="354">
                  <c:v>-115.295721518411</c:v>
                </c:pt>
                <c:pt idx="355">
                  <c:v>-110.54518453275736</c:v>
                </c:pt>
                <c:pt idx="356">
                  <c:v>-104.48116719529538</c:v>
                </c:pt>
                <c:pt idx="357">
                  <c:v>-107.02204890858839</c:v>
                </c:pt>
                <c:pt idx="358">
                  <c:v>-112.44001007078666</c:v>
                </c:pt>
                <c:pt idx="359">
                  <c:v>-121.95591668186515</c:v>
                </c:pt>
                <c:pt idx="360">
                  <c:v>-102.94485948823888</c:v>
                </c:pt>
                <c:pt idx="361">
                  <c:v>-105.68746924357575</c:v>
                </c:pt>
                <c:pt idx="362">
                  <c:v>-115.25445851998624</c:v>
                </c:pt>
                <c:pt idx="363">
                  <c:v>-102.8688231267312</c:v>
                </c:pt>
                <c:pt idx="364">
                  <c:v>-103.52861364446484</c:v>
                </c:pt>
                <c:pt idx="365">
                  <c:v>-110.70526911226489</c:v>
                </c:pt>
                <c:pt idx="366">
                  <c:v>-104.78130123739561</c:v>
                </c:pt>
                <c:pt idx="367">
                  <c:v>-112.32145934862059</c:v>
                </c:pt>
                <c:pt idx="368">
                  <c:v>-114.75881274583237</c:v>
                </c:pt>
                <c:pt idx="369">
                  <c:v>-100.39400381820215</c:v>
                </c:pt>
                <c:pt idx="370">
                  <c:v>-115.1752995856895</c:v>
                </c:pt>
                <c:pt idx="371">
                  <c:v>-103.80264215643206</c:v>
                </c:pt>
                <c:pt idx="372">
                  <c:v>-103.51503486013124</c:v>
                </c:pt>
                <c:pt idx="373">
                  <c:v>-105.97535999385464</c:v>
                </c:pt>
                <c:pt idx="374">
                  <c:v>-108.56320635614014</c:v>
                </c:pt>
                <c:pt idx="375">
                  <c:v>-100.92356774505981</c:v>
                </c:pt>
                <c:pt idx="376">
                  <c:v>-122.79559358239754</c:v>
                </c:pt>
                <c:pt idx="377">
                  <c:v>-105.19203931206776</c:v>
                </c:pt>
                <c:pt idx="378">
                  <c:v>-106.00909878119103</c:v>
                </c:pt>
                <c:pt idx="379">
                  <c:v>-108.08143937346836</c:v>
                </c:pt>
                <c:pt idx="380">
                  <c:v>-106.57527467241411</c:v>
                </c:pt>
                <c:pt idx="381">
                  <c:v>-119.77557881039844</c:v>
                </c:pt>
                <c:pt idx="382">
                  <c:v>-107.03596413335376</c:v>
                </c:pt>
                <c:pt idx="383">
                  <c:v>-109.49437659391167</c:v>
                </c:pt>
                <c:pt idx="384">
                  <c:v>-105.17606327697295</c:v>
                </c:pt>
                <c:pt idx="385">
                  <c:v>-106.75729308743391</c:v>
                </c:pt>
                <c:pt idx="386">
                  <c:v>-122.57614061821408</c:v>
                </c:pt>
                <c:pt idx="387">
                  <c:v>-109.38318983835559</c:v>
                </c:pt>
                <c:pt idx="388">
                  <c:v>-102.71976229201378</c:v>
                </c:pt>
                <c:pt idx="389">
                  <c:v>-107.06733970063709</c:v>
                </c:pt>
                <c:pt idx="390">
                  <c:v>-100.89100207399012</c:v>
                </c:pt>
                <c:pt idx="391">
                  <c:v>-107.2489232846932</c:v>
                </c:pt>
                <c:pt idx="392">
                  <c:v>-103.37919044500441</c:v>
                </c:pt>
                <c:pt idx="393">
                  <c:v>-119.65900689679451</c:v>
                </c:pt>
                <c:pt idx="394">
                  <c:v>-105.28658804685917</c:v>
                </c:pt>
                <c:pt idx="395">
                  <c:v>-103.47553526733245</c:v>
                </c:pt>
                <c:pt idx="396">
                  <c:v>-104.36226081031782</c:v>
                </c:pt>
                <c:pt idx="397">
                  <c:v>-102.68534289841311</c:v>
                </c:pt>
                <c:pt idx="398">
                  <c:v>-107.92966129492264</c:v>
                </c:pt>
                <c:pt idx="399">
                  <c:v>-118.76887518065836</c:v>
                </c:pt>
                <c:pt idx="400">
                  <c:v>-102.14756297451599</c:v>
                </c:pt>
                <c:pt idx="401">
                  <c:v>-110.80136160504424</c:v>
                </c:pt>
                <c:pt idx="402">
                  <c:v>-109.35122569946502</c:v>
                </c:pt>
                <c:pt idx="403">
                  <c:v>-105.03818603540341</c:v>
                </c:pt>
                <c:pt idx="404">
                  <c:v>-103.30744810113211</c:v>
                </c:pt>
                <c:pt idx="405">
                  <c:v>-109.04882104418355</c:v>
                </c:pt>
                <c:pt idx="406">
                  <c:v>-106.2240968423308</c:v>
                </c:pt>
                <c:pt idx="407">
                  <c:v>-106.66697653367109</c:v>
                </c:pt>
                <c:pt idx="408">
                  <c:v>-105.57585704001609</c:v>
                </c:pt>
                <c:pt idx="409">
                  <c:v>-121.36394136498774</c:v>
                </c:pt>
                <c:pt idx="410">
                  <c:v>-114.19424703519398</c:v>
                </c:pt>
                <c:pt idx="411">
                  <c:v>-107.77450026224352</c:v>
                </c:pt>
                <c:pt idx="412">
                  <c:v>-106.90972381026747</c:v>
                </c:pt>
                <c:pt idx="413">
                  <c:v>-100.5986240177703</c:v>
                </c:pt>
                <c:pt idx="414">
                  <c:v>-105.9945745871648</c:v>
                </c:pt>
                <c:pt idx="415">
                  <c:v>-102.60197344831185</c:v>
                </c:pt>
                <c:pt idx="416">
                  <c:v>-105.97443047981002</c:v>
                </c:pt>
                <c:pt idx="417">
                  <c:v>-117.4591794656746</c:v>
                </c:pt>
                <c:pt idx="418">
                  <c:v>-102.71475261948494</c:v>
                </c:pt>
                <c:pt idx="419">
                  <c:v>-112.91394110977173</c:v>
                </c:pt>
                <c:pt idx="420">
                  <c:v>-110.3357885662789</c:v>
                </c:pt>
                <c:pt idx="421">
                  <c:v>-113.70826965442092</c:v>
                </c:pt>
                <c:pt idx="422">
                  <c:v>-113.08948470862283</c:v>
                </c:pt>
                <c:pt idx="423">
                  <c:v>-115.4951640610324</c:v>
                </c:pt>
                <c:pt idx="424">
                  <c:v>-116.2232864381692</c:v>
                </c:pt>
                <c:pt idx="425">
                  <c:v>-104.91106066291277</c:v>
                </c:pt>
                <c:pt idx="426">
                  <c:v>-104.30421845223609</c:v>
                </c:pt>
                <c:pt idx="427">
                  <c:v>-112.08205418258466</c:v>
                </c:pt>
                <c:pt idx="428">
                  <c:v>-111.04937309870695</c:v>
                </c:pt>
                <c:pt idx="429">
                  <c:v>-106.96481158660931</c:v>
                </c:pt>
                <c:pt idx="430">
                  <c:v>-115.35577568194496</c:v>
                </c:pt>
                <c:pt idx="431">
                  <c:v>-105.02251592216791</c:v>
                </c:pt>
                <c:pt idx="432">
                  <c:v>-132.82951551566305</c:v>
                </c:pt>
                <c:pt idx="433">
                  <c:v>-117.50001917669785</c:v>
                </c:pt>
                <c:pt idx="434">
                  <c:v>-115.89658969967974</c:v>
                </c:pt>
                <c:pt idx="435">
                  <c:v>-108.17032261265564</c:v>
                </c:pt>
                <c:pt idx="436">
                  <c:v>-102.15293124573114</c:v>
                </c:pt>
                <c:pt idx="437">
                  <c:v>-103.825218727575</c:v>
                </c:pt>
                <c:pt idx="438">
                  <c:v>-113.20094318817493</c:v>
                </c:pt>
                <c:pt idx="439">
                  <c:v>-114.10937324312593</c:v>
                </c:pt>
                <c:pt idx="440">
                  <c:v>-112.53029631819116</c:v>
                </c:pt>
                <c:pt idx="441">
                  <c:v>-102.71928720932188</c:v>
                </c:pt>
                <c:pt idx="442">
                  <c:v>-101.78450976434137</c:v>
                </c:pt>
                <c:pt idx="443">
                  <c:v>-115.42807782817327</c:v>
                </c:pt>
                <c:pt idx="444">
                  <c:v>-110.74083817104977</c:v>
                </c:pt>
                <c:pt idx="445">
                  <c:v>-109.86083249867052</c:v>
                </c:pt>
                <c:pt idx="446">
                  <c:v>-106.5102687090592</c:v>
                </c:pt>
                <c:pt idx="447">
                  <c:v>-106.97478926061132</c:v>
                </c:pt>
                <c:pt idx="448">
                  <c:v>-118.45003550949608</c:v>
                </c:pt>
                <c:pt idx="449">
                  <c:v>-107.44046536686767</c:v>
                </c:pt>
                <c:pt idx="450">
                  <c:v>-109.67172035485993</c:v>
                </c:pt>
                <c:pt idx="451">
                  <c:v>-102.61999749865265</c:v>
                </c:pt>
                <c:pt idx="452">
                  <c:v>-102.39158198324853</c:v>
                </c:pt>
                <c:pt idx="453">
                  <c:v>-102.33039274291053</c:v>
                </c:pt>
                <c:pt idx="454">
                  <c:v>-106.4055772481357</c:v>
                </c:pt>
                <c:pt idx="455">
                  <c:v>-112.36345300974209</c:v>
                </c:pt>
                <c:pt idx="456">
                  <c:v>-110.949674810106</c:v>
                </c:pt>
                <c:pt idx="457">
                  <c:v>-106.86388110509513</c:v>
                </c:pt>
                <c:pt idx="458">
                  <c:v>-106.27028601440819</c:v>
                </c:pt>
                <c:pt idx="459">
                  <c:v>-107.14731109258014</c:v>
                </c:pt>
                <c:pt idx="460">
                  <c:v>-112.56570773178464</c:v>
                </c:pt>
                <c:pt idx="461">
                  <c:v>-106.77675532117276</c:v>
                </c:pt>
                <c:pt idx="462">
                  <c:v>-105.67939783120147</c:v>
                </c:pt>
                <c:pt idx="463">
                  <c:v>-102.77213756935559</c:v>
                </c:pt>
                <c:pt idx="464">
                  <c:v>-108.24594262052767</c:v>
                </c:pt>
                <c:pt idx="465">
                  <c:v>-110.80603061048242</c:v>
                </c:pt>
                <c:pt idx="466">
                  <c:v>-109.09632030660171</c:v>
                </c:pt>
                <c:pt idx="467">
                  <c:v>-114.3214350946962</c:v>
                </c:pt>
                <c:pt idx="468">
                  <c:v>-109.45196358398337</c:v>
                </c:pt>
                <c:pt idx="469">
                  <c:v>-100.18040941071683</c:v>
                </c:pt>
                <c:pt idx="470">
                  <c:v>-108.77729533804221</c:v>
                </c:pt>
                <c:pt idx="471">
                  <c:v>-106.4542270165257</c:v>
                </c:pt>
                <c:pt idx="472">
                  <c:v>-104.31980505842708</c:v>
                </c:pt>
                <c:pt idx="473">
                  <c:v>-110.55784230752464</c:v>
                </c:pt>
                <c:pt idx="474">
                  <c:v>-105.8153072663785</c:v>
                </c:pt>
                <c:pt idx="475">
                  <c:v>-111.29963983100669</c:v>
                </c:pt>
                <c:pt idx="476">
                  <c:v>-105.95983955175173</c:v>
                </c:pt>
                <c:pt idx="477">
                  <c:v>-124.72213796322555</c:v>
                </c:pt>
                <c:pt idx="478">
                  <c:v>-106.99169801847957</c:v>
                </c:pt>
                <c:pt idx="479">
                  <c:v>-104.82969772889753</c:v>
                </c:pt>
                <c:pt idx="480">
                  <c:v>-102.86335878482952</c:v>
                </c:pt>
                <c:pt idx="481">
                  <c:v>-102.67856036297255</c:v>
                </c:pt>
                <c:pt idx="482">
                  <c:v>-107.69714974762604</c:v>
                </c:pt>
                <c:pt idx="483">
                  <c:v>-114.16332046290883</c:v>
                </c:pt>
                <c:pt idx="484">
                  <c:v>-104.77157667419388</c:v>
                </c:pt>
                <c:pt idx="485">
                  <c:v>-113.67972388764434</c:v>
                </c:pt>
                <c:pt idx="486">
                  <c:v>-107.59916662095509</c:v>
                </c:pt>
                <c:pt idx="487">
                  <c:v>-106.2697338557095</c:v>
                </c:pt>
                <c:pt idx="488">
                  <c:v>-103.2166981853695</c:v>
                </c:pt>
                <c:pt idx="489">
                  <c:v>-111.41367001260419</c:v>
                </c:pt>
                <c:pt idx="490">
                  <c:v>-110.98676277504086</c:v>
                </c:pt>
                <c:pt idx="491">
                  <c:v>-119.20685163738904</c:v>
                </c:pt>
                <c:pt idx="492">
                  <c:v>-111.82528151868064</c:v>
                </c:pt>
                <c:pt idx="493">
                  <c:v>-104.5964532393611</c:v>
                </c:pt>
                <c:pt idx="494">
                  <c:v>-107.12509926259544</c:v>
                </c:pt>
                <c:pt idx="495">
                  <c:v>-110.3514048973736</c:v>
                </c:pt>
                <c:pt idx="496">
                  <c:v>-102.27743022755911</c:v>
                </c:pt>
                <c:pt idx="497">
                  <c:v>-118.4313499408067</c:v>
                </c:pt>
                <c:pt idx="498">
                  <c:v>-105.61519944244017</c:v>
                </c:pt>
                <c:pt idx="499">
                  <c:v>-122.40385004950164</c:v>
                </c:pt>
                <c:pt idx="500">
                  <c:v>-103.14618222292376</c:v>
                </c:pt>
                <c:pt idx="501">
                  <c:v>-118.73307901547503</c:v>
                </c:pt>
                <c:pt idx="502">
                  <c:v>-130.64096258654422</c:v>
                </c:pt>
                <c:pt idx="503">
                  <c:v>-118.81153662723511</c:v>
                </c:pt>
                <c:pt idx="504">
                  <c:v>-113.05315557114689</c:v>
                </c:pt>
                <c:pt idx="505">
                  <c:v>-107.06358044857006</c:v>
                </c:pt>
                <c:pt idx="506">
                  <c:v>-107.43887017121827</c:v>
                </c:pt>
                <c:pt idx="507">
                  <c:v>-113.27574686574698</c:v>
                </c:pt>
                <c:pt idx="508">
                  <c:v>-106.60853469720757</c:v>
                </c:pt>
                <c:pt idx="509">
                  <c:v>-113.94628621492627</c:v>
                </c:pt>
                <c:pt idx="510">
                  <c:v>-111.58759510112526</c:v>
                </c:pt>
                <c:pt idx="511">
                  <c:v>-133.2543755142952</c:v>
                </c:pt>
                <c:pt idx="512">
                  <c:v>-112.54048971290254</c:v>
                </c:pt>
                <c:pt idx="513">
                  <c:v>-102.35712896035464</c:v>
                </c:pt>
                <c:pt idx="514">
                  <c:v>-106.95999411074295</c:v>
                </c:pt>
                <c:pt idx="515">
                  <c:v>-114.93099420732263</c:v>
                </c:pt>
                <c:pt idx="516">
                  <c:v>-110.57723503702128</c:v>
                </c:pt>
                <c:pt idx="517">
                  <c:v>-108.85644555231258</c:v>
                </c:pt>
                <c:pt idx="518">
                  <c:v>-106.62334272914936</c:v>
                </c:pt>
                <c:pt idx="519">
                  <c:v>-109.89411342967023</c:v>
                </c:pt>
                <c:pt idx="520">
                  <c:v>-108.8769813963384</c:v>
                </c:pt>
                <c:pt idx="521">
                  <c:v>-108.87512429629618</c:v>
                </c:pt>
                <c:pt idx="522">
                  <c:v>-114.0519989483387</c:v>
                </c:pt>
                <c:pt idx="523">
                  <c:v>-107.51734695858812</c:v>
                </c:pt>
                <c:pt idx="524">
                  <c:v>-107.26387297877739</c:v>
                </c:pt>
                <c:pt idx="525">
                  <c:v>-111.86889404753133</c:v>
                </c:pt>
                <c:pt idx="526">
                  <c:v>-111.0784231640771</c:v>
                </c:pt>
                <c:pt idx="527">
                  <c:v>-115.03081291972458</c:v>
                </c:pt>
                <c:pt idx="528">
                  <c:v>-104.07462728351558</c:v>
                </c:pt>
                <c:pt idx="529">
                  <c:v>-105.32550044967348</c:v>
                </c:pt>
                <c:pt idx="530">
                  <c:v>-117.7823068758332</c:v>
                </c:pt>
                <c:pt idx="531">
                  <c:v>-108.655672945537</c:v>
                </c:pt>
                <c:pt idx="532">
                  <c:v>-101.60097176358806</c:v>
                </c:pt>
                <c:pt idx="533">
                  <c:v>-110.41673745662756</c:v>
                </c:pt>
                <c:pt idx="534">
                  <c:v>-105.19018314871958</c:v>
                </c:pt>
                <c:pt idx="535">
                  <c:v>-108.50322764159357</c:v>
                </c:pt>
                <c:pt idx="536">
                  <c:v>-112.75279582465012</c:v>
                </c:pt>
                <c:pt idx="537">
                  <c:v>-109.3444773823312</c:v>
                </c:pt>
                <c:pt idx="538">
                  <c:v>-111.63044951817079</c:v>
                </c:pt>
                <c:pt idx="539">
                  <c:v>-103.94597854957323</c:v>
                </c:pt>
                <c:pt idx="540">
                  <c:v>-103.62692490836483</c:v>
                </c:pt>
                <c:pt idx="541">
                  <c:v>-109.65138344413114</c:v>
                </c:pt>
                <c:pt idx="542">
                  <c:v>-100.24308805617027</c:v>
                </c:pt>
                <c:pt idx="543">
                  <c:v>-104.66038892513497</c:v>
                </c:pt>
                <c:pt idx="544">
                  <c:v>-106.81254984128037</c:v>
                </c:pt>
                <c:pt idx="545">
                  <c:v>-109.76888166261128</c:v>
                </c:pt>
                <c:pt idx="546">
                  <c:v>-111.3422025065337</c:v>
                </c:pt>
                <c:pt idx="547">
                  <c:v>-104.69052230408478</c:v>
                </c:pt>
                <c:pt idx="548">
                  <c:v>-106.35852620624016</c:v>
                </c:pt>
                <c:pt idx="549">
                  <c:v>-117.18717609051836</c:v>
                </c:pt>
                <c:pt idx="550">
                  <c:v>-107.06429607615433</c:v>
                </c:pt>
                <c:pt idx="551">
                  <c:v>-119.55830896210182</c:v>
                </c:pt>
                <c:pt idx="552">
                  <c:v>-106.50251435676365</c:v>
                </c:pt>
                <c:pt idx="553">
                  <c:v>-105.09104297745907</c:v>
                </c:pt>
                <c:pt idx="554">
                  <c:v>-120.4762166100083</c:v>
                </c:pt>
                <c:pt idx="555">
                  <c:v>-105.59735238258769</c:v>
                </c:pt>
                <c:pt idx="556">
                  <c:v>-108.48520587334562</c:v>
                </c:pt>
                <c:pt idx="557">
                  <c:v>-106.40201545994788</c:v>
                </c:pt>
                <c:pt idx="558">
                  <c:v>-107.55768479854365</c:v>
                </c:pt>
                <c:pt idx="559">
                  <c:v>-103.39028620952891</c:v>
                </c:pt>
                <c:pt idx="560">
                  <c:v>-106.92756050874068</c:v>
                </c:pt>
                <c:pt idx="561">
                  <c:v>-105.8223207979089</c:v>
                </c:pt>
                <c:pt idx="562">
                  <c:v>-110.96955933747772</c:v>
                </c:pt>
                <c:pt idx="563">
                  <c:v>-108.22841982147607</c:v>
                </c:pt>
                <c:pt idx="564">
                  <c:v>-108.21007150766732</c:v>
                </c:pt>
                <c:pt idx="565">
                  <c:v>-108.63391049469065</c:v>
                </c:pt>
                <c:pt idx="566">
                  <c:v>-109.41008112857097</c:v>
                </c:pt>
                <c:pt idx="567">
                  <c:v>-108.20455338756823</c:v>
                </c:pt>
                <c:pt idx="568">
                  <c:v>-106.16088800710475</c:v>
                </c:pt>
                <c:pt idx="569">
                  <c:v>-108.65130684223148</c:v>
                </c:pt>
                <c:pt idx="570">
                  <c:v>-106.08775516078583</c:v>
                </c:pt>
                <c:pt idx="571">
                  <c:v>-110.80949355626822</c:v>
                </c:pt>
                <c:pt idx="572">
                  <c:v>-108.55978127950878</c:v>
                </c:pt>
                <c:pt idx="573">
                  <c:v>-104.30352118356623</c:v>
                </c:pt>
                <c:pt idx="574">
                  <c:v>-122.00453193710086</c:v>
                </c:pt>
                <c:pt idx="575">
                  <c:v>-107.74253640532216</c:v>
                </c:pt>
                <c:pt idx="576">
                  <c:v>-102.20067803486384</c:v>
                </c:pt>
                <c:pt idx="577">
                  <c:v>-112.9861535761283</c:v>
                </c:pt>
                <c:pt idx="578">
                  <c:v>-105.94614321824736</c:v>
                </c:pt>
                <c:pt idx="579">
                  <c:v>-109.75696745883599</c:v>
                </c:pt>
                <c:pt idx="580">
                  <c:v>-99.34207805073703</c:v>
                </c:pt>
                <c:pt idx="581">
                  <c:v>-105.92090423621983</c:v>
                </c:pt>
                <c:pt idx="582">
                  <c:v>-118.11775997767894</c:v>
                </c:pt>
                <c:pt idx="583">
                  <c:v>-110.80874552939383</c:v>
                </c:pt>
                <c:pt idx="584">
                  <c:v>-117.61579970573274</c:v>
                </c:pt>
                <c:pt idx="585">
                  <c:v>-113.41644337161036</c:v>
                </c:pt>
                <c:pt idx="586">
                  <c:v>-110.63539564010131</c:v>
                </c:pt>
                <c:pt idx="587">
                  <c:v>-101.02294635572258</c:v>
                </c:pt>
                <c:pt idx="588">
                  <c:v>-103.63562342893474</c:v>
                </c:pt>
                <c:pt idx="589">
                  <c:v>-116.25557978103315</c:v>
                </c:pt>
                <c:pt idx="590">
                  <c:v>-111.42349221884642</c:v>
                </c:pt>
                <c:pt idx="591">
                  <c:v>-109.97513065418816</c:v>
                </c:pt>
                <c:pt idx="592">
                  <c:v>-110.31103515321036</c:v>
                </c:pt>
                <c:pt idx="593">
                  <c:v>-101.98570683431292</c:v>
                </c:pt>
                <c:pt idx="594">
                  <c:v>-102.30367215233383</c:v>
                </c:pt>
                <c:pt idx="595">
                  <c:v>-111.26797054969342</c:v>
                </c:pt>
                <c:pt idx="596">
                  <c:v>-110.24407766350328</c:v>
                </c:pt>
                <c:pt idx="597">
                  <c:v>-104.55776858141887</c:v>
                </c:pt>
                <c:pt idx="598">
                  <c:v>-115.67141081204623</c:v>
                </c:pt>
                <c:pt idx="599">
                  <c:v>-108.06322795868016</c:v>
                </c:pt>
                <c:pt idx="600">
                  <c:v>-103.9930205446519</c:v>
                </c:pt>
                <c:pt idx="601">
                  <c:v>-105.80952220014872</c:v>
                </c:pt>
                <c:pt idx="602">
                  <c:v>-111.26287687840463</c:v>
                </c:pt>
                <c:pt idx="603">
                  <c:v>-116.50607025297592</c:v>
                </c:pt>
                <c:pt idx="604">
                  <c:v>-108.0001815969587</c:v>
                </c:pt>
                <c:pt idx="605">
                  <c:v>-107.95087291460781</c:v>
                </c:pt>
                <c:pt idx="606">
                  <c:v>-107.99802056550232</c:v>
                </c:pt>
                <c:pt idx="607">
                  <c:v>-104.09162528088812</c:v>
                </c:pt>
                <c:pt idx="608">
                  <c:v>-104.0206504524938</c:v>
                </c:pt>
                <c:pt idx="609">
                  <c:v>-112.8688564420441</c:v>
                </c:pt>
                <c:pt idx="610">
                  <c:v>-112.395261251756</c:v>
                </c:pt>
                <c:pt idx="611">
                  <c:v>-109.60019687391056</c:v>
                </c:pt>
                <c:pt idx="612">
                  <c:v>-106.47549756612676</c:v>
                </c:pt>
                <c:pt idx="613">
                  <c:v>-102.82149284123265</c:v>
                </c:pt>
                <c:pt idx="614">
                  <c:v>-114.14269948128037</c:v>
                </c:pt>
                <c:pt idx="615">
                  <c:v>-102.54491783448535</c:v>
                </c:pt>
                <c:pt idx="616">
                  <c:v>-108.2453007574641</c:v>
                </c:pt>
                <c:pt idx="617">
                  <c:v>-114.59286926817626</c:v>
                </c:pt>
                <c:pt idx="618">
                  <c:v>-105.37965333657402</c:v>
                </c:pt>
                <c:pt idx="619">
                  <c:v>-113.8617112843572</c:v>
                </c:pt>
                <c:pt idx="620">
                  <c:v>-111.13047298090045</c:v>
                </c:pt>
                <c:pt idx="621">
                  <c:v>-118.20645092951564</c:v>
                </c:pt>
                <c:pt idx="622">
                  <c:v>-101.60996953084555</c:v>
                </c:pt>
                <c:pt idx="623">
                  <c:v>-124.2115559946975</c:v>
                </c:pt>
                <c:pt idx="624">
                  <c:v>-100.24883434232878</c:v>
                </c:pt>
                <c:pt idx="625">
                  <c:v>-110.13557148164652</c:v>
                </c:pt>
                <c:pt idx="626">
                  <c:v>-110.23204392096443</c:v>
                </c:pt>
                <c:pt idx="627">
                  <c:v>-111.7090323853925</c:v>
                </c:pt>
                <c:pt idx="628">
                  <c:v>-104.7145023984482</c:v>
                </c:pt>
                <c:pt idx="629">
                  <c:v>-116.60486811346671</c:v>
                </c:pt>
                <c:pt idx="630">
                  <c:v>-109.95519999510395</c:v>
                </c:pt>
                <c:pt idx="631">
                  <c:v>-109.23706427721717</c:v>
                </c:pt>
                <c:pt idx="632">
                  <c:v>-120.29346876065448</c:v>
                </c:pt>
                <c:pt idx="633">
                  <c:v>-108.72512001582729</c:v>
                </c:pt>
                <c:pt idx="634">
                  <c:v>-100.78169413644595</c:v>
                </c:pt>
                <c:pt idx="635">
                  <c:v>-104.34107194969484</c:v>
                </c:pt>
                <c:pt idx="636">
                  <c:v>-104.8872996886827</c:v>
                </c:pt>
                <c:pt idx="637">
                  <c:v>-108.65077660270943</c:v>
                </c:pt>
                <c:pt idx="638">
                  <c:v>-104.29752735665878</c:v>
                </c:pt>
                <c:pt idx="639">
                  <c:v>-104.82033347318216</c:v>
                </c:pt>
                <c:pt idx="640">
                  <c:v>-109.1445817688929</c:v>
                </c:pt>
                <c:pt idx="641">
                  <c:v>-107.26315786135007</c:v>
                </c:pt>
                <c:pt idx="642">
                  <c:v>-102.36101768051907</c:v>
                </c:pt>
                <c:pt idx="643">
                  <c:v>-108.9221471902278</c:v>
                </c:pt>
                <c:pt idx="644">
                  <c:v>-113.55078688673882</c:v>
                </c:pt>
                <c:pt idx="645">
                  <c:v>-107.35667206053236</c:v>
                </c:pt>
                <c:pt idx="646">
                  <c:v>-105.47697104043017</c:v>
                </c:pt>
                <c:pt idx="647">
                  <c:v>-105.71600979492145</c:v>
                </c:pt>
                <c:pt idx="648">
                  <c:v>-107.34860834894499</c:v>
                </c:pt>
                <c:pt idx="649">
                  <c:v>-111.8998019565714</c:v>
                </c:pt>
                <c:pt idx="650">
                  <c:v>-126.13747839308672</c:v>
                </c:pt>
                <c:pt idx="651">
                  <c:v>-107.14411047366394</c:v>
                </c:pt>
                <c:pt idx="652">
                  <c:v>-103.08725240788434</c:v>
                </c:pt>
                <c:pt idx="653">
                  <c:v>-113.55135625316399</c:v>
                </c:pt>
                <c:pt idx="654">
                  <c:v>-116.02895692894008</c:v>
                </c:pt>
                <c:pt idx="655">
                  <c:v>-114.38202115666215</c:v>
                </c:pt>
                <c:pt idx="656">
                  <c:v>-117.18137011782511</c:v>
                </c:pt>
                <c:pt idx="657">
                  <c:v>-106.12390339201514</c:v>
                </c:pt>
                <c:pt idx="658">
                  <c:v>-118.7484618043506</c:v>
                </c:pt>
                <c:pt idx="659">
                  <c:v>-105.54731376433593</c:v>
                </c:pt>
                <c:pt idx="660">
                  <c:v>-114.76782624869251</c:v>
                </c:pt>
                <c:pt idx="661">
                  <c:v>-107.00866948367023</c:v>
                </c:pt>
                <c:pt idx="662">
                  <c:v>-106.67493991658695</c:v>
                </c:pt>
                <c:pt idx="663">
                  <c:v>-114.5636349304311</c:v>
                </c:pt>
                <c:pt idx="664">
                  <c:v>-112.54652522206236</c:v>
                </c:pt>
                <c:pt idx="665">
                  <c:v>-119.99867621807863</c:v>
                </c:pt>
                <c:pt idx="666">
                  <c:v>-103.43451819357769</c:v>
                </c:pt>
                <c:pt idx="667">
                  <c:v>-109.85351010991893</c:v>
                </c:pt>
                <c:pt idx="668">
                  <c:v>-100.3537492449463</c:v>
                </c:pt>
                <c:pt idx="669">
                  <c:v>-108.2043384282548</c:v>
                </c:pt>
                <c:pt idx="670">
                  <c:v>-101.92087786006186</c:v>
                </c:pt>
                <c:pt idx="671">
                  <c:v>-115.25042735418171</c:v>
                </c:pt>
                <c:pt idx="672">
                  <c:v>-128.20007916651457</c:v>
                </c:pt>
                <c:pt idx="673">
                  <c:v>-117.01150648874656</c:v>
                </c:pt>
                <c:pt idx="674">
                  <c:v>-110.91379218504531</c:v>
                </c:pt>
                <c:pt idx="675">
                  <c:v>-110.84565337468293</c:v>
                </c:pt>
                <c:pt idx="676">
                  <c:v>-106.47128084014412</c:v>
                </c:pt>
                <c:pt idx="677">
                  <c:v>-113.83993934697037</c:v>
                </c:pt>
                <c:pt idx="678">
                  <c:v>-109.87093520835711</c:v>
                </c:pt>
                <c:pt idx="679">
                  <c:v>-110.01364246485407</c:v>
                </c:pt>
                <c:pt idx="680">
                  <c:v>-106.66444961972857</c:v>
                </c:pt>
                <c:pt idx="681">
                  <c:v>-107.65636572769381</c:v>
                </c:pt>
                <c:pt idx="682">
                  <c:v>-109.72036207831623</c:v>
                </c:pt>
                <c:pt idx="683">
                  <c:v>-101.35872077753893</c:v>
                </c:pt>
                <c:pt idx="684">
                  <c:v>-107.84940354253237</c:v>
                </c:pt>
                <c:pt idx="685">
                  <c:v>-107.31342353487031</c:v>
                </c:pt>
                <c:pt idx="686">
                  <c:v>-121.1452500300531</c:v>
                </c:pt>
                <c:pt idx="687">
                  <c:v>-116.22506093602755</c:v>
                </c:pt>
                <c:pt idx="688">
                  <c:v>-106.78663922498076</c:v>
                </c:pt>
                <c:pt idx="689">
                  <c:v>-108.57418440613644</c:v>
                </c:pt>
                <c:pt idx="690">
                  <c:v>-110.42706962968475</c:v>
                </c:pt>
                <c:pt idx="691">
                  <c:v>-105.65196913560554</c:v>
                </c:pt>
                <c:pt idx="692">
                  <c:v>-107.66830538537427</c:v>
                </c:pt>
                <c:pt idx="693">
                  <c:v>-107.06173887250151</c:v>
                </c:pt>
                <c:pt idx="694">
                  <c:v>-105.91421987781405</c:v>
                </c:pt>
                <c:pt idx="695">
                  <c:v>-117.4643254144995</c:v>
                </c:pt>
                <c:pt idx="696">
                  <c:v>-110.36974424359728</c:v>
                </c:pt>
                <c:pt idx="697">
                  <c:v>-103.18044662148654</c:v>
                </c:pt>
                <c:pt idx="698">
                  <c:v>-108.06816867518974</c:v>
                </c:pt>
                <c:pt idx="699">
                  <c:v>-108.53701967091156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900" b="0" i="0" u="none" strike="noStrike">
                    <a:solidFill>
                      <a:srgbClr val="5B6B7F"/>
                    </a:solidFill>
                    <a:latin typeface="Calibri"/>
                  </a:defRPr>
                </a:pPr>
                <a:r>
                  <a:rPr sz="900" b="0" i="0" u="none" strike="noStrike">
                    <a:solidFill>
                      <a:srgbClr val="5B6B7F"/>
                    </a:solidFill>
                    <a:latin typeface="Calibri"/>
                  </a:rPr>
                  <a:t>frequency · SFDR is the gap to the tallest spur</a:t>
                </a:r>
              </a:p>
            </c:rich>
          </c:tx>
          <c:layout/>
          <c:overlay val="0"/>
        </c:title>
        <c:numFmt formatCode="General" sourceLinked="1"/>
        <c:majorTickMark val="none"/>
        <c:minorTickMark val="none"/>
        <c:tickLblPos val="low"/>
        <c:spPr>
          <a:ln w="12700" cap="flat">
            <a:solidFill>
              <a:srgbClr val="888888"/>
            </a:solidFill>
            <a:prstDash val="solid"/>
            <a:round/>
          </a:ln>
        </c:spPr>
        <c:txPr>
          <a:bodyPr/>
          <a:lstStyle/>
          <a:p>
            <a:pPr>
              <a:defRPr sz="900" b="0" i="0" u="none" strike="noStrike">
                <a:solidFill>
                  <a:srgbClr val="5B6B7F"/>
                </a:solidFill>
                <a:latin typeface="Calibri"/>
              </a:defRPr>
            </a:pPr>
            <a:endParaRPr lang="en-US"/>
          </a:p>
        </c:txPr>
        <c:crossAx val="2094734552"/>
        <c:crosses val="min"/>
        <c:auto val="1"/>
        <c:lblAlgn val="ctr"/>
        <c:noMultiLvlLbl val="1"/>
        <c:tickLblSkip val="88"/>
      </c:catAx>
      <c:valAx>
        <c:axId val="2094734552"/>
        <c:scaling>
          <c:orientation val="minMax"/>
          <c:max val="5"/>
          <c:min val="-130"/>
        </c:scaling>
        <c:delete val="0"/>
        <c:axPos val="l"/>
        <c:majorGridlines>
          <c:spPr>
            <a:ln w="6350" cap="flat">
              <a:solidFill>
                <a:srgbClr val="D9E1EA"/>
              </a:solidFill>
              <a:prstDash val="solid"/>
              <a:round/>
            </a:ln>
          </c:spPr>
        </c:majorGridlines>
        <c:numFmt formatCode="General" sourceLinked="0"/>
        <c:majorTickMark val="none"/>
        <c:minorTickMark val="none"/>
        <c:tickLblPos val="nextTo"/>
        <c:spPr>
          <a:ln w="12700" cap="flat">
            <a:noFill/>
            <a:prstDash val="solid"/>
            <a:round/>
          </a:ln>
        </c:spPr>
        <c:txPr>
          <a:bodyPr/>
          <a:lstStyle/>
          <a:p>
            <a:pPr>
              <a:defRPr sz="900" b="0" i="0" u="none" strike="noStrike">
                <a:solidFill>
                  <a:srgbClr val="5B6B7F"/>
                </a:solidFill>
                <a:latin typeface="Calibri"/>
              </a:defRPr>
            </a:pPr>
            <a:endParaRPr lang="en-US"/>
          </a:p>
        </c:txPr>
        <c:crossAx val="2094734554"/>
        <c:crosses val="autoZero"/>
        <c:crossBetween val="between"/>
        <c:majorUnit val="25"/>
      </c:valAx>
      <c:spPr>
        <a:solidFill>
          <a:srgbClr val="FFFFFF"/>
        </a:solidFill>
        <a:ln>
          <a:noFill/>
        </a:ln>
        <a:effectLst/>
      </c:spPr>
    </c:plotArea>
    <c:plotVisOnly val="1"/>
    <c:dispBlanksAs val="span"/>
  </c:chart>
  <c:spPr>
    <a:solidFill>
      <a:srgbClr val="FFFFFF"/>
    </a:solidFill>
    <a:ln>
      <a:noFill/>
    </a:ln>
    <a:effectLst/>
  </c:spPr>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lineChart>
        <c:varyColors val="0"/>
        <c:ser>
          <c:idx val="0"/>
          <c:order val="0"/>
          <c:tx>
            <c:strRef>
              <c:f>Sheet1!$B$1</c:f>
              <c:strCache>
                <c:ptCount val="1"/>
                <c:pt idx="0">
                  <c:v>two tones and their products</c:v>
                </c:pt>
              </c:strCache>
            </c:strRef>
          </c:tx>
          <c:spPr>
            <a:solidFill>
              <a:srgbClr val="E76F51"/>
            </a:solidFill>
            <a:ln w="15875" cap="flat">
              <a:solidFill>
                <a:srgbClr val="E76F5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E76F51"/>
              </a:solidFill>
              <a:ln w="9525" cap="flat">
                <a:solidFill>
                  <a:srgbClr val="E76F51"/>
                </a:solidFill>
                <a:prstDash val="solid"/>
                <a:round/>
              </a:ln>
              <a:effectLst/>
            </c:spPr>
          </c:marker>
          <c:cat>
            <c:multiLvlStrRef>
              <c:f>Sheet1!$A$2:$A$191</c:f>
              <c:multiLvlStrCache>
                <c:ptCount val="190"/>
                <c:lvl>
                  <c:pt idx="0">
                    <c:v>330</c:v>
                  </c:pt>
                  <c:pt idx="1">
                    <c:v>331</c:v>
                  </c:pt>
                  <c:pt idx="2">
                    <c:v>332</c:v>
                  </c:pt>
                  <c:pt idx="3">
                    <c:v>333</c:v>
                  </c:pt>
                  <c:pt idx="4">
                    <c:v>334</c:v>
                  </c:pt>
                  <c:pt idx="5">
                    <c:v>335</c:v>
                  </c:pt>
                  <c:pt idx="6">
                    <c:v>336</c:v>
                  </c:pt>
                  <c:pt idx="7">
                    <c:v>337</c:v>
                  </c:pt>
                  <c:pt idx="8">
                    <c:v>338</c:v>
                  </c:pt>
                  <c:pt idx="9">
                    <c:v>339</c:v>
                  </c:pt>
                  <c:pt idx="10">
                    <c:v>340</c:v>
                  </c:pt>
                  <c:pt idx="11">
                    <c:v>341</c:v>
                  </c:pt>
                  <c:pt idx="12">
                    <c:v>342</c:v>
                  </c:pt>
                  <c:pt idx="13">
                    <c:v>343</c:v>
                  </c:pt>
                  <c:pt idx="14">
                    <c:v>344</c:v>
                  </c:pt>
                  <c:pt idx="15">
                    <c:v>345</c:v>
                  </c:pt>
                  <c:pt idx="16">
                    <c:v>346</c:v>
                  </c:pt>
                  <c:pt idx="17">
                    <c:v>347</c:v>
                  </c:pt>
                  <c:pt idx="18">
                    <c:v>348</c:v>
                  </c:pt>
                  <c:pt idx="19">
                    <c:v>349</c:v>
                  </c:pt>
                  <c:pt idx="20">
                    <c:v>350</c:v>
                  </c:pt>
                  <c:pt idx="21">
                    <c:v>351</c:v>
                  </c:pt>
                  <c:pt idx="22">
                    <c:v>352</c:v>
                  </c:pt>
                  <c:pt idx="23">
                    <c:v>353</c:v>
                  </c:pt>
                  <c:pt idx="24">
                    <c:v>354</c:v>
                  </c:pt>
                  <c:pt idx="25">
                    <c:v>355</c:v>
                  </c:pt>
                  <c:pt idx="26">
                    <c:v>356</c:v>
                  </c:pt>
                  <c:pt idx="27">
                    <c:v>357</c:v>
                  </c:pt>
                  <c:pt idx="28">
                    <c:v>358</c:v>
                  </c:pt>
                  <c:pt idx="29">
                    <c:v>359</c:v>
                  </c:pt>
                  <c:pt idx="30">
                    <c:v>360</c:v>
                  </c:pt>
                  <c:pt idx="31">
                    <c:v>361</c:v>
                  </c:pt>
                  <c:pt idx="32">
                    <c:v>362</c:v>
                  </c:pt>
                  <c:pt idx="33">
                    <c:v>363</c:v>
                  </c:pt>
                  <c:pt idx="34">
                    <c:v>364</c:v>
                  </c:pt>
                  <c:pt idx="35">
                    <c:v>365</c:v>
                  </c:pt>
                  <c:pt idx="36">
                    <c:v>366</c:v>
                  </c:pt>
                  <c:pt idx="37">
                    <c:v>367</c:v>
                  </c:pt>
                  <c:pt idx="38">
                    <c:v>368</c:v>
                  </c:pt>
                  <c:pt idx="39">
                    <c:v>369</c:v>
                  </c:pt>
                  <c:pt idx="40">
                    <c:v>370</c:v>
                  </c:pt>
                  <c:pt idx="41">
                    <c:v>371</c:v>
                  </c:pt>
                  <c:pt idx="42">
                    <c:v>372</c:v>
                  </c:pt>
                  <c:pt idx="43">
                    <c:v>373</c:v>
                  </c:pt>
                  <c:pt idx="44">
                    <c:v>374</c:v>
                  </c:pt>
                  <c:pt idx="45">
                    <c:v>375</c:v>
                  </c:pt>
                  <c:pt idx="46">
                    <c:v>376</c:v>
                  </c:pt>
                  <c:pt idx="47">
                    <c:v>377</c:v>
                  </c:pt>
                  <c:pt idx="48">
                    <c:v>378</c:v>
                  </c:pt>
                  <c:pt idx="49">
                    <c:v>379</c:v>
                  </c:pt>
                  <c:pt idx="50">
                    <c:v>380</c:v>
                  </c:pt>
                  <c:pt idx="51">
                    <c:v>381</c:v>
                  </c:pt>
                  <c:pt idx="52">
                    <c:v>382</c:v>
                  </c:pt>
                  <c:pt idx="53">
                    <c:v>383</c:v>
                  </c:pt>
                  <c:pt idx="54">
                    <c:v>384</c:v>
                  </c:pt>
                  <c:pt idx="55">
                    <c:v>385</c:v>
                  </c:pt>
                  <c:pt idx="56">
                    <c:v>386</c:v>
                  </c:pt>
                  <c:pt idx="57">
                    <c:v>387</c:v>
                  </c:pt>
                  <c:pt idx="58">
                    <c:v>388</c:v>
                  </c:pt>
                  <c:pt idx="59">
                    <c:v>389</c:v>
                  </c:pt>
                  <c:pt idx="60">
                    <c:v>390</c:v>
                  </c:pt>
                  <c:pt idx="61">
                    <c:v>391</c:v>
                  </c:pt>
                  <c:pt idx="62">
                    <c:v>392</c:v>
                  </c:pt>
                  <c:pt idx="63">
                    <c:v>393</c:v>
                  </c:pt>
                  <c:pt idx="64">
                    <c:v>394</c:v>
                  </c:pt>
                  <c:pt idx="65">
                    <c:v>395</c:v>
                  </c:pt>
                  <c:pt idx="66">
                    <c:v>396</c:v>
                  </c:pt>
                  <c:pt idx="67">
                    <c:v>397</c:v>
                  </c:pt>
                  <c:pt idx="68">
                    <c:v>398</c:v>
                  </c:pt>
                  <c:pt idx="69">
                    <c:v>399</c:v>
                  </c:pt>
                  <c:pt idx="70">
                    <c:v>400</c:v>
                  </c:pt>
                  <c:pt idx="71">
                    <c:v>401</c:v>
                  </c:pt>
                  <c:pt idx="72">
                    <c:v>402</c:v>
                  </c:pt>
                  <c:pt idx="73">
                    <c:v>403</c:v>
                  </c:pt>
                  <c:pt idx="74">
                    <c:v>404</c:v>
                  </c:pt>
                  <c:pt idx="75">
                    <c:v>405</c:v>
                  </c:pt>
                  <c:pt idx="76">
                    <c:v>406</c:v>
                  </c:pt>
                  <c:pt idx="77">
                    <c:v>407</c:v>
                  </c:pt>
                  <c:pt idx="78">
                    <c:v>408</c:v>
                  </c:pt>
                  <c:pt idx="79">
                    <c:v>409</c:v>
                  </c:pt>
                  <c:pt idx="80">
                    <c:v>410</c:v>
                  </c:pt>
                  <c:pt idx="81">
                    <c:v>411</c:v>
                  </c:pt>
                  <c:pt idx="82">
                    <c:v>412</c:v>
                  </c:pt>
                  <c:pt idx="83">
                    <c:v>413</c:v>
                  </c:pt>
                  <c:pt idx="84">
                    <c:v>414</c:v>
                  </c:pt>
                  <c:pt idx="85">
                    <c:v>415</c:v>
                  </c:pt>
                  <c:pt idx="86">
                    <c:v>416</c:v>
                  </c:pt>
                  <c:pt idx="87">
                    <c:v>417</c:v>
                  </c:pt>
                  <c:pt idx="88">
                    <c:v>418</c:v>
                  </c:pt>
                  <c:pt idx="89">
                    <c:v>419</c:v>
                  </c:pt>
                  <c:pt idx="90">
                    <c:v>420</c:v>
                  </c:pt>
                  <c:pt idx="91">
                    <c:v>421</c:v>
                  </c:pt>
                  <c:pt idx="92">
                    <c:v>422</c:v>
                  </c:pt>
                  <c:pt idx="93">
                    <c:v>423</c:v>
                  </c:pt>
                  <c:pt idx="94">
                    <c:v>424</c:v>
                  </c:pt>
                  <c:pt idx="95">
                    <c:v>425</c:v>
                  </c:pt>
                  <c:pt idx="96">
                    <c:v>426</c:v>
                  </c:pt>
                  <c:pt idx="97">
                    <c:v>427</c:v>
                  </c:pt>
                  <c:pt idx="98">
                    <c:v>428</c:v>
                  </c:pt>
                  <c:pt idx="99">
                    <c:v>429</c:v>
                  </c:pt>
                  <c:pt idx="100">
                    <c:v>430</c:v>
                  </c:pt>
                  <c:pt idx="101">
                    <c:v>431</c:v>
                  </c:pt>
                  <c:pt idx="102">
                    <c:v>432</c:v>
                  </c:pt>
                  <c:pt idx="103">
                    <c:v>433</c:v>
                  </c:pt>
                  <c:pt idx="104">
                    <c:v>434</c:v>
                  </c:pt>
                  <c:pt idx="105">
                    <c:v>435</c:v>
                  </c:pt>
                  <c:pt idx="106">
                    <c:v>436</c:v>
                  </c:pt>
                  <c:pt idx="107">
                    <c:v>437</c:v>
                  </c:pt>
                  <c:pt idx="108">
                    <c:v>438</c:v>
                  </c:pt>
                  <c:pt idx="109">
                    <c:v>439</c:v>
                  </c:pt>
                  <c:pt idx="110">
                    <c:v>440</c:v>
                  </c:pt>
                  <c:pt idx="111">
                    <c:v>441</c:v>
                  </c:pt>
                  <c:pt idx="112">
                    <c:v>442</c:v>
                  </c:pt>
                  <c:pt idx="113">
                    <c:v>443</c:v>
                  </c:pt>
                  <c:pt idx="114">
                    <c:v>444</c:v>
                  </c:pt>
                  <c:pt idx="115">
                    <c:v>445</c:v>
                  </c:pt>
                  <c:pt idx="116">
                    <c:v>446</c:v>
                  </c:pt>
                  <c:pt idx="117">
                    <c:v>447</c:v>
                  </c:pt>
                  <c:pt idx="118">
                    <c:v>448</c:v>
                  </c:pt>
                  <c:pt idx="119">
                    <c:v>449</c:v>
                  </c:pt>
                  <c:pt idx="120">
                    <c:v>450</c:v>
                  </c:pt>
                  <c:pt idx="121">
                    <c:v>451</c:v>
                  </c:pt>
                  <c:pt idx="122">
                    <c:v>452</c:v>
                  </c:pt>
                  <c:pt idx="123">
                    <c:v>453</c:v>
                  </c:pt>
                  <c:pt idx="124">
                    <c:v>454</c:v>
                  </c:pt>
                  <c:pt idx="125">
                    <c:v>455</c:v>
                  </c:pt>
                  <c:pt idx="126">
                    <c:v>456</c:v>
                  </c:pt>
                  <c:pt idx="127">
                    <c:v>457</c:v>
                  </c:pt>
                  <c:pt idx="128">
                    <c:v>458</c:v>
                  </c:pt>
                  <c:pt idx="129">
                    <c:v>459</c:v>
                  </c:pt>
                  <c:pt idx="130">
                    <c:v>460</c:v>
                  </c:pt>
                  <c:pt idx="131">
                    <c:v>461</c:v>
                  </c:pt>
                  <c:pt idx="132">
                    <c:v>462</c:v>
                  </c:pt>
                  <c:pt idx="133">
                    <c:v>463</c:v>
                  </c:pt>
                  <c:pt idx="134">
                    <c:v>464</c:v>
                  </c:pt>
                  <c:pt idx="135">
                    <c:v>465</c:v>
                  </c:pt>
                  <c:pt idx="136">
                    <c:v>466</c:v>
                  </c:pt>
                  <c:pt idx="137">
                    <c:v>467</c:v>
                  </c:pt>
                  <c:pt idx="138">
                    <c:v>468</c:v>
                  </c:pt>
                  <c:pt idx="139">
                    <c:v>469</c:v>
                  </c:pt>
                  <c:pt idx="140">
                    <c:v>470</c:v>
                  </c:pt>
                  <c:pt idx="141">
                    <c:v>471</c:v>
                  </c:pt>
                  <c:pt idx="142">
                    <c:v>472</c:v>
                  </c:pt>
                  <c:pt idx="143">
                    <c:v>473</c:v>
                  </c:pt>
                  <c:pt idx="144">
                    <c:v>474</c:v>
                  </c:pt>
                  <c:pt idx="145">
                    <c:v>475</c:v>
                  </c:pt>
                  <c:pt idx="146">
                    <c:v>476</c:v>
                  </c:pt>
                  <c:pt idx="147">
                    <c:v>477</c:v>
                  </c:pt>
                  <c:pt idx="148">
                    <c:v>478</c:v>
                  </c:pt>
                  <c:pt idx="149">
                    <c:v>479</c:v>
                  </c:pt>
                  <c:pt idx="150">
                    <c:v>480</c:v>
                  </c:pt>
                  <c:pt idx="151">
                    <c:v>481</c:v>
                  </c:pt>
                  <c:pt idx="152">
                    <c:v>482</c:v>
                  </c:pt>
                  <c:pt idx="153">
                    <c:v>483</c:v>
                  </c:pt>
                  <c:pt idx="154">
                    <c:v>484</c:v>
                  </c:pt>
                  <c:pt idx="155">
                    <c:v>485</c:v>
                  </c:pt>
                  <c:pt idx="156">
                    <c:v>486</c:v>
                  </c:pt>
                  <c:pt idx="157">
                    <c:v>487</c:v>
                  </c:pt>
                  <c:pt idx="158">
                    <c:v>488</c:v>
                  </c:pt>
                  <c:pt idx="159">
                    <c:v>489</c:v>
                  </c:pt>
                  <c:pt idx="160">
                    <c:v>490</c:v>
                  </c:pt>
                  <c:pt idx="161">
                    <c:v>491</c:v>
                  </c:pt>
                  <c:pt idx="162">
                    <c:v>492</c:v>
                  </c:pt>
                  <c:pt idx="163">
                    <c:v>493</c:v>
                  </c:pt>
                  <c:pt idx="164">
                    <c:v>494</c:v>
                  </c:pt>
                  <c:pt idx="165">
                    <c:v>495</c:v>
                  </c:pt>
                  <c:pt idx="166">
                    <c:v>496</c:v>
                  </c:pt>
                  <c:pt idx="167">
                    <c:v>497</c:v>
                  </c:pt>
                  <c:pt idx="168">
                    <c:v>498</c:v>
                  </c:pt>
                  <c:pt idx="169">
                    <c:v>499</c:v>
                  </c:pt>
                  <c:pt idx="170">
                    <c:v>500</c:v>
                  </c:pt>
                  <c:pt idx="171">
                    <c:v>501</c:v>
                  </c:pt>
                  <c:pt idx="172">
                    <c:v>502</c:v>
                  </c:pt>
                  <c:pt idx="173">
                    <c:v>503</c:v>
                  </c:pt>
                  <c:pt idx="174">
                    <c:v>504</c:v>
                  </c:pt>
                  <c:pt idx="175">
                    <c:v>505</c:v>
                  </c:pt>
                  <c:pt idx="176">
                    <c:v>506</c:v>
                  </c:pt>
                  <c:pt idx="177">
                    <c:v>507</c:v>
                  </c:pt>
                  <c:pt idx="178">
                    <c:v>508</c:v>
                  </c:pt>
                  <c:pt idx="179">
                    <c:v>509</c:v>
                  </c:pt>
                  <c:pt idx="180">
                    <c:v>510</c:v>
                  </c:pt>
                  <c:pt idx="181">
                    <c:v>511</c:v>
                  </c:pt>
                  <c:pt idx="182">
                    <c:v>512</c:v>
                  </c:pt>
                  <c:pt idx="183">
                    <c:v>513</c:v>
                  </c:pt>
                  <c:pt idx="184">
                    <c:v>514</c:v>
                  </c:pt>
                  <c:pt idx="185">
                    <c:v>515</c:v>
                  </c:pt>
                  <c:pt idx="186">
                    <c:v>516</c:v>
                  </c:pt>
                  <c:pt idx="187">
                    <c:v>517</c:v>
                  </c:pt>
                  <c:pt idx="188">
                    <c:v>518</c:v>
                  </c:pt>
                  <c:pt idx="189">
                    <c:v>519</c:v>
                  </c:pt>
                </c:lvl>
              </c:multiLvlStrCache>
            </c:multiLvlStrRef>
          </c:cat>
          <c:val>
            <c:numRef>
              <c:f>Sheet1!$B$2:$B$191</c:f>
              <c:numCache>
                <c:formatCode>General</c:formatCode>
                <c:ptCount val="190"/>
                <c:pt idx="0">
                  <c:v>-115.50500779317026</c:v>
                </c:pt>
                <c:pt idx="1">
                  <c:v>-114.77262521328254</c:v>
                </c:pt>
                <c:pt idx="2">
                  <c:v>-115.16877488321344</c:v>
                </c:pt>
                <c:pt idx="3">
                  <c:v>-134.72578774837098</c:v>
                </c:pt>
                <c:pt idx="4">
                  <c:v>-120.49594423919214</c:v>
                </c:pt>
                <c:pt idx="5">
                  <c:v>-116.39001764480386</c:v>
                </c:pt>
                <c:pt idx="6">
                  <c:v>-109.622086330291</c:v>
                </c:pt>
                <c:pt idx="7">
                  <c:v>-120.3845645447258</c:v>
                </c:pt>
                <c:pt idx="8">
                  <c:v>-129.34850020900694</c:v>
                </c:pt>
                <c:pt idx="9">
                  <c:v>-115.74894625918532</c:v>
                </c:pt>
                <c:pt idx="10">
                  <c:v>-122.98236010137327</c:v>
                </c:pt>
                <c:pt idx="11">
                  <c:v>-122.66603547689853</c:v>
                </c:pt>
                <c:pt idx="12">
                  <c:v>-129.08228867609526</c:v>
                </c:pt>
                <c:pt idx="13">
                  <c:v>-130.3168406455403</c:v>
                </c:pt>
                <c:pt idx="14">
                  <c:v>-115.28643011470173</c:v>
                </c:pt>
                <c:pt idx="15">
                  <c:v>-120.97883377801521</c:v>
                </c:pt>
                <c:pt idx="16">
                  <c:v>-118.43413189855184</c:v>
                </c:pt>
                <c:pt idx="17">
                  <c:v>-123.4875740056122</c:v>
                </c:pt>
                <c:pt idx="18">
                  <c:v>-120.15803879707079</c:v>
                </c:pt>
                <c:pt idx="19">
                  <c:v>-117.26092193498248</c:v>
                </c:pt>
                <c:pt idx="20">
                  <c:v>-111.02887273142797</c:v>
                </c:pt>
                <c:pt idx="21">
                  <c:v>-130.48646362804243</c:v>
                </c:pt>
                <c:pt idx="22">
                  <c:v>-119.74968553511081</c:v>
                </c:pt>
                <c:pt idx="23">
                  <c:v>-119.16026001900275</c:v>
                </c:pt>
                <c:pt idx="24">
                  <c:v>-133.5678590421084</c:v>
                </c:pt>
                <c:pt idx="25">
                  <c:v>-116.54449384417447</c:v>
                </c:pt>
                <c:pt idx="26">
                  <c:v>-129.40849729164006</c:v>
                </c:pt>
                <c:pt idx="27">
                  <c:v>-118.40526502044666</c:v>
                </c:pt>
                <c:pt idx="28">
                  <c:v>-123.5963641115245</c:v>
                </c:pt>
                <c:pt idx="29">
                  <c:v>-114.88426545800486</c:v>
                </c:pt>
                <c:pt idx="30">
                  <c:v>-51.26114475604248</c:v>
                </c:pt>
                <c:pt idx="31">
                  <c:v>-126.13876456863841</c:v>
                </c:pt>
                <c:pt idx="32">
                  <c:v>-116.32708392523325</c:v>
                </c:pt>
                <c:pt idx="33">
                  <c:v>-123.15711326835694</c:v>
                </c:pt>
                <c:pt idx="34">
                  <c:v>-119.37317205617738</c:v>
                </c:pt>
                <c:pt idx="35">
                  <c:v>-133.58544275035692</c:v>
                </c:pt>
                <c:pt idx="36">
                  <c:v>-121.47042667918788</c:v>
                </c:pt>
                <c:pt idx="37">
                  <c:v>-116.12996737895304</c:v>
                </c:pt>
                <c:pt idx="38">
                  <c:v>-114.91546052842585</c:v>
                </c:pt>
                <c:pt idx="39">
                  <c:v>-122.04798836258598</c:v>
                </c:pt>
                <c:pt idx="40">
                  <c:v>-125.57886492853785</c:v>
                </c:pt>
                <c:pt idx="41">
                  <c:v>-127.23535165651582</c:v>
                </c:pt>
                <c:pt idx="42">
                  <c:v>-121.4749644107038</c:v>
                </c:pt>
                <c:pt idx="43">
                  <c:v>-116.09016353095535</c:v>
                </c:pt>
                <c:pt idx="44">
                  <c:v>-120.16681872292871</c:v>
                </c:pt>
                <c:pt idx="45">
                  <c:v>-121.76346971806923</c:v>
                </c:pt>
                <c:pt idx="46">
                  <c:v>-113.12812761575374</c:v>
                </c:pt>
                <c:pt idx="47">
                  <c:v>-123.39134478257026</c:v>
                </c:pt>
                <c:pt idx="48">
                  <c:v>-120.09955655928451</c:v>
                </c:pt>
                <c:pt idx="49">
                  <c:v>-120.6223299809806</c:v>
                </c:pt>
                <c:pt idx="50">
                  <c:v>-120.1984565698355</c:v>
                </c:pt>
                <c:pt idx="51">
                  <c:v>-119.3369793313085</c:v>
                </c:pt>
                <c:pt idx="52">
                  <c:v>-126.4469460375121</c:v>
                </c:pt>
                <c:pt idx="53">
                  <c:v>-123.48182550734408</c:v>
                </c:pt>
                <c:pt idx="54">
                  <c:v>-111.0498125442102</c:v>
                </c:pt>
                <c:pt idx="55">
                  <c:v>-129.31179046596617</c:v>
                </c:pt>
                <c:pt idx="56">
                  <c:v>-122.55909549600234</c:v>
                </c:pt>
                <c:pt idx="57">
                  <c:v>-125.81023369372468</c:v>
                </c:pt>
                <c:pt idx="58">
                  <c:v>-124.09162436072138</c:v>
                </c:pt>
                <c:pt idx="59">
                  <c:v>-116.36542498748382</c:v>
                </c:pt>
                <c:pt idx="60">
                  <c:v>-115.18727802478628</c:v>
                </c:pt>
                <c:pt idx="61">
                  <c:v>-123.14422203968554</c:v>
                </c:pt>
                <c:pt idx="62">
                  <c:v>-111.61733319088023</c:v>
                </c:pt>
                <c:pt idx="63">
                  <c:v>-120.8276424899961</c:v>
                </c:pt>
                <c:pt idx="64">
                  <c:v>-124.69737381851121</c:v>
                </c:pt>
                <c:pt idx="65">
                  <c:v>-109.9816410266793</c:v>
                </c:pt>
                <c:pt idx="66">
                  <c:v>-123.7204788864399</c:v>
                </c:pt>
                <c:pt idx="67">
                  <c:v>-114.22364572208785</c:v>
                </c:pt>
                <c:pt idx="68">
                  <c:v>-123.0103044060178</c:v>
                </c:pt>
                <c:pt idx="69">
                  <c:v>-121.27920233997128</c:v>
                </c:pt>
                <c:pt idx="70">
                  <c:v>-6.7788717177672595</c:v>
                </c:pt>
                <c:pt idx="71">
                  <c:v>-114.61542815662808</c:v>
                </c:pt>
                <c:pt idx="72">
                  <c:v>-133.09549115795525</c:v>
                </c:pt>
                <c:pt idx="73">
                  <c:v>-126.70298678890467</c:v>
                </c:pt>
                <c:pt idx="74">
                  <c:v>-117.58600396266957</c:v>
                </c:pt>
                <c:pt idx="75">
                  <c:v>-112.31772899406685</c:v>
                </c:pt>
                <c:pt idx="76">
                  <c:v>-114.39516512371108</c:v>
                </c:pt>
                <c:pt idx="77">
                  <c:v>-121.66060119841211</c:v>
                </c:pt>
                <c:pt idx="78">
                  <c:v>-118.18133736953752</c:v>
                </c:pt>
                <c:pt idx="79">
                  <c:v>-111.80488879649383</c:v>
                </c:pt>
                <c:pt idx="80">
                  <c:v>-112.08541934176382</c:v>
                </c:pt>
                <c:pt idx="81">
                  <c:v>-124.23609476004313</c:v>
                </c:pt>
                <c:pt idx="82">
                  <c:v>-114.8049368596599</c:v>
                </c:pt>
                <c:pt idx="83">
                  <c:v>-119.7604260781202</c:v>
                </c:pt>
                <c:pt idx="84">
                  <c:v>-128.6957208152034</c:v>
                </c:pt>
                <c:pt idx="85">
                  <c:v>-120.64555994016905</c:v>
                </c:pt>
                <c:pt idx="86">
                  <c:v>-116.10052281074462</c:v>
                </c:pt>
                <c:pt idx="87">
                  <c:v>-125.84711483817583</c:v>
                </c:pt>
                <c:pt idx="88">
                  <c:v>-115.43756989407527</c:v>
                </c:pt>
                <c:pt idx="89">
                  <c:v>-122.29597654276967</c:v>
                </c:pt>
                <c:pt idx="90">
                  <c:v>-120.13386446652518</c:v>
                </c:pt>
                <c:pt idx="91">
                  <c:v>-125.33665366490447</c:v>
                </c:pt>
                <c:pt idx="92">
                  <c:v>-127.1387935104836</c:v>
                </c:pt>
                <c:pt idx="93">
                  <c:v>-128.692659536973</c:v>
                </c:pt>
                <c:pt idx="94">
                  <c:v>-110.50424257379773</c:v>
                </c:pt>
                <c:pt idx="95">
                  <c:v>-118.44274394259712</c:v>
                </c:pt>
                <c:pt idx="96">
                  <c:v>-123.22704951329781</c:v>
                </c:pt>
                <c:pt idx="97">
                  <c:v>-129.8596820891495</c:v>
                </c:pt>
                <c:pt idx="98">
                  <c:v>-122.99322569097367</c:v>
                </c:pt>
                <c:pt idx="99">
                  <c:v>-119.55510823528934</c:v>
                </c:pt>
                <c:pt idx="100">
                  <c:v>-117.06111193506945</c:v>
                </c:pt>
                <c:pt idx="101">
                  <c:v>-131.6233000873997</c:v>
                </c:pt>
                <c:pt idx="102">
                  <c:v>-111.46706248468804</c:v>
                </c:pt>
                <c:pt idx="103">
                  <c:v>-117.36990669181904</c:v>
                </c:pt>
                <c:pt idx="104">
                  <c:v>-117.02890145093981</c:v>
                </c:pt>
                <c:pt idx="105">
                  <c:v>-127.17591162478122</c:v>
                </c:pt>
                <c:pt idx="106">
                  <c:v>-116.48086610639498</c:v>
                </c:pt>
                <c:pt idx="107">
                  <c:v>-118.25189120872477</c:v>
                </c:pt>
                <c:pt idx="108">
                  <c:v>-114.97526776230097</c:v>
                </c:pt>
                <c:pt idx="109">
                  <c:v>-114.0662343200475</c:v>
                </c:pt>
                <c:pt idx="110">
                  <c:v>-6.778878253492559</c:v>
                </c:pt>
                <c:pt idx="111">
                  <c:v>-116.06714393194213</c:v>
                </c:pt>
                <c:pt idx="112">
                  <c:v>-121.49819588164165</c:v>
                </c:pt>
                <c:pt idx="113">
                  <c:v>-116.85731696786661</c:v>
                </c:pt>
                <c:pt idx="114">
                  <c:v>-116.00797226937306</c:v>
                </c:pt>
                <c:pt idx="115">
                  <c:v>-118.62690649923246</c:v>
                </c:pt>
                <c:pt idx="116">
                  <c:v>-115.03117196766567</c:v>
                </c:pt>
                <c:pt idx="117">
                  <c:v>-122.53855631087093</c:v>
                </c:pt>
                <c:pt idx="118">
                  <c:v>-119.49185827652437</c:v>
                </c:pt>
                <c:pt idx="119">
                  <c:v>-117.48151665339793</c:v>
                </c:pt>
                <c:pt idx="120">
                  <c:v>-114.48296116060234</c:v>
                </c:pt>
                <c:pt idx="121">
                  <c:v>-118.55248358349947</c:v>
                </c:pt>
                <c:pt idx="122">
                  <c:v>-119.51633365080696</c:v>
                </c:pt>
                <c:pt idx="123">
                  <c:v>-124.53585165472673</c:v>
                </c:pt>
                <c:pt idx="124">
                  <c:v>-117.62418705234543</c:v>
                </c:pt>
                <c:pt idx="125">
                  <c:v>-130.20172307561063</c:v>
                </c:pt>
                <c:pt idx="126">
                  <c:v>-109.75283671350708</c:v>
                </c:pt>
                <c:pt idx="127">
                  <c:v>-119.18731192806746</c:v>
                </c:pt>
                <c:pt idx="128">
                  <c:v>-122.58629382670782</c:v>
                </c:pt>
                <c:pt idx="129">
                  <c:v>-137.0824930024888</c:v>
                </c:pt>
                <c:pt idx="130">
                  <c:v>-118.51441834463353</c:v>
                </c:pt>
                <c:pt idx="131">
                  <c:v>-113.14565804464068</c:v>
                </c:pt>
                <c:pt idx="132">
                  <c:v>-117.51607100962885</c:v>
                </c:pt>
                <c:pt idx="133">
                  <c:v>-117.68653985156536</c:v>
                </c:pt>
                <c:pt idx="134">
                  <c:v>-119.98272040216575</c:v>
                </c:pt>
                <c:pt idx="135">
                  <c:v>-120.4493507396616</c:v>
                </c:pt>
                <c:pt idx="136">
                  <c:v>-118.0512722086128</c:v>
                </c:pt>
                <c:pt idx="137">
                  <c:v>-132.45833763136199</c:v>
                </c:pt>
                <c:pt idx="138">
                  <c:v>-116.26729372150788</c:v>
                </c:pt>
                <c:pt idx="139">
                  <c:v>-119.01383748513592</c:v>
                </c:pt>
                <c:pt idx="140">
                  <c:v>-115.67740299057536</c:v>
                </c:pt>
                <c:pt idx="141">
                  <c:v>-123.91390586532813</c:v>
                </c:pt>
                <c:pt idx="142">
                  <c:v>-128.2079770317932</c:v>
                </c:pt>
                <c:pt idx="143">
                  <c:v>-119.78910657102657</c:v>
                </c:pt>
                <c:pt idx="144">
                  <c:v>-116.59417214412437</c:v>
                </c:pt>
                <c:pt idx="145">
                  <c:v>-128.14957219776363</c:v>
                </c:pt>
                <c:pt idx="146">
                  <c:v>-120.39735233111026</c:v>
                </c:pt>
                <c:pt idx="147">
                  <c:v>-114.39440973552328</c:v>
                </c:pt>
                <c:pt idx="148">
                  <c:v>-113.76012334371408</c:v>
                </c:pt>
                <c:pt idx="149">
                  <c:v>-118.8437847725105</c:v>
                </c:pt>
                <c:pt idx="150">
                  <c:v>-51.257655070815524</c:v>
                </c:pt>
                <c:pt idx="151">
                  <c:v>-121.85087797256227</c:v>
                </c:pt>
                <c:pt idx="152">
                  <c:v>-116.75843287417405</c:v>
                </c:pt>
                <c:pt idx="153">
                  <c:v>-120.87222482901923</c:v>
                </c:pt>
                <c:pt idx="154">
                  <c:v>-116.79269236966711</c:v>
                </c:pt>
                <c:pt idx="155">
                  <c:v>-115.25782410443769</c:v>
                </c:pt>
                <c:pt idx="156">
                  <c:v>-123.65510279230399</c:v>
                </c:pt>
                <c:pt idx="157">
                  <c:v>-119.77859206844656</c:v>
                </c:pt>
                <c:pt idx="158">
                  <c:v>-115.26510937308225</c:v>
                </c:pt>
                <c:pt idx="159">
                  <c:v>-135.22537099786146</c:v>
                </c:pt>
                <c:pt idx="160">
                  <c:v>-111.01549569761367</c:v>
                </c:pt>
                <c:pt idx="161">
                  <c:v>-124.5419460710377</c:v>
                </c:pt>
                <c:pt idx="162">
                  <c:v>-129.42424254467704</c:v>
                </c:pt>
                <c:pt idx="163">
                  <c:v>-115.71274468286192</c:v>
                </c:pt>
                <c:pt idx="164">
                  <c:v>-120.36298304628386</c:v>
                </c:pt>
                <c:pt idx="165">
                  <c:v>-130.8442479807746</c:v>
                </c:pt>
                <c:pt idx="166">
                  <c:v>-117.31814729514011</c:v>
                </c:pt>
                <c:pt idx="167">
                  <c:v>-117.83206124047587</c:v>
                </c:pt>
                <c:pt idx="168">
                  <c:v>-131.5249280408704</c:v>
                </c:pt>
                <c:pt idx="169">
                  <c:v>-117.56939218079786</c:v>
                </c:pt>
                <c:pt idx="170">
                  <c:v>-118.23920745487003</c:v>
                </c:pt>
                <c:pt idx="171">
                  <c:v>-123.79553896854094</c:v>
                </c:pt>
                <c:pt idx="172">
                  <c:v>-117.7215967322664</c:v>
                </c:pt>
                <c:pt idx="173">
                  <c:v>-137.7789928237878</c:v>
                </c:pt>
                <c:pt idx="174">
                  <c:v>-118.29265760640531</c:v>
                </c:pt>
                <c:pt idx="175">
                  <c:v>-120.51525497645605</c:v>
                </c:pt>
                <c:pt idx="176">
                  <c:v>-128.10828251864152</c:v>
                </c:pt>
                <c:pt idx="177">
                  <c:v>-125.51109613092163</c:v>
                </c:pt>
                <c:pt idx="178">
                  <c:v>-114.43120084573624</c:v>
                </c:pt>
                <c:pt idx="179">
                  <c:v>-128.8424872114013</c:v>
                </c:pt>
                <c:pt idx="180">
                  <c:v>-123.1158073378286</c:v>
                </c:pt>
                <c:pt idx="181">
                  <c:v>-122.34160054322919</c:v>
                </c:pt>
                <c:pt idx="182">
                  <c:v>-117.69530739621698</c:v>
                </c:pt>
                <c:pt idx="183">
                  <c:v>-123.72255247943782</c:v>
                </c:pt>
                <c:pt idx="184">
                  <c:v>-114.63538238980549</c:v>
                </c:pt>
                <c:pt idx="185">
                  <c:v>-129.88106791412991</c:v>
                </c:pt>
                <c:pt idx="186">
                  <c:v>-123.99999137611415</c:v>
                </c:pt>
                <c:pt idx="187">
                  <c:v>-119.7174446672765</c:v>
                </c:pt>
                <c:pt idx="188">
                  <c:v>-123.12747448087826</c:v>
                </c:pt>
                <c:pt idx="189">
                  <c:v>-116.58539503421962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900" b="0" i="0" u="none" strike="noStrike">
                    <a:solidFill>
                      <a:srgbClr val="5B6B7F"/>
                    </a:solidFill>
                    <a:latin typeface="Calibri"/>
                  </a:defRPr>
                </a:pPr>
                <a:r>
                  <a:rPr sz="900" b="0" i="0" u="none" strike="noStrike">
                    <a:solidFill>
                      <a:srgbClr val="5B6B7F"/>
                    </a:solidFill>
                    <a:latin typeface="Calibri"/>
                  </a:rPr>
                  <a:t>bin · products at 2f₁−f₂ and 2f₂−f₁ sit beside the tones</a:t>
                </a:r>
              </a:p>
            </c:rich>
          </c:tx>
          <c:layout/>
          <c:overlay val="0"/>
        </c:title>
        <c:numFmt formatCode="General" sourceLinked="1"/>
        <c:majorTickMark val="none"/>
        <c:minorTickMark val="none"/>
        <c:tickLblPos val="low"/>
        <c:spPr>
          <a:ln w="12700" cap="flat">
            <a:solidFill>
              <a:srgbClr val="888888"/>
            </a:solidFill>
            <a:prstDash val="solid"/>
            <a:round/>
          </a:ln>
        </c:spPr>
        <c:txPr>
          <a:bodyPr/>
          <a:lstStyle/>
          <a:p>
            <a:pPr>
              <a:defRPr sz="900" b="0" i="0" u="none" strike="noStrike">
                <a:solidFill>
                  <a:srgbClr val="5B6B7F"/>
                </a:solidFill>
                <a:latin typeface="Calibri"/>
              </a:defRPr>
            </a:pPr>
            <a:endParaRPr lang="en-US"/>
          </a:p>
        </c:txPr>
        <c:crossAx val="2094734552"/>
        <c:crosses val="min"/>
        <c:auto val="1"/>
        <c:lblAlgn val="ctr"/>
        <c:noMultiLvlLbl val="1"/>
        <c:tickLblSkip val="24"/>
      </c:catAx>
      <c:valAx>
        <c:axId val="2094734552"/>
        <c:scaling>
          <c:orientation val="minMax"/>
          <c:max val="0"/>
          <c:min val="-120"/>
        </c:scaling>
        <c:delete val="0"/>
        <c:axPos val="l"/>
        <c:majorGridlines>
          <c:spPr>
            <a:ln w="6350" cap="flat">
              <a:solidFill>
                <a:srgbClr val="D9E1EA"/>
              </a:solidFill>
              <a:prstDash val="solid"/>
              <a:round/>
            </a:ln>
          </c:spPr>
        </c:majorGridlines>
        <c:numFmt formatCode="General" sourceLinked="0"/>
        <c:majorTickMark val="none"/>
        <c:minorTickMark val="none"/>
        <c:tickLblPos val="nextTo"/>
        <c:spPr>
          <a:ln w="12700" cap="flat">
            <a:noFill/>
            <a:prstDash val="solid"/>
            <a:round/>
          </a:ln>
        </c:spPr>
        <c:txPr>
          <a:bodyPr/>
          <a:lstStyle/>
          <a:p>
            <a:pPr>
              <a:defRPr sz="900" b="0" i="0" u="none" strike="noStrike">
                <a:solidFill>
                  <a:srgbClr val="5B6B7F"/>
                </a:solidFill>
                <a:latin typeface="Calibri"/>
              </a:defRPr>
            </a:pPr>
            <a:endParaRPr lang="en-US"/>
          </a:p>
        </c:txPr>
        <c:crossAx val="2094734554"/>
        <c:crosses val="autoZero"/>
        <c:crossBetween val="between"/>
        <c:majorUnit val="30"/>
      </c:valAx>
      <c:spPr>
        <a:solidFill>
          <a:srgbClr val="FFFFFF"/>
        </a:solidFill>
        <a:ln>
          <a:noFill/>
        </a:ln>
        <a:effectLst/>
      </c:spPr>
    </c:plotArea>
    <c:plotVisOnly val="1"/>
    <c:dispBlanksAs val="span"/>
  </c:chart>
  <c:spPr>
    <a:solidFill>
      <a:srgbClr val="FFFFFF"/>
    </a:solidFill>
    <a:ln>
      <a:noFill/>
    </a:ln>
    <a:effectLst/>
  </c:spPr>
  <c:externalData r:id="rId1">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barChart>
        <c:barDir val="col"/>
        <c:grouping val="clustered"/>
        <c:varyColors val="0"/>
        <c:ser>
          <c:idx val="0"/>
          <c:order val="0"/>
          <c:tx>
            <c:strRef>
              <c:f>Sheet1!$B$1</c:f>
              <c:strCache>
                <c:ptCount val="1"/>
                <c:pt idx="0">
                  <c:v>visible floor (dBFS)</c:v>
                </c:pt>
              </c:strCache>
            </c:strRef>
          </c:tx>
          <c:spPr>
            <a:solidFill>
              <a:srgbClr val="2EC4B6"/>
            </a:solidFill>
            <a:effectLst/>
          </c:spPr>
          <c:invertIfNegative val="0"/>
          <c:dLbls>
            <c:numFmt formatCode="0&quot;dB&quot;" sourceLinked="0"/>
            <c:txPr>
              <a:bodyPr/>
              <a:lstStyle/>
              <a:p>
                <a:pPr>
                  <a:defRPr b="0" i="0" strike="noStrike" sz="900" u="none">
                    <a:solidFill>
                      <a:srgbClr val="14213D"/>
                    </a:solidFill>
                    <a:latin typeface="Calibri"/>
                  </a:defRPr>
                </a:pPr>
              </a:p>
            </c:txPr>
            <c:dLblPos val="inEnd"/>
            <c:showLegendKey val="0"/>
            <c:showVal val="1"/>
            <c:showCatName val="0"/>
            <c:showSerName val="0"/>
            <c:showPercent val="0"/>
            <c:showBubbleSize val="0"/>
            <c:showLeaderLines val="0"/>
          </c:dLbls>
          <c:cat>
            <c:multiLvlStrRef>
              <c:f>Sheet1!$A$2:$A$7</c:f>
              <c:multiLvlStrCache>
                <c:ptCount val="6"/>
                <c:lvl>
                  <c:pt idx="0">
                    <c:v>256</c:v>
                  </c:pt>
                  <c:pt idx="1">
                    <c:v>512</c:v>
                  </c:pt>
                  <c:pt idx="2">
                    <c:v>1024</c:v>
                  </c:pt>
                  <c:pt idx="3">
                    <c:v>2048</c:v>
                  </c:pt>
                  <c:pt idx="4">
                    <c:v>4096</c:v>
                  </c:pt>
                  <c:pt idx="5">
                    <c:v>8192</c:v>
                  </c:pt>
                </c:lvl>
              </c:multiLvlStrCache>
            </c:multiLvlStrRef>
          </c:cat>
          <c:val>
            <c:numRef>
              <c:f>Sheet1!$B$2:$B$7</c:f>
              <c:numCache>
                <c:formatCode>General</c:formatCode>
                <c:ptCount val="6"/>
                <c:pt idx="0">
                  <c:v>-95.07209969647869</c:v>
                </c:pt>
                <c:pt idx="1">
                  <c:v>-98.0823996531185</c:v>
                </c:pt>
                <c:pt idx="2">
                  <c:v>-101.09269960975831</c:v>
                </c:pt>
                <c:pt idx="3">
                  <c:v>-104.10299956639813</c:v>
                </c:pt>
                <c:pt idx="4">
                  <c:v>-107.11329952303794</c:v>
                </c:pt>
                <c:pt idx="5">
                  <c:v>-110.12359947967775</c:v>
                </c:pt>
              </c:numCache>
            </c:numRef>
          </c:val>
        </c:ser>
        <c:dLbls>
          <c:numFmt formatCode="0&quot;dB&quot;" sourceLinked="0"/>
          <c:txPr>
            <a:bodyPr/>
            <a:lstStyle/>
            <a:p>
              <a:pPr>
                <a:defRPr b="0" i="0" strike="noStrike" sz="900" u="none">
                  <a:solidFill>
                    <a:srgbClr val="14213D"/>
                  </a:solidFill>
                  <a:latin typeface="Calibri"/>
                </a:defRPr>
              </a:pPr>
            </a:p>
          </c:txPr>
          <c:dLblPos val="inEnd"/>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title>
          <c:tx>
            <c:rich>
              <a:bodyPr/>
              <a:lstStyle/>
              <a:p>
                <a:pPr>
                  <a:defRPr sz="900" b="0" i="0" u="none" strike="noStrike">
                    <a:solidFill>
                      <a:srgbClr val="5B6B7F"/>
                    </a:solidFill>
                    <a:latin typeface="Calibri"/>
                  </a:defRPr>
                </a:pPr>
                <a:r>
                  <a:rPr sz="900" b="0" i="0" u="none" strike="noStrike">
                    <a:solidFill>
                      <a:srgbClr val="5B6B7F"/>
                    </a:solidFill>
                    <a:latin typeface="Calibri"/>
                  </a:rPr>
                  <a:t>FFT length · the same 12-bit converter every time</a:t>
                </a:r>
              </a:p>
            </c:rich>
          </c:tx>
          <c:layout/>
          <c:overlay val="0"/>
        </c:title>
        <c:numFmt formatCode="General" sourceLinked="1"/>
        <c:majorTickMark val="none"/>
        <c:minorTickMark val="none"/>
        <c:tickLblPos val="low"/>
        <c:spPr>
          <a:ln w="12700" cap="flat">
            <a:solidFill>
              <a:srgbClr val="888888"/>
            </a:solidFill>
            <a:prstDash val="solid"/>
            <a:round/>
          </a:ln>
        </c:spPr>
        <c:txPr>
          <a:bodyPr/>
          <a:lstStyle/>
          <a:p>
            <a:pPr>
              <a:defRPr sz="900" b="0" i="0" u="none" strike="noStrike">
                <a:solidFill>
                  <a:srgbClr val="5B6B7F"/>
                </a:solidFill>
                <a:latin typeface="Calibri"/>
              </a:defRPr>
            </a:pPr>
            <a:endParaRPr lang="en-US"/>
          </a:p>
        </c:txPr>
        <c:crossAx val="2094734552"/>
        <c:crosses val="min"/>
        <c:auto val="1"/>
        <c:lblAlgn val="ctr"/>
        <c:noMultiLvlLbl val="1"/>
      </c:catAx>
      <c:valAx>
        <c:axId val="2094734552"/>
        <c:scaling>
          <c:orientation val="minMax"/>
          <c:max val="0"/>
          <c:min val="-120"/>
        </c:scaling>
        <c:delete val="0"/>
        <c:axPos val="l"/>
        <c:majorGridlines>
          <c:spPr>
            <a:ln w="6350" cap="flat">
              <a:solidFill>
                <a:srgbClr val="D9E1EA"/>
              </a:solidFill>
              <a:prstDash val="solid"/>
              <a:round/>
            </a:ln>
          </c:spPr>
        </c:majorGridlines>
        <c:numFmt formatCode="General" sourceLinked="0"/>
        <c:majorTickMark val="none"/>
        <c:minorTickMark val="none"/>
        <c:tickLblPos val="nextTo"/>
        <c:spPr>
          <a:ln w="12700" cap="flat">
            <a:noFill/>
            <a:prstDash val="solid"/>
            <a:round/>
          </a:ln>
        </c:spPr>
        <c:txPr>
          <a:bodyPr/>
          <a:lstStyle/>
          <a:p>
            <a:pPr>
              <a:defRPr sz="900" b="0" i="0" u="none" strike="noStrike">
                <a:solidFill>
                  <a:srgbClr val="5B6B7F"/>
                </a:solidFill>
                <a:latin typeface="Calibri"/>
              </a:defRPr>
            </a:pPr>
            <a:endParaRPr lang="en-US"/>
          </a:p>
        </c:txPr>
        <c:crossAx val="2094734554"/>
        <c:crosses val="autoZero"/>
        <c:crossBetween val="between"/>
        <c:majorUnit val="30"/>
      </c:valAx>
      <c:spPr>
        <a:solidFill>
          <a:srgbClr val="FFFFFF"/>
        </a:solidFill>
        <a:ln>
          <a:noFill/>
        </a:ln>
        <a:effectLst/>
      </c:spPr>
    </c:plotArea>
    <c:plotVisOnly val="1"/>
    <c:dispBlanksAs val="span"/>
  </c:chart>
  <c:spPr>
    <a:solidFill>
      <a:srgbClr val="FFFFFF"/>
    </a:solidFill>
    <a:ln>
      <a:noFill/>
    </a:ln>
    <a:effectLst/>
  </c:spPr>
  <c:externalData r:id="rId1">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lineChart>
        <c:varyColors val="0"/>
        <c:ser>
          <c:idx val="0"/>
          <c:order val="0"/>
          <c:tx>
            <c:strRef>
              <c:f>Sheet1!$B$1</c:f>
              <c:strCache>
                <c:ptCount val="1"/>
                <c:pt idx="0">
                  <c:v>plain oversampling</c:v>
                </c:pt>
              </c:strCache>
            </c:strRef>
          </c:tx>
          <c:spPr>
            <a:solidFill>
              <a:srgbClr val="5B6B7F"/>
            </a:solidFill>
            <a:ln w="19050" cap="flat">
              <a:solidFill>
                <a:srgbClr val="5B6B7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4"/>
            <c:spPr>
              <a:solidFill>
                <a:srgbClr val="5B6B7F"/>
              </a:solidFill>
              <a:ln w="9525" cap="flat">
                <a:solidFill>
                  <a:srgbClr val="5B6B7F"/>
                </a:solidFill>
                <a:prstDash val="solid"/>
                <a:round/>
              </a:ln>
              <a:effectLst/>
            </c:spPr>
          </c:marker>
          <c:cat>
            <c:multiLvlStrRef>
              <c:f>Sheet1!$A$2:$A$9</c:f>
              <c:multiLvlStrCache>
                <c:ptCount val="8"/>
                <c:lvl>
                  <c:pt idx="0">
                    <c:v>1</c:v>
                  </c:pt>
                  <c:pt idx="1">
                    <c:v>2</c:v>
                  </c:pt>
                  <c:pt idx="2">
                    <c:v>4</c:v>
                  </c:pt>
                  <c:pt idx="3">
                    <c:v>8</c:v>
                  </c:pt>
                  <c:pt idx="4">
                    <c:v>16</c:v>
                  </c:pt>
                  <c:pt idx="5">
                    <c:v>32</c:v>
                  </c:pt>
                  <c:pt idx="6">
                    <c:v>64</c:v>
                  </c:pt>
                  <c:pt idx="7">
                    <c:v>128</c:v>
                  </c:pt>
                </c:lvl>
              </c:multiLvlStrCache>
            </c:multiLvlStrRef>
          </c:cat>
          <c:val>
            <c:numRef>
              <c:f>Sheet1!$B$2:$B$9</c:f>
              <c:numCache>
                <c:formatCode>General</c:formatCode>
                <c:ptCount val="8"/>
                <c:pt idx="0">
                  <c:v>74</c:v>
                </c:pt>
                <c:pt idx="1">
                  <c:v>77.01029995663981</c:v>
                </c:pt>
                <c:pt idx="2">
                  <c:v>80.02059991327963</c:v>
                </c:pt>
                <c:pt idx="3">
                  <c:v>83.03089986991944</c:v>
                </c:pt>
                <c:pt idx="4">
                  <c:v>86.04119982655925</c:v>
                </c:pt>
                <c:pt idx="5">
                  <c:v>89.05149978319906</c:v>
                </c:pt>
                <c:pt idx="6">
                  <c:v>92.06179973983888</c:v>
                </c:pt>
                <c:pt idx="7">
                  <c:v>95.07209969647869</c:v>
                </c:pt>
              </c:numCache>
            </c:numRef>
          </c:val>
          <c:smooth val="0"/>
        </c:ser>
        <c:ser>
          <c:idx val="1"/>
          <c:order val="1"/>
          <c:tx>
            <c:strRef>
              <c:f>Sheet1!$C$1</c:f>
              <c:strCache>
                <c:ptCount val="1"/>
                <c:pt idx="0">
                  <c:v>1st-order shaping</c:v>
                </c:pt>
              </c:strCache>
            </c:strRef>
          </c:tx>
          <c:spPr>
            <a:solidFill>
              <a:srgbClr val="2EC4B6"/>
            </a:solidFill>
            <a:ln w="19050" cap="flat">
              <a:solidFill>
                <a:srgbClr val="2EC4B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4"/>
            <c:spPr>
              <a:solidFill>
                <a:srgbClr val="2EC4B6"/>
              </a:solidFill>
              <a:ln w="9525" cap="flat">
                <a:solidFill>
                  <a:srgbClr val="2EC4B6"/>
                </a:solidFill>
                <a:prstDash val="solid"/>
                <a:round/>
              </a:ln>
              <a:effectLst/>
            </c:spPr>
          </c:marker>
          <c:cat>
            <c:multiLvlStrRef>
              <c:f>Sheet1!$A$2:$A$9</c:f>
              <c:multiLvlStrCache>
                <c:ptCount val="8"/>
                <c:lvl>
                  <c:pt idx="0">
                    <c:v>1</c:v>
                  </c:pt>
                  <c:pt idx="1">
                    <c:v>2</c:v>
                  </c:pt>
                  <c:pt idx="2">
                    <c:v>4</c:v>
                  </c:pt>
                  <c:pt idx="3">
                    <c:v>8</c:v>
                  </c:pt>
                  <c:pt idx="4">
                    <c:v>16</c:v>
                  </c:pt>
                  <c:pt idx="5">
                    <c:v>32</c:v>
                  </c:pt>
                  <c:pt idx="6">
                    <c:v>64</c:v>
                  </c:pt>
                  <c:pt idx="7">
                    <c:v>128</c:v>
                  </c:pt>
                </c:lvl>
              </c:multiLvlStrCache>
            </c:multiLvlStrRef>
          </c:cat>
          <c:val>
            <c:numRef>
              <c:f>Sheet1!$C$2:$C$9</c:f>
              <c:numCache>
                <c:formatCode>General</c:formatCode>
                <c:ptCount val="8"/>
                <c:pt idx="0">
                  <c:v>74</c:v>
                </c:pt>
                <c:pt idx="1">
                  <c:v>83</c:v>
                </c:pt>
                <c:pt idx="2">
                  <c:v>92</c:v>
                </c:pt>
                <c:pt idx="3">
                  <c:v>101</c:v>
                </c:pt>
                <c:pt idx="4">
                  <c:v>110</c:v>
                </c:pt>
                <c:pt idx="5">
                  <c:v>119</c:v>
                </c:pt>
                <c:pt idx="6">
                  <c:v>128</c:v>
                </c:pt>
                <c:pt idx="7">
                  <c:v>137</c:v>
                </c:pt>
              </c:numCache>
            </c:numRef>
          </c:val>
          <c:smooth val="0"/>
        </c:ser>
        <c:ser>
          <c:idx val="2"/>
          <c:order val="2"/>
          <c:tx>
            <c:strRef>
              <c:f>Sheet1!$D$1</c:f>
              <c:strCache>
                <c:ptCount val="1"/>
                <c:pt idx="0">
                  <c:v>2nd-order shaping</c:v>
                </c:pt>
              </c:strCache>
            </c:strRef>
          </c:tx>
          <c:spPr>
            <a:solidFill>
              <a:srgbClr val="E76F51"/>
            </a:solidFill>
            <a:ln w="19050" cap="flat">
              <a:solidFill>
                <a:srgbClr val="E76F5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4"/>
            <c:spPr>
              <a:solidFill>
                <a:srgbClr val="E76F51"/>
              </a:solidFill>
              <a:ln w="9525" cap="flat">
                <a:solidFill>
                  <a:srgbClr val="E76F51"/>
                </a:solidFill>
                <a:prstDash val="solid"/>
                <a:round/>
              </a:ln>
              <a:effectLst/>
            </c:spPr>
          </c:marker>
          <c:cat>
            <c:multiLvlStrRef>
              <c:f>Sheet1!$A$2:$A$9</c:f>
              <c:multiLvlStrCache>
                <c:ptCount val="8"/>
                <c:lvl>
                  <c:pt idx="0">
                    <c:v>1</c:v>
                  </c:pt>
                  <c:pt idx="1">
                    <c:v>2</c:v>
                  </c:pt>
                  <c:pt idx="2">
                    <c:v>4</c:v>
                  </c:pt>
                  <c:pt idx="3">
                    <c:v>8</c:v>
                  </c:pt>
                  <c:pt idx="4">
                    <c:v>16</c:v>
                  </c:pt>
                  <c:pt idx="5">
                    <c:v>32</c:v>
                  </c:pt>
                  <c:pt idx="6">
                    <c:v>64</c:v>
                  </c:pt>
                  <c:pt idx="7">
                    <c:v>128</c:v>
                  </c:pt>
                </c:lvl>
              </c:multiLvlStrCache>
            </c:multiLvlStrRef>
          </c:cat>
          <c:val>
            <c:numRef>
              <c:f>Sheet1!$D$2:$D$9</c:f>
              <c:numCache>
                <c:formatCode>General</c:formatCode>
                <c:ptCount val="8"/>
                <c:pt idx="0">
                  <c:v>74</c:v>
                </c:pt>
                <c:pt idx="1">
                  <c:v>89</c:v>
                </c:pt>
                <c:pt idx="2">
                  <c:v>104</c:v>
                </c:pt>
                <c:pt idx="3">
                  <c:v>119</c:v>
                </c:pt>
                <c:pt idx="4">
                  <c:v>134</c:v>
                </c:pt>
                <c:pt idx="5">
                  <c:v>149</c:v>
                </c:pt>
                <c:pt idx="6">
                  <c:v>164</c:v>
                </c:pt>
                <c:pt idx="7">
                  <c:v>179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900" b="0" i="0" u="none" strike="noStrike">
                    <a:solidFill>
                      <a:srgbClr val="5B6B7F"/>
                    </a:solidFill>
                    <a:latin typeface="Calibri"/>
                  </a:defRPr>
                </a:pPr>
                <a:r>
                  <a:rPr sz="900" b="0" i="0" u="none" strike="noStrike">
                    <a:solidFill>
                      <a:srgbClr val="5B6B7F"/>
                    </a:solidFill>
                    <a:latin typeface="Calibri"/>
                  </a:rPr>
                  <a:t>oversampling ratio</a:t>
                </a:r>
              </a:p>
            </c:rich>
          </c:tx>
          <c:layout/>
          <c:overlay val="0"/>
        </c:title>
        <c:numFmt formatCode="General" sourceLinked="1"/>
        <c:majorTickMark val="none"/>
        <c:minorTickMark val="none"/>
        <c:tickLblPos val="low"/>
        <c:spPr>
          <a:ln w="12700" cap="flat">
            <a:solidFill>
              <a:srgbClr val="888888"/>
            </a:solidFill>
            <a:prstDash val="solid"/>
            <a:round/>
          </a:ln>
        </c:spPr>
        <c:txPr>
          <a:bodyPr/>
          <a:lstStyle/>
          <a:p>
            <a:pPr>
              <a:defRPr sz="900" b="0" i="0" u="none" strike="noStrike">
                <a:solidFill>
                  <a:srgbClr val="5B6B7F"/>
                </a:solidFill>
                <a:latin typeface="Calibri"/>
              </a:defRPr>
            </a:pPr>
            <a:endParaRPr lang="en-US"/>
          </a:p>
        </c:txPr>
        <c:crossAx val="2094734552"/>
        <c:crosses val="min"/>
        <c:auto val="1"/>
        <c:lblAlgn val="ctr"/>
        <c:noMultiLvlLbl val="1"/>
      </c:catAx>
      <c:valAx>
        <c:axId val="2094734552"/>
        <c:scaling>
          <c:orientation val="minMax"/>
          <c:max val="190"/>
          <c:min val="70"/>
        </c:scaling>
        <c:delete val="0"/>
        <c:axPos val="l"/>
        <c:majorGridlines>
          <c:spPr>
            <a:ln w="6350" cap="flat">
              <a:solidFill>
                <a:srgbClr val="D9E1EA"/>
              </a:solidFill>
              <a:prstDash val="solid"/>
              <a:round/>
            </a:ln>
          </c:spPr>
        </c:majorGridlines>
        <c:title>
          <c:tx>
            <c:rich>
              <a:bodyPr/>
              <a:lstStyle/>
              <a:p>
                <a:pPr>
                  <a:defRPr sz="900" b="0" i="0" u="none" strike="noStrike">
                    <a:solidFill>
                      <a:srgbClr val="5B6B7F"/>
                    </a:solidFill>
                    <a:latin typeface="Calibri"/>
                  </a:defRPr>
                </a:pPr>
                <a:r>
                  <a:rPr sz="900" b="0" i="0" u="none" strike="noStrike">
                    <a:solidFill>
                      <a:srgbClr val="5B6B7F"/>
                    </a:solidFill>
                    <a:latin typeface="Calibri"/>
                  </a:rPr>
                  <a:t>dynamic range (dB)</a:t>
                </a:r>
              </a:p>
            </c:rich>
          </c:tx>
          <c:layout/>
          <c:overlay val="0"/>
        </c:title>
        <c:numFmt formatCode="General" sourceLinked="0"/>
        <c:majorTickMark val="none"/>
        <c:minorTickMark val="none"/>
        <c:tickLblPos val="nextTo"/>
        <c:spPr>
          <a:ln w="12700" cap="flat">
            <a:noFill/>
            <a:prstDash val="solid"/>
            <a:round/>
          </a:ln>
        </c:spPr>
        <c:txPr>
          <a:bodyPr/>
          <a:lstStyle/>
          <a:p>
            <a:pPr>
              <a:defRPr sz="900" b="0" i="0" u="none" strike="noStrike">
                <a:solidFill>
                  <a:srgbClr val="5B6B7F"/>
                </a:solidFill>
                <a:latin typeface="Calibri"/>
              </a:defRPr>
            </a:pPr>
            <a:endParaRPr lang="en-US"/>
          </a:p>
        </c:txPr>
        <c:crossAx val="2094734554"/>
        <c:crosses val="autoZero"/>
        <c:crossBetween val="between"/>
        <c:majorUnit val="30"/>
      </c:valAx>
      <c:spPr>
        <a:solidFill>
          <a:srgbClr val="FFFFFF"/>
        </a:solidFill>
        <a:ln>
          <a:noFill/>
        </a:ln>
        <a:effectLst/>
      </c:spPr>
    </c:plotArea>
    <c:legend>
      <c:legendPos val="b"/>
      <c:overlay val="0"/>
      <c:txPr>
        <a:bodyPr/>
        <a:lstStyle/>
        <a:p>
          <a:pPr>
            <a:defRPr sz="900">
              <a:solidFill>
                <a:srgbClr val="14213D"/>
              </a:solidFill>
              <a:latin typeface="Calibri"/>
              <a:cs typeface="Calibri"/>
            </a:defRPr>
          </a:pPr>
          <a:endParaRPr lang="en-US"/>
        </a:p>
      </c:txPr>
    </c:legend>
    <c:plotVisOnly val="1"/>
    <c:dispBlanksAs val="span"/>
  </c:chart>
  <c:spPr>
    <a:solidFill>
      <a:srgbClr val="FFFFFF"/>
    </a:solidFill>
    <a:ln>
      <a:noFill/>
    </a:ln>
    <a:effectLst/>
  </c:spPr>
  <c:externalData r:id="rId1">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barChart>
        <c:barDir val="col"/>
        <c:grouping val="clustered"/>
        <c:varyColors val="0"/>
        <c:ser>
          <c:idx val="0"/>
          <c:order val="0"/>
          <c:tx>
            <c:strRef>
              <c:f>Sheet1!$B$1</c:f>
              <c:strCache>
                <c:ptCount val="1"/>
                <c:pt idx="0">
                  <c:v>where it appears (MHz)</c:v>
                </c:pt>
              </c:strCache>
            </c:strRef>
          </c:tx>
          <c:spPr>
            <a:solidFill>
              <a:srgbClr val="E76F51"/>
            </a:solidFill>
            <a:effectLst/>
          </c:spPr>
          <c:invertIfNegative val="0"/>
          <c:dLbls>
            <c:numFmt formatCode="0" sourceLinked="0"/>
            <c:txPr>
              <a:bodyPr/>
              <a:lstStyle/>
              <a:p>
                <a:pPr>
                  <a:defRPr b="0" i="0" strike="noStrike" sz="900" u="none">
                    <a:solidFill>
                      <a:srgbClr val="14213D"/>
                    </a:solidFill>
                    <a:latin typeface="Calibri"/>
                  </a:defRPr>
                </a:pPr>
              </a:p>
            </c:txPr>
            <c:showLegendKey val="0"/>
            <c:showVal val="1"/>
            <c:showCatName val="0"/>
            <c:showSerName val="0"/>
            <c:showPercent val="0"/>
            <c:showBubbleSize val="0"/>
            <c:showLeaderLines val="0"/>
          </c:dLbls>
          <c:cat>
            <c:multiLvlStrRef>
              <c:f>Sheet1!$A$2:$A$8</c:f>
              <c:multiLvlStrCache>
                <c:ptCount val="7"/>
                <c:lvl>
                  <c:pt idx="0">
                    <c:v>10 MHz</c:v>
                  </c:pt>
                  <c:pt idx="1">
                    <c:v>30 MHz</c:v>
                  </c:pt>
                  <c:pt idx="2">
                    <c:v>45 MHz</c:v>
                  </c:pt>
                  <c:pt idx="3">
                    <c:v>60 MHz</c:v>
                  </c:pt>
                  <c:pt idx="4">
                    <c:v>80 MHz</c:v>
                  </c:pt>
                  <c:pt idx="5">
                    <c:v>110 MHz</c:v>
                  </c:pt>
                  <c:pt idx="6">
                    <c:v>140 MHz</c:v>
                  </c:pt>
                </c:lvl>
              </c:multiLvlStrCache>
            </c:multiLvlStrRef>
          </c:cat>
          <c:val>
            <c:numRef>
              <c:f>Sheet1!$B$2:$B$8</c:f>
              <c:numCache>
                <c:formatCode>General</c:formatCode>
                <c:ptCount val="7"/>
                <c:pt idx="0">
                  <c:v>10</c:v>
                </c:pt>
                <c:pt idx="1">
                  <c:v>30</c:v>
                </c:pt>
                <c:pt idx="2">
                  <c:v>45</c:v>
                </c:pt>
                <c:pt idx="3">
                  <c:v>40</c:v>
                </c:pt>
                <c:pt idx="4">
                  <c:v>20</c:v>
                </c:pt>
                <c:pt idx="5">
                  <c:v>10</c:v>
                </c:pt>
                <c:pt idx="6">
                  <c:v>40</c:v>
                </c:pt>
              </c:numCache>
            </c:numRef>
          </c:val>
        </c:ser>
        <c:dLbls>
          <c:numFmt formatCode="0" sourceLinked="0"/>
          <c:txPr>
            <a:bodyPr/>
            <a:lstStyle/>
            <a:p>
              <a:pPr>
                <a:defRPr b="0" i="0" strike="noStrike" sz="900" u="none">
                  <a:solidFill>
                    <a:srgbClr val="14213D"/>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title>
          <c:tx>
            <c:rich>
              <a:bodyPr/>
              <a:lstStyle/>
              <a:p>
                <a:pPr>
                  <a:defRPr sz="900" b="0" i="0" u="none" strike="noStrike">
                    <a:solidFill>
                      <a:srgbClr val="5B6B7F"/>
                    </a:solidFill>
                    <a:latin typeface="Calibri"/>
                  </a:defRPr>
                </a:pPr>
                <a:r>
                  <a:rPr sz="900" b="0" i="0" u="none" strike="noStrike">
                    <a:solidFill>
                      <a:srgbClr val="5B6B7F"/>
                    </a:solidFill>
                    <a:latin typeface="Calibri"/>
                  </a:rPr>
                  <a:t>input tone, sampled at 100 MSPS · limit is 50 MHz</a:t>
                </a:r>
              </a:p>
            </c:rich>
          </c:tx>
          <c:layout/>
          <c:overlay val="0"/>
        </c:title>
        <c:numFmt formatCode="General" sourceLinked="1"/>
        <c:majorTickMark val="none"/>
        <c:minorTickMark val="none"/>
        <c:tickLblPos val="low"/>
        <c:spPr>
          <a:ln w="12700" cap="flat">
            <a:solidFill>
              <a:srgbClr val="888888"/>
            </a:solidFill>
            <a:prstDash val="solid"/>
            <a:round/>
          </a:ln>
        </c:spPr>
        <c:txPr>
          <a:bodyPr/>
          <a:lstStyle/>
          <a:p>
            <a:pPr>
              <a:defRPr sz="900" b="0" i="0" u="none" strike="noStrike">
                <a:solidFill>
                  <a:srgbClr val="5B6B7F"/>
                </a:solidFill>
                <a:latin typeface="Calibri"/>
              </a:defRPr>
            </a:pPr>
            <a:endParaRPr lang="en-US"/>
          </a:p>
        </c:txPr>
        <c:crossAx val="2094734552"/>
        <c:crosses val="min"/>
        <c:auto val="1"/>
        <c:lblAlgn val="ctr"/>
        <c:noMultiLvlLbl val="1"/>
      </c:catAx>
      <c:valAx>
        <c:axId val="2094734552"/>
        <c:scaling>
          <c:orientation val="minMax"/>
          <c:max val="55"/>
          <c:min val="0"/>
        </c:scaling>
        <c:delete val="0"/>
        <c:axPos val="l"/>
        <c:majorGridlines>
          <c:spPr>
            <a:ln w="6350" cap="flat">
              <a:solidFill>
                <a:srgbClr val="D9E1EA"/>
              </a:solidFill>
              <a:prstDash val="solid"/>
              <a:round/>
            </a:ln>
          </c:spPr>
        </c:majorGridlines>
        <c:numFmt formatCode="General" sourceLinked="0"/>
        <c:majorTickMark val="none"/>
        <c:minorTickMark val="none"/>
        <c:tickLblPos val="nextTo"/>
        <c:spPr>
          <a:ln w="12700" cap="flat">
            <a:noFill/>
            <a:prstDash val="solid"/>
            <a:round/>
          </a:ln>
        </c:spPr>
        <c:txPr>
          <a:bodyPr/>
          <a:lstStyle/>
          <a:p>
            <a:pPr>
              <a:defRPr sz="900" b="0" i="0" u="none" strike="noStrike">
                <a:solidFill>
                  <a:srgbClr val="5B6B7F"/>
                </a:solidFill>
                <a:latin typeface="Calibri"/>
              </a:defRPr>
            </a:pPr>
            <a:endParaRPr lang="en-US"/>
          </a:p>
        </c:txPr>
        <c:crossAx val="2094734554"/>
        <c:crosses val="autoZero"/>
        <c:crossBetween val="between"/>
        <c:majorUnit val="10"/>
      </c:valAx>
      <c:spPr>
        <a:solidFill>
          <a:srgbClr val="FFFFFF"/>
        </a:solidFill>
        <a:ln>
          <a:noFill/>
        </a:ln>
        <a:effectLst/>
      </c:spPr>
    </c:plotArea>
    <c:plotVisOnly val="1"/>
    <c:dispBlanksAs val="span"/>
  </c:chart>
  <c:spPr>
    <a:solidFill>
      <a:srgbClr val="FFFFFF"/>
    </a:solidFill>
    <a:ln>
      <a:noFill/>
    </a:ln>
    <a:effectLst/>
  </c:spPr>
  <c:externalData r:id="rId1">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lineChart>
        <c:varyColors val="0"/>
        <c:ser>
          <c:idx val="0"/>
          <c:order val="0"/>
          <c:tx>
            <c:strRef>
              <c:f>Sheet1!$B$1</c:f>
              <c:strCache>
                <c:ptCount val="1"/>
                <c:pt idx="0">
                  <c:v>f_in = 100 MHz</c:v>
                </c:pt>
              </c:strCache>
            </c:strRef>
          </c:tx>
          <c:spPr>
            <a:solidFill>
              <a:srgbClr val="2EC4B6"/>
            </a:solidFill>
            <a:ln w="19050" cap="flat">
              <a:solidFill>
                <a:srgbClr val="2EC4B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2EC4B6"/>
              </a:solidFill>
              <a:ln w="9525" cap="flat">
                <a:solidFill>
                  <a:srgbClr val="2EC4B6"/>
                </a:solidFill>
                <a:prstDash val="solid"/>
                <a:round/>
              </a:ln>
              <a:effectLst/>
            </c:spPr>
          </c:marker>
          <c:cat>
            <c:multiLvlStrRef>
              <c:f>Sheet1!$A$2:$A$9</c:f>
              <c:multiLvlStrCache>
                <c:ptCount val="8"/>
                <c:lvl>
                  <c:pt idx="0">
                    <c:v>1</c:v>
                  </c:pt>
                  <c:pt idx="1">
                    <c:v>2</c:v>
                  </c:pt>
                  <c:pt idx="2">
                    <c:v>5</c:v>
                  </c:pt>
                  <c:pt idx="3">
                    <c:v>10</c:v>
                  </c:pt>
                  <c:pt idx="4">
                    <c:v>20</c:v>
                  </c:pt>
                  <c:pt idx="5">
                    <c:v>50</c:v>
                  </c:pt>
                  <c:pt idx="6">
                    <c:v>100</c:v>
                  </c:pt>
                  <c:pt idx="7">
                    <c:v>200</c:v>
                  </c:pt>
                </c:lvl>
              </c:multiLvlStrCache>
            </c:multiLvlStrRef>
          </c:cat>
          <c:val>
            <c:numRef>
              <c:f>Sheet1!$B$2:$B$9</c:f>
              <c:numCache>
                <c:formatCode>General</c:formatCode>
                <c:ptCount val="8"/>
                <c:pt idx="0">
                  <c:v>-70.05700254611733</c:v>
                </c:pt>
                <c:pt idx="1">
                  <c:v>-64.0364026328377</c:v>
                </c:pt>
                <c:pt idx="2">
                  <c:v>-56.07760245939695</c:v>
                </c:pt>
                <c:pt idx="3">
                  <c:v>-50.057002546117324</c:v>
                </c:pt>
                <c:pt idx="4">
                  <c:v>-44.0364026328377</c:v>
                </c:pt>
                <c:pt idx="5">
                  <c:v>-36.07760245939695</c:v>
                </c:pt>
                <c:pt idx="6">
                  <c:v>-30.057002546117324</c:v>
                </c:pt>
                <c:pt idx="7">
                  <c:v>-24.0364026328377</c:v>
                </c:pt>
              </c:numCache>
            </c:numRef>
          </c:val>
          <c:smooth val="0"/>
        </c:ser>
        <c:ser>
          <c:idx val="1"/>
          <c:order val="1"/>
          <c:tx>
            <c:strRef>
              <c:f>Sheet1!$C$1</c:f>
              <c:strCache>
                <c:ptCount val="1"/>
                <c:pt idx="0">
                  <c:v>f_in = 500 MHz</c:v>
                </c:pt>
              </c:strCache>
            </c:strRef>
          </c:tx>
          <c:spPr>
            <a:solidFill>
              <a:srgbClr val="E76F51"/>
            </a:solidFill>
            <a:ln w="19050" cap="flat">
              <a:solidFill>
                <a:srgbClr val="E76F5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E76F51"/>
              </a:solidFill>
              <a:ln w="9525" cap="flat">
                <a:solidFill>
                  <a:srgbClr val="E76F51"/>
                </a:solidFill>
                <a:prstDash val="solid"/>
                <a:round/>
              </a:ln>
              <a:effectLst/>
            </c:spPr>
          </c:marker>
          <c:cat>
            <c:multiLvlStrRef>
              <c:f>Sheet1!$A$2:$A$9</c:f>
              <c:multiLvlStrCache>
                <c:ptCount val="8"/>
                <c:lvl>
                  <c:pt idx="0">
                    <c:v>1</c:v>
                  </c:pt>
                  <c:pt idx="1">
                    <c:v>2</c:v>
                  </c:pt>
                  <c:pt idx="2">
                    <c:v>5</c:v>
                  </c:pt>
                  <c:pt idx="3">
                    <c:v>10</c:v>
                  </c:pt>
                  <c:pt idx="4">
                    <c:v>20</c:v>
                  </c:pt>
                  <c:pt idx="5">
                    <c:v>50</c:v>
                  </c:pt>
                  <c:pt idx="6">
                    <c:v>100</c:v>
                  </c:pt>
                  <c:pt idx="7">
                    <c:v>200</c:v>
                  </c:pt>
                </c:lvl>
              </c:multiLvlStrCache>
            </c:multiLvlStrRef>
          </c:cat>
          <c:val>
            <c:numRef>
              <c:f>Sheet1!$C$2:$C$9</c:f>
              <c:numCache>
                <c:formatCode>General</c:formatCode>
                <c:ptCount val="8"/>
                <c:pt idx="0">
                  <c:v>-56.07760245939694</c:v>
                </c:pt>
                <c:pt idx="1">
                  <c:v>-50.057002546117324</c:v>
                </c:pt>
                <c:pt idx="2">
                  <c:v>-42.09820237267657</c:v>
                </c:pt>
                <c:pt idx="3">
                  <c:v>-36.07760245939695</c:v>
                </c:pt>
                <c:pt idx="4">
                  <c:v>-30.05700254611732</c:v>
                </c:pt>
                <c:pt idx="5">
                  <c:v>-22.09820237267657</c:v>
                </c:pt>
                <c:pt idx="6">
                  <c:v>-16.077602459396946</c:v>
                </c:pt>
                <c:pt idx="7">
                  <c:v>-10.057002546117321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900" b="0" i="0" u="none" strike="noStrike">
                    <a:solidFill>
                      <a:srgbClr val="5B6B7F"/>
                    </a:solidFill>
                    <a:latin typeface="Calibri"/>
                  </a:defRPr>
                </a:pPr>
                <a:r>
                  <a:rPr sz="900" b="0" i="0" u="none" strike="noStrike">
                    <a:solidFill>
                      <a:srgbClr val="5B6B7F"/>
                    </a:solidFill>
                    <a:latin typeface="Calibri"/>
                  </a:rPr>
                  <a:t>delay mismatch between interleaved channels (ps)</a:t>
                </a:r>
              </a:p>
            </c:rich>
          </c:tx>
          <c:layout/>
          <c:overlay val="0"/>
        </c:title>
        <c:numFmt formatCode="General" sourceLinked="1"/>
        <c:majorTickMark val="none"/>
        <c:minorTickMark val="none"/>
        <c:tickLblPos val="low"/>
        <c:spPr>
          <a:ln w="12700" cap="flat">
            <a:solidFill>
              <a:srgbClr val="888888"/>
            </a:solidFill>
            <a:prstDash val="solid"/>
            <a:round/>
          </a:ln>
        </c:spPr>
        <c:txPr>
          <a:bodyPr/>
          <a:lstStyle/>
          <a:p>
            <a:pPr>
              <a:defRPr sz="900" b="0" i="0" u="none" strike="noStrike">
                <a:solidFill>
                  <a:srgbClr val="5B6B7F"/>
                </a:solidFill>
                <a:latin typeface="Calibri"/>
              </a:defRPr>
            </a:pPr>
            <a:endParaRPr lang="en-US"/>
          </a:p>
        </c:txPr>
        <c:crossAx val="2094734552"/>
        <c:crosses val="min"/>
        <c:auto val="1"/>
        <c:lblAlgn val="ctr"/>
        <c:noMultiLvlLbl val="1"/>
      </c:catAx>
      <c:valAx>
        <c:axId val="2094734552"/>
        <c:scaling>
          <c:orientation val="minMax"/>
          <c:max val="-20"/>
          <c:min val="-80"/>
        </c:scaling>
        <c:delete val="0"/>
        <c:axPos val="l"/>
        <c:majorGridlines>
          <c:spPr>
            <a:ln w="6350" cap="flat">
              <a:solidFill>
                <a:srgbClr val="D9E1EA"/>
              </a:solidFill>
              <a:prstDash val="solid"/>
              <a:round/>
            </a:ln>
          </c:spPr>
        </c:majorGridlines>
        <c:title>
          <c:tx>
            <c:rich>
              <a:bodyPr/>
              <a:lstStyle/>
              <a:p>
                <a:pPr>
                  <a:defRPr sz="900" b="0" i="0" u="none" strike="noStrike">
                    <a:solidFill>
                      <a:srgbClr val="5B6B7F"/>
                    </a:solidFill>
                    <a:latin typeface="Calibri"/>
                  </a:defRPr>
                </a:pPr>
                <a:r>
                  <a:rPr sz="900" b="0" i="0" u="none" strike="noStrike">
                    <a:solidFill>
                      <a:srgbClr val="5B6B7F"/>
                    </a:solidFill>
                    <a:latin typeface="Calibri"/>
                  </a:rPr>
                  <a:t>interleaving spur (dBc)</a:t>
                </a:r>
              </a:p>
            </c:rich>
          </c:tx>
          <c:layout/>
          <c:overlay val="0"/>
        </c:title>
        <c:numFmt formatCode="General" sourceLinked="0"/>
        <c:majorTickMark val="none"/>
        <c:minorTickMark val="none"/>
        <c:tickLblPos val="nextTo"/>
        <c:spPr>
          <a:ln w="12700" cap="flat">
            <a:noFill/>
            <a:prstDash val="solid"/>
            <a:round/>
          </a:ln>
        </c:spPr>
        <c:txPr>
          <a:bodyPr/>
          <a:lstStyle/>
          <a:p>
            <a:pPr>
              <a:defRPr sz="900" b="0" i="0" u="none" strike="noStrike">
                <a:solidFill>
                  <a:srgbClr val="5B6B7F"/>
                </a:solidFill>
                <a:latin typeface="Calibri"/>
              </a:defRPr>
            </a:pPr>
            <a:endParaRPr lang="en-US"/>
          </a:p>
        </c:txPr>
        <c:crossAx val="2094734554"/>
        <c:crosses val="autoZero"/>
        <c:crossBetween val="between"/>
        <c:majorUnit val="15"/>
      </c:valAx>
      <c:spPr>
        <a:solidFill>
          <a:srgbClr val="FFFFFF"/>
        </a:solidFill>
        <a:ln>
          <a:noFill/>
        </a:ln>
        <a:effectLst/>
      </c:spPr>
    </c:plotArea>
    <c:legend>
      <c:legendPos val="b"/>
      <c:overlay val="0"/>
      <c:txPr>
        <a:bodyPr/>
        <a:lstStyle/>
        <a:p>
          <a:pPr>
            <a:defRPr sz="900">
              <a:solidFill>
                <a:srgbClr val="14213D"/>
              </a:solidFill>
              <a:latin typeface="Calibri"/>
              <a:cs typeface="Calibri"/>
            </a:defRPr>
          </a:pPr>
          <a:endParaRPr lang="en-US"/>
        </a:p>
      </c:txPr>
    </c:legend>
    <c:plotVisOnly val="1"/>
    <c:dispBlanksAs val="span"/>
  </c:chart>
  <c:spPr>
    <a:solidFill>
      <a:srgbClr val="FFFFFF"/>
    </a:solidFill>
    <a:ln>
      <a:noFill/>
    </a:ln>
    <a:effectLst/>
  </c:spPr>
  <c:externalData r:id="rId1">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lineChart>
        <c:varyColors val="0"/>
        <c:ser>
          <c:idx val="0"/>
          <c:order val="0"/>
          <c:tx>
            <c:strRef>
              <c:f>Sheet1!$B$1</c:f>
              <c:strCache>
                <c:ptCount val="1"/>
                <c:pt idx="0">
                  <c:v>100 fs</c:v>
                </c:pt>
              </c:strCache>
            </c:strRef>
          </c:tx>
          <c:spPr>
            <a:solidFill>
              <a:srgbClr val="2EC4B6"/>
            </a:solidFill>
            <a:ln w="19050" cap="flat">
              <a:solidFill>
                <a:srgbClr val="2EC4B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4"/>
            <c:spPr>
              <a:solidFill>
                <a:srgbClr val="2EC4B6"/>
              </a:solidFill>
              <a:ln w="9525" cap="flat">
                <a:solidFill>
                  <a:srgbClr val="2EC4B6"/>
                </a:solidFill>
                <a:prstDash val="solid"/>
                <a:round/>
              </a:ln>
              <a:effectLst/>
            </c:spPr>
          </c:marker>
          <c:cat>
            <c:multiLvlStrRef>
              <c:f>Sheet1!$A$2:$A$8</c:f>
              <c:multiLvlStrCache>
                <c:ptCount val="7"/>
                <c:lvl>
                  <c:pt idx="0">
                    <c:v>1</c:v>
                  </c:pt>
                  <c:pt idx="1">
                    <c:v>3</c:v>
                  </c:pt>
                  <c:pt idx="2">
                    <c:v>10</c:v>
                  </c:pt>
                  <c:pt idx="3">
                    <c:v>30</c:v>
                  </c:pt>
                  <c:pt idx="4">
                    <c:v>100</c:v>
                  </c:pt>
                  <c:pt idx="5">
                    <c:v>300</c:v>
                  </c:pt>
                  <c:pt idx="6">
                    <c:v>1000</c:v>
                  </c:pt>
                </c:lvl>
              </c:multiLvlStrCache>
            </c:multiLvlStrRef>
          </c:cat>
          <c:val>
            <c:numRef>
              <c:f>Sheet1!$B$2:$B$8</c:f>
              <c:numCache>
                <c:formatCode>General</c:formatCode>
                <c:ptCount val="7"/>
                <c:pt idx="0">
                  <c:v>124.03640263283769</c:v>
                </c:pt>
                <c:pt idx="1">
                  <c:v>114.49397753844445</c:v>
                </c:pt>
                <c:pt idx="2">
                  <c:v>104.03640263283769</c:v>
                </c:pt>
                <c:pt idx="3">
                  <c:v>94.49397753844445</c:v>
                </c:pt>
                <c:pt idx="4">
                  <c:v>84.03640263283769</c:v>
                </c:pt>
                <c:pt idx="5">
                  <c:v>74.49397753844445</c:v>
                </c:pt>
                <c:pt idx="6">
                  <c:v>64.0364026328377</c:v>
                </c:pt>
              </c:numCache>
            </c:numRef>
          </c:val>
          <c:smooth val="0"/>
        </c:ser>
        <c:ser>
          <c:idx val="1"/>
          <c:order val="1"/>
          <c:tx>
            <c:strRef>
              <c:f>Sheet1!$C$1</c:f>
              <c:strCache>
                <c:ptCount val="1"/>
                <c:pt idx="0">
                  <c:v>1 ps</c:v>
                </c:pt>
              </c:strCache>
            </c:strRef>
          </c:tx>
          <c:spPr>
            <a:solidFill>
              <a:srgbClr val="FFB703"/>
            </a:solidFill>
            <a:ln w="19050" cap="flat">
              <a:solidFill>
                <a:srgbClr val="FFB703"/>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4"/>
            <c:spPr>
              <a:solidFill>
                <a:srgbClr val="FFB703"/>
              </a:solidFill>
              <a:ln w="9525" cap="flat">
                <a:solidFill>
                  <a:srgbClr val="FFB703"/>
                </a:solidFill>
                <a:prstDash val="solid"/>
                <a:round/>
              </a:ln>
              <a:effectLst/>
            </c:spPr>
          </c:marker>
          <c:cat>
            <c:multiLvlStrRef>
              <c:f>Sheet1!$A$2:$A$8</c:f>
              <c:multiLvlStrCache>
                <c:ptCount val="7"/>
                <c:lvl>
                  <c:pt idx="0">
                    <c:v>1</c:v>
                  </c:pt>
                  <c:pt idx="1">
                    <c:v>3</c:v>
                  </c:pt>
                  <c:pt idx="2">
                    <c:v>10</c:v>
                  </c:pt>
                  <c:pt idx="3">
                    <c:v>30</c:v>
                  </c:pt>
                  <c:pt idx="4">
                    <c:v>100</c:v>
                  </c:pt>
                  <c:pt idx="5">
                    <c:v>300</c:v>
                  </c:pt>
                  <c:pt idx="6">
                    <c:v>1000</c:v>
                  </c:pt>
                </c:lvl>
              </c:multiLvlStrCache>
            </c:multiLvlStrRef>
          </c:cat>
          <c:val>
            <c:numRef>
              <c:f>Sheet1!$C$2:$C$8</c:f>
              <c:numCache>
                <c:formatCode>General</c:formatCode>
                <c:ptCount val="7"/>
                <c:pt idx="0">
                  <c:v>104.03640263283769</c:v>
                </c:pt>
                <c:pt idx="1">
                  <c:v>94.49397753844445</c:v>
                </c:pt>
                <c:pt idx="2">
                  <c:v>84.03640263283769</c:v>
                </c:pt>
                <c:pt idx="3">
                  <c:v>74.49397753844445</c:v>
                </c:pt>
                <c:pt idx="4">
                  <c:v>64.0364026328377</c:v>
                </c:pt>
                <c:pt idx="5">
                  <c:v>54.49397753844445</c:v>
                </c:pt>
                <c:pt idx="6">
                  <c:v>44.0364026328377</c:v>
                </c:pt>
              </c:numCache>
            </c:numRef>
          </c:val>
          <c:smooth val="0"/>
        </c:ser>
        <c:ser>
          <c:idx val="2"/>
          <c:order val="2"/>
          <c:tx>
            <c:strRef>
              <c:f>Sheet1!$D$1</c:f>
              <c:strCache>
                <c:ptCount val="1"/>
                <c:pt idx="0">
                  <c:v>10 ps</c:v>
                </c:pt>
              </c:strCache>
            </c:strRef>
          </c:tx>
          <c:spPr>
            <a:solidFill>
              <a:srgbClr val="E76F51"/>
            </a:solidFill>
            <a:ln w="19050" cap="flat">
              <a:solidFill>
                <a:srgbClr val="E76F5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4"/>
            <c:spPr>
              <a:solidFill>
                <a:srgbClr val="E76F51"/>
              </a:solidFill>
              <a:ln w="9525" cap="flat">
                <a:solidFill>
                  <a:srgbClr val="E76F51"/>
                </a:solidFill>
                <a:prstDash val="solid"/>
                <a:round/>
              </a:ln>
              <a:effectLst/>
            </c:spPr>
          </c:marker>
          <c:cat>
            <c:multiLvlStrRef>
              <c:f>Sheet1!$A$2:$A$8</c:f>
              <c:multiLvlStrCache>
                <c:ptCount val="7"/>
                <c:lvl>
                  <c:pt idx="0">
                    <c:v>1</c:v>
                  </c:pt>
                  <c:pt idx="1">
                    <c:v>3</c:v>
                  </c:pt>
                  <c:pt idx="2">
                    <c:v>10</c:v>
                  </c:pt>
                  <c:pt idx="3">
                    <c:v>30</c:v>
                  </c:pt>
                  <c:pt idx="4">
                    <c:v>100</c:v>
                  </c:pt>
                  <c:pt idx="5">
                    <c:v>300</c:v>
                  </c:pt>
                  <c:pt idx="6">
                    <c:v>1000</c:v>
                  </c:pt>
                </c:lvl>
              </c:multiLvlStrCache>
            </c:multiLvlStrRef>
          </c:cat>
          <c:val>
            <c:numRef>
              <c:f>Sheet1!$D$2:$D$8</c:f>
              <c:numCache>
                <c:formatCode>General</c:formatCode>
                <c:ptCount val="7"/>
                <c:pt idx="0">
                  <c:v>84.03640263283769</c:v>
                </c:pt>
                <c:pt idx="1">
                  <c:v>74.49397753844445</c:v>
                </c:pt>
                <c:pt idx="2">
                  <c:v>64.0364026328377</c:v>
                </c:pt>
                <c:pt idx="3">
                  <c:v>54.49397753844445</c:v>
                </c:pt>
                <c:pt idx="4">
                  <c:v>44.0364026328377</c:v>
                </c:pt>
                <c:pt idx="5">
                  <c:v>34.493977538444454</c:v>
                </c:pt>
                <c:pt idx="6">
                  <c:v>24.0364026328377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900" b="0" i="0" u="none" strike="noStrike">
                    <a:solidFill>
                      <a:srgbClr val="5B6B7F"/>
                    </a:solidFill>
                    <a:latin typeface="Calibri"/>
                  </a:defRPr>
                </a:pPr>
                <a:r>
                  <a:rPr sz="900" b="0" i="0" u="none" strike="noStrike">
                    <a:solidFill>
                      <a:srgbClr val="5B6B7F"/>
                    </a:solidFill>
                    <a:latin typeface="Calibri"/>
                  </a:rPr>
                  <a:t>input frequency (MHz)</a:t>
                </a:r>
              </a:p>
            </c:rich>
          </c:tx>
          <c:layout/>
          <c:overlay val="0"/>
        </c:title>
        <c:numFmt formatCode="General" sourceLinked="1"/>
        <c:majorTickMark val="none"/>
        <c:minorTickMark val="none"/>
        <c:tickLblPos val="low"/>
        <c:spPr>
          <a:ln w="12700" cap="flat">
            <a:solidFill>
              <a:srgbClr val="888888"/>
            </a:solidFill>
            <a:prstDash val="solid"/>
            <a:round/>
          </a:ln>
        </c:spPr>
        <c:txPr>
          <a:bodyPr/>
          <a:lstStyle/>
          <a:p>
            <a:pPr>
              <a:defRPr sz="900" b="0" i="0" u="none" strike="noStrike">
                <a:solidFill>
                  <a:srgbClr val="5B6B7F"/>
                </a:solidFill>
                <a:latin typeface="Calibri"/>
              </a:defRPr>
            </a:pPr>
            <a:endParaRPr lang="en-US"/>
          </a:p>
        </c:txPr>
        <c:crossAx val="2094734552"/>
        <c:crosses val="min"/>
        <c:auto val="1"/>
        <c:lblAlgn val="ctr"/>
        <c:noMultiLvlLbl val="1"/>
      </c:catAx>
      <c:valAx>
        <c:axId val="2094734552"/>
        <c:scaling>
          <c:orientation val="minMax"/>
          <c:max val="120"/>
          <c:min val="20"/>
        </c:scaling>
        <c:delete val="0"/>
        <c:axPos val="l"/>
        <c:majorGridlines>
          <c:spPr>
            <a:ln w="6350" cap="flat">
              <a:solidFill>
                <a:srgbClr val="D9E1EA"/>
              </a:solidFill>
              <a:prstDash val="solid"/>
              <a:round/>
            </a:ln>
          </c:spPr>
        </c:majorGridlines>
        <c:title>
          <c:tx>
            <c:rich>
              <a:bodyPr/>
              <a:lstStyle/>
              <a:p>
                <a:pPr>
                  <a:defRPr sz="900" b="0" i="0" u="none" strike="noStrike">
                    <a:solidFill>
                      <a:srgbClr val="5B6B7F"/>
                    </a:solidFill>
                    <a:latin typeface="Calibri"/>
                  </a:defRPr>
                </a:pPr>
                <a:r>
                  <a:rPr sz="900" b="0" i="0" u="none" strike="noStrike">
                    <a:solidFill>
                      <a:srgbClr val="5B6B7F"/>
                    </a:solidFill>
                    <a:latin typeface="Calibri"/>
                  </a:rPr>
                  <a:t>SNR limit (dB)</a:t>
                </a:r>
              </a:p>
            </c:rich>
          </c:tx>
          <c:layout/>
          <c:overlay val="0"/>
        </c:title>
        <c:numFmt formatCode="General" sourceLinked="0"/>
        <c:majorTickMark val="none"/>
        <c:minorTickMark val="none"/>
        <c:tickLblPos val="nextTo"/>
        <c:spPr>
          <a:ln w="12700" cap="flat">
            <a:noFill/>
            <a:prstDash val="solid"/>
            <a:round/>
          </a:ln>
        </c:spPr>
        <c:txPr>
          <a:bodyPr/>
          <a:lstStyle/>
          <a:p>
            <a:pPr>
              <a:defRPr sz="900" b="0" i="0" u="none" strike="noStrike">
                <a:solidFill>
                  <a:srgbClr val="5B6B7F"/>
                </a:solidFill>
                <a:latin typeface="Calibri"/>
              </a:defRPr>
            </a:pPr>
            <a:endParaRPr lang="en-US"/>
          </a:p>
        </c:txPr>
        <c:crossAx val="2094734554"/>
        <c:crosses val="autoZero"/>
        <c:crossBetween val="between"/>
        <c:majorUnit val="20"/>
      </c:valAx>
      <c:spPr>
        <a:solidFill>
          <a:srgbClr val="FFFFFF"/>
        </a:solidFill>
        <a:ln>
          <a:noFill/>
        </a:ln>
        <a:effectLst/>
      </c:spPr>
    </c:plotArea>
    <c:legend>
      <c:legendPos val="b"/>
      <c:overlay val="0"/>
      <c:txPr>
        <a:bodyPr/>
        <a:lstStyle/>
        <a:p>
          <a:pPr>
            <a:defRPr sz="900">
              <a:solidFill>
                <a:srgbClr val="14213D"/>
              </a:solidFill>
              <a:latin typeface="Calibri"/>
              <a:cs typeface="Calibri"/>
            </a:defRPr>
          </a:pPr>
          <a:endParaRPr lang="en-US"/>
        </a:p>
      </c:txPr>
    </c:legend>
    <c:plotVisOnly val="1"/>
    <c:dispBlanksAs val="span"/>
  </c:chart>
  <c:spPr>
    <a:solidFill>
      <a:srgbClr val="FFFFFF"/>
    </a:solidFill>
    <a:ln>
      <a:noFill/>
    </a:ln>
    <a:effectLst/>
  </c:spPr>
  <c:externalData r:id="rId1">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lineChart>
        <c:varyColors val="0"/>
        <c:ser>
          <c:idx val="0"/>
          <c:order val="0"/>
          <c:tx>
            <c:strRef>
              <c:f>Sheet1!$B$1</c:f>
              <c:strCache>
                <c:ptCount val="1"/>
                <c:pt idx="0">
                  <c:v>settling error (LSB, 16-bit)</c:v>
                </c:pt>
              </c:strCache>
            </c:strRef>
          </c:tx>
          <c:spPr>
            <a:solidFill>
              <a:srgbClr val="2EC4B6"/>
            </a:solidFill>
            <a:ln w="19050" cap="flat">
              <a:solidFill>
                <a:srgbClr val="2EC4B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EC4B6"/>
              </a:solidFill>
              <a:ln w="9525" cap="flat">
                <a:solidFill>
                  <a:srgbClr val="2EC4B6"/>
                </a:solidFill>
                <a:prstDash val="solid"/>
                <a:round/>
              </a:ln>
              <a:effectLst/>
            </c:spPr>
          </c:marker>
          <c:cat>
            <c:multiLvlStrRef>
              <c:f>Sheet1!$A$2:$A$81</c:f>
              <c:multiLvlStrCache>
                <c:ptCount val="80"/>
                <c:lvl>
                  <c:pt idx="0">
                    <c:v>0.0</c:v>
                  </c:pt>
                  <c:pt idx="1">
                    <c:v>0.2</c:v>
                  </c:pt>
                  <c:pt idx="2">
                    <c:v>0.4</c:v>
                  </c:pt>
                  <c:pt idx="3">
                    <c:v>0.5</c:v>
                  </c:pt>
                  <c:pt idx="4">
                    <c:v>0.7</c:v>
                  </c:pt>
                  <c:pt idx="5">
                    <c:v>0.9</c:v>
                  </c:pt>
                  <c:pt idx="6">
                    <c:v>1.1</c:v>
                  </c:pt>
                  <c:pt idx="7">
                    <c:v>1.2</c:v>
                  </c:pt>
                  <c:pt idx="8">
                    <c:v>1.4</c:v>
                  </c:pt>
                  <c:pt idx="9">
                    <c:v>1.6</c:v>
                  </c:pt>
                  <c:pt idx="10">
                    <c:v>1.8</c:v>
                  </c:pt>
                  <c:pt idx="11">
                    <c:v>1.9</c:v>
                  </c:pt>
                  <c:pt idx="12">
                    <c:v>2.1</c:v>
                  </c:pt>
                  <c:pt idx="13">
                    <c:v>2.3</c:v>
                  </c:pt>
                  <c:pt idx="14">
                    <c:v>2.5</c:v>
                  </c:pt>
                  <c:pt idx="15">
                    <c:v>2.7</c:v>
                  </c:pt>
                  <c:pt idx="16">
                    <c:v>2.8</c:v>
                  </c:pt>
                  <c:pt idx="17">
                    <c:v>3.0</c:v>
                  </c:pt>
                  <c:pt idx="18">
                    <c:v>3.2</c:v>
                  </c:pt>
                  <c:pt idx="19">
                    <c:v>3.4</c:v>
                  </c:pt>
                  <c:pt idx="20">
                    <c:v>3.5</c:v>
                  </c:pt>
                  <c:pt idx="21">
                    <c:v>3.7</c:v>
                  </c:pt>
                  <c:pt idx="22">
                    <c:v>3.9</c:v>
                  </c:pt>
                  <c:pt idx="23">
                    <c:v>4.1</c:v>
                  </c:pt>
                  <c:pt idx="24">
                    <c:v>4.3</c:v>
                  </c:pt>
                  <c:pt idx="25">
                    <c:v>4.4</c:v>
                  </c:pt>
                  <c:pt idx="26">
                    <c:v>4.6</c:v>
                  </c:pt>
                  <c:pt idx="27">
                    <c:v>4.8</c:v>
                  </c:pt>
                  <c:pt idx="28">
                    <c:v>5.0</c:v>
                  </c:pt>
                  <c:pt idx="29">
                    <c:v>5.1</c:v>
                  </c:pt>
                  <c:pt idx="30">
                    <c:v>5.3</c:v>
                  </c:pt>
                  <c:pt idx="31">
                    <c:v>5.5</c:v>
                  </c:pt>
                  <c:pt idx="32">
                    <c:v>5.7</c:v>
                  </c:pt>
                  <c:pt idx="33">
                    <c:v>5.8</c:v>
                  </c:pt>
                  <c:pt idx="34">
                    <c:v>6.0</c:v>
                  </c:pt>
                  <c:pt idx="35">
                    <c:v>6.2</c:v>
                  </c:pt>
                  <c:pt idx="36">
                    <c:v>6.4</c:v>
                  </c:pt>
                  <c:pt idx="37">
                    <c:v>6.6</c:v>
                  </c:pt>
                  <c:pt idx="38">
                    <c:v>6.7</c:v>
                  </c:pt>
                  <c:pt idx="39">
                    <c:v>6.9</c:v>
                  </c:pt>
                  <c:pt idx="40">
                    <c:v>7.1</c:v>
                  </c:pt>
                  <c:pt idx="41">
                    <c:v>7.3</c:v>
                  </c:pt>
                  <c:pt idx="42">
                    <c:v>7.4</c:v>
                  </c:pt>
                  <c:pt idx="43">
                    <c:v>7.6</c:v>
                  </c:pt>
                  <c:pt idx="44">
                    <c:v>7.8</c:v>
                  </c:pt>
                  <c:pt idx="45">
                    <c:v>8.0</c:v>
                  </c:pt>
                  <c:pt idx="46">
                    <c:v>8.2</c:v>
                  </c:pt>
                  <c:pt idx="47">
                    <c:v>8.3</c:v>
                  </c:pt>
                  <c:pt idx="48">
                    <c:v>8.5</c:v>
                  </c:pt>
                  <c:pt idx="49">
                    <c:v>8.7</c:v>
                  </c:pt>
                  <c:pt idx="50">
                    <c:v>8.9</c:v>
                  </c:pt>
                  <c:pt idx="51">
                    <c:v>9.0</c:v>
                  </c:pt>
                  <c:pt idx="52">
                    <c:v>9.2</c:v>
                  </c:pt>
                  <c:pt idx="53">
                    <c:v>9.4</c:v>
                  </c:pt>
                  <c:pt idx="54">
                    <c:v>9.6</c:v>
                  </c:pt>
                  <c:pt idx="55">
                    <c:v>9.7</c:v>
                  </c:pt>
                  <c:pt idx="56">
                    <c:v>9.9</c:v>
                  </c:pt>
                  <c:pt idx="57">
                    <c:v>10.1</c:v>
                  </c:pt>
                  <c:pt idx="58">
                    <c:v>10.3</c:v>
                  </c:pt>
                  <c:pt idx="59">
                    <c:v>10.5</c:v>
                  </c:pt>
                  <c:pt idx="60">
                    <c:v>10.6</c:v>
                  </c:pt>
                  <c:pt idx="61">
                    <c:v>10.8</c:v>
                  </c:pt>
                  <c:pt idx="62">
                    <c:v>11.0</c:v>
                  </c:pt>
                  <c:pt idx="63">
                    <c:v>11.2</c:v>
                  </c:pt>
                  <c:pt idx="64">
                    <c:v>11.3</c:v>
                  </c:pt>
                  <c:pt idx="65">
                    <c:v>11.5</c:v>
                  </c:pt>
                  <c:pt idx="66">
                    <c:v>11.7</c:v>
                  </c:pt>
                  <c:pt idx="67">
                    <c:v>11.9</c:v>
                  </c:pt>
                  <c:pt idx="68">
                    <c:v>12.1</c:v>
                  </c:pt>
                  <c:pt idx="69">
                    <c:v>12.2</c:v>
                  </c:pt>
                  <c:pt idx="70">
                    <c:v>12.4</c:v>
                  </c:pt>
                  <c:pt idx="71">
                    <c:v>12.6</c:v>
                  </c:pt>
                  <c:pt idx="72">
                    <c:v>12.8</c:v>
                  </c:pt>
                  <c:pt idx="73">
                    <c:v>12.9</c:v>
                  </c:pt>
                  <c:pt idx="74">
                    <c:v>13.1</c:v>
                  </c:pt>
                  <c:pt idx="75">
                    <c:v>13.3</c:v>
                  </c:pt>
                  <c:pt idx="76">
                    <c:v>13.5</c:v>
                  </c:pt>
                  <c:pt idx="77">
                    <c:v>13.6</c:v>
                  </c:pt>
                  <c:pt idx="78">
                    <c:v>13.8</c:v>
                  </c:pt>
                  <c:pt idx="79">
                    <c:v>14.0</c:v>
                  </c:pt>
                </c:lvl>
              </c:multiLvlStrCache>
            </c:multiLvlStrRef>
          </c:cat>
          <c:val>
            <c:numRef>
              <c:f>Sheet1!$B$2:$B$81</c:f>
              <c:numCache>
                <c:formatCode>General</c:formatCode>
                <c:ptCount val="80"/>
                <c:pt idx="0">
                  <c:v>65536</c:v>
                </c:pt>
                <c:pt idx="1">
                  <c:v>54892.922286454865</c:v>
                </c:pt>
                <c:pt idx="2">
                  <c:v>45978.285478924154</c:v>
                </c:pt>
                <c:pt idx="3">
                  <c:v>38511.38994841034</c:v>
                </c:pt>
                <c:pt idx="4">
                  <c:v>32257.121819785276</c:v>
                </c:pt>
                <c:pt idx="5">
                  <c:v>27018.54982358064</c:v>
                </c:pt>
                <c:pt idx="6">
                  <c:v>22630.724422584855</c:v>
                </c:pt>
                <c:pt idx="7">
                  <c:v>18955.483963243507</c:v>
                </c:pt>
                <c:pt idx="8">
                  <c:v>15877.104310554005</c:v>
                </c:pt>
                <c:pt idx="9">
                  <c:v>13298.654984331948</c:v>
                </c:pt>
                <c:pt idx="10">
                  <c:v>11138.947060688926</c:v>
                </c:pt>
                <c:pt idx="11">
                  <c:v>9329.976735768616</c:v>
                </c:pt>
                <c:pt idx="12">
                  <c:v>7814.784055953653</c:v>
                </c:pt>
                <c:pt idx="13">
                  <c:v>6545.659391309973</c:v>
                </c:pt>
                <c:pt idx="14">
                  <c:v>5482.641178600797</c:v>
                </c:pt>
                <c:pt idx="15">
                  <c:v>4592.2576315528995</c:v>
                </c:pt>
                <c:pt idx="16">
                  <c:v>3846.472797976877</c:v>
                </c:pt>
                <c:pt idx="17">
                  <c:v>3221.8037777146496</c:v>
                </c:pt>
                <c:pt idx="18">
                  <c:v>2698.5813048141017</c:v>
                </c:pt>
                <c:pt idx="19">
                  <c:v>2260.3304115118476</c:v>
                </c:pt>
                <c:pt idx="20">
                  <c:v>1893.2516726811286</c:v>
                </c:pt>
                <c:pt idx="21">
                  <c:v>1585.786696429228</c:v>
                </c:pt>
                <c:pt idx="22">
                  <c:v>1328.254179229486</c:v>
                </c:pt>
                <c:pt idx="23">
                  <c:v>1112.5450658737645</c:v>
                </c:pt>
                <c:pt idx="24">
                  <c:v>931.8672155942904</c:v>
                </c:pt>
                <c:pt idx="25">
                  <c:v>780.531534529304</c:v>
                </c:pt>
                <c:pt idx="26">
                  <c:v>653.7728403784859</c:v>
                </c:pt>
                <c:pt idx="27">
                  <c:v>547.5998187239239</c:v>
                </c:pt>
                <c:pt idx="28">
                  <c:v>458.6693465162526</c:v>
                </c:pt>
                <c:pt idx="29">
                  <c:v>384.18122548668964</c:v>
                </c:pt>
                <c:pt idx="30">
                  <c:v>321.7900109032569</c:v>
                </c:pt>
                <c:pt idx="31">
                  <c:v>269.53115937911906</c:v>
                </c:pt>
                <c:pt idx="32">
                  <c:v>225.75917031213473</c:v>
                </c:pt>
                <c:pt idx="33">
                  <c:v>189.09577318418184</c:v>
                </c:pt>
                <c:pt idx="34">
                  <c:v>158.3865292678282</c:v>
                </c:pt>
                <c:pt idx="35">
                  <c:v>132.66448123657534</c:v>
                </c:pt>
                <c:pt idx="36">
                  <c:v>111.1197060957669</c:v>
                </c:pt>
                <c:pt idx="37">
                  <c:v>93.07381273206539</c:v>
                </c:pt>
                <c:pt idx="38">
                  <c:v>77.9585810730792</c:v>
                </c:pt>
                <c:pt idx="39">
                  <c:v>65.29807025767253</c:v>
                </c:pt>
                <c:pt idx="40">
                  <c:v>54.693632447965875</c:v>
                </c:pt>
                <c:pt idx="41">
                  <c:v>45.811360405427806</c:v>
                </c:pt>
                <c:pt idx="42">
                  <c:v>38.37157358660773</c:v>
                </c:pt>
                <c:pt idx="43">
                  <c:v>32.140011701944616</c:v>
                </c:pt>
                <c:pt idx="44">
                  <c:v>26.920458444833308</c:v>
                </c:pt>
                <c:pt idx="45">
                  <c:v>22.548563130614813</c:v>
                </c:pt>
                <c:pt idx="46">
                  <c:v>18.886665704346605</c:v>
                </c:pt>
                <c:pt idx="47">
                  <c:v>15.819462169783806</c:v>
                </c:pt>
                <c:pt idx="48">
                  <c:v>13.250373954764646</c:v>
                </c:pt>
                <c:pt idx="49">
                  <c:v>11.098506893392344</c:v>
                </c:pt>
                <c:pt idx="50">
                  <c:v>9.296104070963594</c:v>
                </c:pt>
                <c:pt idx="51">
                  <c:v>7.786412328097546</c:v>
                </c:pt>
                <c:pt idx="52">
                  <c:v>6.5218952456139085</c:v>
                </c:pt>
                <c:pt idx="53">
                  <c:v>5.462736341520437</c:v>
                </c:pt>
                <c:pt idx="54">
                  <c:v>4.575585349525061</c:v>
                </c:pt>
                <c:pt idx="55">
                  <c:v>3.832508102516485</c:v>
                </c:pt>
                <c:pt idx="56">
                  <c:v>3.210106955469455</c:v>
                </c:pt>
                <c:pt idx="57">
                  <c:v>2.688784052090345</c:v>
                </c:pt>
                <c:pt idx="58">
                  <c:v>2.252124237311625</c:v>
                </c:pt>
                <c:pt idx="59">
                  <c:v>1.8863781850919852</c:v>
                </c:pt>
                <c:pt idx="60">
                  <c:v>1.5800294665087617</c:v>
                </c:pt>
                <c:pt idx="61">
                  <c:v>1.3234319261989458</c:v>
                </c:pt>
                <c:pt idx="62">
                  <c:v>1.1085059490394908</c:v>
                </c:pt>
                <c:pt idx="63">
                  <c:v>0.9284840532638186</c:v>
                </c:pt>
                <c:pt idx="64">
                  <c:v>0.7776977993777993</c:v>
                </c:pt>
                <c:pt idx="65">
                  <c:v>0.6513993051695639</c:v>
                </c:pt>
                <c:pt idx="66">
                  <c:v>0.5456117467670217</c:v>
                </c:pt>
                <c:pt idx="67">
                  <c:v>0.45700413839506593</c:v>
                </c:pt>
                <c:pt idx="68">
                  <c:v>0.38278644796003103</c:v>
                </c:pt>
                <c:pt idx="69">
                  <c:v>0.3206217459133621</c:v>
                </c:pt>
                <c:pt idx="70">
                  <c:v>0.2685526211817879</c:v>
                </c:pt>
                <c:pt idx="71">
                  <c:v>0.22493954718560252</c:v>
                </c:pt>
                <c:pt idx="72">
                  <c:v>0.18840925724501978</c:v>
                </c:pt>
                <c:pt idx="73">
                  <c:v>0.15781150384520817</c:v>
                </c:pt>
                <c:pt idx="74">
                  <c:v>0.13218284021733975</c:v>
                </c:pt>
                <c:pt idx="75">
                  <c:v>0.1107162838081866</c:v>
                </c:pt>
                <c:pt idx="76">
                  <c:v>0.09273590641674595</c:v>
                </c:pt>
                <c:pt idx="77">
                  <c:v>0.07767555090482164</c:v>
                </c:pt>
                <c:pt idx="78">
                  <c:v>0.06506100432397369</c:v>
                </c:pt>
                <c:pt idx="79">
                  <c:v>0.054495066135171424</c:v>
                </c:pt>
              </c:numCache>
            </c:numRef>
          </c:val>
          <c:smooth val="0"/>
        </c:ser>
        <c:ser>
          <c:idx val="1"/>
          <c:order val="1"/>
          <c:tx>
            <c:strRef>
              <c:f>Sheet1!$C$1</c:f>
              <c:strCache>
                <c:ptCount val="1"/>
                <c:pt idx="0">
                  <c:v>½ LSB target</c:v>
                </c:pt>
              </c:strCache>
            </c:strRef>
          </c:tx>
          <c:spPr>
            <a:solidFill>
              <a:srgbClr val="E76F51"/>
            </a:solidFill>
            <a:ln w="19050" cap="flat">
              <a:solidFill>
                <a:srgbClr val="E76F5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E76F51"/>
              </a:solidFill>
              <a:ln w="9525" cap="flat">
                <a:solidFill>
                  <a:srgbClr val="E76F51"/>
                </a:solidFill>
                <a:prstDash val="solid"/>
                <a:round/>
              </a:ln>
              <a:effectLst/>
            </c:spPr>
          </c:marker>
          <c:cat>
            <c:multiLvlStrRef>
              <c:f>Sheet1!$A$2:$A$81</c:f>
              <c:multiLvlStrCache>
                <c:ptCount val="80"/>
                <c:lvl>
                  <c:pt idx="0">
                    <c:v>0.0</c:v>
                  </c:pt>
                  <c:pt idx="1">
                    <c:v>0.2</c:v>
                  </c:pt>
                  <c:pt idx="2">
                    <c:v>0.4</c:v>
                  </c:pt>
                  <c:pt idx="3">
                    <c:v>0.5</c:v>
                  </c:pt>
                  <c:pt idx="4">
                    <c:v>0.7</c:v>
                  </c:pt>
                  <c:pt idx="5">
                    <c:v>0.9</c:v>
                  </c:pt>
                  <c:pt idx="6">
                    <c:v>1.1</c:v>
                  </c:pt>
                  <c:pt idx="7">
                    <c:v>1.2</c:v>
                  </c:pt>
                  <c:pt idx="8">
                    <c:v>1.4</c:v>
                  </c:pt>
                  <c:pt idx="9">
                    <c:v>1.6</c:v>
                  </c:pt>
                  <c:pt idx="10">
                    <c:v>1.8</c:v>
                  </c:pt>
                  <c:pt idx="11">
                    <c:v>1.9</c:v>
                  </c:pt>
                  <c:pt idx="12">
                    <c:v>2.1</c:v>
                  </c:pt>
                  <c:pt idx="13">
                    <c:v>2.3</c:v>
                  </c:pt>
                  <c:pt idx="14">
                    <c:v>2.5</c:v>
                  </c:pt>
                  <c:pt idx="15">
                    <c:v>2.7</c:v>
                  </c:pt>
                  <c:pt idx="16">
                    <c:v>2.8</c:v>
                  </c:pt>
                  <c:pt idx="17">
                    <c:v>3.0</c:v>
                  </c:pt>
                  <c:pt idx="18">
                    <c:v>3.2</c:v>
                  </c:pt>
                  <c:pt idx="19">
                    <c:v>3.4</c:v>
                  </c:pt>
                  <c:pt idx="20">
                    <c:v>3.5</c:v>
                  </c:pt>
                  <c:pt idx="21">
                    <c:v>3.7</c:v>
                  </c:pt>
                  <c:pt idx="22">
                    <c:v>3.9</c:v>
                  </c:pt>
                  <c:pt idx="23">
                    <c:v>4.1</c:v>
                  </c:pt>
                  <c:pt idx="24">
                    <c:v>4.3</c:v>
                  </c:pt>
                  <c:pt idx="25">
                    <c:v>4.4</c:v>
                  </c:pt>
                  <c:pt idx="26">
                    <c:v>4.6</c:v>
                  </c:pt>
                  <c:pt idx="27">
                    <c:v>4.8</c:v>
                  </c:pt>
                  <c:pt idx="28">
                    <c:v>5.0</c:v>
                  </c:pt>
                  <c:pt idx="29">
                    <c:v>5.1</c:v>
                  </c:pt>
                  <c:pt idx="30">
                    <c:v>5.3</c:v>
                  </c:pt>
                  <c:pt idx="31">
                    <c:v>5.5</c:v>
                  </c:pt>
                  <c:pt idx="32">
                    <c:v>5.7</c:v>
                  </c:pt>
                  <c:pt idx="33">
                    <c:v>5.8</c:v>
                  </c:pt>
                  <c:pt idx="34">
                    <c:v>6.0</c:v>
                  </c:pt>
                  <c:pt idx="35">
                    <c:v>6.2</c:v>
                  </c:pt>
                  <c:pt idx="36">
                    <c:v>6.4</c:v>
                  </c:pt>
                  <c:pt idx="37">
                    <c:v>6.6</c:v>
                  </c:pt>
                  <c:pt idx="38">
                    <c:v>6.7</c:v>
                  </c:pt>
                  <c:pt idx="39">
                    <c:v>6.9</c:v>
                  </c:pt>
                  <c:pt idx="40">
                    <c:v>7.1</c:v>
                  </c:pt>
                  <c:pt idx="41">
                    <c:v>7.3</c:v>
                  </c:pt>
                  <c:pt idx="42">
                    <c:v>7.4</c:v>
                  </c:pt>
                  <c:pt idx="43">
                    <c:v>7.6</c:v>
                  </c:pt>
                  <c:pt idx="44">
                    <c:v>7.8</c:v>
                  </c:pt>
                  <c:pt idx="45">
                    <c:v>8.0</c:v>
                  </c:pt>
                  <c:pt idx="46">
                    <c:v>8.2</c:v>
                  </c:pt>
                  <c:pt idx="47">
                    <c:v>8.3</c:v>
                  </c:pt>
                  <c:pt idx="48">
                    <c:v>8.5</c:v>
                  </c:pt>
                  <c:pt idx="49">
                    <c:v>8.7</c:v>
                  </c:pt>
                  <c:pt idx="50">
                    <c:v>8.9</c:v>
                  </c:pt>
                  <c:pt idx="51">
                    <c:v>9.0</c:v>
                  </c:pt>
                  <c:pt idx="52">
                    <c:v>9.2</c:v>
                  </c:pt>
                  <c:pt idx="53">
                    <c:v>9.4</c:v>
                  </c:pt>
                  <c:pt idx="54">
                    <c:v>9.6</c:v>
                  </c:pt>
                  <c:pt idx="55">
                    <c:v>9.7</c:v>
                  </c:pt>
                  <c:pt idx="56">
                    <c:v>9.9</c:v>
                  </c:pt>
                  <c:pt idx="57">
                    <c:v>10.1</c:v>
                  </c:pt>
                  <c:pt idx="58">
                    <c:v>10.3</c:v>
                  </c:pt>
                  <c:pt idx="59">
                    <c:v>10.5</c:v>
                  </c:pt>
                  <c:pt idx="60">
                    <c:v>10.6</c:v>
                  </c:pt>
                  <c:pt idx="61">
                    <c:v>10.8</c:v>
                  </c:pt>
                  <c:pt idx="62">
                    <c:v>11.0</c:v>
                  </c:pt>
                  <c:pt idx="63">
                    <c:v>11.2</c:v>
                  </c:pt>
                  <c:pt idx="64">
                    <c:v>11.3</c:v>
                  </c:pt>
                  <c:pt idx="65">
                    <c:v>11.5</c:v>
                  </c:pt>
                  <c:pt idx="66">
                    <c:v>11.7</c:v>
                  </c:pt>
                  <c:pt idx="67">
                    <c:v>11.9</c:v>
                  </c:pt>
                  <c:pt idx="68">
                    <c:v>12.1</c:v>
                  </c:pt>
                  <c:pt idx="69">
                    <c:v>12.2</c:v>
                  </c:pt>
                  <c:pt idx="70">
                    <c:v>12.4</c:v>
                  </c:pt>
                  <c:pt idx="71">
                    <c:v>12.6</c:v>
                  </c:pt>
                  <c:pt idx="72">
                    <c:v>12.8</c:v>
                  </c:pt>
                  <c:pt idx="73">
                    <c:v>12.9</c:v>
                  </c:pt>
                  <c:pt idx="74">
                    <c:v>13.1</c:v>
                  </c:pt>
                  <c:pt idx="75">
                    <c:v>13.3</c:v>
                  </c:pt>
                  <c:pt idx="76">
                    <c:v>13.5</c:v>
                  </c:pt>
                  <c:pt idx="77">
                    <c:v>13.6</c:v>
                  </c:pt>
                  <c:pt idx="78">
                    <c:v>13.8</c:v>
                  </c:pt>
                  <c:pt idx="79">
                    <c:v>14.0</c:v>
                  </c:pt>
                </c:lvl>
              </c:multiLvlStrCache>
            </c:multiLvlStrRef>
          </c:cat>
          <c:val>
            <c:numRef>
              <c:f>Sheet1!$C$2:$C$81</c:f>
              <c:numCache>
                <c:formatCode>General</c:formatCode>
                <c:ptCount val="80"/>
                <c:pt idx="0">
                  <c:v>0.5</c:v>
                </c:pt>
                <c:pt idx="1">
                  <c:v>0.5</c:v>
                </c:pt>
                <c:pt idx="2">
                  <c:v>0.5</c:v>
                </c:pt>
                <c:pt idx="3">
                  <c:v>0.5</c:v>
                </c:pt>
                <c:pt idx="4">
                  <c:v>0.5</c:v>
                </c:pt>
                <c:pt idx="5">
                  <c:v>0.5</c:v>
                </c:pt>
                <c:pt idx="6">
                  <c:v>0.5</c:v>
                </c:pt>
                <c:pt idx="7">
                  <c:v>0.5</c:v>
                </c:pt>
                <c:pt idx="8">
                  <c:v>0.5</c:v>
                </c:pt>
                <c:pt idx="9">
                  <c:v>0.5</c:v>
                </c:pt>
                <c:pt idx="10">
                  <c:v>0.5</c:v>
                </c:pt>
                <c:pt idx="11">
                  <c:v>0.5</c:v>
                </c:pt>
                <c:pt idx="12">
                  <c:v>0.5</c:v>
                </c:pt>
                <c:pt idx="13">
                  <c:v>0.5</c:v>
                </c:pt>
                <c:pt idx="14">
                  <c:v>0.5</c:v>
                </c:pt>
                <c:pt idx="15">
                  <c:v>0.5</c:v>
                </c:pt>
                <c:pt idx="16">
                  <c:v>0.5</c:v>
                </c:pt>
                <c:pt idx="17">
                  <c:v>0.5</c:v>
                </c:pt>
                <c:pt idx="18">
                  <c:v>0.5</c:v>
                </c:pt>
                <c:pt idx="19">
                  <c:v>0.5</c:v>
                </c:pt>
                <c:pt idx="20">
                  <c:v>0.5</c:v>
                </c:pt>
                <c:pt idx="21">
                  <c:v>0.5</c:v>
                </c:pt>
                <c:pt idx="22">
                  <c:v>0.5</c:v>
                </c:pt>
                <c:pt idx="23">
                  <c:v>0.5</c:v>
                </c:pt>
                <c:pt idx="24">
                  <c:v>0.5</c:v>
                </c:pt>
                <c:pt idx="25">
                  <c:v>0.5</c:v>
                </c:pt>
                <c:pt idx="26">
                  <c:v>0.5</c:v>
                </c:pt>
                <c:pt idx="27">
                  <c:v>0.5</c:v>
                </c:pt>
                <c:pt idx="28">
                  <c:v>0.5</c:v>
                </c:pt>
                <c:pt idx="29">
                  <c:v>0.5</c:v>
                </c:pt>
                <c:pt idx="30">
                  <c:v>0.5</c:v>
                </c:pt>
                <c:pt idx="31">
                  <c:v>0.5</c:v>
                </c:pt>
                <c:pt idx="32">
                  <c:v>0.5</c:v>
                </c:pt>
                <c:pt idx="33">
                  <c:v>0.5</c:v>
                </c:pt>
                <c:pt idx="34">
                  <c:v>0.5</c:v>
                </c:pt>
                <c:pt idx="35">
                  <c:v>0.5</c:v>
                </c:pt>
                <c:pt idx="36">
                  <c:v>0.5</c:v>
                </c:pt>
                <c:pt idx="37">
                  <c:v>0.5</c:v>
                </c:pt>
                <c:pt idx="38">
                  <c:v>0.5</c:v>
                </c:pt>
                <c:pt idx="39">
                  <c:v>0.5</c:v>
                </c:pt>
                <c:pt idx="40">
                  <c:v>0.5</c:v>
                </c:pt>
                <c:pt idx="41">
                  <c:v>0.5</c:v>
                </c:pt>
                <c:pt idx="42">
                  <c:v>0.5</c:v>
                </c:pt>
                <c:pt idx="43">
                  <c:v>0.5</c:v>
                </c:pt>
                <c:pt idx="44">
                  <c:v>0.5</c:v>
                </c:pt>
                <c:pt idx="45">
                  <c:v>0.5</c:v>
                </c:pt>
                <c:pt idx="46">
                  <c:v>0.5</c:v>
                </c:pt>
                <c:pt idx="47">
                  <c:v>0.5</c:v>
                </c:pt>
                <c:pt idx="48">
                  <c:v>0.5</c:v>
                </c:pt>
                <c:pt idx="49">
                  <c:v>0.5</c:v>
                </c:pt>
                <c:pt idx="50">
                  <c:v>0.5</c:v>
                </c:pt>
                <c:pt idx="51">
                  <c:v>0.5</c:v>
                </c:pt>
                <c:pt idx="52">
                  <c:v>0.5</c:v>
                </c:pt>
                <c:pt idx="53">
                  <c:v>0.5</c:v>
                </c:pt>
                <c:pt idx="54">
                  <c:v>0.5</c:v>
                </c:pt>
                <c:pt idx="55">
                  <c:v>0.5</c:v>
                </c:pt>
                <c:pt idx="56">
                  <c:v>0.5</c:v>
                </c:pt>
                <c:pt idx="57">
                  <c:v>0.5</c:v>
                </c:pt>
                <c:pt idx="58">
                  <c:v>0.5</c:v>
                </c:pt>
                <c:pt idx="59">
                  <c:v>0.5</c:v>
                </c:pt>
                <c:pt idx="60">
                  <c:v>0.5</c:v>
                </c:pt>
                <c:pt idx="61">
                  <c:v>0.5</c:v>
                </c:pt>
                <c:pt idx="62">
                  <c:v>0.5</c:v>
                </c:pt>
                <c:pt idx="63">
                  <c:v>0.5</c:v>
                </c:pt>
                <c:pt idx="64">
                  <c:v>0.5</c:v>
                </c:pt>
                <c:pt idx="65">
                  <c:v>0.5</c:v>
                </c:pt>
                <c:pt idx="66">
                  <c:v>0.5</c:v>
                </c:pt>
                <c:pt idx="67">
                  <c:v>0.5</c:v>
                </c:pt>
                <c:pt idx="68">
                  <c:v>0.5</c:v>
                </c:pt>
                <c:pt idx="69">
                  <c:v>0.5</c:v>
                </c:pt>
                <c:pt idx="70">
                  <c:v>0.5</c:v>
                </c:pt>
                <c:pt idx="71">
                  <c:v>0.5</c:v>
                </c:pt>
                <c:pt idx="72">
                  <c:v>0.5</c:v>
                </c:pt>
                <c:pt idx="73">
                  <c:v>0.5</c:v>
                </c:pt>
                <c:pt idx="74">
                  <c:v>0.5</c:v>
                </c:pt>
                <c:pt idx="75">
                  <c:v>0.5</c:v>
                </c:pt>
                <c:pt idx="76">
                  <c:v>0.5</c:v>
                </c:pt>
                <c:pt idx="77">
                  <c:v>0.5</c:v>
                </c:pt>
                <c:pt idx="78">
                  <c:v>0.5</c:v>
                </c:pt>
                <c:pt idx="79">
                  <c:v>0.5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900" b="0" i="0" u="none" strike="noStrike">
                    <a:solidFill>
                      <a:srgbClr val="5B6B7F"/>
                    </a:solidFill>
                    <a:latin typeface="Calibri"/>
                  </a:defRPr>
                </a:pPr>
                <a:r>
                  <a:rPr sz="900" b="0" i="0" u="none" strike="noStrike">
                    <a:solidFill>
                      <a:srgbClr val="5B6B7F"/>
                    </a:solidFill>
                    <a:latin typeface="Calibri"/>
                  </a:rPr>
                  <a:t>time constants elapsed · 16 bits needs 11.8</a:t>
                </a:r>
              </a:p>
            </c:rich>
          </c:tx>
          <c:layout/>
          <c:overlay val="0"/>
        </c:title>
        <c:numFmt formatCode="General" sourceLinked="1"/>
        <c:majorTickMark val="none"/>
        <c:minorTickMark val="none"/>
        <c:tickLblPos val="low"/>
        <c:spPr>
          <a:ln w="12700" cap="flat">
            <a:solidFill>
              <a:srgbClr val="888888"/>
            </a:solidFill>
            <a:prstDash val="solid"/>
            <a:round/>
          </a:ln>
        </c:spPr>
        <c:txPr>
          <a:bodyPr/>
          <a:lstStyle/>
          <a:p>
            <a:pPr>
              <a:defRPr sz="900" b="0" i="0" u="none" strike="noStrike">
                <a:solidFill>
                  <a:srgbClr val="5B6B7F"/>
                </a:solidFill>
                <a:latin typeface="Calibri"/>
              </a:defRPr>
            </a:pPr>
            <a:endParaRPr lang="en-US"/>
          </a:p>
        </c:txPr>
        <c:crossAx val="2094734552"/>
        <c:crosses val="min"/>
        <c:auto val="1"/>
        <c:lblAlgn val="ctr"/>
        <c:noMultiLvlLbl val="1"/>
        <c:tickLblSkip val="10"/>
      </c:catAx>
      <c:valAx>
        <c:axId val="2094734552"/>
        <c:scaling>
          <c:orientation val="minMax"/>
          <c:max val="20"/>
          <c:min val="0"/>
        </c:scaling>
        <c:delete val="0"/>
        <c:axPos val="l"/>
        <c:majorGridlines>
          <c:spPr>
            <a:ln w="6350" cap="flat">
              <a:solidFill>
                <a:srgbClr val="D9E1EA"/>
              </a:solidFill>
              <a:prstDash val="solid"/>
              <a:round/>
            </a:ln>
          </c:spPr>
        </c:majorGridlines>
        <c:numFmt formatCode="General" sourceLinked="0"/>
        <c:majorTickMark val="none"/>
        <c:minorTickMark val="none"/>
        <c:tickLblPos val="nextTo"/>
        <c:spPr>
          <a:ln w="12700" cap="flat">
            <a:noFill/>
            <a:prstDash val="solid"/>
            <a:round/>
          </a:ln>
        </c:spPr>
        <c:txPr>
          <a:bodyPr/>
          <a:lstStyle/>
          <a:p>
            <a:pPr>
              <a:defRPr sz="900" b="0" i="0" u="none" strike="noStrike">
                <a:solidFill>
                  <a:srgbClr val="5B6B7F"/>
                </a:solidFill>
                <a:latin typeface="Calibri"/>
              </a:defRPr>
            </a:pPr>
            <a:endParaRPr lang="en-US"/>
          </a:p>
        </c:txPr>
        <c:crossAx val="2094734554"/>
        <c:crosses val="autoZero"/>
        <c:crossBetween val="between"/>
        <c:majorUnit val="5"/>
      </c:valAx>
      <c:spPr>
        <a:solidFill>
          <a:srgbClr val="FFFFFF"/>
        </a:solidFill>
        <a:ln>
          <a:noFill/>
        </a:ln>
        <a:effectLst/>
      </c:spPr>
    </c:plotArea>
    <c:legend>
      <c:legendPos val="b"/>
      <c:overlay val="0"/>
      <c:txPr>
        <a:bodyPr/>
        <a:lstStyle/>
        <a:p>
          <a:pPr>
            <a:defRPr sz="900">
              <a:solidFill>
                <a:srgbClr val="14213D"/>
              </a:solidFill>
              <a:latin typeface="Calibri"/>
              <a:cs typeface="Calibri"/>
            </a:defRPr>
          </a:pPr>
          <a:endParaRPr lang="en-US"/>
        </a:p>
      </c:txPr>
    </c:legend>
    <c:plotVisOnly val="1"/>
    <c:dispBlanksAs val="span"/>
  </c:chart>
  <c:spPr>
    <a:solidFill>
      <a:srgbClr val="FFFFFF"/>
    </a:solidFill>
    <a:ln>
      <a:noFill/>
    </a:ln>
    <a:effectLst/>
  </c:spPr>
  <c:externalData r:id="rId1">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barChart>
        <c:barDir val="col"/>
        <c:grouping val="clustered"/>
        <c:varyColors val="0"/>
        <c:ser>
          <c:idx val="0"/>
          <c:order val="0"/>
          <c:tx>
            <c:strRef>
              <c:f>Sheet1!$B$1</c:f>
              <c:strCache>
                <c:ptCount val="1"/>
                <c:pt idx="0">
                  <c:v>slew rate needed (V/µs)</c:v>
                </c:pt>
              </c:strCache>
            </c:strRef>
          </c:tx>
          <c:spPr>
            <a:solidFill>
              <a:srgbClr val="FFB703"/>
            </a:solidFill>
            <a:effectLst/>
          </c:spPr>
          <c:invertIfNegative val="0"/>
          <c:dLbls>
            <c:numFmt formatCode="0" sourceLinked="0"/>
            <c:txPr>
              <a:bodyPr/>
              <a:lstStyle/>
              <a:p>
                <a:pPr>
                  <a:defRPr b="0" i="0" strike="noStrike" sz="900" u="none">
                    <a:solidFill>
                      <a:srgbClr val="14213D"/>
                    </a:solidFill>
                    <a:latin typeface="Calibri"/>
                  </a:defRPr>
                </a:pPr>
              </a:p>
            </c:txPr>
            <c:showLegendKey val="0"/>
            <c:showVal val="1"/>
            <c:showCatName val="0"/>
            <c:showSerName val="0"/>
            <c:showPercent val="0"/>
            <c:showBubbleSize val="0"/>
            <c:showLeaderLines val="0"/>
          </c:dLbls>
          <c:cat>
            <c:multiLvlStrRef>
              <c:f>Sheet1!$A$2:$A$7</c:f>
              <c:multiLvlStrCache>
                <c:ptCount val="6"/>
                <c:lvl>
                  <c:pt idx="0">
                    <c:v>1 MHz</c:v>
                  </c:pt>
                  <c:pt idx="1">
                    <c:v>5 MHz</c:v>
                  </c:pt>
                  <c:pt idx="2">
                    <c:v>10 MHz</c:v>
                  </c:pt>
                  <c:pt idx="3">
                    <c:v>25 MHz</c:v>
                  </c:pt>
                  <c:pt idx="4">
                    <c:v>50 MHz</c:v>
                  </c:pt>
                  <c:pt idx="5">
                    <c:v>100 MHz</c:v>
                  </c:pt>
                </c:lvl>
              </c:multiLvlStrCache>
            </c:multiLvlStrRef>
          </c:cat>
          <c:val>
            <c:numRef>
              <c:f>Sheet1!$B$2:$B$7</c:f>
              <c:numCache>
                <c:formatCode>General</c:formatCode>
                <c:ptCount val="6"/>
                <c:pt idx="0">
                  <c:v>6.283185307179586</c:v>
                </c:pt>
                <c:pt idx="1">
                  <c:v>31.415926535897935</c:v>
                </c:pt>
                <c:pt idx="2">
                  <c:v>62.83185307179587</c:v>
                </c:pt>
                <c:pt idx="3">
                  <c:v>157.07963267948963</c:v>
                </c:pt>
                <c:pt idx="4">
                  <c:v>314.15926535897927</c:v>
                </c:pt>
                <c:pt idx="5">
                  <c:v>628.3185307179585</c:v>
                </c:pt>
              </c:numCache>
            </c:numRef>
          </c:val>
        </c:ser>
        <c:dLbls>
          <c:numFmt formatCode="0" sourceLinked="0"/>
          <c:txPr>
            <a:bodyPr/>
            <a:lstStyle/>
            <a:p>
              <a:pPr>
                <a:defRPr b="0" i="0" strike="noStrike" sz="900" u="none">
                  <a:solidFill>
                    <a:srgbClr val="14213D"/>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title>
          <c:tx>
            <c:rich>
              <a:bodyPr/>
              <a:lstStyle/>
              <a:p>
                <a:pPr>
                  <a:defRPr sz="900" b="0" i="0" u="none" strike="noStrike">
                    <a:solidFill>
                      <a:srgbClr val="5B6B7F"/>
                    </a:solidFill>
                    <a:latin typeface="Calibri"/>
                  </a:defRPr>
                </a:pPr>
                <a:r>
                  <a:rPr sz="900" b="0" i="0" u="none" strike="noStrike">
                    <a:solidFill>
                      <a:srgbClr val="5B6B7F"/>
                    </a:solidFill>
                    <a:latin typeface="Calibri"/>
                  </a:rPr>
                  <a:t>signal frequency · full-scale sine into a 2 V range</a:t>
                </a:r>
              </a:p>
            </c:rich>
          </c:tx>
          <c:layout/>
          <c:overlay val="0"/>
        </c:title>
        <c:numFmt formatCode="General" sourceLinked="1"/>
        <c:majorTickMark val="none"/>
        <c:minorTickMark val="none"/>
        <c:tickLblPos val="low"/>
        <c:spPr>
          <a:ln w="12700" cap="flat">
            <a:solidFill>
              <a:srgbClr val="888888"/>
            </a:solidFill>
            <a:prstDash val="solid"/>
            <a:round/>
          </a:ln>
        </c:spPr>
        <c:txPr>
          <a:bodyPr/>
          <a:lstStyle/>
          <a:p>
            <a:pPr>
              <a:defRPr sz="900" b="0" i="0" u="none" strike="noStrike">
                <a:solidFill>
                  <a:srgbClr val="5B6B7F"/>
                </a:solidFill>
                <a:latin typeface="Calibri"/>
              </a:defRPr>
            </a:pPr>
            <a:endParaRPr lang="en-US"/>
          </a:p>
        </c:txPr>
        <c:crossAx val="2094734552"/>
        <c:crosses val="min"/>
        <c:auto val="1"/>
        <c:lblAlgn val="ctr"/>
        <c:noMultiLvlLbl val="1"/>
      </c:catAx>
      <c:valAx>
        <c:axId val="2094734552"/>
        <c:scaling>
          <c:orientation val="minMax"/>
        </c:scaling>
        <c:delete val="0"/>
        <c:axPos val="l"/>
        <c:majorGridlines>
          <c:spPr>
            <a:ln w="6350" cap="flat">
              <a:solidFill>
                <a:srgbClr val="D9E1EA"/>
              </a:solidFill>
              <a:prstDash val="solid"/>
              <a:round/>
            </a:ln>
          </c:spPr>
        </c:majorGridlines>
        <c:numFmt formatCode="General" sourceLinked="0"/>
        <c:majorTickMark val="none"/>
        <c:minorTickMark val="none"/>
        <c:tickLblPos val="nextTo"/>
        <c:spPr>
          <a:ln w="12700" cap="flat">
            <a:noFill/>
            <a:prstDash val="solid"/>
            <a:round/>
          </a:ln>
        </c:spPr>
        <c:txPr>
          <a:bodyPr/>
          <a:lstStyle/>
          <a:p>
            <a:pPr>
              <a:defRPr sz="900" b="0" i="0" u="none" strike="noStrike">
                <a:solidFill>
                  <a:srgbClr val="5B6B7F"/>
                </a:solidFill>
                <a:latin typeface="Calibri"/>
              </a:defRPr>
            </a:pPr>
            <a:endParaRPr lang="en-US"/>
          </a:p>
        </c:txPr>
        <c:crossAx val="2094734554"/>
        <c:crosses val="autoZero"/>
        <c:crossBetween val="between"/>
      </c:valAx>
      <c:spPr>
        <a:solidFill>
          <a:srgbClr val="FFFFFF"/>
        </a:solidFill>
        <a:ln>
          <a:noFill/>
        </a:ln>
        <a:effectLst/>
      </c:spPr>
    </c:plotArea>
    <c:plotVisOnly val="1"/>
    <c:dispBlanksAs val="span"/>
  </c:chart>
  <c:spPr>
    <a:solidFill>
      <a:srgbClr val="FFFFFF"/>
    </a:solidFill>
    <a:ln>
      <a:noFill/>
    </a:ln>
    <a:effectLst/>
  </c:spPr>
  <c:externalData r:id="rId1">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lineChart>
        <c:varyColors val="0"/>
        <c:ser>
          <c:idx val="0"/>
          <c:order val="0"/>
          <c:tx>
            <c:strRef>
              <c:f>Sheet1!$B$1</c:f>
              <c:strCache>
                <c:ptCount val="1"/>
                <c:pt idx="0">
                  <c:v>input response (dB)</c:v>
                </c:pt>
              </c:strCache>
            </c:strRef>
          </c:tx>
          <c:spPr>
            <a:solidFill>
              <a:srgbClr val="2EC4B6"/>
            </a:solidFill>
            <a:ln w="19050" cap="flat">
              <a:solidFill>
                <a:srgbClr val="2EC4B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EC4B6"/>
              </a:solidFill>
              <a:ln w="9525" cap="flat">
                <a:solidFill>
                  <a:srgbClr val="2EC4B6"/>
                </a:solidFill>
                <a:prstDash val="solid"/>
                <a:round/>
              </a:ln>
              <a:effectLst/>
            </c:spPr>
          </c:marker>
          <c:cat>
            <c:multiLvlStrRef>
              <c:f>Sheet1!$A$2:$A$61</c:f>
              <c:multiLvlStrCache>
                <c:ptCount val="60"/>
                <c:lvl>
                  <c:pt idx="0">
                    <c:v>1</c:v>
                  </c:pt>
                  <c:pt idx="1">
                    <c:v>1</c:v>
                  </c:pt>
                  <c:pt idx="2">
                    <c:v>1</c:v>
                  </c:pt>
                  <c:pt idx="3">
                    <c:v>1</c:v>
                  </c:pt>
                  <c:pt idx="4">
                    <c:v>2</c:v>
                  </c:pt>
                  <c:pt idx="5">
                    <c:v>2</c:v>
                  </c:pt>
                  <c:pt idx="6">
                    <c:v>2</c:v>
                  </c:pt>
                  <c:pt idx="7">
                    <c:v>2</c:v>
                  </c:pt>
                  <c:pt idx="8">
                    <c:v>3</c:v>
                  </c:pt>
                  <c:pt idx="9">
                    <c:v>3</c:v>
                  </c:pt>
                  <c:pt idx="10">
                    <c:v>3</c:v>
                  </c:pt>
                  <c:pt idx="11">
                    <c:v>4</c:v>
                  </c:pt>
                  <c:pt idx="12">
                    <c:v>4</c:v>
                  </c:pt>
                  <c:pt idx="13">
                    <c:v>5</c:v>
                  </c:pt>
                  <c:pt idx="14">
                    <c:v>6</c:v>
                  </c:pt>
                  <c:pt idx="15">
                    <c:v>7</c:v>
                  </c:pt>
                  <c:pt idx="16">
                    <c:v>7</c:v>
                  </c:pt>
                  <c:pt idx="17">
                    <c:v>8</c:v>
                  </c:pt>
                  <c:pt idx="18">
                    <c:v>9</c:v>
                  </c:pt>
                  <c:pt idx="19">
                    <c:v>11</c:v>
                  </c:pt>
                  <c:pt idx="20">
                    <c:v>12</c:v>
                  </c:pt>
                  <c:pt idx="21">
                    <c:v>14</c:v>
                  </c:pt>
                  <c:pt idx="22">
                    <c:v>16</c:v>
                  </c:pt>
                  <c:pt idx="23">
                    <c:v>18</c:v>
                  </c:pt>
                  <c:pt idx="24">
                    <c:v>20</c:v>
                  </c:pt>
                  <c:pt idx="25">
                    <c:v>23</c:v>
                  </c:pt>
                  <c:pt idx="26">
                    <c:v>26</c:v>
                  </c:pt>
                  <c:pt idx="27">
                    <c:v>29</c:v>
                  </c:pt>
                  <c:pt idx="28">
                    <c:v>33</c:v>
                  </c:pt>
                  <c:pt idx="29">
                    <c:v>37</c:v>
                  </c:pt>
                  <c:pt idx="30">
                    <c:v>42</c:v>
                  </c:pt>
                  <c:pt idx="31">
                    <c:v>48</c:v>
                  </c:pt>
                  <c:pt idx="32">
                    <c:v>54</c:v>
                  </c:pt>
                  <c:pt idx="33">
                    <c:v>62</c:v>
                  </c:pt>
                  <c:pt idx="34">
                    <c:v>70</c:v>
                  </c:pt>
                  <c:pt idx="35">
                    <c:v>79</c:v>
                  </c:pt>
                  <c:pt idx="36">
                    <c:v>90</c:v>
                  </c:pt>
                  <c:pt idx="37">
                    <c:v>102</c:v>
                  </c:pt>
                  <c:pt idx="38">
                    <c:v>115</c:v>
                  </c:pt>
                  <c:pt idx="39">
                    <c:v>130</c:v>
                  </c:pt>
                  <c:pt idx="40">
                    <c:v>148</c:v>
                  </c:pt>
                  <c:pt idx="41">
                    <c:v>167</c:v>
                  </c:pt>
                  <c:pt idx="42">
                    <c:v>190</c:v>
                  </c:pt>
                  <c:pt idx="43">
                    <c:v>215</c:v>
                  </c:pt>
                  <c:pt idx="44">
                    <c:v>243</c:v>
                  </c:pt>
                  <c:pt idx="45">
                    <c:v>276</c:v>
                  </c:pt>
                  <c:pt idx="46">
                    <c:v>313</c:v>
                  </c:pt>
                  <c:pt idx="47">
                    <c:v>354</c:v>
                  </c:pt>
                  <c:pt idx="48">
                    <c:v>401</c:v>
                  </c:pt>
                  <c:pt idx="49">
                    <c:v>455</c:v>
                  </c:pt>
                  <c:pt idx="50">
                    <c:v>515</c:v>
                  </c:pt>
                  <c:pt idx="51">
                    <c:v>584</c:v>
                  </c:pt>
                  <c:pt idx="52">
                    <c:v>661</c:v>
                  </c:pt>
                  <c:pt idx="53">
                    <c:v>749</c:v>
                  </c:pt>
                  <c:pt idx="54">
                    <c:v>849</c:v>
                  </c:pt>
                  <c:pt idx="55">
                    <c:v>962</c:v>
                  </c:pt>
                  <c:pt idx="56">
                    <c:v>1090</c:v>
                  </c:pt>
                  <c:pt idx="57">
                    <c:v>1235</c:v>
                  </c:pt>
                  <c:pt idx="58">
                    <c:v>1399</c:v>
                  </c:pt>
                  <c:pt idx="59">
                    <c:v>1585</c:v>
                  </c:pt>
                </c:lvl>
              </c:multiLvlStrCache>
            </c:multiLvlStrRef>
          </c:cat>
          <c:val>
            <c:numRef>
              <c:f>Sheet1!$B$2:$B$61</c:f>
              <c:numCache>
                <c:formatCode>General</c:formatCode>
                <c:ptCount val="60"/>
                <c:pt idx="0">
                  <c:v>-0.000005361656960781532</c:v>
                </c:pt>
                <c:pt idx="1">
                  <c:v>-0.000006882932722967494</c:v>
                </c:pt>
                <c:pt idx="2">
                  <c:v>-0.000008835843257641465</c:v>
                </c:pt>
                <c:pt idx="3">
                  <c:v>-0.000011342856925726857</c:v>
                </c:pt>
                <c:pt idx="4">
                  <c:v>-0.000014561190023737519</c:v>
                </c:pt>
                <c:pt idx="5">
                  <c:v>-0.000018692665701315707</c:v>
                </c:pt>
                <c:pt idx="6">
                  <c:v>-0.000023996370029174428</c:v>
                </c:pt>
                <c:pt idx="7">
                  <c:v>-0.00003080489877736856</c:v>
                </c:pt>
                <c:pt idx="8">
                  <c:v>-0.00003954521356711552</c:v>
                </c:pt>
                <c:pt idx="9">
                  <c:v>-0.00005076541497213068</c:v>
                </c:pt>
                <c:pt idx="10">
                  <c:v>-0.00006516911100588924</c:v>
                </c:pt>
                <c:pt idx="11">
                  <c:v>-0.0000836595354017654</c:v>
                </c:pt>
                <c:pt idx="12">
                  <c:v>-0.00010739618092450384</c:v>
                </c:pt>
                <c:pt idx="13">
                  <c:v>-0.00013786749685990924</c:v>
                </c:pt>
                <c:pt idx="14">
                  <c:v>-0.00017698420565517113</c:v>
                </c:pt>
                <c:pt idx="15">
                  <c:v>-0.0002271990842045591</c:v>
                </c:pt>
                <c:pt idx="16">
                  <c:v>-0.00029166071064897625</c:v>
                </c:pt>
                <c:pt idx="17">
                  <c:v>-0.0003744108006433701</c:v>
                </c:pt>
                <c:pt idx="18">
                  <c:v>-0.00048063747915406166</c:v>
                </c:pt>
                <c:pt idx="19">
                  <c:v>-0.0006170003227248886</c:v>
                </c:pt>
                <c:pt idx="20">
                  <c:v>-0.000792047476946891</c:v>
                </c:pt>
                <c:pt idx="21">
                  <c:v>-0.0010167508767731565</c:v>
                </c:pt>
                <c:pt idx="22">
                  <c:v>-0.001305192919427651</c:v>
                </c:pt>
                <c:pt idx="23">
                  <c:v>-0.0016754472986039149</c:v>
                </c:pt>
                <c:pt idx="24">
                  <c:v>-0.0021507086561826866</c:v>
                </c:pt>
                <c:pt idx="25">
                  <c:v>-0.002760740935156445</c:v>
                </c:pt>
                <c:pt idx="26">
                  <c:v>-0.0035437336845721514</c:v>
                </c:pt>
                <c:pt idx="27">
                  <c:v>-0.004548680132318674</c:v>
                </c:pt>
                <c:pt idx="28">
                  <c:v>-0.005838421888558991</c:v>
                </c:pt>
                <c:pt idx="29">
                  <c:v>-0.0074935441983260565</c:v>
                </c:pt>
                <c:pt idx="30">
                  <c:v>-0.009617354488115149</c:v>
                </c:pt>
                <c:pt idx="31">
                  <c:v>-0.012342237488006513</c:v>
                </c:pt>
                <c:pt idx="32">
                  <c:v>-0.015837754427577292</c:v>
                </c:pt>
                <c:pt idx="33">
                  <c:v>-0.020320943391405354</c:v>
                </c:pt>
                <c:pt idx="34">
                  <c:v>-0.02606938371143329</c:v>
                </c:pt>
                <c:pt idx="35">
                  <c:v>-0.033437708222721345</c:v>
                </c:pt>
                <c:pt idx="36">
                  <c:v>-0.04287837867001689</c:v>
                </c:pt>
                <c:pt idx="37">
                  <c:v>-0.05496767049211396</c:v>
                </c:pt>
                <c:pt idx="38">
                  <c:v>-0.07043792187545792</c:v>
                </c:pt>
                <c:pt idx="39">
                  <c:v>-0.09021714945185591</c:v>
                </c:pt>
                <c:pt idx="40">
                  <c:v>-0.11547705429775525</c:v>
                </c:pt>
                <c:pt idx="41">
                  <c:v>-0.14769013449843832</c:v>
                </c:pt>
                <c:pt idx="42">
                  <c:v>-0.1886959325530886</c:v>
                </c:pt>
                <c:pt idx="43">
                  <c:v>-0.24077516851285813</c:v>
                </c:pt>
                <c:pt idx="44">
                  <c:v>-0.30672838592392426</c:v>
                </c:pt>
                <c:pt idx="45">
                  <c:v>-0.3899525083086759</c:v>
                </c:pt>
                <c:pt idx="46">
                  <c:v>-0.49450422454679904</c:v>
                </c:pt>
                <c:pt idx="47">
                  <c:v>-0.625133586222157</c:v>
                </c:pt>
                <c:pt idx="48">
                  <c:v>-0.7872654852970902</c:v>
                </c:pt>
                <c:pt idx="49">
                  <c:v>-0.9869027319277555</c:v>
                </c:pt>
                <c:pt idx="50">
                  <c:v>-1.2304254549015157</c:v>
                </c:pt>
                <c:pt idx="51">
                  <c:v>-1.5242713929236906</c:v>
                </c:pt>
                <c:pt idx="52">
                  <c:v>-1.874503165993048</c:v>
                </c:pt>
                <c:pt idx="53">
                  <c:v>-2.2863006161182184</c:v>
                </c:pt>
                <c:pt idx="54">
                  <c:v>-2.7634508258372597</c:v>
                </c:pt>
                <c:pt idx="55">
                  <c:v>-3.3079311489377403</c:v>
                </c:pt>
                <c:pt idx="56">
                  <c:v>-3.9196767755772544</c:v>
                </c:pt>
                <c:pt idx="57">
                  <c:v>-4.596588510203973</c:v>
                </c:pt>
                <c:pt idx="58">
                  <c:v>-5.334778848397638</c:v>
                </c:pt>
                <c:pt idx="59">
                  <c:v>-6.12899761852074</c:v>
                </c:pt>
              </c:numCache>
            </c:numRef>
          </c:val>
          <c:smooth val="0"/>
        </c:ser>
        <c:ser>
          <c:idx val="1"/>
          <c:order val="1"/>
          <c:tx>
            <c:strRef>
              <c:f>Sheet1!$C$1</c:f>
              <c:strCache>
                <c:ptCount val="1"/>
                <c:pt idx="0">
                  <c:v>Nyquist, 125 MHz</c:v>
                </c:pt>
              </c:strCache>
            </c:strRef>
          </c:tx>
          <c:spPr>
            <a:solidFill>
              <a:srgbClr val="5B6B7F"/>
            </a:solidFill>
            <a:ln w="19050" cap="flat">
              <a:solidFill>
                <a:srgbClr val="5B6B7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5B6B7F"/>
              </a:solidFill>
              <a:ln w="9525" cap="flat">
                <a:solidFill>
                  <a:srgbClr val="5B6B7F"/>
                </a:solidFill>
                <a:prstDash val="solid"/>
                <a:round/>
              </a:ln>
              <a:effectLst/>
            </c:spPr>
          </c:marker>
          <c:cat>
            <c:multiLvlStrRef>
              <c:f>Sheet1!$A$2:$A$61</c:f>
              <c:multiLvlStrCache>
                <c:ptCount val="60"/>
                <c:lvl>
                  <c:pt idx="0">
                    <c:v>1</c:v>
                  </c:pt>
                  <c:pt idx="1">
                    <c:v>1</c:v>
                  </c:pt>
                  <c:pt idx="2">
                    <c:v>1</c:v>
                  </c:pt>
                  <c:pt idx="3">
                    <c:v>1</c:v>
                  </c:pt>
                  <c:pt idx="4">
                    <c:v>2</c:v>
                  </c:pt>
                  <c:pt idx="5">
                    <c:v>2</c:v>
                  </c:pt>
                  <c:pt idx="6">
                    <c:v>2</c:v>
                  </c:pt>
                  <c:pt idx="7">
                    <c:v>2</c:v>
                  </c:pt>
                  <c:pt idx="8">
                    <c:v>3</c:v>
                  </c:pt>
                  <c:pt idx="9">
                    <c:v>3</c:v>
                  </c:pt>
                  <c:pt idx="10">
                    <c:v>3</c:v>
                  </c:pt>
                  <c:pt idx="11">
                    <c:v>4</c:v>
                  </c:pt>
                  <c:pt idx="12">
                    <c:v>4</c:v>
                  </c:pt>
                  <c:pt idx="13">
                    <c:v>5</c:v>
                  </c:pt>
                  <c:pt idx="14">
                    <c:v>6</c:v>
                  </c:pt>
                  <c:pt idx="15">
                    <c:v>7</c:v>
                  </c:pt>
                  <c:pt idx="16">
                    <c:v>7</c:v>
                  </c:pt>
                  <c:pt idx="17">
                    <c:v>8</c:v>
                  </c:pt>
                  <c:pt idx="18">
                    <c:v>9</c:v>
                  </c:pt>
                  <c:pt idx="19">
                    <c:v>11</c:v>
                  </c:pt>
                  <c:pt idx="20">
                    <c:v>12</c:v>
                  </c:pt>
                  <c:pt idx="21">
                    <c:v>14</c:v>
                  </c:pt>
                  <c:pt idx="22">
                    <c:v>16</c:v>
                  </c:pt>
                  <c:pt idx="23">
                    <c:v>18</c:v>
                  </c:pt>
                  <c:pt idx="24">
                    <c:v>20</c:v>
                  </c:pt>
                  <c:pt idx="25">
                    <c:v>23</c:v>
                  </c:pt>
                  <c:pt idx="26">
                    <c:v>26</c:v>
                  </c:pt>
                  <c:pt idx="27">
                    <c:v>29</c:v>
                  </c:pt>
                  <c:pt idx="28">
                    <c:v>33</c:v>
                  </c:pt>
                  <c:pt idx="29">
                    <c:v>37</c:v>
                  </c:pt>
                  <c:pt idx="30">
                    <c:v>42</c:v>
                  </c:pt>
                  <c:pt idx="31">
                    <c:v>48</c:v>
                  </c:pt>
                  <c:pt idx="32">
                    <c:v>54</c:v>
                  </c:pt>
                  <c:pt idx="33">
                    <c:v>62</c:v>
                  </c:pt>
                  <c:pt idx="34">
                    <c:v>70</c:v>
                  </c:pt>
                  <c:pt idx="35">
                    <c:v>79</c:v>
                  </c:pt>
                  <c:pt idx="36">
                    <c:v>90</c:v>
                  </c:pt>
                  <c:pt idx="37">
                    <c:v>102</c:v>
                  </c:pt>
                  <c:pt idx="38">
                    <c:v>115</c:v>
                  </c:pt>
                  <c:pt idx="39">
                    <c:v>130</c:v>
                  </c:pt>
                  <c:pt idx="40">
                    <c:v>148</c:v>
                  </c:pt>
                  <c:pt idx="41">
                    <c:v>167</c:v>
                  </c:pt>
                  <c:pt idx="42">
                    <c:v>190</c:v>
                  </c:pt>
                  <c:pt idx="43">
                    <c:v>215</c:v>
                  </c:pt>
                  <c:pt idx="44">
                    <c:v>243</c:v>
                  </c:pt>
                  <c:pt idx="45">
                    <c:v>276</c:v>
                  </c:pt>
                  <c:pt idx="46">
                    <c:v>313</c:v>
                  </c:pt>
                  <c:pt idx="47">
                    <c:v>354</c:v>
                  </c:pt>
                  <c:pt idx="48">
                    <c:v>401</c:v>
                  </c:pt>
                  <c:pt idx="49">
                    <c:v>455</c:v>
                  </c:pt>
                  <c:pt idx="50">
                    <c:v>515</c:v>
                  </c:pt>
                  <c:pt idx="51">
                    <c:v>584</c:v>
                  </c:pt>
                  <c:pt idx="52">
                    <c:v>661</c:v>
                  </c:pt>
                  <c:pt idx="53">
                    <c:v>749</c:v>
                  </c:pt>
                  <c:pt idx="54">
                    <c:v>849</c:v>
                  </c:pt>
                  <c:pt idx="55">
                    <c:v>962</c:v>
                  </c:pt>
                  <c:pt idx="56">
                    <c:v>1090</c:v>
                  </c:pt>
                  <c:pt idx="57">
                    <c:v>1235</c:v>
                  </c:pt>
                  <c:pt idx="58">
                    <c:v>1399</c:v>
                  </c:pt>
                  <c:pt idx="59">
                    <c:v>1585</c:v>
                  </c:pt>
                </c:lvl>
              </c:multiLvlStrCache>
            </c:multiLvlStrRef>
          </c:cat>
          <c:val>
            <c:numRef>
              <c:f>Sheet1!$C$2:$C$61</c:f>
              <c:numCache>
                <c:formatCode>General</c:formatCode>
                <c:ptCount val="6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-60</c:v>
                </c:pt>
                <c:pt idx="40">
                  <c:v>-60</c:v>
                </c:pt>
                <c:pt idx="41">
                  <c:v>-60</c:v>
                </c:pt>
                <c:pt idx="42">
                  <c:v>-60</c:v>
                </c:pt>
                <c:pt idx="43">
                  <c:v>-60</c:v>
                </c:pt>
                <c:pt idx="44">
                  <c:v>-60</c:v>
                </c:pt>
                <c:pt idx="45">
                  <c:v>-60</c:v>
                </c:pt>
                <c:pt idx="46">
                  <c:v>-60</c:v>
                </c:pt>
                <c:pt idx="47">
                  <c:v>-60</c:v>
                </c:pt>
                <c:pt idx="48">
                  <c:v>-60</c:v>
                </c:pt>
                <c:pt idx="49">
                  <c:v>-60</c:v>
                </c:pt>
                <c:pt idx="50">
                  <c:v>-60</c:v>
                </c:pt>
                <c:pt idx="51">
                  <c:v>-60</c:v>
                </c:pt>
                <c:pt idx="52">
                  <c:v>-60</c:v>
                </c:pt>
                <c:pt idx="53">
                  <c:v>-60</c:v>
                </c:pt>
                <c:pt idx="54">
                  <c:v>-60</c:v>
                </c:pt>
                <c:pt idx="55">
                  <c:v>-60</c:v>
                </c:pt>
                <c:pt idx="56">
                  <c:v>-60</c:v>
                </c:pt>
                <c:pt idx="57">
                  <c:v>-60</c:v>
                </c:pt>
                <c:pt idx="58">
                  <c:v>-60</c:v>
                </c:pt>
                <c:pt idx="59">
                  <c:v>-60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900" b="0" i="0" u="none" strike="noStrike">
                    <a:solidFill>
                      <a:srgbClr val="5B6B7F"/>
                    </a:solidFill>
                    <a:latin typeface="Calibri"/>
                  </a:defRPr>
                </a:pPr>
                <a:r>
                  <a:rPr sz="900" b="0" i="0" u="none" strike="noStrike">
                    <a:solidFill>
                      <a:srgbClr val="5B6B7F"/>
                    </a:solidFill>
                    <a:latin typeface="Calibri"/>
                  </a:rPr>
                  <a:t>frequency (MHz) · −3 dB at 900 MHz, far above Nyquist</a:t>
                </a:r>
              </a:p>
            </c:rich>
          </c:tx>
          <c:layout/>
          <c:overlay val="0"/>
        </c:title>
        <c:numFmt formatCode="General" sourceLinked="1"/>
        <c:majorTickMark val="none"/>
        <c:minorTickMark val="none"/>
        <c:tickLblPos val="low"/>
        <c:spPr>
          <a:ln w="12700" cap="flat">
            <a:solidFill>
              <a:srgbClr val="888888"/>
            </a:solidFill>
            <a:prstDash val="solid"/>
            <a:round/>
          </a:ln>
        </c:spPr>
        <c:txPr>
          <a:bodyPr/>
          <a:lstStyle/>
          <a:p>
            <a:pPr>
              <a:defRPr sz="900" b="0" i="0" u="none" strike="noStrike">
                <a:solidFill>
                  <a:srgbClr val="5B6B7F"/>
                </a:solidFill>
                <a:latin typeface="Calibri"/>
              </a:defRPr>
            </a:pPr>
            <a:endParaRPr lang="en-US"/>
          </a:p>
        </c:txPr>
        <c:crossAx val="2094734552"/>
        <c:crosses val="min"/>
        <c:auto val="1"/>
        <c:lblAlgn val="ctr"/>
        <c:noMultiLvlLbl val="1"/>
        <c:tickLblSkip val="10"/>
      </c:catAx>
      <c:valAx>
        <c:axId val="2094734552"/>
        <c:scaling>
          <c:orientation val="minMax"/>
          <c:max val="5"/>
          <c:min val="-30"/>
        </c:scaling>
        <c:delete val="0"/>
        <c:axPos val="l"/>
        <c:majorGridlines>
          <c:spPr>
            <a:ln w="6350" cap="flat">
              <a:solidFill>
                <a:srgbClr val="D9E1EA"/>
              </a:solidFill>
              <a:prstDash val="solid"/>
              <a:round/>
            </a:ln>
          </c:spPr>
        </c:majorGridlines>
        <c:numFmt formatCode="General" sourceLinked="0"/>
        <c:majorTickMark val="none"/>
        <c:minorTickMark val="none"/>
        <c:tickLblPos val="nextTo"/>
        <c:spPr>
          <a:ln w="12700" cap="flat">
            <a:noFill/>
            <a:prstDash val="solid"/>
            <a:round/>
          </a:ln>
        </c:spPr>
        <c:txPr>
          <a:bodyPr/>
          <a:lstStyle/>
          <a:p>
            <a:pPr>
              <a:defRPr sz="900" b="0" i="0" u="none" strike="noStrike">
                <a:solidFill>
                  <a:srgbClr val="5B6B7F"/>
                </a:solidFill>
                <a:latin typeface="Calibri"/>
              </a:defRPr>
            </a:pPr>
            <a:endParaRPr lang="en-US"/>
          </a:p>
        </c:txPr>
        <c:crossAx val="2094734554"/>
        <c:crosses val="autoZero"/>
        <c:crossBetween val="between"/>
        <c:majorUnit val="10"/>
      </c:valAx>
      <c:spPr>
        <a:solidFill>
          <a:srgbClr val="FFFFFF"/>
        </a:solidFill>
        <a:ln>
          <a:noFill/>
        </a:ln>
        <a:effectLst/>
      </c:spPr>
    </c:plotArea>
    <c:legend>
      <c:legendPos val="b"/>
      <c:overlay val="0"/>
      <c:txPr>
        <a:bodyPr/>
        <a:lstStyle/>
        <a:p>
          <a:pPr>
            <a:defRPr sz="900">
              <a:solidFill>
                <a:srgbClr val="14213D"/>
              </a:solidFill>
              <a:latin typeface="Calibri"/>
              <a:cs typeface="Calibri"/>
            </a:defRPr>
          </a:pPr>
          <a:endParaRPr lang="en-US"/>
        </a:p>
      </c:txPr>
    </c:legend>
    <c:plotVisOnly val="1"/>
    <c:dispBlanksAs val="span"/>
  </c:chart>
  <c:spPr>
    <a:solidFill>
      <a:srgbClr val="FFFFFF"/>
    </a:solidFill>
    <a:ln>
      <a:noFill/>
    </a:ln>
    <a:effectLst/>
  </c:spPr>
  <c:externalData r:id="rId1">
    <c:autoUpdate val="0"/>
  </c:externalData>
</c:chartSpace>
</file>

<file path=ppt/charts/chart29.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barChart>
        <c:barDir val="col"/>
        <c:grouping val="clustered"/>
        <c:varyColors val="0"/>
        <c:ser>
          <c:idx val="0"/>
          <c:order val="0"/>
          <c:tx>
            <c:strRef>
              <c:f>Sheet1!$B$1</c:f>
              <c:strCache>
                <c:ptCount val="1"/>
                <c:pt idx="0">
                  <c:v>MHz</c:v>
                </c:pt>
              </c:strCache>
            </c:strRef>
          </c:tx>
          <c:spPr>
            <a:solidFill>
              <a:srgbClr val="2EC4B6"/>
            </a:solidFill>
            <a:effectLst/>
          </c:spPr>
          <c:invertIfNegative val="0"/>
          <c:dLbls>
            <c:numFmt formatCode="0&quot;MHz&quot;" sourceLinked="0"/>
            <c:txPr>
              <a:bodyPr/>
              <a:lstStyle/>
              <a:p>
                <a:pPr>
                  <a:defRPr b="0" i="0" strike="noStrike" sz="900" u="none">
                    <a:solidFill>
                      <a:srgbClr val="14213D"/>
                    </a:solidFill>
                    <a:latin typeface="Calibri"/>
                  </a:defRPr>
                </a:pPr>
              </a:p>
            </c:txPr>
            <c:showLegendKey val="0"/>
            <c:showVal val="1"/>
            <c:showCatName val="0"/>
            <c:showSerName val="0"/>
            <c:showPercent val="0"/>
            <c:showBubbleSize val="0"/>
            <c:showLeaderLines val="0"/>
          </c:dLbls>
          <c:cat>
            <c:multiLvlStrRef>
              <c:f>Sheet1!$A$2:$A$4</c:f>
              <c:multiLvlStrCache>
                <c:ptCount val="3"/>
                <c:lvl>
                  <c:pt idx="0">
                    <c:v>small signal −3 dB</c:v>
                  </c:pt>
                  <c:pt idx="1">
                    <c:v>full power −3 dB</c:v>
                  </c:pt>
                  <c:pt idx="2">
                    <c:v>full linear (SFDR &gt; 70 dB)</c:v>
                  </c:pt>
                </c:lvl>
              </c:multiLvlStrCache>
            </c:multiLvlStrRef>
          </c:cat>
          <c:val>
            <c:numRef>
              <c:f>Sheet1!$B$2:$B$4</c:f>
              <c:numCache>
                <c:formatCode>General</c:formatCode>
                <c:ptCount val="3"/>
                <c:pt idx="0">
                  <c:v>900</c:v>
                </c:pt>
                <c:pt idx="1">
                  <c:v>500</c:v>
                </c:pt>
                <c:pt idx="2">
                  <c:v>200</c:v>
                </c:pt>
              </c:numCache>
            </c:numRef>
          </c:val>
        </c:ser>
        <c:dLbls>
          <c:numFmt formatCode="0&quot;MHz&quot;" sourceLinked="0"/>
          <c:txPr>
            <a:bodyPr/>
            <a:lstStyle/>
            <a:p>
              <a:pPr>
                <a:defRPr b="0" i="0" strike="noStrike" sz="900" u="none">
                  <a:solidFill>
                    <a:srgbClr val="14213D"/>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title>
          <c:tx>
            <c:rich>
              <a:bodyPr/>
              <a:lstStyle/>
              <a:p>
                <a:pPr>
                  <a:defRPr sz="900" b="0" i="0" u="none" strike="noStrike">
                    <a:solidFill>
                      <a:srgbClr val="5B6B7F"/>
                    </a:solidFill>
                    <a:latin typeface="Calibri"/>
                  </a:defRPr>
                </a:pPr>
                <a:r>
                  <a:rPr sz="900" b="0" i="0" u="none" strike="noStrike">
                    <a:solidFill>
                      <a:srgbClr val="5B6B7F"/>
                    </a:solidFill>
                    <a:latin typeface="Calibri"/>
                  </a:rPr>
                  <a:t>three bandwidths for one converter</a:t>
                </a:r>
              </a:p>
            </c:rich>
          </c:tx>
          <c:layout/>
          <c:overlay val="0"/>
        </c:title>
        <c:numFmt formatCode="General" sourceLinked="1"/>
        <c:majorTickMark val="none"/>
        <c:minorTickMark val="none"/>
        <c:tickLblPos val="low"/>
        <c:spPr>
          <a:ln w="12700" cap="flat">
            <a:solidFill>
              <a:srgbClr val="888888"/>
            </a:solidFill>
            <a:prstDash val="solid"/>
            <a:round/>
          </a:ln>
        </c:spPr>
        <c:txPr>
          <a:bodyPr/>
          <a:lstStyle/>
          <a:p>
            <a:pPr>
              <a:defRPr sz="900" b="0" i="0" u="none" strike="noStrike">
                <a:solidFill>
                  <a:srgbClr val="5B6B7F"/>
                </a:solidFill>
                <a:latin typeface="Calibri"/>
              </a:defRPr>
            </a:pPr>
            <a:endParaRPr lang="en-US"/>
          </a:p>
        </c:txPr>
        <c:crossAx val="2094734552"/>
        <c:crosses val="min"/>
        <c:auto val="1"/>
        <c:lblAlgn val="ctr"/>
        <c:noMultiLvlLbl val="1"/>
      </c:catAx>
      <c:valAx>
        <c:axId val="2094734552"/>
        <c:scaling>
          <c:orientation val="minMax"/>
        </c:scaling>
        <c:delete val="0"/>
        <c:axPos val="l"/>
        <c:majorGridlines>
          <c:spPr>
            <a:ln w="6350" cap="flat">
              <a:solidFill>
                <a:srgbClr val="D9E1EA"/>
              </a:solidFill>
              <a:prstDash val="solid"/>
              <a:round/>
            </a:ln>
          </c:spPr>
        </c:majorGridlines>
        <c:numFmt formatCode="General" sourceLinked="0"/>
        <c:majorTickMark val="none"/>
        <c:minorTickMark val="none"/>
        <c:tickLblPos val="nextTo"/>
        <c:spPr>
          <a:ln w="12700" cap="flat">
            <a:noFill/>
            <a:prstDash val="solid"/>
            <a:round/>
          </a:ln>
        </c:spPr>
        <c:txPr>
          <a:bodyPr/>
          <a:lstStyle/>
          <a:p>
            <a:pPr>
              <a:defRPr sz="900" b="0" i="0" u="none" strike="noStrike">
                <a:solidFill>
                  <a:srgbClr val="5B6B7F"/>
                </a:solidFill>
                <a:latin typeface="Calibri"/>
              </a:defRPr>
            </a:pPr>
            <a:endParaRPr lang="en-US"/>
          </a:p>
        </c:txPr>
        <c:crossAx val="2094734554"/>
        <c:crosses val="autoZero"/>
        <c:crossBetween val="between"/>
      </c:valAx>
      <c:spPr>
        <a:solidFill>
          <a:srgbClr val="FFFFFF"/>
        </a:solidFill>
        <a:ln>
          <a:noFill/>
        </a:ln>
        <a:effectLst/>
      </c:spPr>
    </c:plotArea>
    <c:plotVisOnly val="1"/>
    <c:dispBlanksAs val="span"/>
  </c:chart>
  <c:spPr>
    <a:solidFill>
      <a:srgbClr val="FFFFFF"/>
    </a:solidFill>
    <a:ln>
      <a:noFill/>
    </a:ln>
    <a:effectLst/>
  </c:spPr>
  <c:externalData r:id="rId1">
    <c:autoUpdate val="0"/>
  </c:externalData>
</c:chartSpace>
</file>

<file path=ppt/charts/chart30.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barChart>
        <c:barDir val="col"/>
        <c:grouping val="clustered"/>
        <c:varyColors val="0"/>
        <c:ser>
          <c:idx val="0"/>
          <c:order val="0"/>
          <c:tx>
            <c:strRef>
              <c:f>Sheet1!$B$1</c:f>
              <c:strCache>
                <c:ptCount val="1"/>
                <c:pt idx="0">
                  <c:v>upper edge (MHz), f_s = 61.44 MSPS</c:v>
                </c:pt>
              </c:strCache>
            </c:strRef>
          </c:tx>
          <c:spPr>
            <a:solidFill>
              <a:srgbClr val="2EC4B6"/>
            </a:solidFill>
            <a:effectLst/>
          </c:spPr>
          <c:invertIfNegative val="0"/>
          <c:dLbls>
            <c:numFmt formatCode="0.0" sourceLinked="0"/>
            <c:txPr>
              <a:bodyPr/>
              <a:lstStyle/>
              <a:p>
                <a:pPr>
                  <a:defRPr b="0" i="0" strike="noStrike" sz="900" u="none">
                    <a:solidFill>
                      <a:srgbClr val="14213D"/>
                    </a:solidFill>
                    <a:latin typeface="Calibri"/>
                  </a:defRPr>
                </a:pPr>
              </a:p>
            </c:txPr>
            <c:showLegendKey val="0"/>
            <c:showVal val="1"/>
            <c:showCatName val="0"/>
            <c:showSerName val="0"/>
            <c:showPercent val="0"/>
            <c:showBubbleSize val="0"/>
            <c:showLeaderLines val="0"/>
          </c:dLbls>
          <c:cat>
            <c:multiLvlStrRef>
              <c:f>Sheet1!$A$2:$A$7</c:f>
              <c:multiLvlStrCache>
                <c:ptCount val="6"/>
                <c:lvl>
                  <c:pt idx="0">
                    <c:v>zone 1</c:v>
                  </c:pt>
                  <c:pt idx="1">
                    <c:v>zone 2</c:v>
                  </c:pt>
                  <c:pt idx="2">
                    <c:v>zone 3</c:v>
                  </c:pt>
                  <c:pt idx="3">
                    <c:v>zone 4</c:v>
                  </c:pt>
                  <c:pt idx="4">
                    <c:v>zone 5</c:v>
                  </c:pt>
                  <c:pt idx="5">
                    <c:v>zone 6</c:v>
                  </c:pt>
                </c:lvl>
              </c:multiLvlStrCache>
            </c:multiLvlStrRef>
          </c:cat>
          <c:val>
            <c:numRef>
              <c:f>Sheet1!$B$2:$B$7</c:f>
              <c:numCache>
                <c:formatCode>General</c:formatCode>
                <c:ptCount val="6"/>
                <c:pt idx="0">
                  <c:v>30.72</c:v>
                </c:pt>
                <c:pt idx="1">
                  <c:v>61.44</c:v>
                </c:pt>
                <c:pt idx="2">
                  <c:v>92.16</c:v>
                </c:pt>
                <c:pt idx="3">
                  <c:v>122.88</c:v>
                </c:pt>
                <c:pt idx="4">
                  <c:v>153.6</c:v>
                </c:pt>
                <c:pt idx="5">
                  <c:v>184.32</c:v>
                </c:pt>
              </c:numCache>
            </c:numRef>
          </c:val>
        </c:ser>
        <c:dLbls>
          <c:numFmt formatCode="0.0" sourceLinked="0"/>
          <c:txPr>
            <a:bodyPr/>
            <a:lstStyle/>
            <a:p>
              <a:pPr>
                <a:defRPr b="0" i="0" strike="noStrike" sz="900" u="none">
                  <a:solidFill>
                    <a:srgbClr val="14213D"/>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title>
          <c:tx>
            <c:rich>
              <a:bodyPr/>
              <a:lstStyle/>
              <a:p>
                <a:pPr>
                  <a:defRPr sz="900" b="0" i="0" u="none" strike="noStrike">
                    <a:solidFill>
                      <a:srgbClr val="5B6B7F"/>
                    </a:solidFill>
                    <a:latin typeface="Calibri"/>
                  </a:defRPr>
                </a:pPr>
                <a:r>
                  <a:rPr sz="900" b="0" i="0" u="none" strike="noStrike">
                    <a:solidFill>
                      <a:srgbClr val="5B6B7F"/>
                    </a:solidFill>
                    <a:latin typeface="Calibri"/>
                  </a:rPr>
                  <a:t>a 70 MHz IF lives in zone 3 and folds down into zone 1</a:t>
                </a:r>
              </a:p>
            </c:rich>
          </c:tx>
          <c:layout/>
          <c:overlay val="0"/>
        </c:title>
        <c:numFmt formatCode="General" sourceLinked="1"/>
        <c:majorTickMark val="none"/>
        <c:minorTickMark val="none"/>
        <c:tickLblPos val="low"/>
        <c:spPr>
          <a:ln w="12700" cap="flat">
            <a:solidFill>
              <a:srgbClr val="888888"/>
            </a:solidFill>
            <a:prstDash val="solid"/>
            <a:round/>
          </a:ln>
        </c:spPr>
        <c:txPr>
          <a:bodyPr/>
          <a:lstStyle/>
          <a:p>
            <a:pPr>
              <a:defRPr sz="900" b="0" i="0" u="none" strike="noStrike">
                <a:solidFill>
                  <a:srgbClr val="5B6B7F"/>
                </a:solidFill>
                <a:latin typeface="Calibri"/>
              </a:defRPr>
            </a:pPr>
            <a:endParaRPr lang="en-US"/>
          </a:p>
        </c:txPr>
        <c:crossAx val="2094734552"/>
        <c:crosses val="min"/>
        <c:auto val="1"/>
        <c:lblAlgn val="ctr"/>
        <c:noMultiLvlLbl val="1"/>
      </c:catAx>
      <c:valAx>
        <c:axId val="2094734552"/>
        <c:scaling>
          <c:orientation val="minMax"/>
        </c:scaling>
        <c:delete val="0"/>
        <c:axPos val="l"/>
        <c:majorGridlines>
          <c:spPr>
            <a:ln w="6350" cap="flat">
              <a:solidFill>
                <a:srgbClr val="D9E1EA"/>
              </a:solidFill>
              <a:prstDash val="solid"/>
              <a:round/>
            </a:ln>
          </c:spPr>
        </c:majorGridlines>
        <c:numFmt formatCode="General" sourceLinked="0"/>
        <c:majorTickMark val="none"/>
        <c:minorTickMark val="none"/>
        <c:tickLblPos val="nextTo"/>
        <c:spPr>
          <a:ln w="12700" cap="flat">
            <a:noFill/>
            <a:prstDash val="solid"/>
            <a:round/>
          </a:ln>
        </c:spPr>
        <c:txPr>
          <a:bodyPr/>
          <a:lstStyle/>
          <a:p>
            <a:pPr>
              <a:defRPr sz="900" b="0" i="0" u="none" strike="noStrike">
                <a:solidFill>
                  <a:srgbClr val="5B6B7F"/>
                </a:solidFill>
                <a:latin typeface="Calibri"/>
              </a:defRPr>
            </a:pPr>
            <a:endParaRPr lang="en-US"/>
          </a:p>
        </c:txPr>
        <c:crossAx val="2094734554"/>
        <c:crosses val="autoZero"/>
        <c:crossBetween val="between"/>
      </c:valAx>
      <c:spPr>
        <a:solidFill>
          <a:srgbClr val="FFFFFF"/>
        </a:solidFill>
        <a:ln>
          <a:noFill/>
        </a:ln>
        <a:effectLst/>
      </c:spPr>
    </c:plotArea>
    <c:plotVisOnly val="1"/>
    <c:dispBlanksAs val="span"/>
  </c:chart>
  <c:spPr>
    <a:solidFill>
      <a:srgbClr val="FFFFFF"/>
    </a:solidFill>
    <a:ln>
      <a:noFill/>
    </a:ln>
    <a:effectLst/>
  </c:spPr>
  <c:externalData r:id="rId1">
    <c:autoUpdate val="0"/>
  </c:externalData>
</c:chartSpace>
</file>

<file path=ppt/charts/chart3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lineChart>
        <c:varyColors val="0"/>
        <c:ser>
          <c:idx val="0"/>
          <c:order val="0"/>
          <c:tx>
            <c:strRef>
              <c:f>Sheet1!$B$1</c:f>
              <c:strCache>
                <c:ptCount val="1"/>
                <c:pt idx="0">
                  <c:v>plain</c:v>
                </c:pt>
              </c:strCache>
            </c:strRef>
          </c:tx>
          <c:spPr>
            <a:solidFill>
              <a:srgbClr val="5B6B7F"/>
            </a:solidFill>
            <a:ln w="19050" cap="flat">
              <a:solidFill>
                <a:srgbClr val="5B6B7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4"/>
            <c:spPr>
              <a:solidFill>
                <a:srgbClr val="5B6B7F"/>
              </a:solidFill>
              <a:ln w="9525" cap="flat">
                <a:solidFill>
                  <a:srgbClr val="5B6B7F"/>
                </a:solidFill>
                <a:prstDash val="solid"/>
                <a:round/>
              </a:ln>
              <a:effectLst/>
            </c:spPr>
          </c:marker>
          <c:cat>
            <c:multiLvlStrRef>
              <c:f>Sheet1!$A$2:$A$7</c:f>
              <c:multiLvlStrCache>
                <c:ptCount val="6"/>
                <c:lvl>
                  <c:pt idx="0">
                    <c:v>1</c:v>
                  </c:pt>
                  <c:pt idx="1">
                    <c:v>4</c:v>
                  </c:pt>
                  <c:pt idx="2">
                    <c:v>16</c:v>
                  </c:pt>
                  <c:pt idx="3">
                    <c:v>64</c:v>
                  </c:pt>
                  <c:pt idx="4">
                    <c:v>256</c:v>
                  </c:pt>
                  <c:pt idx="5">
                    <c:v>1024</c:v>
                  </c:pt>
                </c:lvl>
              </c:multiLvlStrCache>
            </c:multiLvlStrRef>
          </c:cat>
          <c:val>
            <c:numRef>
              <c:f>Sheet1!$B$2:$B$7</c:f>
              <c:numCache>
                <c:formatCode>General</c:formatCode>
                <c:ptCount val="6"/>
                <c:pt idx="0">
                  <c:v>0</c:v>
                </c:pt>
                <c:pt idx="1">
                  <c:v>6.020599913279624</c:v>
                </c:pt>
                <c:pt idx="2">
                  <c:v>12.041199826559248</c:v>
                </c:pt>
                <c:pt idx="3">
                  <c:v>18.06179973983887</c:v>
                </c:pt>
                <c:pt idx="4">
                  <c:v>24.082399653118497</c:v>
                </c:pt>
                <c:pt idx="5">
                  <c:v>30.102999566398122</c:v>
                </c:pt>
              </c:numCache>
            </c:numRef>
          </c:val>
          <c:smooth val="0"/>
        </c:ser>
        <c:ser>
          <c:idx val="1"/>
          <c:order val="1"/>
          <c:tx>
            <c:strRef>
              <c:f>Sheet1!$C$1</c:f>
              <c:strCache>
                <c:ptCount val="1"/>
                <c:pt idx="0">
                  <c:v>1st order</c:v>
                </c:pt>
              </c:strCache>
            </c:strRef>
          </c:tx>
          <c:spPr>
            <a:solidFill>
              <a:srgbClr val="2EC4B6"/>
            </a:solidFill>
            <a:ln w="19050" cap="flat">
              <a:solidFill>
                <a:srgbClr val="2EC4B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4"/>
            <c:spPr>
              <a:solidFill>
                <a:srgbClr val="2EC4B6"/>
              </a:solidFill>
              <a:ln w="9525" cap="flat">
                <a:solidFill>
                  <a:srgbClr val="2EC4B6"/>
                </a:solidFill>
                <a:prstDash val="solid"/>
                <a:round/>
              </a:ln>
              <a:effectLst/>
            </c:spPr>
          </c:marker>
          <c:cat>
            <c:multiLvlStrRef>
              <c:f>Sheet1!$A$2:$A$7</c:f>
              <c:multiLvlStrCache>
                <c:ptCount val="6"/>
                <c:lvl>
                  <c:pt idx="0">
                    <c:v>1</c:v>
                  </c:pt>
                  <c:pt idx="1">
                    <c:v>4</c:v>
                  </c:pt>
                  <c:pt idx="2">
                    <c:v>16</c:v>
                  </c:pt>
                  <c:pt idx="3">
                    <c:v>64</c:v>
                  </c:pt>
                  <c:pt idx="4">
                    <c:v>256</c:v>
                  </c:pt>
                  <c:pt idx="5">
                    <c:v>1024</c:v>
                  </c:pt>
                </c:lvl>
              </c:multiLvlStrCache>
            </c:multiLvlStrRef>
          </c:cat>
          <c:val>
            <c:numRef>
              <c:f>Sheet1!$C$2:$C$7</c:f>
              <c:numCache>
                <c:formatCode>General</c:formatCode>
                <c:ptCount val="6"/>
                <c:pt idx="0">
                  <c:v>0</c:v>
                </c:pt>
                <c:pt idx="1">
                  <c:v>18</c:v>
                </c:pt>
                <c:pt idx="2">
                  <c:v>36</c:v>
                </c:pt>
                <c:pt idx="3">
                  <c:v>54</c:v>
                </c:pt>
                <c:pt idx="4">
                  <c:v>72</c:v>
                </c:pt>
                <c:pt idx="5">
                  <c:v>90</c:v>
                </c:pt>
              </c:numCache>
            </c:numRef>
          </c:val>
          <c:smooth val="0"/>
        </c:ser>
        <c:ser>
          <c:idx val="2"/>
          <c:order val="2"/>
          <c:tx>
            <c:strRef>
              <c:f>Sheet1!$D$1</c:f>
              <c:strCache>
                <c:ptCount val="1"/>
                <c:pt idx="0">
                  <c:v>2nd order</c:v>
                </c:pt>
              </c:strCache>
            </c:strRef>
          </c:tx>
          <c:spPr>
            <a:solidFill>
              <a:srgbClr val="E76F51"/>
            </a:solidFill>
            <a:ln w="19050" cap="flat">
              <a:solidFill>
                <a:srgbClr val="E76F5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4"/>
            <c:spPr>
              <a:solidFill>
                <a:srgbClr val="E76F51"/>
              </a:solidFill>
              <a:ln w="9525" cap="flat">
                <a:solidFill>
                  <a:srgbClr val="E76F51"/>
                </a:solidFill>
                <a:prstDash val="solid"/>
                <a:round/>
              </a:ln>
              <a:effectLst/>
            </c:spPr>
          </c:marker>
          <c:cat>
            <c:multiLvlStrRef>
              <c:f>Sheet1!$A$2:$A$7</c:f>
              <c:multiLvlStrCache>
                <c:ptCount val="6"/>
                <c:lvl>
                  <c:pt idx="0">
                    <c:v>1</c:v>
                  </c:pt>
                  <c:pt idx="1">
                    <c:v>4</c:v>
                  </c:pt>
                  <c:pt idx="2">
                    <c:v>16</c:v>
                  </c:pt>
                  <c:pt idx="3">
                    <c:v>64</c:v>
                  </c:pt>
                  <c:pt idx="4">
                    <c:v>256</c:v>
                  </c:pt>
                  <c:pt idx="5">
                    <c:v>1024</c:v>
                  </c:pt>
                </c:lvl>
              </c:multiLvlStrCache>
            </c:multiLvlStrRef>
          </c:cat>
          <c:val>
            <c:numRef>
              <c:f>Sheet1!$D$2:$D$7</c:f>
              <c:numCache>
                <c:formatCode>General</c:formatCode>
                <c:ptCount val="6"/>
                <c:pt idx="0">
                  <c:v>0</c:v>
                </c:pt>
                <c:pt idx="1">
                  <c:v>30</c:v>
                </c:pt>
                <c:pt idx="2">
                  <c:v>60</c:v>
                </c:pt>
                <c:pt idx="3">
                  <c:v>90</c:v>
                </c:pt>
                <c:pt idx="4">
                  <c:v>120</c:v>
                </c:pt>
                <c:pt idx="5">
                  <c:v>150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900" b="0" i="0" u="none" strike="noStrike">
                    <a:solidFill>
                      <a:srgbClr val="5B6B7F"/>
                    </a:solidFill>
                    <a:latin typeface="Calibri"/>
                  </a:defRPr>
                </a:pPr>
                <a:r>
                  <a:rPr sz="900" b="0" i="0" u="none" strike="noStrike">
                    <a:solidFill>
                      <a:srgbClr val="5B6B7F"/>
                    </a:solidFill>
                    <a:latin typeface="Calibri"/>
                  </a:rPr>
                  <a:t>oversampling ratio</a:t>
                </a:r>
              </a:p>
            </c:rich>
          </c:tx>
          <c:layout/>
          <c:overlay val="0"/>
        </c:title>
        <c:numFmt formatCode="General" sourceLinked="1"/>
        <c:majorTickMark val="none"/>
        <c:minorTickMark val="none"/>
        <c:tickLblPos val="low"/>
        <c:spPr>
          <a:ln w="12700" cap="flat">
            <a:solidFill>
              <a:srgbClr val="888888"/>
            </a:solidFill>
            <a:prstDash val="solid"/>
            <a:round/>
          </a:ln>
        </c:spPr>
        <c:txPr>
          <a:bodyPr/>
          <a:lstStyle/>
          <a:p>
            <a:pPr>
              <a:defRPr sz="900" b="0" i="0" u="none" strike="noStrike">
                <a:solidFill>
                  <a:srgbClr val="5B6B7F"/>
                </a:solidFill>
                <a:latin typeface="Calibri"/>
              </a:defRPr>
            </a:pPr>
            <a:endParaRPr lang="en-US"/>
          </a:p>
        </c:txPr>
        <c:crossAx val="2094734552"/>
        <c:crosses val="min"/>
        <c:auto val="1"/>
        <c:lblAlgn val="ctr"/>
        <c:noMultiLvlLbl val="1"/>
      </c:catAx>
      <c:valAx>
        <c:axId val="2094734552"/>
        <c:scaling>
          <c:orientation val="minMax"/>
          <c:max val="160"/>
          <c:min val="0"/>
        </c:scaling>
        <c:delete val="0"/>
        <c:axPos val="l"/>
        <c:majorGridlines>
          <c:spPr>
            <a:ln w="6350" cap="flat">
              <a:solidFill>
                <a:srgbClr val="D9E1EA"/>
              </a:solidFill>
              <a:prstDash val="solid"/>
              <a:round/>
            </a:ln>
          </c:spPr>
        </c:majorGridlines>
        <c:title>
          <c:tx>
            <c:rich>
              <a:bodyPr/>
              <a:lstStyle/>
              <a:p>
                <a:pPr>
                  <a:defRPr sz="900" b="0" i="0" u="none" strike="noStrike">
                    <a:solidFill>
                      <a:srgbClr val="5B6B7F"/>
                    </a:solidFill>
                    <a:latin typeface="Calibri"/>
                  </a:defRPr>
                </a:pPr>
                <a:r>
                  <a:rPr sz="900" b="0" i="0" u="none" strike="noStrike">
                    <a:solidFill>
                      <a:srgbClr val="5B6B7F"/>
                    </a:solidFill>
                    <a:latin typeface="Calibri"/>
                  </a:rPr>
                  <a:t>dB gained</a:t>
                </a:r>
              </a:p>
            </c:rich>
          </c:tx>
          <c:layout/>
          <c:overlay val="0"/>
        </c:title>
        <c:numFmt formatCode="General" sourceLinked="0"/>
        <c:majorTickMark val="none"/>
        <c:minorTickMark val="none"/>
        <c:tickLblPos val="nextTo"/>
        <c:spPr>
          <a:ln w="12700" cap="flat">
            <a:noFill/>
            <a:prstDash val="solid"/>
            <a:round/>
          </a:ln>
        </c:spPr>
        <c:txPr>
          <a:bodyPr/>
          <a:lstStyle/>
          <a:p>
            <a:pPr>
              <a:defRPr sz="900" b="0" i="0" u="none" strike="noStrike">
                <a:solidFill>
                  <a:srgbClr val="5B6B7F"/>
                </a:solidFill>
                <a:latin typeface="Calibri"/>
              </a:defRPr>
            </a:pPr>
            <a:endParaRPr lang="en-US"/>
          </a:p>
        </c:txPr>
        <c:crossAx val="2094734554"/>
        <c:crosses val="autoZero"/>
        <c:crossBetween val="between"/>
        <c:majorUnit val="40"/>
      </c:valAx>
      <c:spPr>
        <a:solidFill>
          <a:srgbClr val="FFFFFF"/>
        </a:solidFill>
        <a:ln>
          <a:noFill/>
        </a:ln>
        <a:effectLst/>
      </c:spPr>
    </c:plotArea>
    <c:legend>
      <c:legendPos val="b"/>
      <c:overlay val="0"/>
      <c:txPr>
        <a:bodyPr/>
        <a:lstStyle/>
        <a:p>
          <a:pPr>
            <a:defRPr sz="900">
              <a:solidFill>
                <a:srgbClr val="14213D"/>
              </a:solidFill>
              <a:latin typeface="Calibri"/>
              <a:cs typeface="Calibri"/>
            </a:defRPr>
          </a:pPr>
          <a:endParaRPr lang="en-US"/>
        </a:p>
      </c:txPr>
    </c:legend>
    <c:plotVisOnly val="1"/>
    <c:dispBlanksAs val="span"/>
  </c:chart>
  <c:spPr>
    <a:solidFill>
      <a:srgbClr val="FFFFFF"/>
    </a:solidFill>
    <a:ln>
      <a:noFill/>
    </a:ln>
    <a:effectLst/>
  </c:spPr>
  <c:externalData r:id="rId1">
    <c:autoUpdate val="0"/>
  </c:externalData>
</c:chartSpace>
</file>

<file path=ppt/charts/chart32.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barChart>
        <c:barDir val="col"/>
        <c:grouping val="clustered"/>
        <c:varyColors val="0"/>
        <c:ser>
          <c:idx val="0"/>
          <c:order val="0"/>
          <c:tx>
            <c:strRef>
              <c:f>Sheet1!$B$1</c:f>
              <c:strCache>
                <c:ptCount val="1"/>
                <c:pt idx="0">
                  <c:v>power at 100 MSPS (mW)</c:v>
                </c:pt>
              </c:strCache>
            </c:strRef>
          </c:tx>
          <c:spPr>
            <a:solidFill>
              <a:srgbClr val="FFB703"/>
            </a:solidFill>
            <a:effectLst/>
          </c:spPr>
          <c:invertIfNegative val="0"/>
          <c:dLbls>
            <c:numFmt formatCode="0" sourceLinked="0"/>
            <c:txPr>
              <a:bodyPr/>
              <a:lstStyle/>
              <a:p>
                <a:pPr>
                  <a:defRPr b="0" i="0" strike="noStrike" sz="900" u="none">
                    <a:solidFill>
                      <a:srgbClr val="14213D"/>
                    </a:solidFill>
                    <a:latin typeface="Calibri"/>
                  </a:defRPr>
                </a:pPr>
              </a:p>
            </c:txPr>
            <c:showLegendKey val="0"/>
            <c:showVal val="1"/>
            <c:showCatName val="0"/>
            <c:showSerName val="0"/>
            <c:showPercent val="0"/>
            <c:showBubbleSize val="0"/>
            <c:showLeaderLines val="0"/>
          </c:dLbls>
          <c:cat>
            <c:multiLvlStrRef>
              <c:f>Sheet1!$A$2:$A$6</c:f>
              <c:multiLvlStrCache>
                <c:ptCount val="5"/>
                <c:lvl>
                  <c:pt idx="0">
                    <c:v>8 bit</c:v>
                  </c:pt>
                  <c:pt idx="1">
                    <c:v>10 bit</c:v>
                  </c:pt>
                  <c:pt idx="2">
                    <c:v>12 bit</c:v>
                  </c:pt>
                  <c:pt idx="3">
                    <c:v>14 bit</c:v>
                  </c:pt>
                  <c:pt idx="4">
                    <c:v>16 bit</c:v>
                  </c:pt>
                </c:lvl>
              </c:multiLvlStrCache>
            </c:multiLvlStrRef>
          </c:cat>
          <c:val>
            <c:numRef>
              <c:f>Sheet1!$B$2:$B$6</c:f>
              <c:numCache>
                <c:formatCode>General</c:formatCode>
                <c:ptCount val="5"/>
                <c:pt idx="0">
                  <c:v>20</c:v>
                </c:pt>
                <c:pt idx="1">
                  <c:v>80</c:v>
                </c:pt>
                <c:pt idx="2">
                  <c:v>320</c:v>
                </c:pt>
                <c:pt idx="3">
                  <c:v>1280</c:v>
                </c:pt>
                <c:pt idx="4">
                  <c:v>5120</c:v>
                </c:pt>
              </c:numCache>
            </c:numRef>
          </c:val>
        </c:ser>
        <c:dLbls>
          <c:numFmt formatCode="0" sourceLinked="0"/>
          <c:txPr>
            <a:bodyPr/>
            <a:lstStyle/>
            <a:p>
              <a:pPr>
                <a:defRPr b="0" i="0" strike="noStrike" sz="900" u="none">
                  <a:solidFill>
                    <a:srgbClr val="14213D"/>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title>
          <c:tx>
            <c:rich>
              <a:bodyPr/>
              <a:lstStyle/>
              <a:p>
                <a:pPr>
                  <a:defRPr sz="900" b="0" i="0" u="none" strike="noStrike">
                    <a:solidFill>
                      <a:srgbClr val="5B6B7F"/>
                    </a:solidFill>
                    <a:latin typeface="Calibri"/>
                  </a:defRPr>
                </a:pPr>
                <a:r>
                  <a:rPr sz="900" b="0" i="0" u="none" strike="noStrike">
                    <a:solidFill>
                      <a:srgbClr val="5B6B7F"/>
                    </a:solidFill>
                    <a:latin typeface="Calibri"/>
                  </a:rPr>
                  <a:t>roughly 4× per extra bit</a:t>
                </a:r>
              </a:p>
            </c:rich>
          </c:tx>
          <c:layout/>
          <c:overlay val="0"/>
        </c:title>
        <c:numFmt formatCode="General" sourceLinked="1"/>
        <c:majorTickMark val="none"/>
        <c:minorTickMark val="none"/>
        <c:tickLblPos val="low"/>
        <c:spPr>
          <a:ln w="12700" cap="flat">
            <a:solidFill>
              <a:srgbClr val="888888"/>
            </a:solidFill>
            <a:prstDash val="solid"/>
            <a:round/>
          </a:ln>
        </c:spPr>
        <c:txPr>
          <a:bodyPr/>
          <a:lstStyle/>
          <a:p>
            <a:pPr>
              <a:defRPr sz="900" b="0" i="0" u="none" strike="noStrike">
                <a:solidFill>
                  <a:srgbClr val="5B6B7F"/>
                </a:solidFill>
                <a:latin typeface="Calibri"/>
              </a:defRPr>
            </a:pPr>
            <a:endParaRPr lang="en-US"/>
          </a:p>
        </c:txPr>
        <c:crossAx val="2094734552"/>
        <c:crosses val="min"/>
        <c:auto val="1"/>
        <c:lblAlgn val="ctr"/>
        <c:noMultiLvlLbl val="1"/>
      </c:catAx>
      <c:valAx>
        <c:axId val="2094734552"/>
        <c:scaling>
          <c:orientation val="minMax"/>
        </c:scaling>
        <c:delete val="0"/>
        <c:axPos val="l"/>
        <c:majorGridlines>
          <c:spPr>
            <a:ln w="6350" cap="flat">
              <a:solidFill>
                <a:srgbClr val="D9E1EA"/>
              </a:solidFill>
              <a:prstDash val="solid"/>
              <a:round/>
            </a:ln>
          </c:spPr>
        </c:majorGridlines>
        <c:numFmt formatCode="General" sourceLinked="0"/>
        <c:majorTickMark val="none"/>
        <c:minorTickMark val="none"/>
        <c:tickLblPos val="nextTo"/>
        <c:spPr>
          <a:ln w="12700" cap="flat">
            <a:noFill/>
            <a:prstDash val="solid"/>
            <a:round/>
          </a:ln>
        </c:spPr>
        <c:txPr>
          <a:bodyPr/>
          <a:lstStyle/>
          <a:p>
            <a:pPr>
              <a:defRPr sz="900" b="0" i="0" u="none" strike="noStrike">
                <a:solidFill>
                  <a:srgbClr val="5B6B7F"/>
                </a:solidFill>
                <a:latin typeface="Calibri"/>
              </a:defRPr>
            </a:pPr>
            <a:endParaRPr lang="en-US"/>
          </a:p>
        </c:txPr>
        <c:crossAx val="2094734554"/>
        <c:crosses val="autoZero"/>
        <c:crossBetween val="between"/>
      </c:valAx>
      <c:spPr>
        <a:solidFill>
          <a:srgbClr val="FFFFFF"/>
        </a:solidFill>
        <a:ln>
          <a:noFill/>
        </a:ln>
        <a:effectLst/>
      </c:spPr>
    </c:plotArea>
    <c:plotVisOnly val="1"/>
    <c:dispBlanksAs val="span"/>
  </c:chart>
  <c:spPr>
    <a:solidFill>
      <a:srgbClr val="FFFFFF"/>
    </a:solidFill>
    <a:ln>
      <a:noFill/>
    </a:ln>
    <a:effectLst/>
  </c:spPr>
  <c:externalData r:id="rId1">
    <c:autoUpdate val="0"/>
  </c:externalData>
</c:chartSpace>
</file>

<file path=ppt/charts/chart33.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barChart>
        <c:barDir val="col"/>
        <c:grouping val="clustered"/>
        <c:varyColors val="0"/>
        <c:ser>
          <c:idx val="0"/>
          <c:order val="0"/>
          <c:tx>
            <c:strRef>
              <c:f>Sheet1!$B$1</c:f>
              <c:strCache>
                <c:ptCount val="1"/>
                <c:pt idx="0">
                  <c:v>pJ per conversion step</c:v>
                </c:pt>
              </c:strCache>
            </c:strRef>
          </c:tx>
          <c:spPr>
            <a:solidFill>
              <a:srgbClr val="2EC4B6"/>
            </a:solidFill>
            <a:effectLst/>
          </c:spPr>
          <c:invertIfNegative val="0"/>
          <c:dLbls>
            <c:numFmt formatCode="0.00" sourceLinked="0"/>
            <c:txPr>
              <a:bodyPr/>
              <a:lstStyle/>
              <a:p>
                <a:pPr>
                  <a:defRPr b="0" i="0" strike="noStrike" sz="900" u="none">
                    <a:solidFill>
                      <a:srgbClr val="14213D"/>
                    </a:solidFill>
                    <a:latin typeface="Calibri"/>
                  </a:defRPr>
                </a:pPr>
              </a:p>
            </c:txPr>
            <c:showLegendKey val="0"/>
            <c:showVal val="1"/>
            <c:showCatName val="0"/>
            <c:showSerName val="0"/>
            <c:showPercent val="0"/>
            <c:showBubbleSize val="0"/>
            <c:showLeaderLines val="0"/>
          </c:dLbls>
          <c:cat>
            <c:multiLvlStrRef>
              <c:f>Sheet1!$A$2:$A$5</c:f>
              <c:multiLvlStrCache>
                <c:ptCount val="4"/>
                <c:lvl>
                  <c:pt idx="0">
                    <c:v>8b 1 GSPS</c:v>
                  </c:pt>
                  <c:pt idx="1">
                    <c:v>12b 100 MSPS</c:v>
                  </c:pt>
                  <c:pt idx="2">
                    <c:v>16b 10 MSPS</c:v>
                  </c:pt>
                  <c:pt idx="3">
                    <c:v>24b 1 kSPS</c:v>
                  </c:pt>
                </c:lvl>
              </c:multiLvlStrCache>
            </c:multiLvlStrRef>
          </c:cat>
          <c:val>
            <c:numRef>
              <c:f>Sheet1!$B$2:$B$5</c:f>
              <c:numCache>
                <c:formatCode>General</c:formatCode>
                <c:ptCount val="4"/>
                <c:pt idx="0">
                  <c:v>2.7621358640099514</c:v>
                </c:pt>
                <c:pt idx="1">
                  <c:v>1.0358009490037319</c:v>
                </c:pt>
                <c:pt idx="2">
                  <c:v>0.5179004745018658</c:v>
                </c:pt>
                <c:pt idx="3">
                  <c:v>0.95367431640625</c:v>
                </c:pt>
              </c:numCache>
            </c:numRef>
          </c:val>
        </c:ser>
        <c:dLbls>
          <c:numFmt formatCode="0.00" sourceLinked="0"/>
          <c:txPr>
            <a:bodyPr/>
            <a:lstStyle/>
            <a:p>
              <a:pPr>
                <a:defRPr b="0" i="0" strike="noStrike" sz="900" u="none">
                  <a:solidFill>
                    <a:srgbClr val="14213D"/>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title>
          <c:tx>
            <c:rich>
              <a:bodyPr/>
              <a:lstStyle/>
              <a:p>
                <a:pPr>
                  <a:defRPr sz="900" b="0" i="0" u="none" strike="noStrike">
                    <a:solidFill>
                      <a:srgbClr val="5B6B7F"/>
                    </a:solidFill>
                    <a:latin typeface="Calibri"/>
                  </a:defRPr>
                </a:pPr>
                <a:r>
                  <a:rPr sz="900" b="0" i="0" u="none" strike="noStrike">
                    <a:solidFill>
                      <a:srgbClr val="5B6B7F"/>
                    </a:solidFill>
                    <a:latin typeface="Calibri"/>
                  </a:rPr>
                  <a:t>lower is better</a:t>
                </a:r>
              </a:p>
            </c:rich>
          </c:tx>
          <c:layout/>
          <c:overlay val="0"/>
        </c:title>
        <c:numFmt formatCode="General" sourceLinked="1"/>
        <c:majorTickMark val="none"/>
        <c:minorTickMark val="none"/>
        <c:tickLblPos val="low"/>
        <c:spPr>
          <a:ln w="12700" cap="flat">
            <a:solidFill>
              <a:srgbClr val="888888"/>
            </a:solidFill>
            <a:prstDash val="solid"/>
            <a:round/>
          </a:ln>
        </c:spPr>
        <c:txPr>
          <a:bodyPr/>
          <a:lstStyle/>
          <a:p>
            <a:pPr>
              <a:defRPr sz="900" b="0" i="0" u="none" strike="noStrike">
                <a:solidFill>
                  <a:srgbClr val="5B6B7F"/>
                </a:solidFill>
                <a:latin typeface="Calibri"/>
              </a:defRPr>
            </a:pPr>
            <a:endParaRPr lang="en-US"/>
          </a:p>
        </c:txPr>
        <c:crossAx val="2094734552"/>
        <c:crosses val="min"/>
        <c:auto val="1"/>
        <c:lblAlgn val="ctr"/>
        <c:noMultiLvlLbl val="1"/>
      </c:catAx>
      <c:valAx>
        <c:axId val="2094734552"/>
        <c:scaling>
          <c:orientation val="minMax"/>
        </c:scaling>
        <c:delete val="0"/>
        <c:axPos val="l"/>
        <c:majorGridlines>
          <c:spPr>
            <a:ln w="6350" cap="flat">
              <a:solidFill>
                <a:srgbClr val="D9E1EA"/>
              </a:solidFill>
              <a:prstDash val="solid"/>
              <a:round/>
            </a:ln>
          </c:spPr>
        </c:majorGridlines>
        <c:numFmt formatCode="General" sourceLinked="0"/>
        <c:majorTickMark val="none"/>
        <c:minorTickMark val="none"/>
        <c:tickLblPos val="nextTo"/>
        <c:spPr>
          <a:ln w="12700" cap="flat">
            <a:noFill/>
            <a:prstDash val="solid"/>
            <a:round/>
          </a:ln>
        </c:spPr>
        <c:txPr>
          <a:bodyPr/>
          <a:lstStyle/>
          <a:p>
            <a:pPr>
              <a:defRPr sz="900" b="0" i="0" u="none" strike="noStrike">
                <a:solidFill>
                  <a:srgbClr val="5B6B7F"/>
                </a:solidFill>
                <a:latin typeface="Calibri"/>
              </a:defRPr>
            </a:pPr>
            <a:endParaRPr lang="en-US"/>
          </a:p>
        </c:txPr>
        <c:crossAx val="2094734554"/>
        <c:crosses val="autoZero"/>
        <c:crossBetween val="between"/>
      </c:valAx>
      <c:spPr>
        <a:solidFill>
          <a:srgbClr val="FFFFFF"/>
        </a:solidFill>
        <a:ln>
          <a:noFill/>
        </a:ln>
        <a:effectLst/>
      </c:spPr>
    </c:plotArea>
    <c:plotVisOnly val="1"/>
    <c:dispBlanksAs val="span"/>
  </c:chart>
  <c:spPr>
    <a:solidFill>
      <a:srgbClr val="FFFFFF"/>
    </a:solidFill>
    <a:ln>
      <a:noFill/>
    </a:ln>
    <a:effectLst/>
  </c:spPr>
  <c:externalData r:id="rId1">
    <c:autoUpdate val="0"/>
  </c:externalData>
</c:chartSpace>
</file>

<file path=ppt/charts/chart34.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barChart>
        <c:barDir val="col"/>
        <c:grouping val="clustered"/>
        <c:varyColors val="0"/>
        <c:ser>
          <c:idx val="0"/>
          <c:order val="0"/>
          <c:tx>
            <c:strRef>
              <c:f>Sheet1!$B$1</c:f>
              <c:strCache>
                <c:ptCount val="1"/>
                <c:pt idx="0">
                  <c:v>FoM_S (dB)</c:v>
                </c:pt>
              </c:strCache>
            </c:strRef>
          </c:tx>
          <c:spPr>
            <a:solidFill>
              <a:srgbClr val="2EC4B6"/>
            </a:solidFill>
            <a:effectLst/>
          </c:spPr>
          <c:invertIfNegative val="0"/>
          <c:dLbls>
            <c:numFmt formatCode="0" sourceLinked="0"/>
            <c:txPr>
              <a:bodyPr/>
              <a:lstStyle/>
              <a:p>
                <a:pPr>
                  <a:defRPr b="0" i="0" strike="noStrike" sz="900" u="none">
                    <a:solidFill>
                      <a:srgbClr val="14213D"/>
                    </a:solidFill>
                    <a:latin typeface="Calibri"/>
                  </a:defRPr>
                </a:pPr>
              </a:p>
            </c:txPr>
            <c:showLegendKey val="0"/>
            <c:showVal val="1"/>
            <c:showCatName val="0"/>
            <c:showSerName val="0"/>
            <c:showPercent val="0"/>
            <c:showBubbleSize val="0"/>
            <c:showLeaderLines val="0"/>
          </c:dLbls>
          <c:cat>
            <c:multiLvlStrRef>
              <c:f>Sheet1!$A$2:$A$5</c:f>
              <c:multiLvlStrCache>
                <c:ptCount val="4"/>
                <c:lvl>
                  <c:pt idx="0">
                    <c:v>8b 1 GSPS</c:v>
                  </c:pt>
                  <c:pt idx="1">
                    <c:v>12b 100 MSPS</c:v>
                  </c:pt>
                  <c:pt idx="2">
                    <c:v>16b 10 MSPS</c:v>
                  </c:pt>
                  <c:pt idx="3">
                    <c:v>24b 1 kSPS</c:v>
                  </c:pt>
                </c:lvl>
              </c:multiLvlStrCache>
            </c:multiLvlStrRef>
          </c:cat>
          <c:val>
            <c:numRef>
              <c:f>Sheet1!$B$2:$B$5</c:f>
              <c:numCache>
                <c:formatCode>General</c:formatCode>
                <c:ptCount val="4"/>
                <c:pt idx="0">
                  <c:v>135</c:v>
                </c:pt>
                <c:pt idx="1">
                  <c:v>152.71848749616356</c:v>
                </c:pt>
                <c:pt idx="2">
                  <c:v>164.19788758288394</c:v>
                </c:pt>
                <c:pt idx="3">
                  <c:v>173.97940008672037</c:v>
                </c:pt>
              </c:numCache>
            </c:numRef>
          </c:val>
        </c:ser>
        <c:dLbls>
          <c:numFmt formatCode="0" sourceLinked="0"/>
          <c:txPr>
            <a:bodyPr/>
            <a:lstStyle/>
            <a:p>
              <a:pPr>
                <a:defRPr b="0" i="0" strike="noStrike" sz="900" u="none">
                  <a:solidFill>
                    <a:srgbClr val="14213D"/>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title>
          <c:tx>
            <c:rich>
              <a:bodyPr/>
              <a:lstStyle/>
              <a:p>
                <a:pPr>
                  <a:defRPr sz="900" b="0" i="0" u="none" strike="noStrike">
                    <a:solidFill>
                      <a:srgbClr val="5B6B7F"/>
                    </a:solidFill>
                    <a:latin typeface="Calibri"/>
                  </a:defRPr>
                </a:pPr>
                <a:r>
                  <a:rPr sz="900" b="0" i="0" u="none" strike="noStrike">
                    <a:solidFill>
                      <a:srgbClr val="5B6B7F"/>
                    </a:solidFill>
                    <a:latin typeface="Calibri"/>
                  </a:rPr>
                  <a:t>higher is better</a:t>
                </a:r>
              </a:p>
            </c:rich>
          </c:tx>
          <c:layout/>
          <c:overlay val="0"/>
        </c:title>
        <c:numFmt formatCode="General" sourceLinked="1"/>
        <c:majorTickMark val="none"/>
        <c:minorTickMark val="none"/>
        <c:tickLblPos val="low"/>
        <c:spPr>
          <a:ln w="12700" cap="flat">
            <a:solidFill>
              <a:srgbClr val="888888"/>
            </a:solidFill>
            <a:prstDash val="solid"/>
            <a:round/>
          </a:ln>
        </c:spPr>
        <c:txPr>
          <a:bodyPr/>
          <a:lstStyle/>
          <a:p>
            <a:pPr>
              <a:defRPr sz="900" b="0" i="0" u="none" strike="noStrike">
                <a:solidFill>
                  <a:srgbClr val="5B6B7F"/>
                </a:solidFill>
                <a:latin typeface="Calibri"/>
              </a:defRPr>
            </a:pPr>
            <a:endParaRPr lang="en-US"/>
          </a:p>
        </c:txPr>
        <c:crossAx val="2094734552"/>
        <c:crosses val="min"/>
        <c:auto val="1"/>
        <c:lblAlgn val="ctr"/>
        <c:noMultiLvlLbl val="1"/>
      </c:catAx>
      <c:valAx>
        <c:axId val="2094734552"/>
        <c:scaling>
          <c:orientation val="minMax"/>
          <c:max val="180"/>
          <c:min val="120"/>
        </c:scaling>
        <c:delete val="0"/>
        <c:axPos val="l"/>
        <c:majorGridlines>
          <c:spPr>
            <a:ln w="6350" cap="flat">
              <a:solidFill>
                <a:srgbClr val="D9E1EA"/>
              </a:solidFill>
              <a:prstDash val="solid"/>
              <a:round/>
            </a:ln>
          </c:spPr>
        </c:majorGridlines>
        <c:numFmt formatCode="General" sourceLinked="0"/>
        <c:majorTickMark val="none"/>
        <c:minorTickMark val="none"/>
        <c:tickLblPos val="nextTo"/>
        <c:spPr>
          <a:ln w="12700" cap="flat">
            <a:noFill/>
            <a:prstDash val="solid"/>
            <a:round/>
          </a:ln>
        </c:spPr>
        <c:txPr>
          <a:bodyPr/>
          <a:lstStyle/>
          <a:p>
            <a:pPr>
              <a:defRPr sz="900" b="0" i="0" u="none" strike="noStrike">
                <a:solidFill>
                  <a:srgbClr val="5B6B7F"/>
                </a:solidFill>
                <a:latin typeface="Calibri"/>
              </a:defRPr>
            </a:pPr>
            <a:endParaRPr lang="en-US"/>
          </a:p>
        </c:txPr>
        <c:crossAx val="2094734554"/>
        <c:crosses val="autoZero"/>
        <c:crossBetween val="between"/>
        <c:majorUnit val="15"/>
      </c:valAx>
      <c:spPr>
        <a:solidFill>
          <a:srgbClr val="FFFFFF"/>
        </a:solidFill>
        <a:ln>
          <a:noFill/>
        </a:ln>
        <a:effectLst/>
      </c:spPr>
    </c:plotArea>
    <c:plotVisOnly val="1"/>
    <c:dispBlanksAs val="span"/>
  </c:chart>
  <c:spPr>
    <a:solidFill>
      <a:srgbClr val="FFFFFF"/>
    </a:solidFill>
    <a:ln>
      <a:noFill/>
    </a:ln>
    <a:effectLst/>
  </c:spPr>
  <c:externalData r:id="rId1">
    <c:autoUpdate val="0"/>
  </c:externalData>
</c:chartSpace>
</file>

<file path=ppt/charts/chart35.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lineChart>
        <c:varyColors val="0"/>
        <c:ser>
          <c:idx val="0"/>
          <c:order val="0"/>
          <c:tx>
            <c:strRef>
              <c:f>Sheet1!$B$1</c:f>
              <c:strCache>
                <c:ptCount val="1"/>
                <c:pt idx="0">
                  <c:v>crosstalk (dB)</c:v>
                </c:pt>
              </c:strCache>
            </c:strRef>
          </c:tx>
          <c:spPr>
            <a:solidFill>
              <a:srgbClr val="E76F51"/>
            </a:solidFill>
            <a:ln w="19050" cap="flat">
              <a:solidFill>
                <a:srgbClr val="E76F5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E76F51"/>
              </a:solidFill>
              <a:ln w="9525" cap="flat">
                <a:solidFill>
                  <a:srgbClr val="E76F51"/>
                </a:solidFill>
                <a:prstDash val="solid"/>
                <a:round/>
              </a:ln>
              <a:effectLst/>
            </c:spPr>
          </c:marker>
          <c:cat>
            <c:multiLvlStrRef>
              <c:f>Sheet1!$A$2:$A$6</c:f>
              <c:multiLvlStrCache>
                <c:ptCount val="5"/>
                <c:lvl>
                  <c:pt idx="0">
                    <c:v>10 </c:v>
                  </c:pt>
                  <c:pt idx="1">
                    <c:v>100 </c:v>
                  </c:pt>
                  <c:pt idx="2">
                    <c:v>1 k</c:v>
                  </c:pt>
                  <c:pt idx="3">
                    <c:v>10 k</c:v>
                  </c:pt>
                  <c:pt idx="4">
                    <c:v>100 k</c:v>
                  </c:pt>
                </c:lvl>
              </c:multiLvlStrCache>
            </c:multiLvlStrRef>
          </c:cat>
          <c:val>
            <c:numRef>
              <c:f>Sheet1!$B$2:$B$6</c:f>
              <c:numCache>
                <c:formatCode>General</c:formatCode>
                <c:ptCount val="5"/>
                <c:pt idx="0">
                  <c:v>-110</c:v>
                </c:pt>
                <c:pt idx="1">
                  <c:v>-100</c:v>
                </c:pt>
                <c:pt idx="2">
                  <c:v>-90</c:v>
                </c:pt>
                <c:pt idx="3">
                  <c:v>-80</c:v>
                </c:pt>
                <c:pt idx="4">
                  <c:v>-70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900" b="0" i="0" u="none" strike="noStrike">
                    <a:solidFill>
                      <a:srgbClr val="5B6B7F"/>
                    </a:solidFill>
                    <a:latin typeface="Calibri"/>
                  </a:defRPr>
                </a:pPr>
                <a:r>
                  <a:rPr sz="900" b="0" i="0" u="none" strike="noStrike">
                    <a:solidFill>
                      <a:srgbClr val="5B6B7F"/>
                    </a:solidFill>
                    <a:latin typeface="Calibri"/>
                  </a:rPr>
                  <a:t>frequency (Hz) · isolation always worsens with frequency</a:t>
                </a:r>
              </a:p>
            </c:rich>
          </c:tx>
          <c:layout/>
          <c:overlay val="0"/>
        </c:title>
        <c:numFmt formatCode="General" sourceLinked="1"/>
        <c:majorTickMark val="none"/>
        <c:minorTickMark val="none"/>
        <c:tickLblPos val="low"/>
        <c:spPr>
          <a:ln w="12700" cap="flat">
            <a:solidFill>
              <a:srgbClr val="888888"/>
            </a:solidFill>
            <a:prstDash val="solid"/>
            <a:round/>
          </a:ln>
        </c:spPr>
        <c:txPr>
          <a:bodyPr/>
          <a:lstStyle/>
          <a:p>
            <a:pPr>
              <a:defRPr sz="900" b="0" i="0" u="none" strike="noStrike">
                <a:solidFill>
                  <a:srgbClr val="5B6B7F"/>
                </a:solidFill>
                <a:latin typeface="Calibri"/>
              </a:defRPr>
            </a:pPr>
            <a:endParaRPr lang="en-US"/>
          </a:p>
        </c:txPr>
        <c:crossAx val="2094734552"/>
        <c:crosses val="min"/>
        <c:auto val="1"/>
        <c:lblAlgn val="ctr"/>
        <c:noMultiLvlLbl val="1"/>
      </c:catAx>
      <c:valAx>
        <c:axId val="2094734552"/>
        <c:scaling>
          <c:orientation val="minMax"/>
          <c:max val="-40"/>
          <c:min val="-120"/>
        </c:scaling>
        <c:delete val="0"/>
        <c:axPos val="l"/>
        <c:majorGridlines>
          <c:spPr>
            <a:ln w="6350" cap="flat">
              <a:solidFill>
                <a:srgbClr val="D9E1EA"/>
              </a:solidFill>
              <a:prstDash val="solid"/>
              <a:round/>
            </a:ln>
          </c:spPr>
        </c:majorGridlines>
        <c:title>
          <c:tx>
            <c:rich>
              <a:bodyPr/>
              <a:lstStyle/>
              <a:p>
                <a:pPr>
                  <a:defRPr sz="900" b="0" i="0" u="none" strike="noStrike">
                    <a:solidFill>
                      <a:srgbClr val="5B6B7F"/>
                    </a:solidFill>
                    <a:latin typeface="Calibri"/>
                  </a:defRPr>
                </a:pPr>
                <a:r>
                  <a:rPr sz="900" b="0" i="0" u="none" strike="noStrike">
                    <a:solidFill>
                      <a:srgbClr val="5B6B7F"/>
                    </a:solidFill>
                    <a:latin typeface="Calibri"/>
                  </a:rPr>
                  <a:t>crosstalk (dB)</a:t>
                </a:r>
              </a:p>
            </c:rich>
          </c:tx>
          <c:layout/>
          <c:overlay val="0"/>
        </c:title>
        <c:numFmt formatCode="General" sourceLinked="0"/>
        <c:majorTickMark val="none"/>
        <c:minorTickMark val="none"/>
        <c:tickLblPos val="nextTo"/>
        <c:spPr>
          <a:ln w="12700" cap="flat">
            <a:noFill/>
            <a:prstDash val="solid"/>
            <a:round/>
          </a:ln>
        </c:spPr>
        <c:txPr>
          <a:bodyPr/>
          <a:lstStyle/>
          <a:p>
            <a:pPr>
              <a:defRPr sz="900" b="0" i="0" u="none" strike="noStrike">
                <a:solidFill>
                  <a:srgbClr val="5B6B7F"/>
                </a:solidFill>
                <a:latin typeface="Calibri"/>
              </a:defRPr>
            </a:pPr>
            <a:endParaRPr lang="en-US"/>
          </a:p>
        </c:txPr>
        <c:crossAx val="2094734554"/>
        <c:crosses val="autoZero"/>
        <c:crossBetween val="between"/>
        <c:majorUnit val="20"/>
      </c:valAx>
      <c:spPr>
        <a:solidFill>
          <a:srgbClr val="FFFFFF"/>
        </a:solid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talk takes one component — the analog-to-digital converter — and walks through every number a datasheet quotes about it. Each parameter gets the same treatment: what it means in plain words, the equation, a picture, a real number, and what goes wrong when you ignore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whole talk: static parameters describe the ruler, dynamic parameters describe what happens when the input moves, and timing parameters describe the clock.
Definition: An ADC turns a voltage into a number. It does it in three steps, repeated on every tick of a clock: hold the voltage still, compare it against a ruler with 2ᴺ marks, and write down the mark number in binary.
Analogy: Measuring a child’s height: ask them to stand still, line them up against a marked ruler, write the number in the book. Repeat every birthday.
Example (A 12-bit, 100 MSPS converter): 4096 marks on the ruler, one reading every 10 ns; Output: 100 million 12-bit words per second = 1.2 Gbit/s; Every parameter in this talk describes how well one of those three steps is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each family and say when it matters: static for DC measurement, dynamic for signals, timing for fast inputs, bandwidth for undersampling, power for the budget.
Definition: Datasheet numbers fall into five families. Knowing which family a parameter belongs to tells you when it will bite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foundation: everything later is measured in LSBs.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 How many binary digits the output word has. It fixes how many different levels the converter can report: 2ᴺ of them. It says nothing about how accurate those levels are — that is what every other parameter is for.
Analogy: The number of marks on a ruler. A ruler with millimetre marks is not automatically accurate — the marks could still be printed in the wrong places.
Example (Adding one bit): 12 bits: 4096 levels, step 488 µV over 2 V; 13 bits: 8192 levels, step 244 µV; Each bit doubles the levels, halves the step, and buys about 6 dB.
Why it matters: Resolution is the headline number and the most over-trusted one. A "16-bit" part delivering 12.5 effective bits is a 12.5-bit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 The span of input voltage between the lowest code and the highest. Drive the input outside it and the output clips: the top of the wave is flattened and the spectrum fills with harmonics that were never in the signal.
Analogy: The length of the ruler. A 2-metre ruler cannot measure a 3-metre pole; it just reads "2 m" and you never learn the truth.
Example (Leaving headroom): FSR 2 V peak-to-peak, so ±1 V; Drive to ±0.9 V: 0.9 dB of back-off, no clipping; Drive to ±1.2 V: clipped, and SFDR collapses from 80 dB to about 20 dB.
Why it matters: Most in-the-field ADC failures are clipping, not noise. Radio front ends normally leave 6 to 12 dB of headroom for signal peaks.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 The voltage difference between two neighbouring codes. It is the natural unit for almost every other parameter on the datasheet: offset, DNL, INL and noise are all quoted in LSBs rather than volts, so they stay meaningful when the range changes.
Analogy: The distance between two marks on the ruler. Everything else on the datasheet is measured in "how many marks wrong".
Example (Same converter, three ranges): 12 bit over 2 V: LSB = 2 / 4096 = 488 µV; 12 bit over 5 V: LSB = 1.22 mV; 16 bit over 2 V: LSB = 30.5 µV — smaller than most op-amp offsets.
Why it matters: Once the LSB drops below the noise of the circuitry in front of the ADC, extra bits buy nothing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 The difference between the real input and the level the ADC reported. Rounding to the nearest mark means the error is never more than half a step, and on a busy signal it is as often up as down — so we treat it as a small extra noise.
Analogy: Rounding every price to the nearest 10p. Sometimes you gain 5p, sometimes you lose 5p, and over a month it averages out like small random noise.
Example (12-bit, 2 V range): LSB 488 µV, so the error stays within ±244 µV; rms error = 488 µV / √12 = 141 µV; Against a 0.7 V rms full-scale sine that is 74 dB down.
For the experts: The uniform, white model breaks for very small or exactly periodic inputs, where the error becomes a deterministic pattern that shows up as spurs. Dither — deliberately adding a little noise before the quantiser — randomises it and restores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 How the level number is written down in binary. It changes nothing about accuracy, but getting it wrong turns a clean sine into a waveform that jumps violently through mid-scale.
Analogy: The same measurement written in different notations. "Minus three" and "3 below zero" are the same height; a reader expecting one and given the other gets nonsense.
Example (Mid-scale on a 12-bit part): Straight binary: 2048 = 1000 0000 0000; Two’s complement: 0 = 0000 0000 0000; Read two’s complement as straight binary and every negative sample looks like a huge positive one.
Why it matters: This is a five-minute bug that costs a day. Check the coding before you debug the analogue.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 Every ADC measures its input as a fraction of a reference. The converter can only ever be as accurate as that reference, so reference error appears directly as gain error, and reference drift appears as gain drift over temperature.
Analogy: A ruler made of metal. It measures perfectly at 20 °C, but on a hot day the whole ruler has stretched and every reading is proportionally wrong.
Example (How many bits does drift cost?): 16-bit part: 1 LSB = 1/65 536 = 15 ppm of full scale; A 10 ppm/°C reference over 50 °C drifts 500 ppm; That is 33 LSB — five bits of accuracy lost to temperature alone.
Why it matters: For any converter above 12 bits, the reference is usually the accuracy limit, not the converter. Noise on the reference also lands straight in the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 offset, gain, DNL, INL — describe the shape of the staircase.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 The whole staircase is shifted sideways: with zero volts in, the ADC does not report the zero code. Every reading is wrong by the same amount, in the same direction.
Analogy: A bathroom scale that reads 2 kg with nobody standing on it. Every weight it reports is 2 kg too high, and you can fix it by turning the little wheel.
Example (A 5 LSB offset on a 12-bit, 2 V part): 5 × 488 µV = 2.44 mV added to every reading; Measuring a 10 mV sensor signal: a 24 % error; Measuring a 1 V signal: a 0.24 % error — the same offset, far less harm.
Why it matters: Easy to remove: measure it once at zero input and subtract it in software. It matters most for small DC signals, and not at all for AC signals, where it only shifts bin 0 of the FFT.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 The staircase has the right starting point but the wrong slope, so the error grows the further up the range you go. Usually the reference is the culprit.
Analogy: A tailor’s tape measure that has stretched. It still starts at zero, but by the far end everything reads short by a fixed proportion.
Example (0.5 % gain error, 12-bit): At mid-scale (2048): error 10 LSB; At full scale (4095): error 20 LSB; At zero: no error at all — that is what distinguishes it from offset.
Why it matters: Also correctable in software with a two-point calibration: measure near zero and near full scale, then fit a straight line. What calibration cannot fix is drift.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 How much wider or narrower each individual step is than one ideal LSB. It is a local measure: one bad step among 4095 good ones still counts.
Analogy: A ruler where the marks are not evenly spaced. Most centimetres are right, but one is 1.4 cm and the next is 0.6 cm.
Example (Reading the spec): DNL = ±0.5 LSB: every step is between 0.5 and 1.5 LSB wide; DNL = −0.9 LSB: one step is only a tenth of an LSB wide — nearly invisible; DNL = −1.0 LSB: that code never appears at all (see the next slide).
Why it matters: DNL is the noise-like part of static error: it adds directly to the noise floor and generates spurs, so it hurts AC performance as well as DC.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 Two guarantees that follow from DNL. A code is missing when DNL reaches −1 LSB: that output value can never occur, whatever the input. A converter is monotonic when a rising input can never produce a falling output.
Analogy: A lift that never stops on the fourth floor. It works fine, but you can never get out there — and if it sometimes goes down when you press "up", nothing built on it can be trusted.
Example (Why monotonicity is non-negotiable in a control loop): A servo raises its drive and reads the sensor back; A non-monotonic ADC reports a fall, so the loop pushes harder; The loop latches up or oscillates — the classic symptom of a non-monotonic converter.
Why it matters: "No missing codes" is a guarantee worth paying for in measurement work. "Monotonic" is essential in any feedback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 How far the whole staircase bends away from a straight line, once offset and gain have been taken out. Where DNL is local and jagged, INL is the smooth, long bow across the range — and it is the running sum of DNL.
Analogy: A ruler that is gently bowed. Each individual centimetre looks fine, but by the middle the accumulated bend has you several millimetres out.
Example (INL is what limits distortion): ±2 LSB INL on a 14-bit part; The bow acts like a soft nonlinearity, so it makes harmonics; Typically caps SFDR around 80 – 85 dB no matter how good the noise is.
Why it matters: INL sets the distortion floor. If you need SFDR, buy INL. Note which definition the datasheet uses: endpoint or best-fit changes the number by a factor of two.
For the experts: Bowed INL (an even-order shape) produces mostly HD2; S-shaped INL (odd-order) produces mostly HD3. The shape of the INL plot predicts which harmonic will dominate the spectrum.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 The single worst-case number: every static error added together, with no calibration applied. It answers the only question that matters for an uncalibrated system — how far out can one reading possibly be?
Analogy: Every source of measurement error in one number, the way a shipping estimate quotes the worst case rather than the average.
Example (12-bit part, no calibration): Offset 2 LSB, gain 3 LSB, INL 1.5 LSB, quantisation 0.5 LSB; Root-sum-square: √(4 + 9 + 2.25 + 0.25) = 3.9 LSB; Worst case sum: 7 LSB — so trust about 9 of your 12 bits.
Why it matters: If you never calibrate, TUE is the only accuracy number that means anything. If you do calibrate, offset and gain drop out and INL plus drift dominate.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 Offset and gain both move with temperature. Calibration at 25 °C on the bench does nothing for a board that runs at 70 °C in a cabinet, so drift is the error that survives calibration.
Analogy: Calibrating your kitchen scale in a cold kitchen, then using it beside a hot oven. The calibration was honest; the conditions moved.
Example (A 16-bit measurement over an industrial range): Gain drift 5 ppm/°C, range −40 to +85 °C, so ΔT = 60 °C from calibration; 5 × 60 = 300 ppm = 19.7 LSB at 16 bits; Four bits gone, and no amount of room-temperature calibration recovers them.
Why it matters: For precision work, drift and reference stability usually beat resolution as the thing to spend money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 Two rejection ratios. PSRR says how much of a wobble on the supply rail leaks into the reading. CMRR says how much of a voltage common to both inputs of a differential converter leaks in, when in theory only the difference should count.
Analogy: Trying to weigh something on a scale sitting on a washing machine. CMRR is how well the scale ignores the shaking; PSRR is how well it ignores a flickering mains supply.
Example (Supply ripple leaking in): Switching regulator ripple: 20 mV at 500 kHz; ADC PSRR at 500 kHz: 60 dB → divide by 1000; 20 µV of error — about 0.7 LSB on a 16-bit, 2 V part, and it shows as a spur at 500 kHz.
Why it matters: PSRR falls with frequency, so the number at DC is the flattering one. Check it at your switching regulator’s frequency.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all measured the same way: apply a pure sine, take an FFT, and read the answer off the spectrum.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 How far the wanted tone stands above the noise, with the harmonics deliberately excluded. It is the parameter that tells you how small a signal you can still see.
Analogy: How loudly a voice stands out over the hiss of a room. Distortion is a separate problem — that is the voice being slurred, not drowned.
Example (Where the ideal number comes from): Full-scale sine power: (FSR/2)²/2 = FSR²/8; Quantisation noise power: LSB²/12 = FSR²/(12 × 2²ᴺ); Ratio = 1.5 × 2²ᴺ → 10 log₁₀ = 6.02 N + 1.76 dB.
Why it matters: Real SNR sits below the ideal because of thermal noise, clock jitter and DNL. The gap between them is the honest measure of an ADC’s quality.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 Short the input and take thousands of readings: a perfect ADC returns the same code every time, a real one returns a small spread of codes. The width of that spread is input-referred noise, and it decides how many of your bits are actually trustworthy.
Analogy: A bathroom scale whose last digit will not settle. It may display grams, but if that digit dances over five values, you do not have gram resolution.
Example (A 24-bit delta-sigma part): Input-referred noise: 12 LSB rms; Noise-free bits = log₂(16 777 216 / 79) = 17.7; The other 6 bits are real outputs, but they only ever show noise.
Why it matters: This is why 24-bit converters are never 24-bit measurements. Datasheets often give a table of noise-free bits against output rate — that table is the honest specification.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 A perfect converter fed one pure tone returns one pure tone. A real one bends the signal slightly, and the bend creates copies at exact multiples of the input frequency. THD adds up all those copies; HD2 and HD3 name the two that usually dominate.
Analogy: A slightly buzzy loudspeaker. Play one clean note and you also hear faint notes an octave and an octave-and-a-fifth above it, which the recording never contained.
Example (Reading a spectrum): Tone at 10 MHz, 0 dBFS. HD2 appears at 20 MHz, −72 dBc; HD3 at 30 MHz, −78 dBc; THD = 10 log₁₀(10⁻⁷·² + 10⁻⁷·⁸) = −70.9 dBc.
Why it matters: Harmonics fold. A harmonic above f_s/2 comes back inside the band at a frequency that looks like a real signal, which is why a distortion problem often presents as a mystery spur.
For the experts: Even harmonics come mainly from asymmetry between the two halves of a differential path; odd harmonics from symmetric compression. HD2 that improves when you balance the driver, and HD3 that worsens with amplitude, are the classic signatures.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 The honest one. SNR ignores harmonics, THD ignores noise; SINAD counts everything that is not the wanted tone. It is the number ENOB is calculated from.
Analogy: Judging a phone call by how much of it you actually understood, rather than measuring the hiss and the crackle separately.
Example (Combining the two): SNR 72 dB, THD −76 dBc; SINAD = −10 log₁₀(10⁻⁷·² + 10⁻⁷·⁶) = 70.5 dB; The worse of the two dominates: fixing distortion alone would gain only 1.5 dB.
Why it matters: When a datasheet quotes SNR and SINAD close together, the part is noise-limited. When SINAD is far below SNR, it is distortion-limited — and the fix is a different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 The resolution you actually got, obtained by running the ideal-SNR formula backwards on the measured SINAD. It converts a decibel figure into the only unit people intuitively understand: bits.
Analogy: A car’s advertised top speed against the speed it reaches on a real road with a real load. ENOB is the road figure.
Example (A "14-bit" converter at 70 MHz input): Measured SINAD: 68 dB, driven 1 dB below full scale; ENOB = (68 − 1.76 + 1) / 6.02 = 11.2 bits; Nearly three bits of the fourteen are not there at this frequency.
Why it matters: ENOB always falls as input frequency rises. A single ENOB number is meaningless without the frequency it was measured 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 The gap between the wanted tone and the single largest unwanted spike anywhere in the spectrum, whether or not it is a harmonic. It answers one question exactly: how small a signal can I still find while a big one is present?
Analogy: Trying to hear a whisper at a party while someone shouts. SFDR is how much quieter than the shout a whisper can be and still be picked out.
Example (Why a radio receiver lives on SFDR): Wanted channel at −90 dBFS, a strong neighbour at −10 dBFS; You need 80 dB of SFDR just to see the wanted channel at all; A spur at −70 dBc from the strong signal would completely mask it.
Why it matters: SFDR is the number radio engineers care about most, and it is often limited by INL rather than by noise. Averaging improves the noise floor but never improves SFDR.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 Feed two tones instead of one and the nonlinearity mixes them together, producing sums and differences. The third-order products at 2f₁−f₂ and 2f₂−f₁ are the dangerous ones because they land right next to the originals, where no filter can remove them.
Analogy: Two singers slightly out of tune producing an audible beat note that neither of them is singing.
Example (Two carriers 1 MHz apart): Tones at 10.0 and 11.0 MHz; Third-order products at 9.0 and 12.0 MHz — inside the same channel; At −75 dBc they set the floor for any weak signal nearby.
Why it matters: Single-tone THD can look excellent while two-tone IMD is poor. Any receiver that must handle more than one signal at once should be specified on IMD, not THD.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 The noise floor you see on an FFT plot is not the converter’s SNR. The total noise is spread across N/2 bins, so each bin holds only a fraction of it. Taking a longer transform pushes the visible floor down without the converter improving at all.
Analogy: Spreading a fixed amount of butter over more and more slices of bread. There is no more butter; each slice just gets less.
Example (12-bit part, 4096-point FFT): SNR 74 dB, processing gain 10 log₁₀(2048) = 33 dB; Visible floor: −107 dBFS; Change to a 256-point FFT and the same converter shows −95 dBFS.
Why it matters: Never compare noise floors from FFTs of different lengths. This is the most common way ADC plots are made to look better than they 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 The span between the largest signal the converter can take without clipping and the smallest it can still distinguish from noise. It is what decides whether you need an automatic gain control in front of it.
Analogy: A camera photographing a room with a bright window. Dynamic range is whether you can see detail in the sunlit street and in the shadowy corner in one shot.
Example (Wi-Fi receiver): Strongest signal at the ADC: −10 dBFS. Weakest wanted: −80 dBFS; Needs 70 dB of usable range, so a 12-bit part with 74 dB SNR just fits; Add a 20 dB fade margin and you need 14 bits, or an AGC.
Why it matters: Oversampling buys dynamic range that resolution alone does not: every doubling of the sample rate adds 3 dB, and a noise-shaping loop adds far more.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parameters are the ones that silently destroy a high-frequency measurement.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 How many complete conversions the ADC delivers per second. Nyquist sets the floor: you must sample faster than twice the highest frequency present, or fast signals come back disguised as slow ones and no processing can undo it.
Analogy: A film camera at 24 frames a second. Spokes on a wheel spinning faster than that appear to turn backwards, and the footage cannot be repaired afterwards.
Example (A 60 MHz tone at 100 MSPS): Nyquist limit: 50 MHz; The tone appears at |60 − 100| = 40 MHz; It looks exactly like a genuine 40 MHz signal — nothing marks it as fake.
Why it matters: Multiplexed converters share one core between channels, so the per-channel rate is the throughput divided by the channel count. Check which number the datasheet quotes.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 Two different things that are easy to confuse. Conversion time is how long one measurement takes. Latency is how long you wait before that particular sample appears at the output — in a pipeline converter, several samples are in flight at once.
Analogy: A car factory rolls out one car a minute, but any individual car spent eight hours on the line. Throughput and latency are not the same measurement.
Example (Architecture decides latency): SAR: N clock cycles, result available immediately after — latency ≈ 0; Pipeline: one result per clock, but 8 to 16 cycles behind the input; Delta-sigma: hundreds of cycles, because of the decimation filter.
Why it matters: Latency is irrelevant for spectrum analysis and fatal in a fast control loop, where it becomes phase lag and eats your stability margin.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 The fixed gap between the clock edge arriving and the sampling switch actually opening. Because it is fixed and repeatable, it is harmless in a single converter — it just shifts the time axis slightly.
Analogy: A camera with a shutter that always fires exactly 20 ms after you press the button. Predictable, so you simply press 20 ms early.
Example (When it does matter): Two ADCs interleaved to double the rate must sample exactly half a period apart; A 200 ps aperture-delay mismatch at 500 MSPS is a 10 % timing error; The result is an interleaving spur at f_s/2 − f_in.
Why it matters: Fixed delay is fine. Mismatch between channels is not — it is the main reason interleaved converters need calibration.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 The random, cycle-to-cycle variation in when the switch opens. A fast-moving input travels a long way during that uncertainty, so the frozen value is wrong. Above a certain input frequency, jitter — not resolution — sets your accuracy.
Analogy: Photographing a sprinter with a shutter that fires a little early or late each time. The faster the runner, the more the same timing slip blurs the picture.
Example (The budget at 200 MHz): 1 ps rms jitter: SNR limit = −20 log₁₀(2π × 2e8 × 1e−12) = 58 dB; That caps you at 9.3 effective bits, whatever the part claims; For 12 bits at 200 MHz you need about 160 fs — total, clock plus converter.
Why it matters: Jitter comes from the clock source as much as the ADC. Undersampling a high IF is exactly the case where jitter dominates, because the formula uses the input frequency.
For the experts: Total jitter is the root-sum-square of the converter’s own aperture jitter and the clock’s integrated phase noise over the relevant offset band. Halving one when the other dominates buys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 During the track phase the hold capacitor has to charge to within half an LSB of the input. More bits means a tighter target and therefore more time constants — and this is what sets the demands on whatever amplifier drives the converter.
Analogy: Filling a measuring jug from a tap. Getting roughly full is quick; getting to the exact line, with the surface completely still, takes far longer.
Example (Driving a 16-bit SAR at 1 MSPS): Track time available: about 500 ns; 16 bits needs 11.8 time constants, so τ &lt; 42 ns; That means an amplifier bandwidth above 3.8 MHz, settling to 0.0008 % — not a casual op-amp.
Why it matters: Under-settling looks exactly like distortion in the FFT, because the error depends on how far the input moved. Most "the ADC is bad" reports are really driver settling.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 Slew rate is how fast the driving circuit can move its output; if the signal demands more, the peaks are flattened and the spectrum fills with harmonics. Overvoltage recovery is how long the input takes to behave again after being driven past full scale.
Analogy: A speedometer needle that cannot swing fast enough. Slam the accelerator and it lags, so the trace you record is a flattened version of what really happened.
Example (A 2 V range at 50 MHz): SR needed = π × 2 × 50e6 = 314 V/µs; A 100 V/µs op-amp will visibly flatten the peaks; The FFT shows this as HD3 rising steeply with amplitude.
Why it matters: Overvoltage recovery matters in radar and pulsed systems, where a huge blocking signal is followed immediately by the tiny echo you actually want.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Analog bandwidth and sample rate are separate specifications, and undersampling depends on the gap between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 How high in frequency the sample-and-hold front end will still faithfully follow the input, measured where the response has fallen 3 dB. It is completely independent of the sample rate, and it is often several times higher.
Analogy: How high a note a microphone can pick up, which is a different question from how many times a second you write the level down.
Example (A typical high-speed part): Sample rate 250 MSPS, so Nyquist is 125 MHz; Analog bandwidth 900 MHz — more than seven times higher; That headroom is what makes undersampling a 400 MHz IF possible.
Why it matters: A wide input bandwidth also lets in wideband noise and out-of-band interference, so the anti-alias filter has to do more work, not less.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 Two more honest bandwidth numbers. Full-power bandwidth is where a full-scale input has dropped 3 dB. Full-linear bandwidth is the much lower frequency up to which the converter still meets its distortion specification — and that is the one you can actually use.
Analogy: A car’s top speed against the speed at which it still handles safely. The brochure quotes one; you drive at the other.
Example (The gap is large): Small-signal bandwidth: 900 MHz; Full-power bandwidth: 500 MHz; Full-linear bandwidth (SFDR still above 70 dB): 200 MHz.
Why it matters: Never design to the headline bandwidth. Find the frequency at which ENOB and SFDR are still adequate, and treat that as the real limit.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 Aliasing used deliberately. A signal in a narrow band high up in frequency can be sampled far below its own frequency: it folds down into the first Nyquist zone intact, with the ADC doing the work of a mixer.
Analogy: Watching a fast fan under a strobe light tuned so the blades appear to creep slowly. Nothing about the fan changed; you chose a look rate that makes it easy to watch.
Example (A 70 MHz IF at 61.44 MSPS): The band 65 – 75 MHz folds into the second Nyquist zone; It folds down to |70 − 61.44| = 8.56 MHz, orientation intact (zone 3 is odd); Needs a sharp bandpass filter and very low jitter, because 70 MHz sets the jitter budget.
Why it matters: The jitter penalty is set by the real input frequency, not the sample rate. Undersampling a high IF is the hardest thing you can ask of a sampling clock.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 Sampling much faster than Nyquist spreads the same fixed quantisation noise over a wider band. A digital filter then keeps only the band you care about and throws the rest away — taking most of the noise with it.
Analogy: Weighing a letter on a coarse scale a thousand times while nudging it, then averaging. Many rough measurements, carefully combined, beat one careful measurement.
Example (A 24-bit audio converter): 1-bit modulator at 6.1 MSPS, signal band 20 kHz → OSR = 153; Seven doublings with second-order shaping: 7 × 15 = 105 dB gained; A one-bit front end ends up delivering about 20 real bits.
Why it matters: This is the whole trick behind delta-sigma converters, and it is why they can be extremely accurate and quite slow at the same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commercial half of the datasheet.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 What the converter costs you in watts, usually split across an analogue supply, a digital supply and an I/O supply. It scales roughly with sample rate, and very steeply with resolution — every extra bit costs about four times the power.
Analogy: Precision costs energy everywhere: a laboratory balance uses far more power than a kitchen scale, for the same reason.
Example (Comparing two parts): 12 bit, 100 MSPS: 300 mW → 3 nJ per conversion; 16 bit, 100 MSPS: 1.4 W → 14 nJ per conversion; Many parts offer a low-power mode that trades sample rate for milliwatts.
Why it matters: In battery and multi-channel systems, energy per conversion matters more than the headline power figure — which is exactly what the next two slides measure.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 Energy spent for each conversion, divided by the number of levels actually resolved. It lets you compare a slow precision part against a fast coarse one on equal terms. Lower is better.
Analogy: Litres per hundred kilometres for cars. It lets you compare a small hatchback with a lorry, because it divides out how much work each is doing.
Example (Is 300 mW good?): 12 bit, ENOB 11.5, 100 MSPS, 300 mW; FoM = 0.3 / (2^11.5 × 1e8) = 1.04 pJ per step; State of the art is a few femtojoules; 1 pJ is respectable for a fast part.
For the experts: Walden implicitly assumes power scales with 2^ENOB, which holds while the design is limited by comparator and switching energy. Once thermal noise dominates, power scales with 2^(2·ENOB) and the Schreier figure is the fairer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 The other way of asking the same question, built for converters whose limit is thermal noise rather than switching energy. Higher is better, and it is the figure used for precision and delta-sigma parts.
Analogy: Rating a telescope by how faint a star it can see per unit of cost. It rewards sensitivity, not just size.
Example (The same part): SNDR 70.5 dB, bandwidth 50 MHz, power 300 mW; FoM_S = 70.5 + 10 log₁₀(5e7 / 0.3) = 152.7 dB; Above about 175 dB is state of the art.
Why it matters: Use Walden for fast, low-resolution parts and Schreier for slow, high-resolution ones. Quoting the wrong one flatters the wrong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 In a multi-channel converter, how much of a signal on one channel leaks into another. A large signal on channel 1 can put a ghost of itself on channel 2, where nothing was connected at all.
Analogy: Hearing next door’s television faintly through the wall. Nothing is wrong with your television; the isolation between rooms is finite.
Example (An 8-channel data logger): Channel 1: 10 V thermocouple amplifier output; Crosstalk −80 dB → 1 mV appears on channel 2; On a 16-bit, 2 V range that is 33 LSB of pure fiction.
Why it matters: Multiplexed converters also suffer settling crosstalk: the previous channel’s voltage has not fully decayed from the hold capacitor when the next is sampled.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 How the numbers leave the chip. The choice is set by the data rate: a slow part can use a handful of wires and a simple protocol, while a gigasample part needs serialised high-speed lanes.
Analogy: The difference between handing over a note, posting a letter, and running a dedicated fibre. All deliver the message; they differ in how much you can send and how much fuss it is.
Example (Sizing the link): 12 bit at 250 MSPS = 3 Gbit/s of payload; Too fast for parallel CMOS at sensible pin counts; Two JESD204B lanes at 5 Gbit/s each, with 8b/10b overhead, carry it comfortably.
Why it matters: Digital switching noise coupling back into the analogue front end is a real and common problem. It is one of the reasons LVDS and serialised interfaces won.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Bringing all the parameters together into a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table column by column. The point is that no architecture wins everywhere: the choice is which parameter you are willing to give up.
Definition: Every architecture is a different way of doing the quantise step, and each one trades the parameters in this talk against each other differently.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practical takeaway slide. Encourage people to photograph it.
Definition: Datasheets are written to flatter. Reading them in this order stops you being flattered.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 A 20 MHz-wide radio channel at a 70 MHz intermediate frequency, needing 60 dB of usable dynamic range in a battery-powered product.
Analogy: Specifying a car by the journey rather than the brochure: how far, how fast, how much luggage, how much fuel.
Example (The numbers that decide it): Jitter budget: 1/(2π × 70e6 × 10^(74/20)) = 455 fs; FFT floor with a 4096-point transform: −74 − 33 = −107 dBFS; Power target under 200 mW → FoM_W must beat about 0.7 pJ per step.
Why it matters: Notice that resolution was decided fourth, not first. The frequency-dependent parameters did most of the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of these is a real, recurring failure. Invite the room to add their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photograph slide. Leave it up during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10.xm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11.xml"/><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ppt/charts/chart12.xml"/><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ppt/charts/chart13.xml"/><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chart" Target="/ppt/charts/chart14.xml"/><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chart" Target="/ppt/charts/chart15.xml"/><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chart" Target="/ppt/charts/chart16.xml"/><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chart" Target="/ppt/charts/chart17.xml"/><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chart" Target="/ppt/charts/chart18.xml"/><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chart" Target="/ppt/charts/chart19.xml"/><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chart" Target="/ppt/charts/chart20.xml"/><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chart" Target="/ppt/charts/chart21.xml"/><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chart" Target="/ppt/charts/chart22.xml"/><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chart" Target="/ppt/charts/chart23.xml"/><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chart" Target="/ppt/charts/chart24.xml"/><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chart" Target="/ppt/charts/chart25.xml"/><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chart" Target="/ppt/charts/chart26.xml"/><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chart" Target="/ppt/charts/chart27.xml"/><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chart" Target="/ppt/charts/chart28.xml"/><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chart" Target="/ppt/charts/chart29.xml"/><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chart" Target="/ppt/charts/chart30.xml"/><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chart" Target="/ppt/charts/chart31.xml"/><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chart" Target="/ppt/charts/chart32.xml"/><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chart" Target="/ppt/charts/chart33.xml"/><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chart" Target="/ppt/charts/chart34.xml"/><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chart" Target="/ppt/charts/chart35.xml"/><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p:bgPr>
    </p:bg>
    <p:spTree>
      <p:nvGrpSpPr>
        <p:cNvPr id="1" name=""/>
        <p:cNvGrpSpPr/>
        <p:nvPr/>
      </p:nvGrpSpPr>
      <p:grpSpPr>
        <a:xfrm>
          <a:off x="0" y="0"/>
          <a:ext cx="0" cy="0"/>
          <a:chOff x="0" y="0"/>
          <a:chExt cx="0" cy="0"/>
        </a:xfrm>
      </p:grpSpPr>
      <p:sp>
        <p:nvSpPr>
          <p:cNvPr id="2" name="Text 0"/>
          <p:cNvSpPr txBox="1"/>
          <p:nvPr/>
        </p:nvSpPr>
        <p:spPr>
          <a:xfrm>
            <a:off x="457200" y="1143000"/>
            <a:ext cx="8229600" cy="100584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Inside the ADC</a:t>
            </a:r>
            <a:endParaRPr lang="en-US" sz="4800" dirty="0"/>
          </a:p>
        </p:txBody>
      </p:sp>
      <p:sp>
        <p:nvSpPr>
          <p:cNvPr id="3" name="Text 1"/>
          <p:cNvSpPr txBox="1"/>
          <p:nvPr/>
        </p:nvSpPr>
        <p:spPr>
          <a:xfrm>
            <a:off x="457200" y="2148840"/>
            <a:ext cx="8229600" cy="548640"/>
          </a:xfrm>
          <a:prstGeom prst="rect">
            <a:avLst/>
          </a:prstGeom>
          <a:noFill/>
          <a:ln/>
        </p:spPr>
        <p:txBody>
          <a:bodyPr wrap="square" lIns="0" tIns="0" rIns="0" bIns="0" rtlCol="0" anchor="ctr"/>
          <a:lstStyle/>
          <a:p>
            <a:pPr indent="0" marL="0">
              <a:buNone/>
            </a:pPr>
            <a:r>
              <a:rPr lang="en-US" sz="1900" dirty="0">
                <a:solidFill>
                  <a:srgbClr val="2EC4B6"/>
                </a:solidFill>
                <a:latin typeface="Calibri" pitchFamily="34" charset="0"/>
                <a:ea typeface="Calibri" pitchFamily="34" charset="-122"/>
                <a:cs typeface="Calibri" pitchFamily="34" charset="-120"/>
              </a:rPr>
              <a:t>Every parameter on the datasheet, and what it actually costs you</a:t>
            </a:r>
            <a:endParaRPr lang="en-US" sz="1900" dirty="0"/>
          </a:p>
        </p:txBody>
      </p:sp>
      <p:sp>
        <p:nvSpPr>
          <p:cNvPr id="4" name="Text 2"/>
          <p:cNvSpPr txBox="1"/>
          <p:nvPr/>
        </p:nvSpPr>
        <p:spPr>
          <a:xfrm>
            <a:off x="457200" y="2743200"/>
            <a:ext cx="8229600" cy="365760"/>
          </a:xfrm>
          <a:prstGeom prst="rect">
            <a:avLst/>
          </a:prstGeom>
          <a:noFill/>
          <a:ln/>
        </p:spPr>
        <p:txBody>
          <a:bodyPr wrap="square" lIns="0" tIns="0" rIns="0" bIns="0" rtlCol="0" anchor="ctr"/>
          <a:lstStyle/>
          <a:p>
            <a:pPr indent="0" marL="0">
              <a:buNone/>
            </a:pPr>
            <a:r>
              <a:rPr lang="en-US" sz="1200" dirty="0">
                <a:solidFill>
                  <a:srgbClr val="B8C4D6"/>
                </a:solidFill>
                <a:latin typeface="Calibri" pitchFamily="34" charset="0"/>
                <a:ea typeface="Calibri" pitchFamily="34" charset="-122"/>
                <a:cs typeface="Calibri" pitchFamily="34" charset="-120"/>
              </a:rPr>
              <a:t>Static · Dynamic · Timing · Bandwidth · Power</a:t>
            </a:r>
            <a:endParaRPr lang="en-US" sz="1200" dirty="0"/>
          </a:p>
        </p:txBody>
      </p:sp>
      <p:sp>
        <p:nvSpPr>
          <p:cNvPr id="5" name="Text 3"/>
          <p:cNvSpPr txBox="1"/>
          <p:nvPr/>
        </p:nvSpPr>
        <p:spPr>
          <a:xfrm>
            <a:off x="731520" y="3566160"/>
            <a:ext cx="548640" cy="640080"/>
          </a:xfrm>
          <a:prstGeom prst="rect">
            <a:avLst/>
          </a:prstGeom>
          <a:noFill/>
          <a:ln/>
        </p:spPr>
        <p:txBody>
          <a:bodyPr wrap="square" lIns="0" tIns="0" rIns="0" bIns="0" rtlCol="0" anchor="ctr"/>
          <a:lstStyle/>
          <a:p>
            <a:pPr algn="ctr" indent="0" marL="0">
              <a:buNone/>
            </a:pPr>
            <a:r>
              <a:rPr lang="en-US" sz="1200" b="1" dirty="0">
                <a:solidFill>
                  <a:srgbClr val="0B1F3A"/>
                </a:solidFill>
                <a:latin typeface="Cambria" pitchFamily="34" charset="0"/>
                <a:ea typeface="Cambria" pitchFamily="34" charset="-122"/>
                <a:cs typeface="Cambria" pitchFamily="34" charset="-120"/>
              </a:rPr>
              <a:t>V_in</a:t>
            </a:r>
            <a:endParaRPr lang="en-US" sz="1200" dirty="0"/>
          </a:p>
        </p:txBody>
      </p:sp>
      <p:sp>
        <p:nvSpPr>
          <p:cNvPr id="6" name="Shape 4"/>
          <p:cNvSpPr/>
          <p:nvPr/>
        </p:nvSpPr>
        <p:spPr>
          <a:xfrm>
            <a:off x="1280160" y="3886200"/>
            <a:ext cx="91440" cy="0"/>
          </a:xfrm>
          <a:prstGeom prst="line">
            <a:avLst/>
          </a:prstGeom>
          <a:noFill/>
          <a:ln w="12700">
            <a:solidFill>
              <a:srgbClr val="5B6B7F"/>
            </a:solidFill>
            <a:prstDash val="solid"/>
            <a:tailEnd type="triangle"/>
          </a:ln>
        </p:spPr>
      </p:sp>
      <p:sp>
        <p:nvSpPr>
          <p:cNvPr id="7" name="Text 5"/>
          <p:cNvSpPr txBox="1"/>
          <p:nvPr/>
        </p:nvSpPr>
        <p:spPr>
          <a:xfrm>
            <a:off x="1371600" y="3566160"/>
            <a:ext cx="1828800" cy="640080"/>
          </a:xfrm>
          <a:prstGeom prst="roundRect">
            <a:avLst>
              <a:gd name="adj" fmla="val 8571"/>
            </a:avLst>
          </a:prstGeom>
          <a:solidFill>
            <a:srgbClr val="EEF3F8"/>
          </a:solidFill>
          <a:ln w="9525">
            <a:solidFill>
              <a:srgbClr val="EEF3F8"/>
            </a:solidFill>
          </a:ln>
        </p:spPr>
        <p:txBody>
          <a:bodyPr wrap="square" lIns="254" tIns="254" rIns="254" bIns="254" rtlCol="0" anchor="ctr"/>
          <a:lstStyle/>
          <a:p>
            <a:pPr algn="ctr" indent="0" marL="0">
              <a:buNone/>
            </a:pPr>
            <a:r>
              <a:rPr lang="en-US" sz="1100" b="1" dirty="0">
                <a:solidFill>
                  <a:srgbClr val="0B1F3A"/>
                </a:solidFill>
                <a:latin typeface="Calibri" pitchFamily="34" charset="0"/>
                <a:ea typeface="Calibri" pitchFamily="34" charset="-122"/>
                <a:cs typeface="Calibri" pitchFamily="34" charset="-120"/>
              </a:rPr>
              <a:t>1 · Sample &amp; hold</a:t>
            </a:r>
            <a:endParaRPr lang="en-US" sz="1100" dirty="0"/>
          </a:p>
        </p:txBody>
      </p:sp>
      <p:sp>
        <p:nvSpPr>
          <p:cNvPr id="8" name="Text 6"/>
          <p:cNvSpPr txBox="1"/>
          <p:nvPr/>
        </p:nvSpPr>
        <p:spPr>
          <a:xfrm>
            <a:off x="1280160" y="4261104"/>
            <a:ext cx="2011680" cy="274320"/>
          </a:xfrm>
          <a:prstGeom prst="rect">
            <a:avLst/>
          </a:prstGeom>
          <a:noFill/>
          <a:ln/>
        </p:spPr>
        <p:txBody>
          <a:bodyPr wrap="square" lIns="0" tIns="0" rIns="0" bIns="0" rtlCol="0" anchor="ctr"/>
          <a:lstStyle/>
          <a:p>
            <a:pPr algn="ctr" indent="0" marL="0">
              <a:buNone/>
            </a:pPr>
            <a:r>
              <a:rPr lang="en-US" sz="900" dirty="0">
                <a:solidFill>
                  <a:srgbClr val="5B6B7F"/>
                </a:solidFill>
                <a:latin typeface="Calibri" pitchFamily="34" charset="0"/>
                <a:ea typeface="Calibri" pitchFamily="34" charset="-122"/>
                <a:cs typeface="Calibri" pitchFamily="34" charset="-120"/>
              </a:rPr>
              <a:t>freeze V_in for one T_s</a:t>
            </a:r>
            <a:endParaRPr lang="en-US" sz="900" dirty="0"/>
          </a:p>
        </p:txBody>
      </p:sp>
      <p:sp>
        <p:nvSpPr>
          <p:cNvPr id="9" name="Shape 7"/>
          <p:cNvSpPr/>
          <p:nvPr/>
        </p:nvSpPr>
        <p:spPr>
          <a:xfrm>
            <a:off x="3200400" y="3886200"/>
            <a:ext cx="457200" cy="0"/>
          </a:xfrm>
          <a:prstGeom prst="line">
            <a:avLst/>
          </a:prstGeom>
          <a:noFill/>
          <a:ln w="15875">
            <a:solidFill>
              <a:srgbClr val="5B6B7F"/>
            </a:solidFill>
            <a:prstDash val="solid"/>
            <a:tailEnd type="triangle"/>
          </a:ln>
        </p:spPr>
      </p:sp>
      <p:sp>
        <p:nvSpPr>
          <p:cNvPr id="10" name="Text 8"/>
          <p:cNvSpPr txBox="1"/>
          <p:nvPr/>
        </p:nvSpPr>
        <p:spPr>
          <a:xfrm>
            <a:off x="3657600" y="3566160"/>
            <a:ext cx="1828800" cy="640080"/>
          </a:xfrm>
          <a:prstGeom prst="roundRect">
            <a:avLst>
              <a:gd name="adj" fmla="val 8571"/>
            </a:avLst>
          </a:prstGeom>
          <a:solidFill>
            <a:srgbClr val="EEF3F8"/>
          </a:solidFill>
          <a:ln w="9525">
            <a:solidFill>
              <a:srgbClr val="EEF3F8"/>
            </a:solidFill>
          </a:ln>
        </p:spPr>
        <p:txBody>
          <a:bodyPr wrap="square" lIns="254" tIns="254" rIns="254" bIns="254" rtlCol="0" anchor="ctr"/>
          <a:lstStyle/>
          <a:p>
            <a:pPr algn="ctr" indent="0" marL="0">
              <a:buNone/>
            </a:pPr>
            <a:r>
              <a:rPr lang="en-US" sz="1100" b="1" dirty="0">
                <a:solidFill>
                  <a:srgbClr val="0B1F3A"/>
                </a:solidFill>
                <a:latin typeface="Calibri" pitchFamily="34" charset="0"/>
                <a:ea typeface="Calibri" pitchFamily="34" charset="-122"/>
                <a:cs typeface="Calibri" pitchFamily="34" charset="-120"/>
              </a:rPr>
              <a:t>2 · Quantiser</a:t>
            </a:r>
            <a:endParaRPr lang="en-US" sz="1100" dirty="0"/>
          </a:p>
        </p:txBody>
      </p:sp>
      <p:sp>
        <p:nvSpPr>
          <p:cNvPr id="11" name="Text 9"/>
          <p:cNvSpPr txBox="1"/>
          <p:nvPr/>
        </p:nvSpPr>
        <p:spPr>
          <a:xfrm>
            <a:off x="3566160" y="4261104"/>
            <a:ext cx="2011680" cy="274320"/>
          </a:xfrm>
          <a:prstGeom prst="rect">
            <a:avLst/>
          </a:prstGeom>
          <a:noFill/>
          <a:ln/>
        </p:spPr>
        <p:txBody>
          <a:bodyPr wrap="square" lIns="0" tIns="0" rIns="0" bIns="0" rtlCol="0" anchor="ctr"/>
          <a:lstStyle/>
          <a:p>
            <a:pPr algn="ctr" indent="0" marL="0">
              <a:buNone/>
            </a:pPr>
            <a:r>
              <a:rPr lang="en-US" sz="900" dirty="0">
                <a:solidFill>
                  <a:srgbClr val="5B6B7F"/>
                </a:solidFill>
                <a:latin typeface="Calibri" pitchFamily="34" charset="0"/>
                <a:ea typeface="Calibri" pitchFamily="34" charset="-122"/>
                <a:cs typeface="Calibri" pitchFamily="34" charset="-120"/>
              </a:rPr>
              <a:t>nearest of 2ᴺ levels</a:t>
            </a:r>
            <a:endParaRPr lang="en-US" sz="900" dirty="0"/>
          </a:p>
        </p:txBody>
      </p:sp>
      <p:sp>
        <p:nvSpPr>
          <p:cNvPr id="12" name="Shape 10"/>
          <p:cNvSpPr/>
          <p:nvPr/>
        </p:nvSpPr>
        <p:spPr>
          <a:xfrm>
            <a:off x="5486400" y="3886200"/>
            <a:ext cx="457200" cy="0"/>
          </a:xfrm>
          <a:prstGeom prst="line">
            <a:avLst/>
          </a:prstGeom>
          <a:noFill/>
          <a:ln w="15875">
            <a:solidFill>
              <a:srgbClr val="5B6B7F"/>
            </a:solidFill>
            <a:prstDash val="solid"/>
            <a:tailEnd type="triangle"/>
          </a:ln>
        </p:spPr>
      </p:sp>
      <p:sp>
        <p:nvSpPr>
          <p:cNvPr id="13" name="Text 11"/>
          <p:cNvSpPr txBox="1"/>
          <p:nvPr/>
        </p:nvSpPr>
        <p:spPr>
          <a:xfrm>
            <a:off x="5943600" y="3566160"/>
            <a:ext cx="1828800" cy="640080"/>
          </a:xfrm>
          <a:prstGeom prst="roundRect">
            <a:avLst>
              <a:gd name="adj" fmla="val 8571"/>
            </a:avLst>
          </a:prstGeom>
          <a:solidFill>
            <a:srgbClr val="EEF3F8"/>
          </a:solidFill>
          <a:ln w="9525">
            <a:solidFill>
              <a:srgbClr val="EEF3F8"/>
            </a:solidFill>
          </a:ln>
        </p:spPr>
        <p:txBody>
          <a:bodyPr wrap="square" lIns="254" tIns="254" rIns="254" bIns="254" rtlCol="0" anchor="ctr"/>
          <a:lstStyle/>
          <a:p>
            <a:pPr algn="ctr" indent="0" marL="0">
              <a:buNone/>
            </a:pPr>
            <a:r>
              <a:rPr lang="en-US" sz="1100" b="1" dirty="0">
                <a:solidFill>
                  <a:srgbClr val="0B1F3A"/>
                </a:solidFill>
                <a:latin typeface="Calibri" pitchFamily="34" charset="0"/>
                <a:ea typeface="Calibri" pitchFamily="34" charset="-122"/>
                <a:cs typeface="Calibri" pitchFamily="34" charset="-120"/>
              </a:rPr>
              <a:t>3 · Encoder</a:t>
            </a:r>
            <a:endParaRPr lang="en-US" sz="1100" dirty="0"/>
          </a:p>
        </p:txBody>
      </p:sp>
      <p:sp>
        <p:nvSpPr>
          <p:cNvPr id="14" name="Text 12"/>
          <p:cNvSpPr txBox="1"/>
          <p:nvPr/>
        </p:nvSpPr>
        <p:spPr>
          <a:xfrm>
            <a:off x="5852160" y="4261104"/>
            <a:ext cx="2011680" cy="274320"/>
          </a:xfrm>
          <a:prstGeom prst="rect">
            <a:avLst/>
          </a:prstGeom>
          <a:noFill/>
          <a:ln/>
        </p:spPr>
        <p:txBody>
          <a:bodyPr wrap="square" lIns="0" tIns="0" rIns="0" bIns="0" rtlCol="0" anchor="ctr"/>
          <a:lstStyle/>
          <a:p>
            <a:pPr algn="ctr" indent="0" marL="0">
              <a:buNone/>
            </a:pPr>
            <a:r>
              <a:rPr lang="en-US" sz="900" dirty="0">
                <a:solidFill>
                  <a:srgbClr val="5B6B7F"/>
                </a:solidFill>
                <a:latin typeface="Calibri" pitchFamily="34" charset="0"/>
                <a:ea typeface="Calibri" pitchFamily="34" charset="-122"/>
                <a:cs typeface="Calibri" pitchFamily="34" charset="-120"/>
              </a:rPr>
              <a:t>level → N-bit code</a:t>
            </a:r>
            <a:endParaRPr lang="en-US" sz="900" dirty="0"/>
          </a:p>
        </p:txBody>
      </p:sp>
      <p:sp>
        <p:nvSpPr>
          <p:cNvPr id="15" name="Shape 13"/>
          <p:cNvSpPr/>
          <p:nvPr/>
        </p:nvSpPr>
        <p:spPr>
          <a:xfrm>
            <a:off x="7772400" y="3886200"/>
            <a:ext cx="91440" cy="0"/>
          </a:xfrm>
          <a:prstGeom prst="line">
            <a:avLst/>
          </a:prstGeom>
          <a:noFill/>
          <a:ln w="12700">
            <a:solidFill>
              <a:srgbClr val="5B6B7F"/>
            </a:solidFill>
            <a:prstDash val="solid"/>
            <a:tailEnd type="triangle"/>
          </a:ln>
        </p:spPr>
      </p:sp>
      <p:sp>
        <p:nvSpPr>
          <p:cNvPr id="16" name="Text 14"/>
          <p:cNvSpPr txBox="1"/>
          <p:nvPr/>
        </p:nvSpPr>
        <p:spPr>
          <a:xfrm>
            <a:off x="7863840" y="3566160"/>
            <a:ext cx="548640" cy="640080"/>
          </a:xfrm>
          <a:prstGeom prst="rect">
            <a:avLst/>
          </a:prstGeom>
          <a:noFill/>
          <a:ln/>
        </p:spPr>
        <p:txBody>
          <a:bodyPr wrap="square" lIns="0" tIns="0" rIns="0" bIns="0" rtlCol="0" anchor="ctr"/>
          <a:lstStyle/>
          <a:p>
            <a:pPr algn="ctr" indent="0" marL="0">
              <a:buNone/>
            </a:pPr>
            <a:r>
              <a:rPr lang="en-US" sz="1200" b="1" dirty="0">
                <a:solidFill>
                  <a:srgbClr val="0B1F3A"/>
                </a:solidFill>
                <a:latin typeface="Cambria" pitchFamily="34" charset="0"/>
                <a:ea typeface="Cambria" pitchFamily="34" charset="-122"/>
                <a:cs typeface="Cambria" pitchFamily="34" charset="-120"/>
              </a:rPr>
              <a:t>N-bit</a:t>
            </a:r>
            <a:endParaRPr lang="en-US" sz="1200" dirty="0"/>
          </a:p>
          <a:p>
            <a:pPr algn="ctr" indent="0" marL="0">
              <a:buNone/>
            </a:pPr>
            <a:r>
              <a:rPr lang="en-US" sz="1200" b="1" dirty="0">
                <a:solidFill>
                  <a:srgbClr val="0B1F3A"/>
                </a:solidFill>
                <a:latin typeface="Cambria" pitchFamily="34" charset="0"/>
                <a:ea typeface="Cambria" pitchFamily="34" charset="-122"/>
                <a:cs typeface="Cambria" pitchFamily="34" charset="-120"/>
              </a:rPr>
              <a:t>code</a:t>
            </a:r>
            <a:endParaRPr lang="en-US" sz="1200" dirty="0"/>
          </a:p>
        </p:txBody>
      </p:sp>
      <p:sp>
        <p:nvSpPr>
          <p:cNvPr id="17" name="Text 15"/>
          <p:cNvSpPr txBox="1"/>
          <p:nvPr/>
        </p:nvSpPr>
        <p:spPr>
          <a:xfrm>
            <a:off x="1042416" y="4754880"/>
            <a:ext cx="914400" cy="365760"/>
          </a:xfrm>
          <a:prstGeom prst="roundRect">
            <a:avLst>
              <a:gd name="adj" fmla="val 15000"/>
            </a:avLst>
          </a:prstGeom>
          <a:solidFill>
            <a:srgbClr val="FFF4D6"/>
          </a:solidFill>
          <a:ln w="9525">
            <a:solidFill>
              <a:srgbClr val="FFF4D6"/>
            </a:solidFill>
          </a:ln>
        </p:spPr>
        <p:txBody>
          <a:bodyPr wrap="square" lIns="254" tIns="254" rIns="254" bIns="254" rtlCol="0" anchor="ctr"/>
          <a:lstStyle/>
          <a:p>
            <a:pPr algn="ctr" indent="0" marL="0">
              <a:buNone/>
            </a:pPr>
            <a:r>
              <a:rPr lang="en-US" sz="1000" b="1" dirty="0">
                <a:solidFill>
                  <a:srgbClr val="0B1F3A"/>
                </a:solidFill>
                <a:latin typeface="Calibri" pitchFamily="34" charset="0"/>
                <a:ea typeface="Calibri" pitchFamily="34" charset="-122"/>
                <a:cs typeface="Calibri" pitchFamily="34" charset="-120"/>
              </a:rPr>
              <a:t>Clock  f_s</a:t>
            </a:r>
            <a:endParaRPr lang="en-US" sz="1000" dirty="0"/>
          </a:p>
        </p:txBody>
      </p:sp>
      <p:sp>
        <p:nvSpPr>
          <p:cNvPr id="18" name="Shape 16"/>
          <p:cNvSpPr/>
          <p:nvPr/>
        </p:nvSpPr>
        <p:spPr>
          <a:xfrm flipV="1">
            <a:off x="1499616" y="4206240"/>
            <a:ext cx="0" cy="548640"/>
          </a:xfrm>
          <a:prstGeom prst="line">
            <a:avLst/>
          </a:prstGeom>
          <a:noFill/>
          <a:ln w="15875">
            <a:solidFill>
              <a:srgbClr val="FFB703"/>
            </a:solidFill>
            <a:prstDash val="dash"/>
            <a:tailEnd type="triangle"/>
          </a:ln>
        </p:spPr>
      </p:sp>
      <p:sp>
        <p:nvSpPr>
          <p:cNvPr id="19" name="Text 17"/>
          <p:cNvSpPr txBox="1"/>
          <p:nvPr/>
        </p:nvSpPr>
        <p:spPr>
          <a:xfrm>
            <a:off x="2048256" y="4754880"/>
            <a:ext cx="5577840" cy="365760"/>
          </a:xfrm>
          <a:prstGeom prst="rect">
            <a:avLst/>
          </a:prstGeom>
          <a:noFill/>
          <a:ln/>
        </p:spPr>
        <p:txBody>
          <a:bodyPr wrap="square" lIns="0" tIns="0" rIns="0" bIns="0" rtlCol="0" anchor="ctr"/>
          <a:lstStyle/>
          <a:p>
            <a:pPr algn="l" indent="0" marL="0">
              <a:buNone/>
            </a:pPr>
            <a:r>
              <a:rPr lang="en-US" sz="1000" i="1" dirty="0">
                <a:solidFill>
                  <a:srgbClr val="5B6B7F"/>
                </a:solidFill>
                <a:latin typeface="Calibri" pitchFamily="34" charset="0"/>
                <a:ea typeface="Calibri" pitchFamily="34" charset="-122"/>
                <a:cs typeface="Calibri" pitchFamily="34" charset="-120"/>
              </a:rPr>
              <a:t>every T_s = 1/f_s: hold → compare → output</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640080"/>
          </a:xfrm>
          <a:prstGeom prst="rect">
            <a:avLst/>
          </a:prstGeom>
          <a:noFill/>
          <a:ln/>
        </p:spPr>
        <p:txBody>
          <a:bodyPr wrap="square" lIns="0" tIns="0" rIns="0" bIns="0" rtlCol="0" anchor="ctr"/>
          <a:lstStyle/>
          <a:p>
            <a:pPr indent="0" marL="0">
              <a:buNone/>
            </a:pPr>
            <a:r>
              <a:rPr lang="en-US" sz="2800" b="1" dirty="0">
                <a:solidFill>
                  <a:srgbClr val="0B1F3A"/>
                </a:solidFill>
                <a:latin typeface="Cambria" pitchFamily="34" charset="0"/>
                <a:ea typeface="Cambria" pitchFamily="34" charset="-122"/>
                <a:cs typeface="Cambria" pitchFamily="34" charset="-120"/>
              </a:rPr>
              <a:t>What an ADC does, in three steps</a:t>
            </a:r>
            <a:endParaRPr lang="en-US" sz="2800" dirty="0"/>
          </a:p>
        </p:txBody>
      </p:sp>
      <p:sp>
        <p:nvSpPr>
          <p:cNvPr id="3" name="Text 1"/>
          <p:cNvSpPr txBox="1"/>
          <p:nvPr/>
        </p:nvSpPr>
        <p:spPr>
          <a:xfrm>
            <a:off x="457200" y="4796028"/>
            <a:ext cx="4572000" cy="228600"/>
          </a:xfrm>
          <a:prstGeom prst="rect">
            <a:avLst/>
          </a:prstGeom>
          <a:noFill/>
          <a:ln/>
        </p:spPr>
        <p:txBody>
          <a:bodyPr wrap="square" lIns="0" tIns="0" rIns="0" bIns="0" rtlCol="0" anchor="ctr"/>
          <a:lstStyle/>
          <a:p>
            <a:pPr indent="0" marL="0">
              <a:buNone/>
            </a:pPr>
            <a:r>
              <a:rPr lang="en-US" sz="900" dirty="0">
                <a:solidFill>
                  <a:srgbClr val="5B6B7F"/>
                </a:solidFill>
                <a:latin typeface="Calibri" pitchFamily="34" charset="0"/>
                <a:ea typeface="Calibri" pitchFamily="34" charset="-122"/>
                <a:cs typeface="Calibri" pitchFamily="34" charset="-120"/>
              </a:rPr>
              <a:t>Opening</a:t>
            </a:r>
            <a:endParaRPr lang="en-US" sz="900" dirty="0"/>
          </a:p>
        </p:txBody>
      </p:sp>
      <p:sp>
        <p:nvSpPr>
          <p:cNvPr id="4" name="Text 2"/>
          <p:cNvSpPr txBox="1"/>
          <p:nvPr/>
        </p:nvSpPr>
        <p:spPr>
          <a:xfrm>
            <a:off x="7772400" y="4796028"/>
            <a:ext cx="914400" cy="228600"/>
          </a:xfrm>
          <a:prstGeom prst="rect">
            <a:avLst/>
          </a:prstGeom>
          <a:noFill/>
          <a:ln/>
        </p:spPr>
        <p:txBody>
          <a:bodyPr wrap="square" lIns="0" tIns="0" rIns="0" bIns="0" rtlCol="0" anchor="ctr"/>
          <a:lstStyle/>
          <a:p>
            <a:pPr algn="r" indent="0" marL="0">
              <a:buNone/>
            </a:pPr>
            <a:r>
              <a:rPr lang="en-US" sz="900" dirty="0">
                <a:solidFill>
                  <a:srgbClr val="5B6B7F"/>
                </a:solidFill>
                <a:latin typeface="Calibri" pitchFamily="34" charset="0"/>
                <a:ea typeface="Calibri" pitchFamily="34" charset="-122"/>
                <a:cs typeface="Calibri" pitchFamily="34" charset="-120"/>
              </a:rPr>
              <a:t>2</a:t>
            </a:r>
            <a:endParaRPr lang="en-US" sz="900" dirty="0"/>
          </a:p>
        </p:txBody>
      </p:sp>
      <p:sp>
        <p:nvSpPr>
          <p:cNvPr id="5" name="Text 3"/>
          <p:cNvSpPr txBox="1"/>
          <p:nvPr/>
        </p:nvSpPr>
        <p:spPr>
          <a:xfrm>
            <a:off x="457200" y="1042416"/>
            <a:ext cx="4023360" cy="1005840"/>
          </a:xfrm>
          <a:prstGeom prst="rect">
            <a:avLst/>
          </a:prstGeom>
          <a:noFill/>
          <a:ln/>
        </p:spPr>
        <p:txBody>
          <a:bodyPr wrap="square" lIns="0" tIns="0" rIns="0" bIns="0" rtlCol="0" anchor="t"/>
          <a:lstStyle/>
          <a:p>
            <a:pPr indent="0" marL="0">
              <a:buNone/>
            </a:pPr>
            <a:r>
              <a:rPr lang="en-US" sz="1150" dirty="0">
                <a:solidFill>
                  <a:srgbClr val="14213D"/>
                </a:solidFill>
                <a:latin typeface="Calibri" pitchFamily="34" charset="0"/>
                <a:ea typeface="Calibri" pitchFamily="34" charset="-122"/>
                <a:cs typeface="Calibri" pitchFamily="34" charset="-120"/>
              </a:rPr>
              <a:t>An ADC turns a voltage into a number. It does it in three steps, repeated on every tick of a clock: hold the voltage still, compare it against a ruler with 2ᴺ marks, and write down the mark number in binary.</a:t>
            </a:r>
            <a:endParaRPr lang="en-US" sz="1150" dirty="0"/>
          </a:p>
        </p:txBody>
      </p:sp>
      <p:sp>
        <p:nvSpPr>
          <p:cNvPr id="6" name="Text 4"/>
          <p:cNvSpPr txBox="1"/>
          <p:nvPr/>
        </p:nvSpPr>
        <p:spPr>
          <a:xfrm>
            <a:off x="457200" y="2103120"/>
            <a:ext cx="4023360" cy="1444752"/>
          </a:xfrm>
          <a:prstGeom prst="rect">
            <a:avLst/>
          </a:prstGeom>
          <a:noFill/>
          <a:ln/>
        </p:spPr>
        <p:txBody>
          <a:bodyPr wrap="square" lIns="0" tIns="0" rIns="0" bIns="0" rtlCol="0" anchor="t"/>
          <a:lstStyle/>
          <a:p>
            <a:pPr marL="342900" indent="-342900">
              <a:spcAft>
                <a:spcPts val="300"/>
              </a:spcAft>
              <a:buSzPct val="100000"/>
              <a:buChar char="•"/>
            </a:pPr>
            <a:r>
              <a:rPr lang="en-US" sz="1100" dirty="0">
                <a:solidFill>
                  <a:srgbClr val="14213D"/>
                </a:solidFill>
                <a:latin typeface="Calibri" pitchFamily="34" charset="0"/>
                <a:ea typeface="Calibri" pitchFamily="34" charset="-122"/>
                <a:cs typeface="Calibri" pitchFamily="34" charset="-120"/>
              </a:rPr>
              <a:t>Sample and hold: freeze the input so it cannot move mid-measurement</a:t>
            </a:r>
            <a:endParaRPr lang="en-US" sz="1100" dirty="0"/>
          </a:p>
          <a:p>
            <a:pPr marL="342900" indent="-342900">
              <a:spcAft>
                <a:spcPts val="300"/>
              </a:spcAft>
              <a:buSzPct val="100000"/>
              <a:buChar char="•"/>
            </a:pPr>
            <a:r>
              <a:rPr lang="en-US" sz="1100" dirty="0">
                <a:solidFill>
                  <a:srgbClr val="14213D"/>
                </a:solidFill>
                <a:latin typeface="Calibri" pitchFamily="34" charset="0"/>
                <a:ea typeface="Calibri" pitchFamily="34" charset="-122"/>
                <a:cs typeface="Calibri" pitchFamily="34" charset="-120"/>
              </a:rPr>
              <a:t>Quantise: decide which of the 2ᴺ levels the frozen voltage is nearest</a:t>
            </a:r>
            <a:endParaRPr lang="en-US" sz="1100" dirty="0"/>
          </a:p>
          <a:p>
            <a:pPr marL="342900" indent="-342900">
              <a:spcAft>
                <a:spcPts val="300"/>
              </a:spcAft>
              <a:buSzPct val="100000"/>
              <a:buChar char="•"/>
            </a:pPr>
            <a:r>
              <a:rPr lang="en-US" sz="1100" dirty="0">
                <a:solidFill>
                  <a:srgbClr val="14213D"/>
                </a:solidFill>
                <a:latin typeface="Calibri" pitchFamily="34" charset="0"/>
                <a:ea typeface="Calibri" pitchFamily="34" charset="-122"/>
                <a:cs typeface="Calibri" pitchFamily="34" charset="-120"/>
              </a:rPr>
              <a:t>Encode: output that level as an N-bit binary word</a:t>
            </a:r>
            <a:endParaRPr lang="en-US" sz="1100" dirty="0"/>
          </a:p>
        </p:txBody>
      </p:sp>
      <p:sp>
        <p:nvSpPr>
          <p:cNvPr id="7" name="Text 5"/>
          <p:cNvSpPr txBox="1"/>
          <p:nvPr/>
        </p:nvSpPr>
        <p:spPr>
          <a:xfrm>
            <a:off x="4663440" y="1408176"/>
            <a:ext cx="548640" cy="640080"/>
          </a:xfrm>
          <a:prstGeom prst="rect">
            <a:avLst/>
          </a:prstGeom>
          <a:noFill/>
          <a:ln/>
        </p:spPr>
        <p:txBody>
          <a:bodyPr wrap="square" lIns="0" tIns="0" rIns="0" bIns="0" rtlCol="0" anchor="ctr"/>
          <a:lstStyle/>
          <a:p>
            <a:pPr algn="ctr" indent="0" marL="0">
              <a:buNone/>
            </a:pPr>
            <a:r>
              <a:rPr lang="en-US" sz="1200" b="1" dirty="0">
                <a:solidFill>
                  <a:srgbClr val="0B1F3A"/>
                </a:solidFill>
                <a:latin typeface="Cambria" pitchFamily="34" charset="0"/>
                <a:ea typeface="Cambria" pitchFamily="34" charset="-122"/>
                <a:cs typeface="Cambria" pitchFamily="34" charset="-120"/>
              </a:rPr>
              <a:t>V_in</a:t>
            </a:r>
            <a:endParaRPr lang="en-US" sz="1200" dirty="0"/>
          </a:p>
        </p:txBody>
      </p:sp>
      <p:sp>
        <p:nvSpPr>
          <p:cNvPr id="8" name="Shape 6"/>
          <p:cNvSpPr/>
          <p:nvPr/>
        </p:nvSpPr>
        <p:spPr>
          <a:xfrm>
            <a:off x="5212080" y="1728216"/>
            <a:ext cx="91440" cy="0"/>
          </a:xfrm>
          <a:prstGeom prst="line">
            <a:avLst/>
          </a:prstGeom>
          <a:noFill/>
          <a:ln w="12700">
            <a:solidFill>
              <a:srgbClr val="5B6B7F"/>
            </a:solidFill>
            <a:prstDash val="solid"/>
            <a:tailEnd type="triangle"/>
          </a:ln>
        </p:spPr>
      </p:sp>
      <p:sp>
        <p:nvSpPr>
          <p:cNvPr id="9" name="Text 7"/>
          <p:cNvSpPr txBox="1"/>
          <p:nvPr/>
        </p:nvSpPr>
        <p:spPr>
          <a:xfrm>
            <a:off x="5303520" y="1408176"/>
            <a:ext cx="609600" cy="640080"/>
          </a:xfrm>
          <a:prstGeom prst="roundRect">
            <a:avLst>
              <a:gd name="adj" fmla="val 9000"/>
            </a:avLst>
          </a:prstGeom>
          <a:solidFill>
            <a:srgbClr val="EEF3F8"/>
          </a:solidFill>
          <a:ln w="9525">
            <a:solidFill>
              <a:srgbClr val="EEF3F8"/>
            </a:solidFill>
          </a:ln>
        </p:spPr>
        <p:txBody>
          <a:bodyPr wrap="square" lIns="254" tIns="254" rIns="254" bIns="254" rtlCol="0" anchor="ctr"/>
          <a:lstStyle/>
          <a:p>
            <a:pPr algn="ctr" indent="0" marL="0">
              <a:buNone/>
            </a:pPr>
            <a:r>
              <a:rPr lang="en-US" sz="1100" b="1" dirty="0">
                <a:solidFill>
                  <a:srgbClr val="0B1F3A"/>
                </a:solidFill>
                <a:latin typeface="Calibri" pitchFamily="34" charset="0"/>
                <a:ea typeface="Calibri" pitchFamily="34" charset="-122"/>
                <a:cs typeface="Calibri" pitchFamily="34" charset="-120"/>
              </a:rPr>
              <a:t>1 · Sample &amp; hold</a:t>
            </a:r>
            <a:endParaRPr lang="en-US" sz="1100" dirty="0"/>
          </a:p>
        </p:txBody>
      </p:sp>
      <p:sp>
        <p:nvSpPr>
          <p:cNvPr id="10" name="Text 8"/>
          <p:cNvSpPr txBox="1"/>
          <p:nvPr/>
        </p:nvSpPr>
        <p:spPr>
          <a:xfrm>
            <a:off x="5212080" y="2103120"/>
            <a:ext cx="792480" cy="274320"/>
          </a:xfrm>
          <a:prstGeom prst="rect">
            <a:avLst/>
          </a:prstGeom>
          <a:noFill/>
          <a:ln/>
        </p:spPr>
        <p:txBody>
          <a:bodyPr wrap="square" lIns="0" tIns="0" rIns="0" bIns="0" rtlCol="0" anchor="ctr"/>
          <a:lstStyle/>
          <a:p>
            <a:pPr algn="ctr" indent="0" marL="0">
              <a:buNone/>
            </a:pPr>
            <a:r>
              <a:rPr lang="en-US" sz="900" dirty="0">
                <a:solidFill>
                  <a:srgbClr val="5B6B7F"/>
                </a:solidFill>
                <a:latin typeface="Calibri" pitchFamily="34" charset="0"/>
                <a:ea typeface="Calibri" pitchFamily="34" charset="-122"/>
                <a:cs typeface="Calibri" pitchFamily="34" charset="-120"/>
              </a:rPr>
              <a:t>freeze V_in for one T_s</a:t>
            </a:r>
            <a:endParaRPr lang="en-US" sz="900" dirty="0"/>
          </a:p>
        </p:txBody>
      </p:sp>
      <p:sp>
        <p:nvSpPr>
          <p:cNvPr id="11" name="Shape 9"/>
          <p:cNvSpPr/>
          <p:nvPr/>
        </p:nvSpPr>
        <p:spPr>
          <a:xfrm>
            <a:off x="5913120" y="1728216"/>
            <a:ext cx="457200" cy="0"/>
          </a:xfrm>
          <a:prstGeom prst="line">
            <a:avLst/>
          </a:prstGeom>
          <a:noFill/>
          <a:ln w="15875">
            <a:solidFill>
              <a:srgbClr val="5B6B7F"/>
            </a:solidFill>
            <a:prstDash val="solid"/>
            <a:tailEnd type="triangle"/>
          </a:ln>
        </p:spPr>
      </p:sp>
      <p:sp>
        <p:nvSpPr>
          <p:cNvPr id="12" name="Text 10"/>
          <p:cNvSpPr txBox="1"/>
          <p:nvPr/>
        </p:nvSpPr>
        <p:spPr>
          <a:xfrm>
            <a:off x="6370320" y="1408176"/>
            <a:ext cx="609600" cy="640080"/>
          </a:xfrm>
          <a:prstGeom prst="roundRect">
            <a:avLst>
              <a:gd name="adj" fmla="val 9000"/>
            </a:avLst>
          </a:prstGeom>
          <a:solidFill>
            <a:srgbClr val="EEF3F8"/>
          </a:solidFill>
          <a:ln w="9525">
            <a:solidFill>
              <a:srgbClr val="EEF3F8"/>
            </a:solidFill>
          </a:ln>
        </p:spPr>
        <p:txBody>
          <a:bodyPr wrap="square" lIns="254" tIns="254" rIns="254" bIns="254" rtlCol="0" anchor="ctr"/>
          <a:lstStyle/>
          <a:p>
            <a:pPr algn="ctr" indent="0" marL="0">
              <a:buNone/>
            </a:pPr>
            <a:r>
              <a:rPr lang="en-US" sz="1100" b="1" dirty="0">
                <a:solidFill>
                  <a:srgbClr val="0B1F3A"/>
                </a:solidFill>
                <a:latin typeface="Calibri" pitchFamily="34" charset="0"/>
                <a:ea typeface="Calibri" pitchFamily="34" charset="-122"/>
                <a:cs typeface="Calibri" pitchFamily="34" charset="-120"/>
              </a:rPr>
              <a:t>2 · Quantiser</a:t>
            </a:r>
            <a:endParaRPr lang="en-US" sz="1100" dirty="0"/>
          </a:p>
        </p:txBody>
      </p:sp>
      <p:sp>
        <p:nvSpPr>
          <p:cNvPr id="13" name="Text 11"/>
          <p:cNvSpPr txBox="1"/>
          <p:nvPr/>
        </p:nvSpPr>
        <p:spPr>
          <a:xfrm>
            <a:off x="6278880" y="2103120"/>
            <a:ext cx="792480" cy="274320"/>
          </a:xfrm>
          <a:prstGeom prst="rect">
            <a:avLst/>
          </a:prstGeom>
          <a:noFill/>
          <a:ln/>
        </p:spPr>
        <p:txBody>
          <a:bodyPr wrap="square" lIns="0" tIns="0" rIns="0" bIns="0" rtlCol="0" anchor="ctr"/>
          <a:lstStyle/>
          <a:p>
            <a:pPr algn="ctr" indent="0" marL="0">
              <a:buNone/>
            </a:pPr>
            <a:r>
              <a:rPr lang="en-US" sz="900" dirty="0">
                <a:solidFill>
                  <a:srgbClr val="5B6B7F"/>
                </a:solidFill>
                <a:latin typeface="Calibri" pitchFamily="34" charset="0"/>
                <a:ea typeface="Calibri" pitchFamily="34" charset="-122"/>
                <a:cs typeface="Calibri" pitchFamily="34" charset="-120"/>
              </a:rPr>
              <a:t>nearest of 2ᴺ levels</a:t>
            </a:r>
            <a:endParaRPr lang="en-US" sz="900" dirty="0"/>
          </a:p>
        </p:txBody>
      </p:sp>
      <p:sp>
        <p:nvSpPr>
          <p:cNvPr id="14" name="Shape 12"/>
          <p:cNvSpPr/>
          <p:nvPr/>
        </p:nvSpPr>
        <p:spPr>
          <a:xfrm>
            <a:off x="6979920" y="1728216"/>
            <a:ext cx="457200" cy="0"/>
          </a:xfrm>
          <a:prstGeom prst="line">
            <a:avLst/>
          </a:prstGeom>
          <a:noFill/>
          <a:ln w="15875">
            <a:solidFill>
              <a:srgbClr val="5B6B7F"/>
            </a:solidFill>
            <a:prstDash val="solid"/>
            <a:tailEnd type="triangle"/>
          </a:ln>
        </p:spPr>
      </p:sp>
      <p:sp>
        <p:nvSpPr>
          <p:cNvPr id="15" name="Text 13"/>
          <p:cNvSpPr txBox="1"/>
          <p:nvPr/>
        </p:nvSpPr>
        <p:spPr>
          <a:xfrm>
            <a:off x="7437120" y="1408176"/>
            <a:ext cx="609600" cy="640080"/>
          </a:xfrm>
          <a:prstGeom prst="roundRect">
            <a:avLst>
              <a:gd name="adj" fmla="val 9000"/>
            </a:avLst>
          </a:prstGeom>
          <a:solidFill>
            <a:srgbClr val="EEF3F8"/>
          </a:solidFill>
          <a:ln w="9525">
            <a:solidFill>
              <a:srgbClr val="EEF3F8"/>
            </a:solidFill>
          </a:ln>
        </p:spPr>
        <p:txBody>
          <a:bodyPr wrap="square" lIns="254" tIns="254" rIns="254" bIns="254" rtlCol="0" anchor="ctr"/>
          <a:lstStyle/>
          <a:p>
            <a:pPr algn="ctr" indent="0" marL="0">
              <a:buNone/>
            </a:pPr>
            <a:r>
              <a:rPr lang="en-US" sz="1100" b="1" dirty="0">
                <a:solidFill>
                  <a:srgbClr val="0B1F3A"/>
                </a:solidFill>
                <a:latin typeface="Calibri" pitchFamily="34" charset="0"/>
                <a:ea typeface="Calibri" pitchFamily="34" charset="-122"/>
                <a:cs typeface="Calibri" pitchFamily="34" charset="-120"/>
              </a:rPr>
              <a:t>3 · Encoder</a:t>
            </a:r>
            <a:endParaRPr lang="en-US" sz="1100" dirty="0"/>
          </a:p>
        </p:txBody>
      </p:sp>
      <p:sp>
        <p:nvSpPr>
          <p:cNvPr id="16" name="Text 14"/>
          <p:cNvSpPr txBox="1"/>
          <p:nvPr/>
        </p:nvSpPr>
        <p:spPr>
          <a:xfrm>
            <a:off x="7345680" y="2103120"/>
            <a:ext cx="792480" cy="274320"/>
          </a:xfrm>
          <a:prstGeom prst="rect">
            <a:avLst/>
          </a:prstGeom>
          <a:noFill/>
          <a:ln/>
        </p:spPr>
        <p:txBody>
          <a:bodyPr wrap="square" lIns="0" tIns="0" rIns="0" bIns="0" rtlCol="0" anchor="ctr"/>
          <a:lstStyle/>
          <a:p>
            <a:pPr algn="ctr" indent="0" marL="0">
              <a:buNone/>
            </a:pPr>
            <a:r>
              <a:rPr lang="en-US" sz="900" dirty="0">
                <a:solidFill>
                  <a:srgbClr val="5B6B7F"/>
                </a:solidFill>
                <a:latin typeface="Calibri" pitchFamily="34" charset="0"/>
                <a:ea typeface="Calibri" pitchFamily="34" charset="-122"/>
                <a:cs typeface="Calibri" pitchFamily="34" charset="-120"/>
              </a:rPr>
              <a:t>level → N-bit code</a:t>
            </a:r>
            <a:endParaRPr lang="en-US" sz="900" dirty="0"/>
          </a:p>
        </p:txBody>
      </p:sp>
      <p:sp>
        <p:nvSpPr>
          <p:cNvPr id="17" name="Shape 15"/>
          <p:cNvSpPr/>
          <p:nvPr/>
        </p:nvSpPr>
        <p:spPr>
          <a:xfrm>
            <a:off x="8046720" y="1728216"/>
            <a:ext cx="91440" cy="0"/>
          </a:xfrm>
          <a:prstGeom prst="line">
            <a:avLst/>
          </a:prstGeom>
          <a:noFill/>
          <a:ln w="12700">
            <a:solidFill>
              <a:srgbClr val="5B6B7F"/>
            </a:solidFill>
            <a:prstDash val="solid"/>
            <a:tailEnd type="triangle"/>
          </a:ln>
        </p:spPr>
      </p:sp>
      <p:sp>
        <p:nvSpPr>
          <p:cNvPr id="18" name="Text 16"/>
          <p:cNvSpPr txBox="1"/>
          <p:nvPr/>
        </p:nvSpPr>
        <p:spPr>
          <a:xfrm>
            <a:off x="8138160" y="1408176"/>
            <a:ext cx="548640" cy="640080"/>
          </a:xfrm>
          <a:prstGeom prst="rect">
            <a:avLst/>
          </a:prstGeom>
          <a:noFill/>
          <a:ln/>
        </p:spPr>
        <p:txBody>
          <a:bodyPr wrap="square" lIns="0" tIns="0" rIns="0" bIns="0" rtlCol="0" anchor="ctr"/>
          <a:lstStyle/>
          <a:p>
            <a:pPr algn="ctr" indent="0" marL="0">
              <a:buNone/>
            </a:pPr>
            <a:r>
              <a:rPr lang="en-US" sz="1200" b="1" dirty="0">
                <a:solidFill>
                  <a:srgbClr val="0B1F3A"/>
                </a:solidFill>
                <a:latin typeface="Cambria" pitchFamily="34" charset="0"/>
                <a:ea typeface="Cambria" pitchFamily="34" charset="-122"/>
                <a:cs typeface="Cambria" pitchFamily="34" charset="-120"/>
              </a:rPr>
              <a:t>N-bit</a:t>
            </a:r>
            <a:endParaRPr lang="en-US" sz="1200" dirty="0"/>
          </a:p>
          <a:p>
            <a:pPr algn="ctr" indent="0" marL="0">
              <a:buNone/>
            </a:pPr>
            <a:r>
              <a:rPr lang="en-US" sz="1200" b="1" dirty="0">
                <a:solidFill>
                  <a:srgbClr val="0B1F3A"/>
                </a:solidFill>
                <a:latin typeface="Cambria" pitchFamily="34" charset="0"/>
                <a:ea typeface="Cambria" pitchFamily="34" charset="-122"/>
                <a:cs typeface="Cambria" pitchFamily="34" charset="-120"/>
              </a:rPr>
              <a:t>code</a:t>
            </a:r>
            <a:endParaRPr lang="en-US" sz="1200" dirty="0"/>
          </a:p>
        </p:txBody>
      </p:sp>
      <p:sp>
        <p:nvSpPr>
          <p:cNvPr id="19" name="Text 17"/>
          <p:cNvSpPr txBox="1"/>
          <p:nvPr/>
        </p:nvSpPr>
        <p:spPr>
          <a:xfrm>
            <a:off x="4974336" y="2596896"/>
            <a:ext cx="914400" cy="365760"/>
          </a:xfrm>
          <a:prstGeom prst="roundRect">
            <a:avLst>
              <a:gd name="adj" fmla="val 15000"/>
            </a:avLst>
          </a:prstGeom>
          <a:solidFill>
            <a:srgbClr val="FFF4D6"/>
          </a:solidFill>
          <a:ln w="9525">
            <a:solidFill>
              <a:srgbClr val="FFF4D6"/>
            </a:solidFill>
          </a:ln>
        </p:spPr>
        <p:txBody>
          <a:bodyPr wrap="square" lIns="254" tIns="254" rIns="254" bIns="254" rtlCol="0" anchor="ctr"/>
          <a:lstStyle/>
          <a:p>
            <a:pPr algn="ctr" indent="0" marL="0">
              <a:buNone/>
            </a:pPr>
            <a:r>
              <a:rPr lang="en-US" sz="1000" b="1" dirty="0">
                <a:solidFill>
                  <a:srgbClr val="0B1F3A"/>
                </a:solidFill>
                <a:latin typeface="Calibri" pitchFamily="34" charset="0"/>
                <a:ea typeface="Calibri" pitchFamily="34" charset="-122"/>
                <a:cs typeface="Calibri" pitchFamily="34" charset="-120"/>
              </a:rPr>
              <a:t>Clock  f_s</a:t>
            </a:r>
            <a:endParaRPr lang="en-US" sz="1000" dirty="0"/>
          </a:p>
        </p:txBody>
      </p:sp>
      <p:sp>
        <p:nvSpPr>
          <p:cNvPr id="20" name="Shape 18"/>
          <p:cNvSpPr/>
          <p:nvPr/>
        </p:nvSpPr>
        <p:spPr>
          <a:xfrm flipV="1">
            <a:off x="5431536" y="2048256"/>
            <a:ext cx="0" cy="548640"/>
          </a:xfrm>
          <a:prstGeom prst="line">
            <a:avLst/>
          </a:prstGeom>
          <a:noFill/>
          <a:ln w="15875">
            <a:solidFill>
              <a:srgbClr val="FFB703"/>
            </a:solidFill>
            <a:prstDash val="dash"/>
            <a:tailEnd type="triangle"/>
          </a:ln>
        </p:spPr>
      </p:sp>
      <p:sp>
        <p:nvSpPr>
          <p:cNvPr id="21" name="Text 19"/>
          <p:cNvSpPr txBox="1"/>
          <p:nvPr/>
        </p:nvSpPr>
        <p:spPr>
          <a:xfrm>
            <a:off x="5980176" y="2596896"/>
            <a:ext cx="2529840" cy="365760"/>
          </a:xfrm>
          <a:prstGeom prst="rect">
            <a:avLst/>
          </a:prstGeom>
          <a:noFill/>
          <a:ln/>
        </p:spPr>
        <p:txBody>
          <a:bodyPr wrap="square" lIns="0" tIns="0" rIns="0" bIns="0" rtlCol="0" anchor="ctr"/>
          <a:lstStyle/>
          <a:p>
            <a:pPr algn="l" indent="0" marL="0">
              <a:buNone/>
            </a:pPr>
            <a:r>
              <a:rPr lang="en-US" sz="1000" i="1" dirty="0">
                <a:solidFill>
                  <a:srgbClr val="5B6B7F"/>
                </a:solidFill>
                <a:latin typeface="Calibri" pitchFamily="34" charset="0"/>
                <a:ea typeface="Calibri" pitchFamily="34" charset="-122"/>
                <a:cs typeface="Calibri" pitchFamily="34" charset="-120"/>
              </a:rPr>
              <a:t>every T_s = 1/f_s: hold → compare → output</a:t>
            </a:r>
            <a:endParaRPr lang="en-US" sz="1000" dirty="0"/>
          </a:p>
        </p:txBody>
      </p:sp>
      <p:sp>
        <p:nvSpPr>
          <p:cNvPr id="22" name="Shape 20"/>
          <p:cNvSpPr/>
          <p:nvPr/>
        </p:nvSpPr>
        <p:spPr>
          <a:xfrm>
            <a:off x="457200" y="3675888"/>
            <a:ext cx="4023360" cy="1024128"/>
          </a:xfrm>
          <a:prstGeom prst="roundRect">
            <a:avLst>
              <a:gd name="adj" fmla="val 7143"/>
            </a:avLst>
          </a:prstGeom>
          <a:solidFill>
            <a:srgbClr val="E4F7F4"/>
          </a:solidFill>
          <a:ln w="12700">
            <a:solidFill>
              <a:srgbClr val="E4F7F4"/>
            </a:solidFill>
            <a:prstDash val="solid"/>
          </a:ln>
        </p:spPr>
      </p:sp>
      <p:sp>
        <p:nvSpPr>
          <p:cNvPr id="23" name="Shape 21"/>
          <p:cNvSpPr/>
          <p:nvPr/>
        </p:nvSpPr>
        <p:spPr>
          <a:xfrm>
            <a:off x="566928" y="3776472"/>
            <a:ext cx="237744" cy="237744"/>
          </a:xfrm>
          <a:prstGeom prst="ellipse">
            <a:avLst/>
          </a:prstGeom>
          <a:solidFill>
            <a:srgbClr val="2EC4B6"/>
          </a:solidFill>
          <a:ln w="12700">
            <a:solidFill>
              <a:srgbClr val="2EC4B6"/>
            </a:solidFill>
            <a:prstDash val="solid"/>
          </a:ln>
        </p:spPr>
      </p:sp>
      <p:sp>
        <p:nvSpPr>
          <p:cNvPr id="24" name="Text 22"/>
          <p:cNvSpPr txBox="1"/>
          <p:nvPr/>
        </p:nvSpPr>
        <p:spPr>
          <a:xfrm>
            <a:off x="566928" y="3776472"/>
            <a:ext cx="237744" cy="237744"/>
          </a:xfrm>
          <a:prstGeom prst="rect">
            <a:avLst/>
          </a:prstGeom>
          <a:noFill/>
          <a:ln/>
        </p:spPr>
        <p:txBody>
          <a:bodyPr wrap="square" lIns="0" tIns="0" rIns="0" bIns="0" rtlCol="0" anchor="ctr"/>
          <a:lstStyle/>
          <a:p>
            <a:pPr algn="ctr" indent="0" marL="0">
              <a:buNone/>
            </a:pPr>
            <a:r>
              <a:rPr lang="en-US" sz="1200" b="1" dirty="0">
                <a:solidFill>
                  <a:srgbClr val="0B1F3A"/>
                </a:solidFill>
                <a:latin typeface="Calibri" pitchFamily="34" charset="0"/>
                <a:ea typeface="Calibri" pitchFamily="34" charset="-122"/>
                <a:cs typeface="Calibri" pitchFamily="34" charset="-120"/>
              </a:rPr>
              <a:t>≈</a:t>
            </a:r>
            <a:endParaRPr lang="en-US" sz="1200" dirty="0"/>
          </a:p>
        </p:txBody>
      </p:sp>
      <p:sp>
        <p:nvSpPr>
          <p:cNvPr id="25" name="Text 23"/>
          <p:cNvSpPr txBox="1"/>
          <p:nvPr/>
        </p:nvSpPr>
        <p:spPr>
          <a:xfrm>
            <a:off x="877824" y="3739896"/>
            <a:ext cx="3493008" cy="896112"/>
          </a:xfrm>
          <a:prstGeom prst="rect">
            <a:avLst/>
          </a:prstGeom>
          <a:noFill/>
          <a:ln/>
        </p:spPr>
        <p:txBody>
          <a:bodyPr wrap="square" lIns="0" tIns="0" rIns="0" bIns="0" rtlCol="0" anchor="t"/>
          <a:lstStyle/>
          <a:p>
            <a:pPr indent="0" marL="0">
              <a:buNone/>
            </a:pPr>
            <a:r>
              <a:rPr lang="en-US" sz="1050" b="1" dirty="0">
                <a:solidFill>
                  <a:srgbClr val="0B1F3A"/>
                </a:solidFill>
                <a:latin typeface="Calibri" pitchFamily="34" charset="0"/>
                <a:ea typeface="Calibri" pitchFamily="34" charset="-122"/>
                <a:cs typeface="Calibri" pitchFamily="34" charset="-120"/>
              </a:rPr>
              <a:t>Think of it like this  </a:t>
            </a:r>
            <a:pPr indent="0" marL="0">
              <a:buNone/>
            </a:pPr>
            <a:r>
              <a:rPr lang="en-US" sz="1050" dirty="0">
                <a:solidFill>
                  <a:srgbClr val="14213D"/>
                </a:solidFill>
                <a:latin typeface="Calibri" pitchFamily="34" charset="0"/>
                <a:ea typeface="Calibri" pitchFamily="34" charset="-122"/>
                <a:cs typeface="Calibri" pitchFamily="34" charset="-120"/>
              </a:rPr>
              <a:t>Measuring a child’s height: ask them to stand still, line them up against a marked ruler, write the number in the book. Repeat every birthday.</a:t>
            </a:r>
            <a:endParaRPr lang="en-US" sz="1050" dirty="0"/>
          </a:p>
        </p:txBody>
      </p:sp>
      <p:sp>
        <p:nvSpPr>
          <p:cNvPr id="26" name="Shape 24"/>
          <p:cNvSpPr/>
          <p:nvPr/>
        </p:nvSpPr>
        <p:spPr>
          <a:xfrm>
            <a:off x="4663440" y="3675888"/>
            <a:ext cx="4023360" cy="1024128"/>
          </a:xfrm>
          <a:prstGeom prst="roundRect">
            <a:avLst>
              <a:gd name="adj" fmla="val 7143"/>
            </a:avLst>
          </a:prstGeom>
          <a:solidFill>
            <a:srgbClr val="FFFFFF"/>
          </a:solidFill>
          <a:ln w="12700">
            <a:solidFill>
              <a:srgbClr val="0B1F3A"/>
            </a:solidFill>
            <a:prstDash val="solid"/>
          </a:ln>
        </p:spPr>
      </p:sp>
      <p:sp>
        <p:nvSpPr>
          <p:cNvPr id="27" name="Shape 25"/>
          <p:cNvSpPr/>
          <p:nvPr/>
        </p:nvSpPr>
        <p:spPr>
          <a:xfrm>
            <a:off x="4773168" y="3566160"/>
            <a:ext cx="914400" cy="219456"/>
          </a:xfrm>
          <a:prstGeom prst="roundRect">
            <a:avLst>
              <a:gd name="adj" fmla="val 25000"/>
            </a:avLst>
          </a:prstGeom>
          <a:solidFill>
            <a:srgbClr val="0B1F3A"/>
          </a:solidFill>
          <a:ln w="12700">
            <a:solidFill>
              <a:srgbClr val="0B1F3A"/>
            </a:solidFill>
            <a:prstDash val="solid"/>
          </a:ln>
        </p:spPr>
      </p:sp>
      <p:sp>
        <p:nvSpPr>
          <p:cNvPr id="28" name="Text 26"/>
          <p:cNvSpPr txBox="1"/>
          <p:nvPr/>
        </p:nvSpPr>
        <p:spPr>
          <a:xfrm>
            <a:off x="4773168" y="3566160"/>
            <a:ext cx="914400" cy="219456"/>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EXAMPLE</a:t>
            </a:r>
            <a:endParaRPr lang="en-US" sz="850" dirty="0"/>
          </a:p>
        </p:txBody>
      </p:sp>
      <p:sp>
        <p:nvSpPr>
          <p:cNvPr id="29" name="Text 27"/>
          <p:cNvSpPr txBox="1"/>
          <p:nvPr/>
        </p:nvSpPr>
        <p:spPr>
          <a:xfrm>
            <a:off x="4791456" y="3813048"/>
            <a:ext cx="3803904" cy="841248"/>
          </a:xfrm>
          <a:prstGeom prst="rect">
            <a:avLst/>
          </a:prstGeom>
          <a:noFill/>
          <a:ln/>
        </p:spPr>
        <p:txBody>
          <a:bodyPr wrap="square" lIns="0" tIns="0" rIns="0" bIns="0" rtlCol="0" anchor="t"/>
          <a:lstStyle/>
          <a:p>
            <a:pPr indent="0" marL="0">
              <a:spcAft>
                <a:spcPts val="100"/>
              </a:spcAft>
              <a:buNone/>
            </a:pPr>
            <a:r>
              <a:rPr lang="en-US" sz="900" b="1" dirty="0">
                <a:solidFill>
                  <a:srgbClr val="0B1F3A"/>
                </a:solidFill>
                <a:latin typeface="Calibri" pitchFamily="34" charset="0"/>
                <a:ea typeface="Calibri" pitchFamily="34" charset="-122"/>
                <a:cs typeface="Calibri" pitchFamily="34" charset="-120"/>
              </a:rPr>
              <a:t>A 12-bit, 100 MSPS converter</a:t>
            </a:r>
            <a:endParaRPr lang="en-US" sz="900" dirty="0"/>
          </a:p>
          <a:p>
            <a:pPr marL="114300" indent="-114300">
              <a:spcAft>
                <a:spcPts val="100"/>
              </a:spcAft>
              <a:buSzPct val="100000"/>
              <a:buChar char="•"/>
            </a:pPr>
            <a:r>
              <a:rPr lang="en-US" sz="900" dirty="0">
                <a:solidFill>
                  <a:srgbClr val="14213D"/>
                </a:solidFill>
                <a:latin typeface="Cambria" pitchFamily="34" charset="0"/>
                <a:ea typeface="Cambria" pitchFamily="34" charset="-122"/>
                <a:cs typeface="Cambria" pitchFamily="34" charset="-120"/>
              </a:rPr>
              <a:t>4096 marks on the ruler, one reading every 10 ns</a:t>
            </a:r>
            <a:endParaRPr lang="en-US" sz="900" dirty="0"/>
          </a:p>
          <a:p>
            <a:pPr marL="114300" indent="-114300">
              <a:spcAft>
                <a:spcPts val="100"/>
              </a:spcAft>
              <a:buSzPct val="100000"/>
              <a:buChar char="•"/>
            </a:pPr>
            <a:r>
              <a:rPr lang="en-US" sz="900" dirty="0">
                <a:solidFill>
                  <a:srgbClr val="14213D"/>
                </a:solidFill>
                <a:latin typeface="Cambria" pitchFamily="34" charset="0"/>
                <a:ea typeface="Cambria" pitchFamily="34" charset="-122"/>
                <a:cs typeface="Cambria" pitchFamily="34" charset="-120"/>
              </a:rPr>
              <a:t>Output: 100 million 12-bit words per second = 1.2 Gbit/s</a:t>
            </a:r>
            <a:endParaRPr lang="en-US" sz="900" dirty="0"/>
          </a:p>
          <a:p>
            <a:pPr marL="114300" indent="-114300">
              <a:spcAft>
                <a:spcPts val="100"/>
              </a:spcAft>
              <a:buSzPct val="100000"/>
              <a:buChar char="•"/>
            </a:pPr>
            <a:r>
              <a:rPr lang="en-US" sz="900" dirty="0">
                <a:solidFill>
                  <a:srgbClr val="14213D"/>
                </a:solidFill>
                <a:latin typeface="Cambria" pitchFamily="34" charset="0"/>
                <a:ea typeface="Cambria" pitchFamily="34" charset="-122"/>
                <a:cs typeface="Cambria" pitchFamily="34" charset="-120"/>
              </a:rPr>
              <a:t>Every parameter in this talk describes how well one of those three steps is done</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640080"/>
          </a:xfrm>
          <a:prstGeom prst="rect">
            <a:avLst/>
          </a:prstGeom>
          <a:noFill/>
          <a:ln/>
        </p:spPr>
        <p:txBody>
          <a:bodyPr wrap="square" lIns="0" tIns="0" rIns="0" bIns="0" rtlCol="0" anchor="ctr"/>
          <a:lstStyle/>
          <a:p>
            <a:pPr indent="0" marL="0">
              <a:buNone/>
            </a:pPr>
            <a:r>
              <a:rPr lang="en-US" sz="2800" b="1" dirty="0">
                <a:solidFill>
                  <a:srgbClr val="0B1F3A"/>
                </a:solidFill>
                <a:latin typeface="Cambria" pitchFamily="34" charset="0"/>
                <a:ea typeface="Cambria" pitchFamily="34" charset="-122"/>
                <a:cs typeface="Cambria" pitchFamily="34" charset="-120"/>
              </a:rPr>
              <a:t>The parameter map</a:t>
            </a:r>
            <a:endParaRPr lang="en-US" sz="2800" dirty="0"/>
          </a:p>
        </p:txBody>
      </p:sp>
      <p:sp>
        <p:nvSpPr>
          <p:cNvPr id="3" name="Text 1"/>
          <p:cNvSpPr txBox="1"/>
          <p:nvPr/>
        </p:nvSpPr>
        <p:spPr>
          <a:xfrm>
            <a:off x="457200" y="4796028"/>
            <a:ext cx="4572000" cy="228600"/>
          </a:xfrm>
          <a:prstGeom prst="rect">
            <a:avLst/>
          </a:prstGeom>
          <a:noFill/>
          <a:ln/>
        </p:spPr>
        <p:txBody>
          <a:bodyPr wrap="square" lIns="0" tIns="0" rIns="0" bIns="0" rtlCol="0" anchor="ctr"/>
          <a:lstStyle/>
          <a:p>
            <a:pPr indent="0" marL="0">
              <a:buNone/>
            </a:pPr>
            <a:r>
              <a:rPr lang="en-US" sz="900" dirty="0">
                <a:solidFill>
                  <a:srgbClr val="5B6B7F"/>
                </a:solidFill>
                <a:latin typeface="Calibri" pitchFamily="34" charset="0"/>
                <a:ea typeface="Calibri" pitchFamily="34" charset="-122"/>
                <a:cs typeface="Calibri" pitchFamily="34" charset="-120"/>
              </a:rPr>
              <a:t>Opening</a:t>
            </a:r>
            <a:endParaRPr lang="en-US" sz="900" dirty="0"/>
          </a:p>
        </p:txBody>
      </p:sp>
      <p:sp>
        <p:nvSpPr>
          <p:cNvPr id="4" name="Text 2"/>
          <p:cNvSpPr txBox="1"/>
          <p:nvPr/>
        </p:nvSpPr>
        <p:spPr>
          <a:xfrm>
            <a:off x="7772400" y="4796028"/>
            <a:ext cx="914400" cy="228600"/>
          </a:xfrm>
          <a:prstGeom prst="rect">
            <a:avLst/>
          </a:prstGeom>
          <a:noFill/>
          <a:ln/>
        </p:spPr>
        <p:txBody>
          <a:bodyPr wrap="square" lIns="0" tIns="0" rIns="0" bIns="0" rtlCol="0" anchor="ctr"/>
          <a:lstStyle/>
          <a:p>
            <a:pPr algn="r" indent="0" marL="0">
              <a:buNone/>
            </a:pPr>
            <a:r>
              <a:rPr lang="en-US" sz="900" dirty="0">
                <a:solidFill>
                  <a:srgbClr val="5B6B7F"/>
                </a:solidFill>
                <a:latin typeface="Calibri" pitchFamily="34" charset="0"/>
                <a:ea typeface="Calibri" pitchFamily="34" charset="-122"/>
                <a:cs typeface="Calibri" pitchFamily="34" charset="-120"/>
              </a:rPr>
              <a:t>3</a:t>
            </a:r>
            <a:endParaRPr lang="en-US" sz="900" dirty="0"/>
          </a:p>
        </p:txBody>
      </p:sp>
      <p:sp>
        <p:nvSpPr>
          <p:cNvPr id="5" name="Text 3"/>
          <p:cNvSpPr txBox="1"/>
          <p:nvPr/>
        </p:nvSpPr>
        <p:spPr>
          <a:xfrm>
            <a:off x="457200" y="1042416"/>
            <a:ext cx="8229600" cy="411480"/>
          </a:xfrm>
          <a:prstGeom prst="rect">
            <a:avLst/>
          </a:prstGeom>
          <a:noFill/>
          <a:ln/>
        </p:spPr>
        <p:txBody>
          <a:bodyPr wrap="square" lIns="0" tIns="0" rIns="0" bIns="0" rtlCol="0" anchor="ctr"/>
          <a:lstStyle/>
          <a:p>
            <a:pPr indent="0" marL="0">
              <a:buNone/>
            </a:pPr>
            <a:r>
              <a:rPr lang="en-US" sz="1200" dirty="0">
                <a:solidFill>
                  <a:srgbClr val="14213D"/>
                </a:solidFill>
                <a:latin typeface="Calibri" pitchFamily="34" charset="0"/>
                <a:ea typeface="Calibri" pitchFamily="34" charset="-122"/>
                <a:cs typeface="Calibri" pitchFamily="34" charset="-120"/>
              </a:rPr>
              <a:t>Datasheet numbers fall into five families. Knowing which family a parameter belongs to tells you when it will bite you.</a:t>
            </a:r>
            <a:endParaRPr lang="en-US" sz="1200" dirty="0"/>
          </a:p>
        </p:txBody>
      </p:sp>
      <p:sp>
        <p:nvSpPr>
          <p:cNvPr id="6" name="Shape 4"/>
          <p:cNvSpPr/>
          <p:nvPr/>
        </p:nvSpPr>
        <p:spPr>
          <a:xfrm>
            <a:off x="457200" y="1545336"/>
            <a:ext cx="1528877" cy="3108960"/>
          </a:xfrm>
          <a:prstGeom prst="roundRect">
            <a:avLst>
              <a:gd name="adj" fmla="val 4785"/>
            </a:avLst>
          </a:prstGeom>
          <a:solidFill>
            <a:srgbClr val="EEF3F8"/>
          </a:solidFill>
          <a:ln w="12700">
            <a:solidFill>
              <a:srgbClr val="EEF3F8"/>
            </a:solidFill>
            <a:prstDash val="solid"/>
          </a:ln>
        </p:spPr>
      </p:sp>
      <p:sp>
        <p:nvSpPr>
          <p:cNvPr id="7" name="Shape 5"/>
          <p:cNvSpPr/>
          <p:nvPr/>
        </p:nvSpPr>
        <p:spPr>
          <a:xfrm>
            <a:off x="457200" y="1545336"/>
            <a:ext cx="1528877" cy="384048"/>
          </a:xfrm>
          <a:prstGeom prst="roundRect">
            <a:avLst>
              <a:gd name="adj" fmla="val 19048"/>
            </a:avLst>
          </a:prstGeom>
          <a:solidFill>
            <a:srgbClr val="0B1F3A"/>
          </a:solidFill>
          <a:ln w="12700">
            <a:solidFill>
              <a:srgbClr val="0B1F3A"/>
            </a:solidFill>
            <a:prstDash val="solid"/>
          </a:ln>
        </p:spPr>
      </p:sp>
      <p:sp>
        <p:nvSpPr>
          <p:cNvPr id="8" name="Text 6"/>
          <p:cNvSpPr txBox="1"/>
          <p:nvPr/>
        </p:nvSpPr>
        <p:spPr>
          <a:xfrm>
            <a:off x="457200" y="1545336"/>
            <a:ext cx="1528877"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Static (DC)</a:t>
            </a:r>
            <a:endParaRPr lang="en-US" sz="1100" dirty="0"/>
          </a:p>
        </p:txBody>
      </p:sp>
      <p:sp>
        <p:nvSpPr>
          <p:cNvPr id="9" name="Text 7"/>
          <p:cNvSpPr txBox="1"/>
          <p:nvPr/>
        </p:nvSpPr>
        <p:spPr>
          <a:xfrm>
            <a:off x="548640" y="1984248"/>
            <a:ext cx="1345997" cy="457200"/>
          </a:xfrm>
          <a:prstGeom prst="rect">
            <a:avLst/>
          </a:prstGeom>
          <a:noFill/>
          <a:ln/>
        </p:spPr>
        <p:txBody>
          <a:bodyPr wrap="square" lIns="0" tIns="0" rIns="0" bIns="0" rtlCol="0" anchor="t"/>
          <a:lstStyle/>
          <a:p>
            <a:pPr indent="0" marL="0">
              <a:buNone/>
            </a:pPr>
            <a:r>
              <a:rPr lang="en-US" sz="850" i="1" dirty="0">
                <a:solidFill>
                  <a:srgbClr val="5B6B7F"/>
                </a:solidFill>
                <a:latin typeface="Calibri" pitchFamily="34" charset="0"/>
                <a:ea typeface="Calibri" pitchFamily="34" charset="-122"/>
                <a:cs typeface="Calibri" pitchFamily="34" charset="-120"/>
              </a:rPr>
              <a:t>Measuring slow or steady voltages</a:t>
            </a:r>
            <a:endParaRPr lang="en-US" sz="850" dirty="0"/>
          </a:p>
        </p:txBody>
      </p:sp>
      <p:sp>
        <p:nvSpPr>
          <p:cNvPr id="10" name="Text 8"/>
          <p:cNvSpPr txBox="1"/>
          <p:nvPr/>
        </p:nvSpPr>
        <p:spPr>
          <a:xfrm>
            <a:off x="548640" y="2459736"/>
            <a:ext cx="1345997" cy="2103120"/>
          </a:xfrm>
          <a:prstGeom prst="rect">
            <a:avLst/>
          </a:prstGeom>
          <a:noFill/>
          <a:ln/>
        </p:spPr>
        <p:txBody>
          <a:bodyPr wrap="square" lIns="0" tIns="0" rIns="0" bIns="0" rtlCol="0" anchor="t"/>
          <a:lstStyle/>
          <a:p>
            <a:pPr marL="342900" indent="-342900">
              <a:spcAft>
                <a:spcPts val="100"/>
              </a:spcAft>
              <a:buSzPct val="100000"/>
              <a:buChar char="•"/>
            </a:pPr>
            <a:r>
              <a:rPr lang="en-US" sz="850" dirty="0">
                <a:solidFill>
                  <a:srgbClr val="14213D"/>
                </a:solidFill>
                <a:latin typeface="Calibri" pitchFamily="34" charset="0"/>
                <a:ea typeface="Calibri" pitchFamily="34" charset="-122"/>
                <a:cs typeface="Calibri" pitchFamily="34" charset="-120"/>
              </a:rPr>
              <a:t>Resolution N</a:t>
            </a:r>
            <a:endParaRPr lang="en-US" sz="850" dirty="0"/>
          </a:p>
          <a:p>
            <a:pPr marL="342900" indent="-342900">
              <a:spcAft>
                <a:spcPts val="100"/>
              </a:spcAft>
              <a:buSzPct val="100000"/>
              <a:buChar char="•"/>
            </a:pPr>
            <a:r>
              <a:rPr lang="en-US" sz="850" dirty="0">
                <a:solidFill>
                  <a:srgbClr val="14213D"/>
                </a:solidFill>
                <a:latin typeface="Calibri" pitchFamily="34" charset="0"/>
                <a:ea typeface="Calibri" pitchFamily="34" charset="-122"/>
                <a:cs typeface="Calibri" pitchFamily="34" charset="-120"/>
              </a:rPr>
              <a:t>Full-scale range</a:t>
            </a:r>
            <a:endParaRPr lang="en-US" sz="850" dirty="0"/>
          </a:p>
          <a:p>
            <a:pPr marL="342900" indent="-342900">
              <a:spcAft>
                <a:spcPts val="100"/>
              </a:spcAft>
              <a:buSzPct val="100000"/>
              <a:buChar char="•"/>
            </a:pPr>
            <a:r>
              <a:rPr lang="en-US" sz="850" dirty="0">
                <a:solidFill>
                  <a:srgbClr val="14213D"/>
                </a:solidFill>
                <a:latin typeface="Calibri" pitchFamily="34" charset="0"/>
                <a:ea typeface="Calibri" pitchFamily="34" charset="-122"/>
                <a:cs typeface="Calibri" pitchFamily="34" charset="-120"/>
              </a:rPr>
              <a:t>LSB</a:t>
            </a:r>
            <a:endParaRPr lang="en-US" sz="850" dirty="0"/>
          </a:p>
          <a:p>
            <a:pPr marL="342900" indent="-342900">
              <a:spcAft>
                <a:spcPts val="100"/>
              </a:spcAft>
              <a:buSzPct val="100000"/>
              <a:buChar char="•"/>
            </a:pPr>
            <a:r>
              <a:rPr lang="en-US" sz="850" dirty="0">
                <a:solidFill>
                  <a:srgbClr val="14213D"/>
                </a:solidFill>
                <a:latin typeface="Calibri" pitchFamily="34" charset="0"/>
                <a:ea typeface="Calibri" pitchFamily="34" charset="-122"/>
                <a:cs typeface="Calibri" pitchFamily="34" charset="-120"/>
              </a:rPr>
              <a:t>Offset error</a:t>
            </a:r>
            <a:endParaRPr lang="en-US" sz="850" dirty="0"/>
          </a:p>
          <a:p>
            <a:pPr marL="342900" indent="-342900">
              <a:spcAft>
                <a:spcPts val="100"/>
              </a:spcAft>
              <a:buSzPct val="100000"/>
              <a:buChar char="•"/>
            </a:pPr>
            <a:r>
              <a:rPr lang="en-US" sz="850" dirty="0">
                <a:solidFill>
                  <a:srgbClr val="14213D"/>
                </a:solidFill>
                <a:latin typeface="Calibri" pitchFamily="34" charset="0"/>
                <a:ea typeface="Calibri" pitchFamily="34" charset="-122"/>
                <a:cs typeface="Calibri" pitchFamily="34" charset="-120"/>
              </a:rPr>
              <a:t>Gain error</a:t>
            </a:r>
            <a:endParaRPr lang="en-US" sz="850" dirty="0"/>
          </a:p>
          <a:p>
            <a:pPr marL="342900" indent="-342900">
              <a:spcAft>
                <a:spcPts val="100"/>
              </a:spcAft>
              <a:buSzPct val="100000"/>
              <a:buChar char="•"/>
            </a:pPr>
            <a:r>
              <a:rPr lang="en-US" sz="850" dirty="0">
                <a:solidFill>
                  <a:srgbClr val="14213D"/>
                </a:solidFill>
                <a:latin typeface="Calibri" pitchFamily="34" charset="0"/>
                <a:ea typeface="Calibri" pitchFamily="34" charset="-122"/>
                <a:cs typeface="Calibri" pitchFamily="34" charset="-120"/>
              </a:rPr>
              <a:t>DNL</a:t>
            </a:r>
            <a:endParaRPr lang="en-US" sz="850" dirty="0"/>
          </a:p>
          <a:p>
            <a:pPr marL="342900" indent="-342900">
              <a:spcAft>
                <a:spcPts val="100"/>
              </a:spcAft>
              <a:buSzPct val="100000"/>
              <a:buChar char="•"/>
            </a:pPr>
            <a:r>
              <a:rPr lang="en-US" sz="850" dirty="0">
                <a:solidFill>
                  <a:srgbClr val="14213D"/>
                </a:solidFill>
                <a:latin typeface="Calibri" pitchFamily="34" charset="0"/>
                <a:ea typeface="Calibri" pitchFamily="34" charset="-122"/>
                <a:cs typeface="Calibri" pitchFamily="34" charset="-120"/>
              </a:rPr>
              <a:t>INL</a:t>
            </a:r>
            <a:endParaRPr lang="en-US" sz="850" dirty="0"/>
          </a:p>
          <a:p>
            <a:pPr marL="342900" indent="-342900">
              <a:spcAft>
                <a:spcPts val="100"/>
              </a:spcAft>
              <a:buSzPct val="100000"/>
              <a:buChar char="•"/>
            </a:pPr>
            <a:r>
              <a:rPr lang="en-US" sz="850" dirty="0">
                <a:solidFill>
                  <a:srgbClr val="14213D"/>
                </a:solidFill>
                <a:latin typeface="Calibri" pitchFamily="34" charset="0"/>
                <a:ea typeface="Calibri" pitchFamily="34" charset="-122"/>
                <a:cs typeface="Calibri" pitchFamily="34" charset="-120"/>
              </a:rPr>
              <a:t>Missing codes</a:t>
            </a:r>
            <a:endParaRPr lang="en-US" sz="850" dirty="0"/>
          </a:p>
          <a:p>
            <a:pPr marL="342900" indent="-342900">
              <a:spcAft>
                <a:spcPts val="100"/>
              </a:spcAft>
              <a:buSzPct val="100000"/>
              <a:buChar char="•"/>
            </a:pPr>
            <a:r>
              <a:rPr lang="en-US" sz="850" dirty="0">
                <a:solidFill>
                  <a:srgbClr val="14213D"/>
                </a:solidFill>
                <a:latin typeface="Calibri" pitchFamily="34" charset="0"/>
                <a:ea typeface="Calibri" pitchFamily="34" charset="-122"/>
                <a:cs typeface="Calibri" pitchFamily="34" charset="-120"/>
              </a:rPr>
              <a:t>Monotonicity</a:t>
            </a:r>
            <a:endParaRPr lang="en-US" sz="850" dirty="0"/>
          </a:p>
          <a:p>
            <a:pPr marL="342900" indent="-342900">
              <a:spcAft>
                <a:spcPts val="100"/>
              </a:spcAft>
              <a:buSzPct val="100000"/>
              <a:buChar char="•"/>
            </a:pPr>
            <a:r>
              <a:rPr lang="en-US" sz="850" dirty="0">
                <a:solidFill>
                  <a:srgbClr val="14213D"/>
                </a:solidFill>
                <a:latin typeface="Calibri" pitchFamily="34" charset="0"/>
                <a:ea typeface="Calibri" pitchFamily="34" charset="-122"/>
                <a:cs typeface="Calibri" pitchFamily="34" charset="-120"/>
              </a:rPr>
              <a:t>TUE</a:t>
            </a:r>
            <a:endParaRPr lang="en-US" sz="850" dirty="0"/>
          </a:p>
          <a:p>
            <a:pPr marL="342900" indent="-342900">
              <a:spcAft>
                <a:spcPts val="100"/>
              </a:spcAft>
              <a:buSzPct val="100000"/>
              <a:buChar char="•"/>
            </a:pPr>
            <a:r>
              <a:rPr lang="en-US" sz="850" dirty="0">
                <a:solidFill>
                  <a:srgbClr val="14213D"/>
                </a:solidFill>
                <a:latin typeface="Calibri" pitchFamily="34" charset="0"/>
                <a:ea typeface="Calibri" pitchFamily="34" charset="-122"/>
                <a:cs typeface="Calibri" pitchFamily="34" charset="-120"/>
              </a:rPr>
              <a:t>Drift</a:t>
            </a:r>
            <a:endParaRPr lang="en-US" sz="850" dirty="0"/>
          </a:p>
          <a:p>
            <a:pPr marL="342900" indent="-342900">
              <a:spcAft>
                <a:spcPts val="100"/>
              </a:spcAft>
              <a:buSzPct val="100000"/>
              <a:buChar char="•"/>
            </a:pPr>
            <a:r>
              <a:rPr lang="en-US" sz="850" dirty="0">
                <a:solidFill>
                  <a:srgbClr val="14213D"/>
                </a:solidFill>
                <a:latin typeface="Calibri" pitchFamily="34" charset="0"/>
                <a:ea typeface="Calibri" pitchFamily="34" charset="-122"/>
                <a:cs typeface="Calibri" pitchFamily="34" charset="-120"/>
              </a:rPr>
              <a:t>PSRR</a:t>
            </a:r>
            <a:endParaRPr lang="en-US" sz="850" dirty="0"/>
          </a:p>
          <a:p>
            <a:pPr marL="342900" indent="-342900">
              <a:spcAft>
                <a:spcPts val="100"/>
              </a:spcAft>
              <a:buSzPct val="100000"/>
              <a:buChar char="•"/>
            </a:pPr>
            <a:r>
              <a:rPr lang="en-US" sz="850" dirty="0">
                <a:solidFill>
                  <a:srgbClr val="14213D"/>
                </a:solidFill>
                <a:latin typeface="Calibri" pitchFamily="34" charset="0"/>
                <a:ea typeface="Calibri" pitchFamily="34" charset="-122"/>
                <a:cs typeface="Calibri" pitchFamily="34" charset="-120"/>
              </a:rPr>
              <a:t>CMRR</a:t>
            </a:r>
            <a:endParaRPr lang="en-US" sz="850" dirty="0"/>
          </a:p>
        </p:txBody>
      </p:sp>
      <p:sp>
        <p:nvSpPr>
          <p:cNvPr id="11" name="Shape 9"/>
          <p:cNvSpPr/>
          <p:nvPr/>
        </p:nvSpPr>
        <p:spPr>
          <a:xfrm>
            <a:off x="2132381" y="1545336"/>
            <a:ext cx="1528877" cy="3108960"/>
          </a:xfrm>
          <a:prstGeom prst="roundRect">
            <a:avLst>
              <a:gd name="adj" fmla="val 4785"/>
            </a:avLst>
          </a:prstGeom>
          <a:solidFill>
            <a:srgbClr val="EEF3F8"/>
          </a:solidFill>
          <a:ln w="12700">
            <a:solidFill>
              <a:srgbClr val="EEF3F8"/>
            </a:solidFill>
            <a:prstDash val="solid"/>
          </a:ln>
        </p:spPr>
      </p:sp>
      <p:sp>
        <p:nvSpPr>
          <p:cNvPr id="12" name="Shape 10"/>
          <p:cNvSpPr/>
          <p:nvPr/>
        </p:nvSpPr>
        <p:spPr>
          <a:xfrm>
            <a:off x="2132381" y="1545336"/>
            <a:ext cx="1528877" cy="384048"/>
          </a:xfrm>
          <a:prstGeom prst="roundRect">
            <a:avLst>
              <a:gd name="adj" fmla="val 19048"/>
            </a:avLst>
          </a:prstGeom>
          <a:solidFill>
            <a:srgbClr val="0B1F3A"/>
          </a:solidFill>
          <a:ln w="12700">
            <a:solidFill>
              <a:srgbClr val="0B1F3A"/>
            </a:solidFill>
            <a:prstDash val="solid"/>
          </a:ln>
        </p:spPr>
      </p:sp>
      <p:sp>
        <p:nvSpPr>
          <p:cNvPr id="13" name="Text 11"/>
          <p:cNvSpPr txBox="1"/>
          <p:nvPr/>
        </p:nvSpPr>
        <p:spPr>
          <a:xfrm>
            <a:off x="2132381" y="1545336"/>
            <a:ext cx="1528877"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Dynamic (AC)</a:t>
            </a:r>
            <a:endParaRPr lang="en-US" sz="1100" dirty="0"/>
          </a:p>
        </p:txBody>
      </p:sp>
      <p:sp>
        <p:nvSpPr>
          <p:cNvPr id="14" name="Text 12"/>
          <p:cNvSpPr txBox="1"/>
          <p:nvPr/>
        </p:nvSpPr>
        <p:spPr>
          <a:xfrm>
            <a:off x="2223821" y="1984248"/>
            <a:ext cx="1345997" cy="457200"/>
          </a:xfrm>
          <a:prstGeom prst="rect">
            <a:avLst/>
          </a:prstGeom>
          <a:noFill/>
          <a:ln/>
        </p:spPr>
        <p:txBody>
          <a:bodyPr wrap="square" lIns="0" tIns="0" rIns="0" bIns="0" rtlCol="0" anchor="t"/>
          <a:lstStyle/>
          <a:p>
            <a:pPr indent="0" marL="0">
              <a:buNone/>
            </a:pPr>
            <a:r>
              <a:rPr lang="en-US" sz="850" i="1" dirty="0">
                <a:solidFill>
                  <a:srgbClr val="5B6B7F"/>
                </a:solidFill>
                <a:latin typeface="Calibri" pitchFamily="34" charset="0"/>
                <a:ea typeface="Calibri" pitchFamily="34" charset="-122"/>
                <a:cs typeface="Calibri" pitchFamily="34" charset="-120"/>
              </a:rPr>
              <a:t>Any signal that moves: radio, audio, vibration</a:t>
            </a:r>
            <a:endParaRPr lang="en-US" sz="850" dirty="0"/>
          </a:p>
        </p:txBody>
      </p:sp>
      <p:sp>
        <p:nvSpPr>
          <p:cNvPr id="15" name="Text 13"/>
          <p:cNvSpPr txBox="1"/>
          <p:nvPr/>
        </p:nvSpPr>
        <p:spPr>
          <a:xfrm>
            <a:off x="2223821" y="2459736"/>
            <a:ext cx="1345997" cy="2103120"/>
          </a:xfrm>
          <a:prstGeom prst="rect">
            <a:avLst/>
          </a:prstGeom>
          <a:noFill/>
          <a:ln/>
        </p:spPr>
        <p:txBody>
          <a:bodyPr wrap="square" lIns="0" tIns="0" rIns="0" bIns="0" rtlCol="0" anchor="t"/>
          <a:lstStyle/>
          <a:p>
            <a:pPr marL="342900" indent="-342900">
              <a:spcAft>
                <a:spcPts val="100"/>
              </a:spcAft>
              <a:buSzPct val="100000"/>
              <a:buChar char="•"/>
            </a:pPr>
            <a:r>
              <a:rPr lang="en-US" sz="850" dirty="0">
                <a:solidFill>
                  <a:srgbClr val="14213D"/>
                </a:solidFill>
                <a:latin typeface="Calibri" pitchFamily="34" charset="0"/>
                <a:ea typeface="Calibri" pitchFamily="34" charset="-122"/>
                <a:cs typeface="Calibri" pitchFamily="34" charset="-120"/>
              </a:rPr>
              <a:t>SNR</a:t>
            </a:r>
            <a:endParaRPr lang="en-US" sz="850" dirty="0"/>
          </a:p>
          <a:p>
            <a:pPr marL="342900" indent="-342900">
              <a:spcAft>
                <a:spcPts val="100"/>
              </a:spcAft>
              <a:buSzPct val="100000"/>
              <a:buChar char="•"/>
            </a:pPr>
            <a:r>
              <a:rPr lang="en-US" sz="850" dirty="0">
                <a:solidFill>
                  <a:srgbClr val="14213D"/>
                </a:solidFill>
                <a:latin typeface="Calibri" pitchFamily="34" charset="0"/>
                <a:ea typeface="Calibri" pitchFamily="34" charset="-122"/>
                <a:cs typeface="Calibri" pitchFamily="34" charset="-120"/>
              </a:rPr>
              <a:t>THD</a:t>
            </a:r>
            <a:endParaRPr lang="en-US" sz="850" dirty="0"/>
          </a:p>
          <a:p>
            <a:pPr marL="342900" indent="-342900">
              <a:spcAft>
                <a:spcPts val="100"/>
              </a:spcAft>
              <a:buSzPct val="100000"/>
              <a:buChar char="•"/>
            </a:pPr>
            <a:r>
              <a:rPr lang="en-US" sz="850" dirty="0">
                <a:solidFill>
                  <a:srgbClr val="14213D"/>
                </a:solidFill>
                <a:latin typeface="Calibri" pitchFamily="34" charset="0"/>
                <a:ea typeface="Calibri" pitchFamily="34" charset="-122"/>
                <a:cs typeface="Calibri" pitchFamily="34" charset="-120"/>
              </a:rPr>
              <a:t>HD2 / HD3</a:t>
            </a:r>
            <a:endParaRPr lang="en-US" sz="850" dirty="0"/>
          </a:p>
          <a:p>
            <a:pPr marL="342900" indent="-342900">
              <a:spcAft>
                <a:spcPts val="100"/>
              </a:spcAft>
              <a:buSzPct val="100000"/>
              <a:buChar char="•"/>
            </a:pPr>
            <a:r>
              <a:rPr lang="en-US" sz="850" dirty="0">
                <a:solidFill>
                  <a:srgbClr val="14213D"/>
                </a:solidFill>
                <a:latin typeface="Calibri" pitchFamily="34" charset="0"/>
                <a:ea typeface="Calibri" pitchFamily="34" charset="-122"/>
                <a:cs typeface="Calibri" pitchFamily="34" charset="-120"/>
              </a:rPr>
              <a:t>SINAD</a:t>
            </a:r>
            <a:endParaRPr lang="en-US" sz="850" dirty="0"/>
          </a:p>
          <a:p>
            <a:pPr marL="342900" indent="-342900">
              <a:spcAft>
                <a:spcPts val="100"/>
              </a:spcAft>
              <a:buSzPct val="100000"/>
              <a:buChar char="•"/>
            </a:pPr>
            <a:r>
              <a:rPr lang="en-US" sz="850" dirty="0">
                <a:solidFill>
                  <a:srgbClr val="14213D"/>
                </a:solidFill>
                <a:latin typeface="Calibri" pitchFamily="34" charset="0"/>
                <a:ea typeface="Calibri" pitchFamily="34" charset="-122"/>
                <a:cs typeface="Calibri" pitchFamily="34" charset="-120"/>
              </a:rPr>
              <a:t>ENOB</a:t>
            </a:r>
            <a:endParaRPr lang="en-US" sz="850" dirty="0"/>
          </a:p>
          <a:p>
            <a:pPr marL="342900" indent="-342900">
              <a:spcAft>
                <a:spcPts val="100"/>
              </a:spcAft>
              <a:buSzPct val="100000"/>
              <a:buChar char="•"/>
            </a:pPr>
            <a:r>
              <a:rPr lang="en-US" sz="850" dirty="0">
                <a:solidFill>
                  <a:srgbClr val="14213D"/>
                </a:solidFill>
                <a:latin typeface="Calibri" pitchFamily="34" charset="0"/>
                <a:ea typeface="Calibri" pitchFamily="34" charset="-122"/>
                <a:cs typeface="Calibri" pitchFamily="34" charset="-120"/>
              </a:rPr>
              <a:t>SFDR</a:t>
            </a:r>
            <a:endParaRPr lang="en-US" sz="850" dirty="0"/>
          </a:p>
          <a:p>
            <a:pPr marL="342900" indent="-342900">
              <a:spcAft>
                <a:spcPts val="100"/>
              </a:spcAft>
              <a:buSzPct val="100000"/>
              <a:buChar char="•"/>
            </a:pPr>
            <a:r>
              <a:rPr lang="en-US" sz="850" dirty="0">
                <a:solidFill>
                  <a:srgbClr val="14213D"/>
                </a:solidFill>
                <a:latin typeface="Calibri" pitchFamily="34" charset="0"/>
                <a:ea typeface="Calibri" pitchFamily="34" charset="-122"/>
                <a:cs typeface="Calibri" pitchFamily="34" charset="-120"/>
              </a:rPr>
              <a:t>IMD</a:t>
            </a:r>
            <a:endParaRPr lang="en-US" sz="850" dirty="0"/>
          </a:p>
          <a:p>
            <a:pPr marL="342900" indent="-342900">
              <a:spcAft>
                <a:spcPts val="100"/>
              </a:spcAft>
              <a:buSzPct val="100000"/>
              <a:buChar char="•"/>
            </a:pPr>
            <a:r>
              <a:rPr lang="en-US" sz="850" dirty="0">
                <a:solidFill>
                  <a:srgbClr val="14213D"/>
                </a:solidFill>
                <a:latin typeface="Calibri" pitchFamily="34" charset="0"/>
                <a:ea typeface="Calibri" pitchFamily="34" charset="-122"/>
                <a:cs typeface="Calibri" pitchFamily="34" charset="-120"/>
              </a:rPr>
              <a:t>Input-referred noise</a:t>
            </a:r>
            <a:endParaRPr lang="en-US" sz="850" dirty="0"/>
          </a:p>
          <a:p>
            <a:pPr marL="342900" indent="-342900">
              <a:spcAft>
                <a:spcPts val="100"/>
              </a:spcAft>
              <a:buSzPct val="100000"/>
              <a:buChar char="•"/>
            </a:pPr>
            <a:r>
              <a:rPr lang="en-US" sz="850" dirty="0">
                <a:solidFill>
                  <a:srgbClr val="14213D"/>
                </a:solidFill>
                <a:latin typeface="Calibri" pitchFamily="34" charset="0"/>
                <a:ea typeface="Calibri" pitchFamily="34" charset="-122"/>
                <a:cs typeface="Calibri" pitchFamily="34" charset="-120"/>
              </a:rPr>
              <a:t>Noise-free bits</a:t>
            </a:r>
            <a:endParaRPr lang="en-US" sz="850" dirty="0"/>
          </a:p>
          <a:p>
            <a:pPr marL="342900" indent="-342900">
              <a:spcAft>
                <a:spcPts val="100"/>
              </a:spcAft>
              <a:buSzPct val="100000"/>
              <a:buChar char="•"/>
            </a:pPr>
            <a:r>
              <a:rPr lang="en-US" sz="850" dirty="0">
                <a:solidFill>
                  <a:srgbClr val="14213D"/>
                </a:solidFill>
                <a:latin typeface="Calibri" pitchFamily="34" charset="0"/>
                <a:ea typeface="Calibri" pitchFamily="34" charset="-122"/>
                <a:cs typeface="Calibri" pitchFamily="34" charset="-120"/>
              </a:rPr>
              <a:t>Dynamic range</a:t>
            </a:r>
            <a:endParaRPr lang="en-US" sz="850" dirty="0"/>
          </a:p>
        </p:txBody>
      </p:sp>
      <p:sp>
        <p:nvSpPr>
          <p:cNvPr id="16" name="Shape 14"/>
          <p:cNvSpPr/>
          <p:nvPr/>
        </p:nvSpPr>
        <p:spPr>
          <a:xfrm>
            <a:off x="3807562" y="1545336"/>
            <a:ext cx="1528877" cy="3108960"/>
          </a:xfrm>
          <a:prstGeom prst="roundRect">
            <a:avLst>
              <a:gd name="adj" fmla="val 4785"/>
            </a:avLst>
          </a:prstGeom>
          <a:solidFill>
            <a:srgbClr val="EEF3F8"/>
          </a:solidFill>
          <a:ln w="12700">
            <a:solidFill>
              <a:srgbClr val="EEF3F8"/>
            </a:solidFill>
            <a:prstDash val="solid"/>
          </a:ln>
        </p:spPr>
      </p:sp>
      <p:sp>
        <p:nvSpPr>
          <p:cNvPr id="17" name="Shape 15"/>
          <p:cNvSpPr/>
          <p:nvPr/>
        </p:nvSpPr>
        <p:spPr>
          <a:xfrm>
            <a:off x="3807562" y="1545336"/>
            <a:ext cx="1528877" cy="384048"/>
          </a:xfrm>
          <a:prstGeom prst="roundRect">
            <a:avLst>
              <a:gd name="adj" fmla="val 19048"/>
            </a:avLst>
          </a:prstGeom>
          <a:solidFill>
            <a:srgbClr val="0B1F3A"/>
          </a:solidFill>
          <a:ln w="12700">
            <a:solidFill>
              <a:srgbClr val="0B1F3A"/>
            </a:solidFill>
            <a:prstDash val="solid"/>
          </a:ln>
        </p:spPr>
      </p:sp>
      <p:sp>
        <p:nvSpPr>
          <p:cNvPr id="18" name="Text 16"/>
          <p:cNvSpPr txBox="1"/>
          <p:nvPr/>
        </p:nvSpPr>
        <p:spPr>
          <a:xfrm>
            <a:off x="3807562" y="1545336"/>
            <a:ext cx="1528877"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Timing</a:t>
            </a:r>
            <a:endParaRPr lang="en-US" sz="1100" dirty="0"/>
          </a:p>
        </p:txBody>
      </p:sp>
      <p:sp>
        <p:nvSpPr>
          <p:cNvPr id="19" name="Text 17"/>
          <p:cNvSpPr txBox="1"/>
          <p:nvPr/>
        </p:nvSpPr>
        <p:spPr>
          <a:xfrm>
            <a:off x="3899002" y="1984248"/>
            <a:ext cx="1345997" cy="457200"/>
          </a:xfrm>
          <a:prstGeom prst="rect">
            <a:avLst/>
          </a:prstGeom>
          <a:noFill/>
          <a:ln/>
        </p:spPr>
        <p:txBody>
          <a:bodyPr wrap="square" lIns="0" tIns="0" rIns="0" bIns="0" rtlCol="0" anchor="t"/>
          <a:lstStyle/>
          <a:p>
            <a:pPr indent="0" marL="0">
              <a:buNone/>
            </a:pPr>
            <a:r>
              <a:rPr lang="en-US" sz="850" i="1" dirty="0">
                <a:solidFill>
                  <a:srgbClr val="5B6B7F"/>
                </a:solidFill>
                <a:latin typeface="Calibri" pitchFamily="34" charset="0"/>
                <a:ea typeface="Calibri" pitchFamily="34" charset="-122"/>
                <a:cs typeface="Calibri" pitchFamily="34" charset="-120"/>
              </a:rPr>
              <a:t>Fast inputs, control loops, interleaving</a:t>
            </a:r>
            <a:endParaRPr lang="en-US" sz="850" dirty="0"/>
          </a:p>
        </p:txBody>
      </p:sp>
      <p:sp>
        <p:nvSpPr>
          <p:cNvPr id="20" name="Text 18"/>
          <p:cNvSpPr txBox="1"/>
          <p:nvPr/>
        </p:nvSpPr>
        <p:spPr>
          <a:xfrm>
            <a:off x="3899002" y="2459736"/>
            <a:ext cx="1345997" cy="2103120"/>
          </a:xfrm>
          <a:prstGeom prst="rect">
            <a:avLst/>
          </a:prstGeom>
          <a:noFill/>
          <a:ln/>
        </p:spPr>
        <p:txBody>
          <a:bodyPr wrap="square" lIns="0" tIns="0" rIns="0" bIns="0" rtlCol="0" anchor="t"/>
          <a:lstStyle/>
          <a:p>
            <a:pPr marL="342900" indent="-342900">
              <a:spcAft>
                <a:spcPts val="100"/>
              </a:spcAft>
              <a:buSzPct val="100000"/>
              <a:buChar char="•"/>
            </a:pPr>
            <a:r>
              <a:rPr lang="en-US" sz="850" dirty="0">
                <a:solidFill>
                  <a:srgbClr val="14213D"/>
                </a:solidFill>
                <a:latin typeface="Calibri" pitchFamily="34" charset="0"/>
                <a:ea typeface="Calibri" pitchFamily="34" charset="-122"/>
                <a:cs typeface="Calibri" pitchFamily="34" charset="-120"/>
              </a:rPr>
              <a:t>Sample rate</a:t>
            </a:r>
            <a:endParaRPr lang="en-US" sz="850" dirty="0"/>
          </a:p>
          <a:p>
            <a:pPr marL="342900" indent="-342900">
              <a:spcAft>
                <a:spcPts val="100"/>
              </a:spcAft>
              <a:buSzPct val="100000"/>
              <a:buChar char="•"/>
            </a:pPr>
            <a:r>
              <a:rPr lang="en-US" sz="850" dirty="0">
                <a:solidFill>
                  <a:srgbClr val="14213D"/>
                </a:solidFill>
                <a:latin typeface="Calibri" pitchFamily="34" charset="0"/>
                <a:ea typeface="Calibri" pitchFamily="34" charset="-122"/>
                <a:cs typeface="Calibri" pitchFamily="34" charset="-120"/>
              </a:rPr>
              <a:t>Conversion time</a:t>
            </a:r>
            <a:endParaRPr lang="en-US" sz="850" dirty="0"/>
          </a:p>
          <a:p>
            <a:pPr marL="342900" indent="-342900">
              <a:spcAft>
                <a:spcPts val="100"/>
              </a:spcAft>
              <a:buSzPct val="100000"/>
              <a:buChar char="•"/>
            </a:pPr>
            <a:r>
              <a:rPr lang="en-US" sz="850" dirty="0">
                <a:solidFill>
                  <a:srgbClr val="14213D"/>
                </a:solidFill>
                <a:latin typeface="Calibri" pitchFamily="34" charset="0"/>
                <a:ea typeface="Calibri" pitchFamily="34" charset="-122"/>
                <a:cs typeface="Calibri" pitchFamily="34" charset="-120"/>
              </a:rPr>
              <a:t>Latency</a:t>
            </a:r>
            <a:endParaRPr lang="en-US" sz="850" dirty="0"/>
          </a:p>
          <a:p>
            <a:pPr marL="342900" indent="-342900">
              <a:spcAft>
                <a:spcPts val="100"/>
              </a:spcAft>
              <a:buSzPct val="100000"/>
              <a:buChar char="•"/>
            </a:pPr>
            <a:r>
              <a:rPr lang="en-US" sz="850" dirty="0">
                <a:solidFill>
                  <a:srgbClr val="14213D"/>
                </a:solidFill>
                <a:latin typeface="Calibri" pitchFamily="34" charset="0"/>
                <a:ea typeface="Calibri" pitchFamily="34" charset="-122"/>
                <a:cs typeface="Calibri" pitchFamily="34" charset="-120"/>
              </a:rPr>
              <a:t>Aperture delay</a:t>
            </a:r>
            <a:endParaRPr lang="en-US" sz="850" dirty="0"/>
          </a:p>
          <a:p>
            <a:pPr marL="342900" indent="-342900">
              <a:spcAft>
                <a:spcPts val="100"/>
              </a:spcAft>
              <a:buSzPct val="100000"/>
              <a:buChar char="•"/>
            </a:pPr>
            <a:r>
              <a:rPr lang="en-US" sz="850" dirty="0">
                <a:solidFill>
                  <a:srgbClr val="14213D"/>
                </a:solidFill>
                <a:latin typeface="Calibri" pitchFamily="34" charset="0"/>
                <a:ea typeface="Calibri" pitchFamily="34" charset="-122"/>
                <a:cs typeface="Calibri" pitchFamily="34" charset="-120"/>
              </a:rPr>
              <a:t>Aperture jitter</a:t>
            </a:r>
            <a:endParaRPr lang="en-US" sz="850" dirty="0"/>
          </a:p>
          <a:p>
            <a:pPr marL="342900" indent="-342900">
              <a:spcAft>
                <a:spcPts val="100"/>
              </a:spcAft>
              <a:buSzPct val="100000"/>
              <a:buChar char="•"/>
            </a:pPr>
            <a:r>
              <a:rPr lang="en-US" sz="850" dirty="0">
                <a:solidFill>
                  <a:srgbClr val="14213D"/>
                </a:solidFill>
                <a:latin typeface="Calibri" pitchFamily="34" charset="0"/>
                <a:ea typeface="Calibri" pitchFamily="34" charset="-122"/>
                <a:cs typeface="Calibri" pitchFamily="34" charset="-120"/>
              </a:rPr>
              <a:t>Acquisition time</a:t>
            </a:r>
            <a:endParaRPr lang="en-US" sz="850" dirty="0"/>
          </a:p>
          <a:p>
            <a:pPr marL="342900" indent="-342900">
              <a:spcAft>
                <a:spcPts val="100"/>
              </a:spcAft>
              <a:buSzPct val="100000"/>
              <a:buChar char="•"/>
            </a:pPr>
            <a:r>
              <a:rPr lang="en-US" sz="850" dirty="0">
                <a:solidFill>
                  <a:srgbClr val="14213D"/>
                </a:solidFill>
                <a:latin typeface="Calibri" pitchFamily="34" charset="0"/>
                <a:ea typeface="Calibri" pitchFamily="34" charset="-122"/>
                <a:cs typeface="Calibri" pitchFamily="34" charset="-120"/>
              </a:rPr>
              <a:t>Settling time</a:t>
            </a:r>
            <a:endParaRPr lang="en-US" sz="850" dirty="0"/>
          </a:p>
          <a:p>
            <a:pPr marL="342900" indent="-342900">
              <a:spcAft>
                <a:spcPts val="100"/>
              </a:spcAft>
              <a:buSzPct val="100000"/>
              <a:buChar char="•"/>
            </a:pPr>
            <a:r>
              <a:rPr lang="en-US" sz="850" dirty="0">
                <a:solidFill>
                  <a:srgbClr val="14213D"/>
                </a:solidFill>
                <a:latin typeface="Calibri" pitchFamily="34" charset="0"/>
                <a:ea typeface="Calibri" pitchFamily="34" charset="-122"/>
                <a:cs typeface="Calibri" pitchFamily="34" charset="-120"/>
              </a:rPr>
              <a:t>Slew rate</a:t>
            </a:r>
            <a:endParaRPr lang="en-US" sz="850" dirty="0"/>
          </a:p>
          <a:p>
            <a:pPr marL="342900" indent="-342900">
              <a:spcAft>
                <a:spcPts val="100"/>
              </a:spcAft>
              <a:buSzPct val="100000"/>
              <a:buChar char="•"/>
            </a:pPr>
            <a:r>
              <a:rPr lang="en-US" sz="850" dirty="0">
                <a:solidFill>
                  <a:srgbClr val="14213D"/>
                </a:solidFill>
                <a:latin typeface="Calibri" pitchFamily="34" charset="0"/>
                <a:ea typeface="Calibri" pitchFamily="34" charset="-122"/>
                <a:cs typeface="Calibri" pitchFamily="34" charset="-120"/>
              </a:rPr>
              <a:t>Overvoltage recovery</a:t>
            </a:r>
            <a:endParaRPr lang="en-US" sz="850" dirty="0"/>
          </a:p>
        </p:txBody>
      </p:sp>
      <p:sp>
        <p:nvSpPr>
          <p:cNvPr id="21" name="Shape 19"/>
          <p:cNvSpPr/>
          <p:nvPr/>
        </p:nvSpPr>
        <p:spPr>
          <a:xfrm>
            <a:off x="5482742" y="1545336"/>
            <a:ext cx="1528877" cy="3108960"/>
          </a:xfrm>
          <a:prstGeom prst="roundRect">
            <a:avLst>
              <a:gd name="adj" fmla="val 4785"/>
            </a:avLst>
          </a:prstGeom>
          <a:solidFill>
            <a:srgbClr val="EEF3F8"/>
          </a:solidFill>
          <a:ln w="12700">
            <a:solidFill>
              <a:srgbClr val="EEF3F8"/>
            </a:solidFill>
            <a:prstDash val="solid"/>
          </a:ln>
        </p:spPr>
      </p:sp>
      <p:sp>
        <p:nvSpPr>
          <p:cNvPr id="22" name="Shape 20"/>
          <p:cNvSpPr/>
          <p:nvPr/>
        </p:nvSpPr>
        <p:spPr>
          <a:xfrm>
            <a:off x="5482742" y="1545336"/>
            <a:ext cx="1528877" cy="384048"/>
          </a:xfrm>
          <a:prstGeom prst="roundRect">
            <a:avLst>
              <a:gd name="adj" fmla="val 19048"/>
            </a:avLst>
          </a:prstGeom>
          <a:solidFill>
            <a:srgbClr val="0B1F3A"/>
          </a:solidFill>
          <a:ln w="12700">
            <a:solidFill>
              <a:srgbClr val="0B1F3A"/>
            </a:solidFill>
            <a:prstDash val="solid"/>
          </a:ln>
        </p:spPr>
      </p:sp>
      <p:sp>
        <p:nvSpPr>
          <p:cNvPr id="23" name="Text 21"/>
          <p:cNvSpPr txBox="1"/>
          <p:nvPr/>
        </p:nvSpPr>
        <p:spPr>
          <a:xfrm>
            <a:off x="5482742" y="1545336"/>
            <a:ext cx="1528877"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Bandwidth</a:t>
            </a:r>
            <a:endParaRPr lang="en-US" sz="1100" dirty="0"/>
          </a:p>
        </p:txBody>
      </p:sp>
      <p:sp>
        <p:nvSpPr>
          <p:cNvPr id="24" name="Text 22"/>
          <p:cNvSpPr txBox="1"/>
          <p:nvPr/>
        </p:nvSpPr>
        <p:spPr>
          <a:xfrm>
            <a:off x="5574182" y="1984248"/>
            <a:ext cx="1345997" cy="457200"/>
          </a:xfrm>
          <a:prstGeom prst="rect">
            <a:avLst/>
          </a:prstGeom>
          <a:noFill/>
          <a:ln/>
        </p:spPr>
        <p:txBody>
          <a:bodyPr wrap="square" lIns="0" tIns="0" rIns="0" bIns="0" rtlCol="0" anchor="t"/>
          <a:lstStyle/>
          <a:p>
            <a:pPr indent="0" marL="0">
              <a:buNone/>
            </a:pPr>
            <a:r>
              <a:rPr lang="en-US" sz="850" i="1" dirty="0">
                <a:solidFill>
                  <a:srgbClr val="5B6B7F"/>
                </a:solidFill>
                <a:latin typeface="Calibri" pitchFamily="34" charset="0"/>
                <a:ea typeface="Calibri" pitchFamily="34" charset="-122"/>
                <a:cs typeface="Calibri" pitchFamily="34" charset="-120"/>
              </a:rPr>
              <a:t>Undersampling, wideband or high-IF work</a:t>
            </a:r>
            <a:endParaRPr lang="en-US" sz="850" dirty="0"/>
          </a:p>
        </p:txBody>
      </p:sp>
      <p:sp>
        <p:nvSpPr>
          <p:cNvPr id="25" name="Text 23"/>
          <p:cNvSpPr txBox="1"/>
          <p:nvPr/>
        </p:nvSpPr>
        <p:spPr>
          <a:xfrm>
            <a:off x="5574182" y="2459736"/>
            <a:ext cx="1345997" cy="2103120"/>
          </a:xfrm>
          <a:prstGeom prst="rect">
            <a:avLst/>
          </a:prstGeom>
          <a:noFill/>
          <a:ln/>
        </p:spPr>
        <p:txBody>
          <a:bodyPr wrap="square" lIns="0" tIns="0" rIns="0" bIns="0" rtlCol="0" anchor="t"/>
          <a:lstStyle/>
          <a:p>
            <a:pPr marL="342900" indent="-342900">
              <a:spcAft>
                <a:spcPts val="100"/>
              </a:spcAft>
              <a:buSzPct val="100000"/>
              <a:buChar char="•"/>
            </a:pPr>
            <a:r>
              <a:rPr lang="en-US" sz="850" dirty="0">
                <a:solidFill>
                  <a:srgbClr val="14213D"/>
                </a:solidFill>
                <a:latin typeface="Calibri" pitchFamily="34" charset="0"/>
                <a:ea typeface="Calibri" pitchFamily="34" charset="-122"/>
                <a:cs typeface="Calibri" pitchFamily="34" charset="-120"/>
              </a:rPr>
              <a:t>Analog bandwidth</a:t>
            </a:r>
            <a:endParaRPr lang="en-US" sz="850" dirty="0"/>
          </a:p>
          <a:p>
            <a:pPr marL="342900" indent="-342900">
              <a:spcAft>
                <a:spcPts val="100"/>
              </a:spcAft>
              <a:buSzPct val="100000"/>
              <a:buChar char="•"/>
            </a:pPr>
            <a:r>
              <a:rPr lang="en-US" sz="850" dirty="0">
                <a:solidFill>
                  <a:srgbClr val="14213D"/>
                </a:solidFill>
                <a:latin typeface="Calibri" pitchFamily="34" charset="0"/>
                <a:ea typeface="Calibri" pitchFamily="34" charset="-122"/>
                <a:cs typeface="Calibri" pitchFamily="34" charset="-120"/>
              </a:rPr>
              <a:t>Full-power bandwidth</a:t>
            </a:r>
            <a:endParaRPr lang="en-US" sz="850" dirty="0"/>
          </a:p>
          <a:p>
            <a:pPr marL="342900" indent="-342900">
              <a:spcAft>
                <a:spcPts val="100"/>
              </a:spcAft>
              <a:buSzPct val="100000"/>
              <a:buChar char="•"/>
            </a:pPr>
            <a:r>
              <a:rPr lang="en-US" sz="850" dirty="0">
                <a:solidFill>
                  <a:srgbClr val="14213D"/>
                </a:solidFill>
                <a:latin typeface="Calibri" pitchFamily="34" charset="0"/>
                <a:ea typeface="Calibri" pitchFamily="34" charset="-122"/>
                <a:cs typeface="Calibri" pitchFamily="34" charset="-120"/>
              </a:rPr>
              <a:t>Full-linear bandwidth</a:t>
            </a:r>
            <a:endParaRPr lang="en-US" sz="850" dirty="0"/>
          </a:p>
          <a:p>
            <a:pPr marL="342900" indent="-342900">
              <a:spcAft>
                <a:spcPts val="100"/>
              </a:spcAft>
              <a:buSzPct val="100000"/>
              <a:buChar char="•"/>
            </a:pPr>
            <a:r>
              <a:rPr lang="en-US" sz="850" dirty="0">
                <a:solidFill>
                  <a:srgbClr val="14213D"/>
                </a:solidFill>
                <a:latin typeface="Calibri" pitchFamily="34" charset="0"/>
                <a:ea typeface="Calibri" pitchFamily="34" charset="-122"/>
                <a:cs typeface="Calibri" pitchFamily="34" charset="-120"/>
              </a:rPr>
              <a:t>Oversampling ratio</a:t>
            </a:r>
            <a:endParaRPr lang="en-US" sz="850" dirty="0"/>
          </a:p>
          <a:p>
            <a:pPr marL="342900" indent="-342900">
              <a:spcAft>
                <a:spcPts val="100"/>
              </a:spcAft>
              <a:buSzPct val="100000"/>
              <a:buChar char="•"/>
            </a:pPr>
            <a:r>
              <a:rPr lang="en-US" sz="850" dirty="0">
                <a:solidFill>
                  <a:srgbClr val="14213D"/>
                </a:solidFill>
                <a:latin typeface="Calibri" pitchFamily="34" charset="0"/>
                <a:ea typeface="Calibri" pitchFamily="34" charset="-122"/>
                <a:cs typeface="Calibri" pitchFamily="34" charset="-120"/>
              </a:rPr>
              <a:t>Decimation</a:t>
            </a:r>
            <a:endParaRPr lang="en-US" sz="850" dirty="0"/>
          </a:p>
        </p:txBody>
      </p:sp>
      <p:sp>
        <p:nvSpPr>
          <p:cNvPr id="26" name="Shape 24"/>
          <p:cNvSpPr/>
          <p:nvPr/>
        </p:nvSpPr>
        <p:spPr>
          <a:xfrm>
            <a:off x="7157923" y="1545336"/>
            <a:ext cx="1528877" cy="3108960"/>
          </a:xfrm>
          <a:prstGeom prst="roundRect">
            <a:avLst>
              <a:gd name="adj" fmla="val 4785"/>
            </a:avLst>
          </a:prstGeom>
          <a:solidFill>
            <a:srgbClr val="EEF3F8"/>
          </a:solidFill>
          <a:ln w="12700">
            <a:solidFill>
              <a:srgbClr val="EEF3F8"/>
            </a:solidFill>
            <a:prstDash val="solid"/>
          </a:ln>
        </p:spPr>
      </p:sp>
      <p:sp>
        <p:nvSpPr>
          <p:cNvPr id="27" name="Shape 25"/>
          <p:cNvSpPr/>
          <p:nvPr/>
        </p:nvSpPr>
        <p:spPr>
          <a:xfrm>
            <a:off x="7157923" y="1545336"/>
            <a:ext cx="1528877" cy="384048"/>
          </a:xfrm>
          <a:prstGeom prst="roundRect">
            <a:avLst>
              <a:gd name="adj" fmla="val 19048"/>
            </a:avLst>
          </a:prstGeom>
          <a:solidFill>
            <a:srgbClr val="0B1F3A"/>
          </a:solidFill>
          <a:ln w="12700">
            <a:solidFill>
              <a:srgbClr val="0B1F3A"/>
            </a:solidFill>
            <a:prstDash val="solid"/>
          </a:ln>
        </p:spPr>
      </p:sp>
      <p:sp>
        <p:nvSpPr>
          <p:cNvPr id="28" name="Text 26"/>
          <p:cNvSpPr txBox="1"/>
          <p:nvPr/>
        </p:nvSpPr>
        <p:spPr>
          <a:xfrm>
            <a:off x="7157923" y="1545336"/>
            <a:ext cx="1528877"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Power and system</a:t>
            </a:r>
            <a:endParaRPr lang="en-US" sz="1100" dirty="0"/>
          </a:p>
        </p:txBody>
      </p:sp>
      <p:sp>
        <p:nvSpPr>
          <p:cNvPr id="29" name="Text 27"/>
          <p:cNvSpPr txBox="1"/>
          <p:nvPr/>
        </p:nvSpPr>
        <p:spPr>
          <a:xfrm>
            <a:off x="7249363" y="1984248"/>
            <a:ext cx="1345997" cy="457200"/>
          </a:xfrm>
          <a:prstGeom prst="rect">
            <a:avLst/>
          </a:prstGeom>
          <a:noFill/>
          <a:ln/>
        </p:spPr>
        <p:txBody>
          <a:bodyPr wrap="square" lIns="0" tIns="0" rIns="0" bIns="0" rtlCol="0" anchor="t"/>
          <a:lstStyle/>
          <a:p>
            <a:pPr indent="0" marL="0">
              <a:buNone/>
            </a:pPr>
            <a:r>
              <a:rPr lang="en-US" sz="850" i="1" dirty="0">
                <a:solidFill>
                  <a:srgbClr val="5B6B7F"/>
                </a:solidFill>
                <a:latin typeface="Calibri" pitchFamily="34" charset="0"/>
                <a:ea typeface="Calibri" pitchFamily="34" charset="-122"/>
                <a:cs typeface="Calibri" pitchFamily="34" charset="-120"/>
              </a:rPr>
              <a:t>Budgets, board design, multi-channel</a:t>
            </a:r>
            <a:endParaRPr lang="en-US" sz="850" dirty="0"/>
          </a:p>
        </p:txBody>
      </p:sp>
      <p:sp>
        <p:nvSpPr>
          <p:cNvPr id="30" name="Text 28"/>
          <p:cNvSpPr txBox="1"/>
          <p:nvPr/>
        </p:nvSpPr>
        <p:spPr>
          <a:xfrm>
            <a:off x="7249363" y="2459736"/>
            <a:ext cx="1345997" cy="2103120"/>
          </a:xfrm>
          <a:prstGeom prst="rect">
            <a:avLst/>
          </a:prstGeom>
          <a:noFill/>
          <a:ln/>
        </p:spPr>
        <p:txBody>
          <a:bodyPr wrap="square" lIns="0" tIns="0" rIns="0" bIns="0" rtlCol="0" anchor="t"/>
          <a:lstStyle/>
          <a:p>
            <a:pPr marL="342900" indent="-342900">
              <a:spcAft>
                <a:spcPts val="100"/>
              </a:spcAft>
              <a:buSzPct val="100000"/>
              <a:buChar char="•"/>
            </a:pPr>
            <a:r>
              <a:rPr lang="en-US" sz="850" dirty="0">
                <a:solidFill>
                  <a:srgbClr val="14213D"/>
                </a:solidFill>
                <a:latin typeface="Calibri" pitchFamily="34" charset="0"/>
                <a:ea typeface="Calibri" pitchFamily="34" charset="-122"/>
                <a:cs typeface="Calibri" pitchFamily="34" charset="-120"/>
              </a:rPr>
              <a:t>Power dissipation</a:t>
            </a:r>
            <a:endParaRPr lang="en-US" sz="850" dirty="0"/>
          </a:p>
          <a:p>
            <a:pPr marL="342900" indent="-342900">
              <a:spcAft>
                <a:spcPts val="100"/>
              </a:spcAft>
              <a:buSzPct val="100000"/>
              <a:buChar char="•"/>
            </a:pPr>
            <a:r>
              <a:rPr lang="en-US" sz="850" dirty="0">
                <a:solidFill>
                  <a:srgbClr val="14213D"/>
                </a:solidFill>
                <a:latin typeface="Calibri" pitchFamily="34" charset="0"/>
                <a:ea typeface="Calibri" pitchFamily="34" charset="-122"/>
                <a:cs typeface="Calibri" pitchFamily="34" charset="-120"/>
              </a:rPr>
              <a:t>Supply voltages</a:t>
            </a:r>
            <a:endParaRPr lang="en-US" sz="850" dirty="0"/>
          </a:p>
          <a:p>
            <a:pPr marL="342900" indent="-342900">
              <a:spcAft>
                <a:spcPts val="100"/>
              </a:spcAft>
              <a:buSzPct val="100000"/>
              <a:buChar char="•"/>
            </a:pPr>
            <a:r>
              <a:rPr lang="en-US" sz="850" dirty="0">
                <a:solidFill>
                  <a:srgbClr val="14213D"/>
                </a:solidFill>
                <a:latin typeface="Calibri" pitchFamily="34" charset="0"/>
                <a:ea typeface="Calibri" pitchFamily="34" charset="-122"/>
                <a:cs typeface="Calibri" pitchFamily="34" charset="-120"/>
              </a:rPr>
              <a:t>Walden FoM</a:t>
            </a:r>
            <a:endParaRPr lang="en-US" sz="850" dirty="0"/>
          </a:p>
          <a:p>
            <a:pPr marL="342900" indent="-342900">
              <a:spcAft>
                <a:spcPts val="100"/>
              </a:spcAft>
              <a:buSzPct val="100000"/>
              <a:buChar char="•"/>
            </a:pPr>
            <a:r>
              <a:rPr lang="en-US" sz="850" dirty="0">
                <a:solidFill>
                  <a:srgbClr val="14213D"/>
                </a:solidFill>
                <a:latin typeface="Calibri" pitchFamily="34" charset="0"/>
                <a:ea typeface="Calibri" pitchFamily="34" charset="-122"/>
                <a:cs typeface="Calibri" pitchFamily="34" charset="-120"/>
              </a:rPr>
              <a:t>Schreier FoM</a:t>
            </a:r>
            <a:endParaRPr lang="en-US" sz="850" dirty="0"/>
          </a:p>
          <a:p>
            <a:pPr marL="342900" indent="-342900">
              <a:spcAft>
                <a:spcPts val="100"/>
              </a:spcAft>
              <a:buSzPct val="100000"/>
              <a:buChar char="•"/>
            </a:pPr>
            <a:r>
              <a:rPr lang="en-US" sz="850" dirty="0">
                <a:solidFill>
                  <a:srgbClr val="14213D"/>
                </a:solidFill>
                <a:latin typeface="Calibri" pitchFamily="34" charset="0"/>
                <a:ea typeface="Calibri" pitchFamily="34" charset="-122"/>
                <a:cs typeface="Calibri" pitchFamily="34" charset="-120"/>
              </a:rPr>
              <a:t>Crosstalk</a:t>
            </a:r>
            <a:endParaRPr lang="en-US" sz="850" dirty="0"/>
          </a:p>
          <a:p>
            <a:pPr marL="342900" indent="-342900">
              <a:spcAft>
                <a:spcPts val="100"/>
              </a:spcAft>
              <a:buSzPct val="100000"/>
              <a:buChar char="•"/>
            </a:pPr>
            <a:r>
              <a:rPr lang="en-US" sz="850" dirty="0">
                <a:solidFill>
                  <a:srgbClr val="14213D"/>
                </a:solidFill>
                <a:latin typeface="Calibri" pitchFamily="34" charset="0"/>
                <a:ea typeface="Calibri" pitchFamily="34" charset="-122"/>
                <a:cs typeface="Calibri" pitchFamily="34" charset="-120"/>
              </a:rPr>
              <a:t>Output coding</a:t>
            </a:r>
            <a:endParaRPr lang="en-US" sz="850" dirty="0"/>
          </a:p>
          <a:p>
            <a:pPr marL="342900" indent="-342900">
              <a:spcAft>
                <a:spcPts val="100"/>
              </a:spcAft>
              <a:buSzPct val="100000"/>
              <a:buChar char="•"/>
            </a:pPr>
            <a:r>
              <a:rPr lang="en-US" sz="850" dirty="0">
                <a:solidFill>
                  <a:srgbClr val="14213D"/>
                </a:solidFill>
                <a:latin typeface="Calibri" pitchFamily="34" charset="0"/>
                <a:ea typeface="Calibri" pitchFamily="34" charset="-122"/>
                <a:cs typeface="Calibri" pitchFamily="34" charset="-120"/>
              </a:rPr>
              <a:t>Digital interface</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F3A"/>
        </a:solidFill>
      </p:bgPr>
    </p:bg>
    <p:spTree>
      <p:nvGrpSpPr>
        <p:cNvPr id="1" name=""/>
        <p:cNvGrpSpPr/>
        <p:nvPr/>
      </p:nvGrpSpPr>
      <p:grpSpPr>
        <a:xfrm>
          <a:off x="0" y="0"/>
          <a:ext cx="0" cy="0"/>
          <a:chOff x="0" y="0"/>
          <a:chExt cx="0" cy="0"/>
        </a:xfrm>
      </p:grpSpPr>
      <p:sp>
        <p:nvSpPr>
          <p:cNvPr id="2" name="Text 0"/>
          <p:cNvSpPr txBox="1"/>
          <p:nvPr/>
        </p:nvSpPr>
        <p:spPr>
          <a:xfrm>
            <a:off x="457200" y="1234440"/>
            <a:ext cx="5486400" cy="365760"/>
          </a:xfrm>
          <a:prstGeom prst="rect">
            <a:avLst/>
          </a:prstGeom>
          <a:noFill/>
          <a:ln/>
        </p:spPr>
        <p:txBody>
          <a:bodyPr wrap="square" lIns="0" tIns="0" rIns="0" bIns="0" rtlCol="0" anchor="ctr"/>
          <a:lstStyle/>
          <a:p>
            <a:pPr indent="0" marL="0">
              <a:buNone/>
            </a:pPr>
            <a:r>
              <a:rPr lang="en-US" sz="1400" b="1" dirty="0">
                <a:solidFill>
                  <a:srgbClr val="2EC4B6"/>
                </a:solidFill>
                <a:latin typeface="Calibri" pitchFamily="34" charset="0"/>
                <a:ea typeface="Calibri" pitchFamily="34" charset="-122"/>
                <a:cs typeface="Calibri" pitchFamily="34" charset="-120"/>
              </a:rPr>
              <a:t>Part 1</a:t>
            </a:r>
            <a:endParaRPr lang="en-US" sz="1400" dirty="0"/>
          </a:p>
        </p:txBody>
      </p:sp>
      <p:sp>
        <p:nvSpPr>
          <p:cNvPr id="3" name="Text 1"/>
          <p:cNvSpPr txBox="1"/>
          <p:nvPr/>
        </p:nvSpPr>
        <p:spPr>
          <a:xfrm>
            <a:off x="457200" y="1600200"/>
            <a:ext cx="8229600" cy="9144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Resolution and the transfer function</a:t>
            </a:r>
            <a:endParaRPr lang="en-US" sz="3800" dirty="0"/>
          </a:p>
        </p:txBody>
      </p:sp>
      <p:sp>
        <p:nvSpPr>
          <p:cNvPr id="4" name="Text 2"/>
          <p:cNvSpPr txBox="1"/>
          <p:nvPr/>
        </p:nvSpPr>
        <p:spPr>
          <a:xfrm>
            <a:off x="457200" y="2560320"/>
            <a:ext cx="8229600" cy="457200"/>
          </a:xfrm>
          <a:prstGeom prst="rect">
            <a:avLst/>
          </a:prstGeom>
          <a:noFill/>
          <a:ln/>
        </p:spPr>
        <p:txBody>
          <a:bodyPr wrap="square" lIns="0" tIns="0" rIns="0" bIns="0" rtlCol="0" anchor="ctr"/>
          <a:lstStyle/>
          <a:p>
            <a:pPr indent="0" marL="0">
              <a:buNone/>
            </a:pPr>
            <a:r>
              <a:rPr lang="en-US" sz="1600" dirty="0">
                <a:solidFill>
                  <a:srgbClr val="D7DEE8"/>
                </a:solidFill>
                <a:latin typeface="Calibri" pitchFamily="34" charset="0"/>
                <a:ea typeface="Calibri" pitchFamily="34" charset="-122"/>
                <a:cs typeface="Calibri" pitchFamily="34" charset="-120"/>
              </a:rPr>
              <a:t>How fine the ruler is, and what one step is worth</a:t>
            </a:r>
            <a:endParaRPr lang="en-US" sz="1600" dirty="0"/>
          </a:p>
        </p:txBody>
      </p:sp>
      <p:sp>
        <p:nvSpPr>
          <p:cNvPr id="5" name="Text 3"/>
          <p:cNvSpPr txBox="1"/>
          <p:nvPr/>
        </p:nvSpPr>
        <p:spPr>
          <a:xfrm>
            <a:off x="457200" y="3063240"/>
            <a:ext cx="3657600" cy="274320"/>
          </a:xfrm>
          <a:prstGeom prst="rect">
            <a:avLst/>
          </a:prstGeom>
          <a:noFill/>
          <a:ln/>
        </p:spPr>
        <p:txBody>
          <a:bodyPr wrap="square" lIns="0" tIns="0" rIns="0" bIns="0" rtlCol="0" anchor="ctr"/>
          <a:lstStyle/>
          <a:p>
            <a:pPr indent="0" marL="0">
              <a:buNone/>
            </a:pPr>
            <a:r>
              <a:rPr lang="en-US" sz="1100" dirty="0">
                <a:solidFill>
                  <a:srgbClr val="B8C4D6"/>
                </a:solidFill>
                <a:latin typeface="Calibri" pitchFamily="34" charset="0"/>
                <a:ea typeface="Calibri" pitchFamily="34" charset="-122"/>
                <a:cs typeface="Calibri" pitchFamily="34" charset="-120"/>
              </a:rPr>
              <a:t>12 minutes</a:t>
            </a:r>
            <a:endParaRPr lang="en-US" sz="1100" dirty="0"/>
          </a:p>
        </p:txBody>
      </p:sp>
      <p:sp>
        <p:nvSpPr>
          <p:cNvPr id="6" name="Text 4"/>
          <p:cNvSpPr txBox="1"/>
          <p:nvPr/>
        </p:nvSpPr>
        <p:spPr>
          <a:xfrm>
            <a:off x="7772400" y="4796028"/>
            <a:ext cx="914400" cy="228600"/>
          </a:xfrm>
          <a:prstGeom prst="rect">
            <a:avLst/>
          </a:prstGeom>
          <a:noFill/>
          <a:ln/>
        </p:spPr>
        <p:txBody>
          <a:bodyPr wrap="square" lIns="0" tIns="0" rIns="0" bIns="0" rtlCol="0" anchor="ctr"/>
          <a:lstStyle/>
          <a:p>
            <a:pPr algn="r" indent="0" marL="0">
              <a:buNone/>
            </a:pPr>
            <a:r>
              <a:rPr lang="en-US" sz="900" dirty="0">
                <a:solidFill>
                  <a:srgbClr val="8FA3BF"/>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6117336" cy="640080"/>
          </a:xfrm>
          <a:prstGeom prst="rect">
            <a:avLst/>
          </a:prstGeom>
          <a:noFill/>
          <a:ln/>
        </p:spPr>
        <p:txBody>
          <a:bodyPr wrap="square" lIns="0" tIns="0" rIns="0" bIns="0" rtlCol="0" anchor="ctr"/>
          <a:lstStyle/>
          <a:p>
            <a:pPr indent="0" marL="0">
              <a:buNone/>
            </a:pPr>
            <a:r>
              <a:rPr lang="en-US" sz="2800" b="1" dirty="0">
                <a:solidFill>
                  <a:srgbClr val="0B1F3A"/>
                </a:solidFill>
                <a:latin typeface="Cambria" pitchFamily="34" charset="0"/>
                <a:ea typeface="Cambria" pitchFamily="34" charset="-122"/>
                <a:cs typeface="Cambria" pitchFamily="34" charset="-120"/>
              </a:rPr>
              <a:t>Resolution</a:t>
            </a:r>
            <a:endParaRPr lang="en-US" sz="2800" dirty="0"/>
          </a:p>
        </p:txBody>
      </p:sp>
      <p:sp>
        <p:nvSpPr>
          <p:cNvPr id="3" name="Text 1"/>
          <p:cNvSpPr txBox="1"/>
          <p:nvPr/>
        </p:nvSpPr>
        <p:spPr>
          <a:xfrm>
            <a:off x="457200" y="4796028"/>
            <a:ext cx="4572000" cy="228600"/>
          </a:xfrm>
          <a:prstGeom prst="rect">
            <a:avLst/>
          </a:prstGeom>
          <a:noFill/>
          <a:ln/>
        </p:spPr>
        <p:txBody>
          <a:bodyPr wrap="square" lIns="0" tIns="0" rIns="0" bIns="0" rtlCol="0" anchor="ctr"/>
          <a:lstStyle/>
          <a:p>
            <a:pPr indent="0" marL="0">
              <a:buNone/>
            </a:pPr>
            <a:r>
              <a:rPr lang="en-US" sz="900" dirty="0">
                <a:solidFill>
                  <a:srgbClr val="5B6B7F"/>
                </a:solidFill>
                <a:latin typeface="Calibri" pitchFamily="34" charset="0"/>
                <a:ea typeface="Calibri" pitchFamily="34" charset="-122"/>
                <a:cs typeface="Calibri" pitchFamily="34" charset="-120"/>
              </a:rPr>
              <a:t>Part 1 · Resolution and the transfer function</a:t>
            </a:r>
            <a:endParaRPr lang="en-US" sz="900" dirty="0"/>
          </a:p>
        </p:txBody>
      </p:sp>
      <p:sp>
        <p:nvSpPr>
          <p:cNvPr id="4" name="Text 2"/>
          <p:cNvSpPr txBox="1"/>
          <p:nvPr/>
        </p:nvSpPr>
        <p:spPr>
          <a:xfrm>
            <a:off x="7772400" y="4796028"/>
            <a:ext cx="914400" cy="228600"/>
          </a:xfrm>
          <a:prstGeom prst="rect">
            <a:avLst/>
          </a:prstGeom>
          <a:noFill/>
          <a:ln/>
        </p:spPr>
        <p:txBody>
          <a:bodyPr wrap="square" lIns="0" tIns="0" rIns="0" bIns="0" rtlCol="0" anchor="ctr"/>
          <a:lstStyle/>
          <a:p>
            <a:pPr algn="r" indent="0" marL="0">
              <a:buNone/>
            </a:pPr>
            <a:r>
              <a:rPr lang="en-US" sz="900" dirty="0">
                <a:solidFill>
                  <a:srgbClr val="5B6B7F"/>
                </a:solidFill>
                <a:latin typeface="Calibri" pitchFamily="34" charset="0"/>
                <a:ea typeface="Calibri" pitchFamily="34" charset="-122"/>
                <a:cs typeface="Calibri" pitchFamily="34" charset="-120"/>
              </a:rPr>
              <a:t>5</a:t>
            </a:r>
            <a:endParaRPr lang="en-US" sz="900" dirty="0"/>
          </a:p>
        </p:txBody>
      </p:sp>
      <p:sp>
        <p:nvSpPr>
          <p:cNvPr id="5" name="Shape 3"/>
          <p:cNvSpPr/>
          <p:nvPr/>
        </p:nvSpPr>
        <p:spPr>
          <a:xfrm>
            <a:off x="6803136" y="384048"/>
            <a:ext cx="1883664" cy="384048"/>
          </a:xfrm>
          <a:prstGeom prst="roundRect">
            <a:avLst>
              <a:gd name="adj" fmla="val 19048"/>
            </a:avLst>
          </a:prstGeom>
          <a:solidFill>
            <a:srgbClr val="EEF3F8"/>
          </a:solidFill>
          <a:ln w="12700">
            <a:solidFill>
              <a:srgbClr val="EEF3F8"/>
            </a:solidFill>
            <a:prstDash val="solid"/>
          </a:ln>
        </p:spPr>
      </p:sp>
      <p:sp>
        <p:nvSpPr>
          <p:cNvPr id="6" name="Text 4"/>
          <p:cNvSpPr txBox="1"/>
          <p:nvPr/>
        </p:nvSpPr>
        <p:spPr>
          <a:xfrm>
            <a:off x="6803136" y="384048"/>
            <a:ext cx="1883664" cy="384048"/>
          </a:xfrm>
          <a:prstGeom prst="rect">
            <a:avLst/>
          </a:prstGeom>
          <a:noFill/>
          <a:ln/>
        </p:spPr>
        <p:txBody>
          <a:bodyPr wrap="square" lIns="0" tIns="0" rIns="0" bIns="0" rtlCol="0" anchor="ctr"/>
          <a:lstStyle/>
          <a:p>
            <a:pPr algn="ctr" indent="0" marL="0">
              <a:buNone/>
            </a:pPr>
            <a:r>
              <a:rPr lang="en-US" sz="1200" b="1" dirty="0">
                <a:solidFill>
                  <a:srgbClr val="0B1F3A"/>
                </a:solidFill>
                <a:latin typeface="Cambria" pitchFamily="34" charset="0"/>
                <a:ea typeface="Cambria" pitchFamily="34" charset="-122"/>
                <a:cs typeface="Cambria" pitchFamily="34" charset="-120"/>
              </a:rPr>
              <a:t>N   ·   bits</a:t>
            </a:r>
            <a:endParaRPr lang="en-US" sz="1200" dirty="0"/>
          </a:p>
        </p:txBody>
      </p:sp>
      <p:sp>
        <p:nvSpPr>
          <p:cNvPr id="7" name="Text 5"/>
          <p:cNvSpPr txBox="1"/>
          <p:nvPr/>
        </p:nvSpPr>
        <p:spPr>
          <a:xfrm>
            <a:off x="457200" y="1042416"/>
            <a:ext cx="4023360" cy="1005840"/>
          </a:xfrm>
          <a:prstGeom prst="rect">
            <a:avLst/>
          </a:prstGeom>
          <a:noFill/>
          <a:ln/>
        </p:spPr>
        <p:txBody>
          <a:bodyPr wrap="square" lIns="0" tIns="0" rIns="0" bIns="0" rtlCol="0" anchor="t"/>
          <a:lstStyle/>
          <a:p>
            <a:pPr indent="0" marL="0">
              <a:buNone/>
            </a:pPr>
            <a:r>
              <a:rPr lang="en-US" sz="1150" dirty="0">
                <a:solidFill>
                  <a:srgbClr val="14213D"/>
                </a:solidFill>
                <a:latin typeface="Calibri" pitchFamily="34" charset="0"/>
                <a:ea typeface="Calibri" pitchFamily="34" charset="-122"/>
                <a:cs typeface="Calibri" pitchFamily="34" charset="-120"/>
              </a:rPr>
              <a:t>How many binary digits the output word has. It fixes how many different levels the converter can report: 2ᴺ of them. It says nothing about how accurate those levels are — that is what every other parameter is for.</a:t>
            </a:r>
            <a:endParaRPr lang="en-US" sz="1150" dirty="0"/>
          </a:p>
        </p:txBody>
      </p:sp>
      <p:sp>
        <p:nvSpPr>
          <p:cNvPr id="8" name="Shape 6"/>
          <p:cNvSpPr/>
          <p:nvPr/>
        </p:nvSpPr>
        <p:spPr>
          <a:xfrm>
            <a:off x="457200" y="2103120"/>
            <a:ext cx="4023360" cy="868680"/>
          </a:xfrm>
          <a:prstGeom prst="roundRect">
            <a:avLst>
              <a:gd name="adj" fmla="val 8421"/>
            </a:avLst>
          </a:prstGeom>
          <a:solidFill>
            <a:srgbClr val="EEF3F8"/>
          </a:solidFill>
          <a:ln w="12700">
            <a:solidFill>
              <a:srgbClr val="EEF3F8"/>
            </a:solidFill>
            <a:prstDash val="solid"/>
          </a:ln>
        </p:spPr>
      </p:sp>
      <p:sp>
        <p:nvSpPr>
          <p:cNvPr id="9" name="Text 7"/>
          <p:cNvSpPr txBox="1"/>
          <p:nvPr/>
        </p:nvSpPr>
        <p:spPr>
          <a:xfrm>
            <a:off x="594360" y="2103120"/>
            <a:ext cx="3749040" cy="612648"/>
          </a:xfrm>
          <a:prstGeom prst="rect">
            <a:avLst/>
          </a:prstGeom>
          <a:noFill/>
          <a:ln/>
        </p:spPr>
        <p:txBody>
          <a:bodyPr wrap="square" lIns="0" tIns="0" rIns="0" bIns="0" rtlCol="0" anchor="ctr"/>
          <a:lstStyle/>
          <a:p>
            <a:pPr algn="ctr" indent="0" marL="0">
              <a:buNone/>
            </a:pPr>
            <a:r>
              <a:rPr lang="en-US" sz="1500" dirty="0">
                <a:solidFill>
                  <a:srgbClr val="0B1F3A"/>
                </a:solidFill>
                <a:latin typeface="Cambria" pitchFamily="34" charset="0"/>
                <a:ea typeface="Cambria" pitchFamily="34" charset="-122"/>
                <a:cs typeface="Cambria" pitchFamily="34" charset="-120"/>
              </a:rPr>
              <a:t>number of levels = 2ᴺ</a:t>
            </a:r>
            <a:endParaRPr lang="en-US" sz="1500" dirty="0"/>
          </a:p>
        </p:txBody>
      </p:sp>
      <p:sp>
        <p:nvSpPr>
          <p:cNvPr id="10" name="Text 8"/>
          <p:cNvSpPr txBox="1"/>
          <p:nvPr/>
        </p:nvSpPr>
        <p:spPr>
          <a:xfrm>
            <a:off x="594360" y="2670048"/>
            <a:ext cx="3749040" cy="256032"/>
          </a:xfrm>
          <a:prstGeom prst="rect">
            <a:avLst/>
          </a:prstGeom>
          <a:noFill/>
          <a:ln/>
        </p:spPr>
        <p:txBody>
          <a:bodyPr wrap="square" lIns="0" tIns="0" rIns="0" bIns="0" rtlCol="0" anchor="t"/>
          <a:lstStyle/>
          <a:p>
            <a:pPr algn="ctr" indent="0" marL="0">
              <a:buNone/>
            </a:pPr>
            <a:r>
              <a:rPr lang="en-US" sz="1000" dirty="0">
                <a:solidFill>
                  <a:srgbClr val="5B6B7F"/>
                </a:solidFill>
                <a:latin typeface="Calibri" pitchFamily="34" charset="0"/>
                <a:ea typeface="Calibri" pitchFamily="34" charset="-122"/>
                <a:cs typeface="Calibri" pitchFamily="34" charset="-120"/>
              </a:rPr>
              <a:t>8 bits → 256 levels, 12 bits → 4096, 16 bits → 65 536</a:t>
            </a:r>
            <a:endParaRPr lang="en-US" sz="1000" dirty="0"/>
          </a:p>
        </p:txBody>
      </p:sp>
      <p:graphicFrame>
        <p:nvGraphicFramePr>
          <p:cNvPr id="11" name="Chart 0" descr=""/>
          <p:cNvGraphicFramePr/>
          <p:nvPr/>
        </p:nvGraphicFramePr>
        <p:xfrm>
          <a:off x="4663440" y="1042416"/>
          <a:ext cx="4023360" cy="2084832"/>
        </p:xfrm>
        <a:graphic xmlns:a="http://schemas.openxmlformats.org/drawingml/2006/main">
          <a:graphicData uri="http://schemas.openxmlformats.org/drawingml/2006/chart">
            <c:chart xmlns:c="http://schemas.openxmlformats.org/drawingml/2006/chart" r:id="rId1"/>
          </a:graphicData>
        </a:graphic>
      </p:graphicFrame>
      <p:sp>
        <p:nvSpPr>
          <p:cNvPr id="12" name="Text 9"/>
          <p:cNvSpPr txBox="1"/>
          <p:nvPr/>
        </p:nvSpPr>
        <p:spPr>
          <a:xfrm>
            <a:off x="4663440" y="3200400"/>
            <a:ext cx="4023360" cy="347472"/>
          </a:xfrm>
          <a:prstGeom prst="rect">
            <a:avLst/>
          </a:prstGeom>
          <a:noFill/>
          <a:ln/>
        </p:spPr>
        <p:txBody>
          <a:bodyPr wrap="square" lIns="0" tIns="0" rIns="0" bIns="0" rtlCol="0" anchor="ctr"/>
          <a:lstStyle/>
          <a:p>
            <a:pPr algn="ctr" indent="0" marL="0">
              <a:buNone/>
            </a:pPr>
            <a:r>
              <a:rPr lang="en-US" sz="1000" i="1" dirty="0">
                <a:solidFill>
                  <a:srgbClr val="5B6B7F"/>
                </a:solidFill>
                <a:latin typeface="Calibri" pitchFamily="34" charset="0"/>
                <a:ea typeface="Calibri" pitchFamily="34" charset="-122"/>
                <a:cs typeface="Calibri" pitchFamily="34" charset="-120"/>
              </a:rPr>
              <a:t>Resolution is the headline number and the most over-trusted one. A "16-bit" part delivering 12.5 effective bits is a 12.5-bit part.</a:t>
            </a:r>
            <a:endParaRPr lang="en-US" sz="1000" dirty="0"/>
          </a:p>
        </p:txBody>
      </p:sp>
      <p:sp>
        <p:nvSpPr>
          <p:cNvPr id="13" name="Shape 10"/>
          <p:cNvSpPr/>
          <p:nvPr/>
        </p:nvSpPr>
        <p:spPr>
          <a:xfrm>
            <a:off x="457200" y="3675888"/>
            <a:ext cx="4023360" cy="1024128"/>
          </a:xfrm>
          <a:prstGeom prst="roundRect">
            <a:avLst>
              <a:gd name="adj" fmla="val 7143"/>
            </a:avLst>
          </a:prstGeom>
          <a:solidFill>
            <a:srgbClr val="E4F7F4"/>
          </a:solidFill>
          <a:ln w="12700">
            <a:solidFill>
              <a:srgbClr val="E4F7F4"/>
            </a:solidFill>
            <a:prstDash val="solid"/>
          </a:ln>
        </p:spPr>
      </p:sp>
      <p:sp>
        <p:nvSpPr>
          <p:cNvPr id="14" name="Shape 11"/>
          <p:cNvSpPr/>
          <p:nvPr/>
        </p:nvSpPr>
        <p:spPr>
          <a:xfrm>
            <a:off x="566928" y="3776472"/>
            <a:ext cx="237744" cy="237744"/>
          </a:xfrm>
          <a:prstGeom prst="ellipse">
            <a:avLst/>
          </a:prstGeom>
          <a:solidFill>
            <a:srgbClr val="2EC4B6"/>
          </a:solidFill>
          <a:ln w="12700">
            <a:solidFill>
              <a:srgbClr val="2EC4B6"/>
            </a:solidFill>
            <a:prstDash val="solid"/>
          </a:ln>
        </p:spPr>
      </p:sp>
      <p:sp>
        <p:nvSpPr>
          <p:cNvPr id="15" name="Text 12"/>
          <p:cNvSpPr txBox="1"/>
          <p:nvPr/>
        </p:nvSpPr>
        <p:spPr>
          <a:xfrm>
            <a:off x="566928" y="3776472"/>
            <a:ext cx="237744" cy="237744"/>
          </a:xfrm>
          <a:prstGeom prst="rect">
            <a:avLst/>
          </a:prstGeom>
          <a:noFill/>
          <a:ln/>
        </p:spPr>
        <p:txBody>
          <a:bodyPr wrap="square" lIns="0" tIns="0" rIns="0" bIns="0" rtlCol="0" anchor="ctr"/>
          <a:lstStyle/>
          <a:p>
            <a:pPr algn="ctr" indent="0" marL="0">
              <a:buNone/>
            </a:pPr>
            <a:r>
              <a:rPr lang="en-US" sz="1200" b="1" dirty="0">
                <a:solidFill>
                  <a:srgbClr val="0B1F3A"/>
                </a:solidFill>
                <a:latin typeface="Calibri" pitchFamily="34" charset="0"/>
                <a:ea typeface="Calibri" pitchFamily="34" charset="-122"/>
                <a:cs typeface="Calibri" pitchFamily="34" charset="-120"/>
              </a:rPr>
              <a:t>≈</a:t>
            </a:r>
            <a:endParaRPr lang="en-US" sz="1200" dirty="0"/>
          </a:p>
        </p:txBody>
      </p:sp>
      <p:sp>
        <p:nvSpPr>
          <p:cNvPr id="16" name="Text 13"/>
          <p:cNvSpPr txBox="1"/>
          <p:nvPr/>
        </p:nvSpPr>
        <p:spPr>
          <a:xfrm>
            <a:off x="877824" y="3739896"/>
            <a:ext cx="3493008" cy="896112"/>
          </a:xfrm>
          <a:prstGeom prst="rect">
            <a:avLst/>
          </a:prstGeom>
          <a:noFill/>
          <a:ln/>
        </p:spPr>
        <p:txBody>
          <a:bodyPr wrap="square" lIns="0" tIns="0" rIns="0" bIns="0" rtlCol="0" anchor="t"/>
          <a:lstStyle/>
          <a:p>
            <a:pPr indent="0" marL="0">
              <a:buNone/>
            </a:pPr>
            <a:r>
              <a:rPr lang="en-US" sz="1050" b="1" dirty="0">
                <a:solidFill>
                  <a:srgbClr val="0B1F3A"/>
                </a:solidFill>
                <a:latin typeface="Calibri" pitchFamily="34" charset="0"/>
                <a:ea typeface="Calibri" pitchFamily="34" charset="-122"/>
                <a:cs typeface="Calibri" pitchFamily="34" charset="-120"/>
              </a:rPr>
              <a:t>Think of it like this  </a:t>
            </a:r>
            <a:pPr indent="0" marL="0">
              <a:buNone/>
            </a:pPr>
            <a:r>
              <a:rPr lang="en-US" sz="1050" dirty="0">
                <a:solidFill>
                  <a:srgbClr val="14213D"/>
                </a:solidFill>
                <a:latin typeface="Calibri" pitchFamily="34" charset="0"/>
                <a:ea typeface="Calibri" pitchFamily="34" charset="-122"/>
                <a:cs typeface="Calibri" pitchFamily="34" charset="-120"/>
              </a:rPr>
              <a:t>The number of marks on a ruler. A ruler with millimetre marks is not automatically accurate — the marks could still be printed in the wrong places.</a:t>
            </a:r>
            <a:endParaRPr lang="en-US" sz="1050" dirty="0"/>
          </a:p>
        </p:txBody>
      </p:sp>
      <p:sp>
        <p:nvSpPr>
          <p:cNvPr id="17" name="Shape 14"/>
          <p:cNvSpPr/>
          <p:nvPr/>
        </p:nvSpPr>
        <p:spPr>
          <a:xfrm>
            <a:off x="4663440" y="3675888"/>
            <a:ext cx="4023360" cy="1024128"/>
          </a:xfrm>
          <a:prstGeom prst="roundRect">
            <a:avLst>
              <a:gd name="adj" fmla="val 7143"/>
            </a:avLst>
          </a:prstGeom>
          <a:solidFill>
            <a:srgbClr val="FFFFFF"/>
          </a:solidFill>
          <a:ln w="12700">
            <a:solidFill>
              <a:srgbClr val="0B1F3A"/>
            </a:solidFill>
            <a:prstDash val="solid"/>
          </a:ln>
        </p:spPr>
      </p:sp>
      <p:sp>
        <p:nvSpPr>
          <p:cNvPr id="18" name="Shape 15"/>
          <p:cNvSpPr/>
          <p:nvPr/>
        </p:nvSpPr>
        <p:spPr>
          <a:xfrm>
            <a:off x="4773168" y="3566160"/>
            <a:ext cx="914400" cy="219456"/>
          </a:xfrm>
          <a:prstGeom prst="roundRect">
            <a:avLst>
              <a:gd name="adj" fmla="val 25000"/>
            </a:avLst>
          </a:prstGeom>
          <a:solidFill>
            <a:srgbClr val="0B1F3A"/>
          </a:solidFill>
          <a:ln w="12700">
            <a:solidFill>
              <a:srgbClr val="0B1F3A"/>
            </a:solidFill>
            <a:prstDash val="solid"/>
          </a:ln>
        </p:spPr>
      </p:sp>
      <p:sp>
        <p:nvSpPr>
          <p:cNvPr id="19" name="Text 16"/>
          <p:cNvSpPr txBox="1"/>
          <p:nvPr/>
        </p:nvSpPr>
        <p:spPr>
          <a:xfrm>
            <a:off x="4773168" y="3566160"/>
            <a:ext cx="914400" cy="219456"/>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EXAMPLE</a:t>
            </a:r>
            <a:endParaRPr lang="en-US" sz="850" dirty="0"/>
          </a:p>
        </p:txBody>
      </p:sp>
      <p:sp>
        <p:nvSpPr>
          <p:cNvPr id="20" name="Text 17"/>
          <p:cNvSpPr txBox="1"/>
          <p:nvPr/>
        </p:nvSpPr>
        <p:spPr>
          <a:xfrm>
            <a:off x="4791456" y="3813048"/>
            <a:ext cx="3803904" cy="841248"/>
          </a:xfrm>
          <a:prstGeom prst="rect">
            <a:avLst/>
          </a:prstGeom>
          <a:noFill/>
          <a:ln/>
        </p:spPr>
        <p:txBody>
          <a:bodyPr wrap="square" lIns="0" tIns="0" rIns="0" bIns="0" rtlCol="0" anchor="t"/>
          <a:lstStyle/>
          <a:p>
            <a:pPr indent="0" marL="0">
              <a:spcAft>
                <a:spcPts val="100"/>
              </a:spcAft>
              <a:buNone/>
            </a:pPr>
            <a:r>
              <a:rPr lang="en-US" sz="900" b="1" dirty="0">
                <a:solidFill>
                  <a:srgbClr val="0B1F3A"/>
                </a:solidFill>
                <a:latin typeface="Calibri" pitchFamily="34" charset="0"/>
                <a:ea typeface="Calibri" pitchFamily="34" charset="-122"/>
                <a:cs typeface="Calibri" pitchFamily="34" charset="-120"/>
              </a:rPr>
              <a:t>Adding one bit</a:t>
            </a:r>
            <a:endParaRPr lang="en-US" sz="900" dirty="0"/>
          </a:p>
          <a:p>
            <a:pPr marL="114300" indent="-114300">
              <a:spcAft>
                <a:spcPts val="100"/>
              </a:spcAft>
              <a:buSzPct val="100000"/>
              <a:buChar char="•"/>
            </a:pPr>
            <a:r>
              <a:rPr lang="en-US" sz="900" dirty="0">
                <a:solidFill>
                  <a:srgbClr val="14213D"/>
                </a:solidFill>
                <a:latin typeface="Cambria" pitchFamily="34" charset="0"/>
                <a:ea typeface="Cambria" pitchFamily="34" charset="-122"/>
                <a:cs typeface="Cambria" pitchFamily="34" charset="-120"/>
              </a:rPr>
              <a:t>12 bits: 4096 levels, step 488 µV over 2 V</a:t>
            </a:r>
            <a:endParaRPr lang="en-US" sz="900" dirty="0"/>
          </a:p>
          <a:p>
            <a:pPr marL="114300" indent="-114300">
              <a:spcAft>
                <a:spcPts val="100"/>
              </a:spcAft>
              <a:buSzPct val="100000"/>
              <a:buChar char="•"/>
            </a:pPr>
            <a:r>
              <a:rPr lang="en-US" sz="900" dirty="0">
                <a:solidFill>
                  <a:srgbClr val="14213D"/>
                </a:solidFill>
                <a:latin typeface="Cambria" pitchFamily="34" charset="0"/>
                <a:ea typeface="Cambria" pitchFamily="34" charset="-122"/>
                <a:cs typeface="Cambria" pitchFamily="34" charset="-120"/>
              </a:rPr>
              <a:t>13 bits: 8192 levels, step 244 µV</a:t>
            </a:r>
            <a:endParaRPr lang="en-US" sz="900" dirty="0"/>
          </a:p>
          <a:p>
            <a:pPr marL="114300" indent="-114300">
              <a:spcAft>
                <a:spcPts val="100"/>
              </a:spcAft>
              <a:buSzPct val="100000"/>
              <a:buChar char="•"/>
            </a:pPr>
            <a:r>
              <a:rPr lang="en-US" sz="900" dirty="0">
                <a:solidFill>
                  <a:srgbClr val="14213D"/>
                </a:solidFill>
                <a:latin typeface="Cambria" pitchFamily="34" charset="0"/>
                <a:ea typeface="Cambria" pitchFamily="34" charset="-122"/>
                <a:cs typeface="Cambria" pitchFamily="34" charset="-120"/>
              </a:rPr>
              <a:t>Each bit doubles the levels, halves the step, and buys about 6 dB</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5522976" cy="640080"/>
          </a:xfrm>
          <a:prstGeom prst="rect">
            <a:avLst/>
          </a:prstGeom>
          <a:noFill/>
          <a:ln/>
        </p:spPr>
        <p:txBody>
          <a:bodyPr wrap="square" lIns="0" tIns="0" rIns="0" bIns="0" rtlCol="0" anchor="ctr"/>
          <a:lstStyle/>
          <a:p>
            <a:pPr indent="0" marL="0">
              <a:buNone/>
            </a:pPr>
            <a:r>
              <a:rPr lang="en-US" sz="2800" b="1" dirty="0">
                <a:solidFill>
                  <a:srgbClr val="0B1F3A"/>
                </a:solidFill>
                <a:latin typeface="Cambria" pitchFamily="34" charset="0"/>
                <a:ea typeface="Cambria" pitchFamily="34" charset="-122"/>
                <a:cs typeface="Cambria" pitchFamily="34" charset="-120"/>
              </a:rPr>
              <a:t>Full-scale range</a:t>
            </a:r>
            <a:endParaRPr lang="en-US" sz="2800" dirty="0"/>
          </a:p>
        </p:txBody>
      </p:sp>
      <p:sp>
        <p:nvSpPr>
          <p:cNvPr id="3" name="Text 1"/>
          <p:cNvSpPr txBox="1"/>
          <p:nvPr/>
        </p:nvSpPr>
        <p:spPr>
          <a:xfrm>
            <a:off x="457200" y="4796028"/>
            <a:ext cx="4572000" cy="228600"/>
          </a:xfrm>
          <a:prstGeom prst="rect">
            <a:avLst/>
          </a:prstGeom>
          <a:noFill/>
          <a:ln/>
        </p:spPr>
        <p:txBody>
          <a:bodyPr wrap="square" lIns="0" tIns="0" rIns="0" bIns="0" rtlCol="0" anchor="ctr"/>
          <a:lstStyle/>
          <a:p>
            <a:pPr indent="0" marL="0">
              <a:buNone/>
            </a:pPr>
            <a:r>
              <a:rPr lang="en-US" sz="900" dirty="0">
                <a:solidFill>
                  <a:srgbClr val="5B6B7F"/>
                </a:solidFill>
                <a:latin typeface="Calibri" pitchFamily="34" charset="0"/>
                <a:ea typeface="Calibri" pitchFamily="34" charset="-122"/>
                <a:cs typeface="Calibri" pitchFamily="34" charset="-120"/>
              </a:rPr>
              <a:t>Part 1 · Resolution and the transfer function</a:t>
            </a:r>
            <a:endParaRPr lang="en-US" sz="900" dirty="0"/>
          </a:p>
        </p:txBody>
      </p:sp>
      <p:sp>
        <p:nvSpPr>
          <p:cNvPr id="4" name="Text 2"/>
          <p:cNvSpPr txBox="1"/>
          <p:nvPr/>
        </p:nvSpPr>
        <p:spPr>
          <a:xfrm>
            <a:off x="7772400" y="4796028"/>
            <a:ext cx="914400" cy="228600"/>
          </a:xfrm>
          <a:prstGeom prst="rect">
            <a:avLst/>
          </a:prstGeom>
          <a:noFill/>
          <a:ln/>
        </p:spPr>
        <p:txBody>
          <a:bodyPr wrap="square" lIns="0" tIns="0" rIns="0" bIns="0" rtlCol="0" anchor="ctr"/>
          <a:lstStyle/>
          <a:p>
            <a:pPr algn="r" indent="0" marL="0">
              <a:buNone/>
            </a:pPr>
            <a:r>
              <a:rPr lang="en-US" sz="900" dirty="0">
                <a:solidFill>
                  <a:srgbClr val="5B6B7F"/>
                </a:solidFill>
                <a:latin typeface="Calibri" pitchFamily="34" charset="0"/>
                <a:ea typeface="Calibri" pitchFamily="34" charset="-122"/>
                <a:cs typeface="Calibri" pitchFamily="34" charset="-120"/>
              </a:rPr>
              <a:t>6</a:t>
            </a:r>
            <a:endParaRPr lang="en-US" sz="900" dirty="0"/>
          </a:p>
        </p:txBody>
      </p:sp>
      <p:sp>
        <p:nvSpPr>
          <p:cNvPr id="5" name="Shape 3"/>
          <p:cNvSpPr/>
          <p:nvPr/>
        </p:nvSpPr>
        <p:spPr>
          <a:xfrm>
            <a:off x="6208776" y="384048"/>
            <a:ext cx="2478024" cy="384048"/>
          </a:xfrm>
          <a:prstGeom prst="roundRect">
            <a:avLst>
              <a:gd name="adj" fmla="val 19048"/>
            </a:avLst>
          </a:prstGeom>
          <a:solidFill>
            <a:srgbClr val="EEF3F8"/>
          </a:solidFill>
          <a:ln w="12700">
            <a:solidFill>
              <a:srgbClr val="EEF3F8"/>
            </a:solidFill>
            <a:prstDash val="solid"/>
          </a:ln>
        </p:spPr>
      </p:sp>
      <p:sp>
        <p:nvSpPr>
          <p:cNvPr id="6" name="Text 4"/>
          <p:cNvSpPr txBox="1"/>
          <p:nvPr/>
        </p:nvSpPr>
        <p:spPr>
          <a:xfrm>
            <a:off x="6208776" y="384048"/>
            <a:ext cx="2478024" cy="384048"/>
          </a:xfrm>
          <a:prstGeom prst="rect">
            <a:avLst/>
          </a:prstGeom>
          <a:noFill/>
          <a:ln/>
        </p:spPr>
        <p:txBody>
          <a:bodyPr wrap="square" lIns="0" tIns="0" rIns="0" bIns="0" rtlCol="0" anchor="ctr"/>
          <a:lstStyle/>
          <a:p>
            <a:pPr algn="ctr" indent="0" marL="0">
              <a:buNone/>
            </a:pPr>
            <a:r>
              <a:rPr lang="en-US" sz="1200" b="1" dirty="0">
                <a:solidFill>
                  <a:srgbClr val="0B1F3A"/>
                </a:solidFill>
                <a:latin typeface="Cambria" pitchFamily="34" charset="0"/>
                <a:ea typeface="Cambria" pitchFamily="34" charset="-122"/>
                <a:cs typeface="Cambria" pitchFamily="34" charset="-120"/>
              </a:rPr>
              <a:t>V_FS, FSR   ·   V</a:t>
            </a:r>
            <a:endParaRPr lang="en-US" sz="1200" dirty="0"/>
          </a:p>
        </p:txBody>
      </p:sp>
      <p:sp>
        <p:nvSpPr>
          <p:cNvPr id="7" name="Text 5"/>
          <p:cNvSpPr txBox="1"/>
          <p:nvPr/>
        </p:nvSpPr>
        <p:spPr>
          <a:xfrm>
            <a:off x="457200" y="1042416"/>
            <a:ext cx="4023360" cy="1005840"/>
          </a:xfrm>
          <a:prstGeom prst="rect">
            <a:avLst/>
          </a:prstGeom>
          <a:noFill/>
          <a:ln/>
        </p:spPr>
        <p:txBody>
          <a:bodyPr wrap="square" lIns="0" tIns="0" rIns="0" bIns="0" rtlCol="0" anchor="t"/>
          <a:lstStyle/>
          <a:p>
            <a:pPr indent="0" marL="0">
              <a:buNone/>
            </a:pPr>
            <a:r>
              <a:rPr lang="en-US" sz="1150" dirty="0">
                <a:solidFill>
                  <a:srgbClr val="14213D"/>
                </a:solidFill>
                <a:latin typeface="Calibri" pitchFamily="34" charset="0"/>
                <a:ea typeface="Calibri" pitchFamily="34" charset="-122"/>
                <a:cs typeface="Calibri" pitchFamily="34" charset="-120"/>
              </a:rPr>
              <a:t>The span of input voltage between the lowest code and the highest. Drive the input outside it and the output clips: the top of the wave is flattened and the spectrum fills with harmonics that were never in the signal.</a:t>
            </a:r>
            <a:endParaRPr lang="en-US" sz="1150" dirty="0"/>
          </a:p>
        </p:txBody>
      </p:sp>
      <p:sp>
        <p:nvSpPr>
          <p:cNvPr id="8" name="Shape 6"/>
          <p:cNvSpPr/>
          <p:nvPr/>
        </p:nvSpPr>
        <p:spPr>
          <a:xfrm>
            <a:off x="457200" y="2103120"/>
            <a:ext cx="4023360" cy="685800"/>
          </a:xfrm>
          <a:prstGeom prst="roundRect">
            <a:avLst>
              <a:gd name="adj" fmla="val 10667"/>
            </a:avLst>
          </a:prstGeom>
          <a:solidFill>
            <a:srgbClr val="EEF3F8"/>
          </a:solidFill>
          <a:ln w="12700">
            <a:solidFill>
              <a:srgbClr val="EEF3F8"/>
            </a:solidFill>
            <a:prstDash val="solid"/>
          </a:ln>
        </p:spPr>
      </p:sp>
      <p:sp>
        <p:nvSpPr>
          <p:cNvPr id="9" name="Text 7"/>
          <p:cNvSpPr txBox="1"/>
          <p:nvPr/>
        </p:nvSpPr>
        <p:spPr>
          <a:xfrm>
            <a:off x="594360" y="2103120"/>
            <a:ext cx="3749040" cy="429768"/>
          </a:xfrm>
          <a:prstGeom prst="rect">
            <a:avLst/>
          </a:prstGeom>
          <a:noFill/>
          <a:ln/>
        </p:spPr>
        <p:txBody>
          <a:bodyPr wrap="square" lIns="0" tIns="0" rIns="0" bIns="0" rtlCol="0" anchor="ctr"/>
          <a:lstStyle/>
          <a:p>
            <a:pPr algn="ctr" indent="0" marL="0">
              <a:buNone/>
            </a:pPr>
            <a:r>
              <a:rPr lang="en-US" sz="1500" dirty="0">
                <a:solidFill>
                  <a:srgbClr val="0B1F3A"/>
                </a:solidFill>
                <a:latin typeface="Cambria" pitchFamily="34" charset="0"/>
                <a:ea typeface="Cambria" pitchFamily="34" charset="-122"/>
                <a:cs typeface="Cambria" pitchFamily="34" charset="-120"/>
              </a:rPr>
              <a:t>FSR = V_ref⁺ − V_ref⁻</a:t>
            </a:r>
            <a:endParaRPr lang="en-US" sz="1500" dirty="0"/>
          </a:p>
        </p:txBody>
      </p:sp>
      <p:sp>
        <p:nvSpPr>
          <p:cNvPr id="10" name="Text 8"/>
          <p:cNvSpPr txBox="1"/>
          <p:nvPr/>
        </p:nvSpPr>
        <p:spPr>
          <a:xfrm>
            <a:off x="594360" y="2487168"/>
            <a:ext cx="3749040" cy="256032"/>
          </a:xfrm>
          <a:prstGeom prst="rect">
            <a:avLst/>
          </a:prstGeom>
          <a:noFill/>
          <a:ln/>
        </p:spPr>
        <p:txBody>
          <a:bodyPr wrap="square" lIns="0" tIns="0" rIns="0" bIns="0" rtlCol="0" anchor="t"/>
          <a:lstStyle/>
          <a:p>
            <a:pPr algn="ctr" indent="0" marL="0">
              <a:buNone/>
            </a:pPr>
            <a:r>
              <a:rPr lang="en-US" sz="1000" dirty="0">
                <a:solidFill>
                  <a:srgbClr val="5B6B7F"/>
                </a:solidFill>
                <a:latin typeface="Calibri" pitchFamily="34" charset="0"/>
                <a:ea typeface="Calibri" pitchFamily="34" charset="-122"/>
                <a:cs typeface="Calibri" pitchFamily="34" charset="-120"/>
              </a:rPr>
              <a:t>Often just V_ref, or 2 × V_ref for a differential input</a:t>
            </a:r>
            <a:endParaRPr lang="en-US" sz="1000" dirty="0"/>
          </a:p>
        </p:txBody>
      </p:sp>
      <p:sp>
        <p:nvSpPr>
          <p:cNvPr id="11" name="Shape 9"/>
          <p:cNvSpPr/>
          <p:nvPr/>
        </p:nvSpPr>
        <p:spPr>
          <a:xfrm>
            <a:off x="457200" y="2862072"/>
            <a:ext cx="4023360" cy="685800"/>
          </a:xfrm>
          <a:prstGeom prst="roundRect">
            <a:avLst>
              <a:gd name="adj" fmla="val 10667"/>
            </a:avLst>
          </a:prstGeom>
          <a:solidFill>
            <a:srgbClr val="EEF3F8"/>
          </a:solidFill>
          <a:ln w="12700">
            <a:solidFill>
              <a:srgbClr val="EEF3F8"/>
            </a:solidFill>
            <a:prstDash val="solid"/>
          </a:ln>
        </p:spPr>
      </p:sp>
      <p:sp>
        <p:nvSpPr>
          <p:cNvPr id="12" name="Text 10"/>
          <p:cNvSpPr txBox="1"/>
          <p:nvPr/>
        </p:nvSpPr>
        <p:spPr>
          <a:xfrm>
            <a:off x="594360" y="2862072"/>
            <a:ext cx="3749040" cy="429768"/>
          </a:xfrm>
          <a:prstGeom prst="rect">
            <a:avLst/>
          </a:prstGeom>
          <a:noFill/>
          <a:ln/>
        </p:spPr>
        <p:txBody>
          <a:bodyPr wrap="square" lIns="0" tIns="0" rIns="0" bIns="0" rtlCol="0" anchor="ctr"/>
          <a:lstStyle/>
          <a:p>
            <a:pPr algn="ctr" indent="0" marL="0">
              <a:buNone/>
            </a:pPr>
            <a:r>
              <a:rPr lang="en-US" sz="1100" dirty="0">
                <a:solidFill>
                  <a:srgbClr val="0B1F3A"/>
                </a:solidFill>
                <a:latin typeface="Cambria" pitchFamily="34" charset="0"/>
                <a:ea typeface="Cambria" pitchFamily="34" charset="-122"/>
                <a:cs typeface="Cambria" pitchFamily="34" charset="-120"/>
              </a:rPr>
              <a:t>headroom (dBFS) = 20 log₁₀( V_in,pk / (FSR/2) )</a:t>
            </a:r>
            <a:endParaRPr lang="en-US" sz="1100" dirty="0"/>
          </a:p>
        </p:txBody>
      </p:sp>
      <p:sp>
        <p:nvSpPr>
          <p:cNvPr id="13" name="Text 11"/>
          <p:cNvSpPr txBox="1"/>
          <p:nvPr/>
        </p:nvSpPr>
        <p:spPr>
          <a:xfrm>
            <a:off x="594360" y="3246120"/>
            <a:ext cx="3749040" cy="256032"/>
          </a:xfrm>
          <a:prstGeom prst="rect">
            <a:avLst/>
          </a:prstGeom>
          <a:noFill/>
          <a:ln/>
        </p:spPr>
        <p:txBody>
          <a:bodyPr wrap="square" lIns="0" tIns="0" rIns="0" bIns="0" rtlCol="0" anchor="t"/>
          <a:lstStyle/>
          <a:p>
            <a:pPr algn="ctr" indent="0" marL="0">
              <a:buNone/>
            </a:pPr>
            <a:r>
              <a:rPr lang="en-US" sz="1000" dirty="0">
                <a:solidFill>
                  <a:srgbClr val="5B6B7F"/>
                </a:solidFill>
                <a:latin typeface="Calibri" pitchFamily="34" charset="0"/>
                <a:ea typeface="Calibri" pitchFamily="34" charset="-122"/>
                <a:cs typeface="Calibri" pitchFamily="34" charset="-120"/>
              </a:rPr>
              <a:t>How far below full scale you are running</a:t>
            </a:r>
            <a:endParaRPr lang="en-US" sz="1000" dirty="0"/>
          </a:p>
        </p:txBody>
      </p:sp>
      <p:graphicFrame>
        <p:nvGraphicFramePr>
          <p:cNvPr id="14" name="Chart 0" descr=""/>
          <p:cNvGraphicFramePr/>
          <p:nvPr/>
        </p:nvGraphicFramePr>
        <p:xfrm>
          <a:off x="4663440" y="1042416"/>
          <a:ext cx="4023360" cy="2084832"/>
        </p:xfrm>
        <a:graphic xmlns:a="http://schemas.openxmlformats.org/drawingml/2006/main">
          <a:graphicData uri="http://schemas.openxmlformats.org/drawingml/2006/chart">
            <c:chart xmlns:c="http://schemas.openxmlformats.org/drawingml/2006/chart" r:id="rId1"/>
          </a:graphicData>
        </a:graphic>
      </p:graphicFrame>
      <p:sp>
        <p:nvSpPr>
          <p:cNvPr id="15" name="Text 12"/>
          <p:cNvSpPr txBox="1"/>
          <p:nvPr/>
        </p:nvSpPr>
        <p:spPr>
          <a:xfrm>
            <a:off x="4663440" y="3200400"/>
            <a:ext cx="4023360" cy="347472"/>
          </a:xfrm>
          <a:prstGeom prst="rect">
            <a:avLst/>
          </a:prstGeom>
          <a:noFill/>
          <a:ln/>
        </p:spPr>
        <p:txBody>
          <a:bodyPr wrap="square" lIns="0" tIns="0" rIns="0" bIns="0" rtlCol="0" anchor="ctr"/>
          <a:lstStyle/>
          <a:p>
            <a:pPr algn="ctr" indent="0" marL="0">
              <a:buNone/>
            </a:pPr>
            <a:r>
              <a:rPr lang="en-US" sz="1000" i="1" dirty="0">
                <a:solidFill>
                  <a:srgbClr val="5B6B7F"/>
                </a:solidFill>
                <a:latin typeface="Calibri" pitchFamily="34" charset="0"/>
                <a:ea typeface="Calibri" pitchFamily="34" charset="-122"/>
                <a:cs typeface="Calibri" pitchFamily="34" charset="-120"/>
              </a:rPr>
              <a:t>Most in-the-field ADC failures are clipping, not noise. Radio front ends normally leave 6 to 12 dB of headroom for signal peaks.</a:t>
            </a:r>
            <a:endParaRPr lang="en-US" sz="1000" dirty="0"/>
          </a:p>
        </p:txBody>
      </p:sp>
      <p:sp>
        <p:nvSpPr>
          <p:cNvPr id="16" name="Shape 13"/>
          <p:cNvSpPr/>
          <p:nvPr/>
        </p:nvSpPr>
        <p:spPr>
          <a:xfrm>
            <a:off x="457200" y="3675888"/>
            <a:ext cx="4023360" cy="1024128"/>
          </a:xfrm>
          <a:prstGeom prst="roundRect">
            <a:avLst>
              <a:gd name="adj" fmla="val 7143"/>
            </a:avLst>
          </a:prstGeom>
          <a:solidFill>
            <a:srgbClr val="E4F7F4"/>
          </a:solidFill>
          <a:ln w="12700">
            <a:solidFill>
              <a:srgbClr val="E4F7F4"/>
            </a:solidFill>
            <a:prstDash val="solid"/>
          </a:ln>
        </p:spPr>
      </p:sp>
      <p:sp>
        <p:nvSpPr>
          <p:cNvPr id="17" name="Shape 14"/>
          <p:cNvSpPr/>
          <p:nvPr/>
        </p:nvSpPr>
        <p:spPr>
          <a:xfrm>
            <a:off x="566928" y="3776472"/>
            <a:ext cx="237744" cy="237744"/>
          </a:xfrm>
          <a:prstGeom prst="ellipse">
            <a:avLst/>
          </a:prstGeom>
          <a:solidFill>
            <a:srgbClr val="2EC4B6"/>
          </a:solidFill>
          <a:ln w="12700">
            <a:solidFill>
              <a:srgbClr val="2EC4B6"/>
            </a:solidFill>
            <a:prstDash val="solid"/>
          </a:ln>
        </p:spPr>
      </p:sp>
      <p:sp>
        <p:nvSpPr>
          <p:cNvPr id="18" name="Text 15"/>
          <p:cNvSpPr txBox="1"/>
          <p:nvPr/>
        </p:nvSpPr>
        <p:spPr>
          <a:xfrm>
            <a:off x="566928" y="3776472"/>
            <a:ext cx="237744" cy="237744"/>
          </a:xfrm>
          <a:prstGeom prst="rect">
            <a:avLst/>
          </a:prstGeom>
          <a:noFill/>
          <a:ln/>
        </p:spPr>
        <p:txBody>
          <a:bodyPr wrap="square" lIns="0" tIns="0" rIns="0" bIns="0" rtlCol="0" anchor="ctr"/>
          <a:lstStyle/>
          <a:p>
            <a:pPr algn="ctr" indent="0" marL="0">
              <a:buNone/>
            </a:pPr>
            <a:r>
              <a:rPr lang="en-US" sz="1200" b="1" dirty="0">
                <a:solidFill>
                  <a:srgbClr val="0B1F3A"/>
                </a:solidFill>
                <a:latin typeface="Calibri" pitchFamily="34" charset="0"/>
                <a:ea typeface="Calibri" pitchFamily="34" charset="-122"/>
                <a:cs typeface="Calibri" pitchFamily="34" charset="-120"/>
              </a:rPr>
              <a:t>≈</a:t>
            </a:r>
            <a:endParaRPr lang="en-US" sz="1200" dirty="0"/>
          </a:p>
        </p:txBody>
      </p:sp>
      <p:sp>
        <p:nvSpPr>
          <p:cNvPr id="19" name="Text 16"/>
          <p:cNvSpPr txBox="1"/>
          <p:nvPr/>
        </p:nvSpPr>
        <p:spPr>
          <a:xfrm>
            <a:off x="877824" y="3739896"/>
            <a:ext cx="3493008" cy="896112"/>
          </a:xfrm>
          <a:prstGeom prst="rect">
            <a:avLst/>
          </a:prstGeom>
          <a:noFill/>
          <a:ln/>
        </p:spPr>
        <p:txBody>
          <a:bodyPr wrap="square" lIns="0" tIns="0" rIns="0" bIns="0" rtlCol="0" anchor="t"/>
          <a:lstStyle/>
          <a:p>
            <a:pPr indent="0" marL="0">
              <a:buNone/>
            </a:pPr>
            <a:r>
              <a:rPr lang="en-US" sz="1050" b="1" dirty="0">
                <a:solidFill>
                  <a:srgbClr val="0B1F3A"/>
                </a:solidFill>
                <a:latin typeface="Calibri" pitchFamily="34" charset="0"/>
                <a:ea typeface="Calibri" pitchFamily="34" charset="-122"/>
                <a:cs typeface="Calibri" pitchFamily="34" charset="-120"/>
              </a:rPr>
              <a:t>Think of it like this  </a:t>
            </a:r>
            <a:pPr indent="0" marL="0">
              <a:buNone/>
            </a:pPr>
            <a:r>
              <a:rPr lang="en-US" sz="1050" dirty="0">
                <a:solidFill>
                  <a:srgbClr val="14213D"/>
                </a:solidFill>
                <a:latin typeface="Calibri" pitchFamily="34" charset="0"/>
                <a:ea typeface="Calibri" pitchFamily="34" charset="-122"/>
                <a:cs typeface="Calibri" pitchFamily="34" charset="-120"/>
              </a:rPr>
              <a:t>The length of the ruler. A 2-metre ruler cannot measure a 3-metre pole; it just reads "2 m" and you never learn the truth.</a:t>
            </a:r>
            <a:endParaRPr lang="en-US" sz="1050" dirty="0"/>
          </a:p>
        </p:txBody>
      </p:sp>
      <p:sp>
        <p:nvSpPr>
          <p:cNvPr id="20" name="Shape 17"/>
          <p:cNvSpPr/>
          <p:nvPr/>
        </p:nvSpPr>
        <p:spPr>
          <a:xfrm>
            <a:off x="4663440" y="3675888"/>
            <a:ext cx="4023360" cy="1024128"/>
          </a:xfrm>
          <a:prstGeom prst="roundRect">
            <a:avLst>
              <a:gd name="adj" fmla="val 7143"/>
            </a:avLst>
          </a:prstGeom>
          <a:solidFill>
            <a:srgbClr val="FFFFFF"/>
          </a:solidFill>
          <a:ln w="12700">
            <a:solidFill>
              <a:srgbClr val="0B1F3A"/>
            </a:solidFill>
            <a:prstDash val="solid"/>
          </a:ln>
        </p:spPr>
      </p:sp>
      <p:sp>
        <p:nvSpPr>
          <p:cNvPr id="21" name="Shape 18"/>
          <p:cNvSpPr/>
          <p:nvPr/>
        </p:nvSpPr>
        <p:spPr>
          <a:xfrm>
            <a:off x="4773168" y="3566160"/>
            <a:ext cx="914400" cy="219456"/>
          </a:xfrm>
          <a:prstGeom prst="roundRect">
            <a:avLst>
              <a:gd name="adj" fmla="val 25000"/>
            </a:avLst>
          </a:prstGeom>
          <a:solidFill>
            <a:srgbClr val="0B1F3A"/>
          </a:solidFill>
          <a:ln w="12700">
            <a:solidFill>
              <a:srgbClr val="0B1F3A"/>
            </a:solidFill>
            <a:prstDash val="solid"/>
          </a:ln>
        </p:spPr>
      </p:sp>
      <p:sp>
        <p:nvSpPr>
          <p:cNvPr id="22" name="Text 19"/>
          <p:cNvSpPr txBox="1"/>
          <p:nvPr/>
        </p:nvSpPr>
        <p:spPr>
          <a:xfrm>
            <a:off x="4773168" y="3566160"/>
            <a:ext cx="914400" cy="219456"/>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EXAMPLE</a:t>
            </a:r>
            <a:endParaRPr lang="en-US" sz="850" dirty="0"/>
          </a:p>
        </p:txBody>
      </p:sp>
      <p:sp>
        <p:nvSpPr>
          <p:cNvPr id="23" name="Text 20"/>
          <p:cNvSpPr txBox="1"/>
          <p:nvPr/>
        </p:nvSpPr>
        <p:spPr>
          <a:xfrm>
            <a:off x="4791456" y="3813048"/>
            <a:ext cx="3803904" cy="841248"/>
          </a:xfrm>
          <a:prstGeom prst="rect">
            <a:avLst/>
          </a:prstGeom>
          <a:noFill/>
          <a:ln/>
        </p:spPr>
        <p:txBody>
          <a:bodyPr wrap="square" lIns="0" tIns="0" rIns="0" bIns="0" rtlCol="0" anchor="t"/>
          <a:lstStyle/>
          <a:p>
            <a:pPr indent="0" marL="0">
              <a:spcAft>
                <a:spcPts val="100"/>
              </a:spcAft>
              <a:buNone/>
            </a:pPr>
            <a:r>
              <a:rPr lang="en-US" sz="900" b="1" dirty="0">
                <a:solidFill>
                  <a:srgbClr val="0B1F3A"/>
                </a:solidFill>
                <a:latin typeface="Calibri" pitchFamily="34" charset="0"/>
                <a:ea typeface="Calibri" pitchFamily="34" charset="-122"/>
                <a:cs typeface="Calibri" pitchFamily="34" charset="-120"/>
              </a:rPr>
              <a:t>Leaving headroom</a:t>
            </a:r>
            <a:endParaRPr lang="en-US" sz="900" dirty="0"/>
          </a:p>
          <a:p>
            <a:pPr marL="114300" indent="-114300">
              <a:spcAft>
                <a:spcPts val="100"/>
              </a:spcAft>
              <a:buSzPct val="100000"/>
              <a:buChar char="•"/>
            </a:pPr>
            <a:r>
              <a:rPr lang="en-US" sz="900" dirty="0">
                <a:solidFill>
                  <a:srgbClr val="14213D"/>
                </a:solidFill>
                <a:latin typeface="Cambria" pitchFamily="34" charset="0"/>
                <a:ea typeface="Cambria" pitchFamily="34" charset="-122"/>
                <a:cs typeface="Cambria" pitchFamily="34" charset="-120"/>
              </a:rPr>
              <a:t>FSR 2 V peak-to-peak, so ±1 V</a:t>
            </a:r>
            <a:endParaRPr lang="en-US" sz="900" dirty="0"/>
          </a:p>
          <a:p>
            <a:pPr marL="114300" indent="-114300">
              <a:spcAft>
                <a:spcPts val="100"/>
              </a:spcAft>
              <a:buSzPct val="100000"/>
              <a:buChar char="•"/>
            </a:pPr>
            <a:r>
              <a:rPr lang="en-US" sz="900" dirty="0">
                <a:solidFill>
                  <a:srgbClr val="14213D"/>
                </a:solidFill>
                <a:latin typeface="Cambria" pitchFamily="34" charset="0"/>
                <a:ea typeface="Cambria" pitchFamily="34" charset="-122"/>
                <a:cs typeface="Cambria" pitchFamily="34" charset="-120"/>
              </a:rPr>
              <a:t>Drive to ±0.9 V: 0.9 dB of back-off, no clipping</a:t>
            </a:r>
            <a:endParaRPr lang="en-US" sz="900" dirty="0"/>
          </a:p>
          <a:p>
            <a:pPr marL="114300" indent="-114300">
              <a:spcAft>
                <a:spcPts val="100"/>
              </a:spcAft>
              <a:buSzPct val="100000"/>
              <a:buChar char="•"/>
            </a:pPr>
            <a:r>
              <a:rPr lang="en-US" sz="900" dirty="0">
                <a:solidFill>
                  <a:srgbClr val="14213D"/>
                </a:solidFill>
                <a:latin typeface="Cambria" pitchFamily="34" charset="0"/>
                <a:ea typeface="Cambria" pitchFamily="34" charset="-122"/>
                <a:cs typeface="Cambria" pitchFamily="34" charset="-120"/>
              </a:rPr>
              <a:t>Drive to ±1.2 V: clipped, and SFDR collapses from 80 dB to about 20 dB</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5879592" cy="64008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LSB — the size of one step</a:t>
            </a:r>
            <a:endParaRPr lang="en-US" sz="2400" dirty="0"/>
          </a:p>
        </p:txBody>
      </p:sp>
      <p:sp>
        <p:nvSpPr>
          <p:cNvPr id="3" name="Text 1"/>
          <p:cNvSpPr txBox="1"/>
          <p:nvPr/>
        </p:nvSpPr>
        <p:spPr>
          <a:xfrm>
            <a:off x="457200" y="4796028"/>
            <a:ext cx="4572000" cy="228600"/>
          </a:xfrm>
          <a:prstGeom prst="rect">
            <a:avLst/>
          </a:prstGeom>
          <a:noFill/>
          <a:ln/>
        </p:spPr>
        <p:txBody>
          <a:bodyPr wrap="square" lIns="0" tIns="0" rIns="0" bIns="0" rtlCol="0" anchor="ctr"/>
          <a:lstStyle/>
          <a:p>
            <a:pPr indent="0" marL="0">
              <a:buNone/>
            </a:pPr>
            <a:r>
              <a:rPr lang="en-US" sz="900" dirty="0">
                <a:solidFill>
                  <a:srgbClr val="5B6B7F"/>
                </a:solidFill>
                <a:latin typeface="Calibri" pitchFamily="34" charset="0"/>
                <a:ea typeface="Calibri" pitchFamily="34" charset="-122"/>
                <a:cs typeface="Calibri" pitchFamily="34" charset="-120"/>
              </a:rPr>
              <a:t>Part 1 · Resolution and the transfer function</a:t>
            </a:r>
            <a:endParaRPr lang="en-US" sz="900" dirty="0"/>
          </a:p>
        </p:txBody>
      </p:sp>
      <p:sp>
        <p:nvSpPr>
          <p:cNvPr id="4" name="Text 2"/>
          <p:cNvSpPr txBox="1"/>
          <p:nvPr/>
        </p:nvSpPr>
        <p:spPr>
          <a:xfrm>
            <a:off x="7772400" y="4796028"/>
            <a:ext cx="914400" cy="228600"/>
          </a:xfrm>
          <a:prstGeom prst="rect">
            <a:avLst/>
          </a:prstGeom>
          <a:noFill/>
          <a:ln/>
        </p:spPr>
        <p:txBody>
          <a:bodyPr wrap="square" lIns="0" tIns="0" rIns="0" bIns="0" rtlCol="0" anchor="ctr"/>
          <a:lstStyle/>
          <a:p>
            <a:pPr algn="r" indent="0" marL="0">
              <a:buNone/>
            </a:pPr>
            <a:r>
              <a:rPr lang="en-US" sz="900" dirty="0">
                <a:solidFill>
                  <a:srgbClr val="5B6B7F"/>
                </a:solidFill>
                <a:latin typeface="Calibri" pitchFamily="34" charset="0"/>
                <a:ea typeface="Calibri" pitchFamily="34" charset="-122"/>
                <a:cs typeface="Calibri" pitchFamily="34" charset="-120"/>
              </a:rPr>
              <a:t>7</a:t>
            </a:r>
            <a:endParaRPr lang="en-US" sz="900" dirty="0"/>
          </a:p>
        </p:txBody>
      </p:sp>
      <p:sp>
        <p:nvSpPr>
          <p:cNvPr id="5" name="Shape 3"/>
          <p:cNvSpPr/>
          <p:nvPr/>
        </p:nvSpPr>
        <p:spPr>
          <a:xfrm>
            <a:off x="6565392" y="384048"/>
            <a:ext cx="2121408" cy="384048"/>
          </a:xfrm>
          <a:prstGeom prst="roundRect">
            <a:avLst>
              <a:gd name="adj" fmla="val 19048"/>
            </a:avLst>
          </a:prstGeom>
          <a:solidFill>
            <a:srgbClr val="EEF3F8"/>
          </a:solidFill>
          <a:ln w="12700">
            <a:solidFill>
              <a:srgbClr val="EEF3F8"/>
            </a:solidFill>
            <a:prstDash val="solid"/>
          </a:ln>
        </p:spPr>
      </p:sp>
      <p:sp>
        <p:nvSpPr>
          <p:cNvPr id="6" name="Text 4"/>
          <p:cNvSpPr txBox="1"/>
          <p:nvPr/>
        </p:nvSpPr>
        <p:spPr>
          <a:xfrm>
            <a:off x="6565392" y="384048"/>
            <a:ext cx="2121408" cy="384048"/>
          </a:xfrm>
          <a:prstGeom prst="rect">
            <a:avLst/>
          </a:prstGeom>
          <a:noFill/>
          <a:ln/>
        </p:spPr>
        <p:txBody>
          <a:bodyPr wrap="square" lIns="0" tIns="0" rIns="0" bIns="0" rtlCol="0" anchor="ctr"/>
          <a:lstStyle/>
          <a:p>
            <a:pPr algn="ctr" indent="0" marL="0">
              <a:buNone/>
            </a:pPr>
            <a:r>
              <a:rPr lang="en-US" sz="1200" b="1" dirty="0">
                <a:solidFill>
                  <a:srgbClr val="0B1F3A"/>
                </a:solidFill>
                <a:latin typeface="Cambria" pitchFamily="34" charset="0"/>
                <a:ea typeface="Cambria" pitchFamily="34" charset="-122"/>
                <a:cs typeface="Cambria" pitchFamily="34" charset="-120"/>
              </a:rPr>
              <a:t>q, LSB   ·   V</a:t>
            </a:r>
            <a:endParaRPr lang="en-US" sz="1200" dirty="0"/>
          </a:p>
        </p:txBody>
      </p:sp>
      <p:sp>
        <p:nvSpPr>
          <p:cNvPr id="7" name="Text 5"/>
          <p:cNvSpPr txBox="1"/>
          <p:nvPr/>
        </p:nvSpPr>
        <p:spPr>
          <a:xfrm>
            <a:off x="457200" y="1042416"/>
            <a:ext cx="4023360" cy="1207008"/>
          </a:xfrm>
          <a:prstGeom prst="rect">
            <a:avLst/>
          </a:prstGeom>
          <a:noFill/>
          <a:ln/>
        </p:spPr>
        <p:txBody>
          <a:bodyPr wrap="square" lIns="0" tIns="0" rIns="0" bIns="0" rtlCol="0" anchor="t"/>
          <a:lstStyle/>
          <a:p>
            <a:pPr indent="0" marL="0">
              <a:buNone/>
            </a:pPr>
            <a:r>
              <a:rPr lang="en-US" sz="1150" dirty="0">
                <a:solidFill>
                  <a:srgbClr val="14213D"/>
                </a:solidFill>
                <a:latin typeface="Calibri" pitchFamily="34" charset="0"/>
                <a:ea typeface="Calibri" pitchFamily="34" charset="-122"/>
                <a:cs typeface="Calibri" pitchFamily="34" charset="-120"/>
              </a:rPr>
              <a:t>The voltage difference between two neighbouring codes. It is the natural unit for almost every other parameter on the datasheet: offset, DNL, INL and noise are all quoted in LSBs rather than volts, so they stay meaningful when the range changes.</a:t>
            </a:r>
            <a:endParaRPr lang="en-US" sz="1150" dirty="0"/>
          </a:p>
        </p:txBody>
      </p:sp>
      <p:sp>
        <p:nvSpPr>
          <p:cNvPr id="8" name="Shape 6"/>
          <p:cNvSpPr/>
          <p:nvPr/>
        </p:nvSpPr>
        <p:spPr>
          <a:xfrm>
            <a:off x="457200" y="2304288"/>
            <a:ext cx="4023360" cy="868680"/>
          </a:xfrm>
          <a:prstGeom prst="roundRect">
            <a:avLst>
              <a:gd name="adj" fmla="val 8421"/>
            </a:avLst>
          </a:prstGeom>
          <a:solidFill>
            <a:srgbClr val="EEF3F8"/>
          </a:solidFill>
          <a:ln w="12700">
            <a:solidFill>
              <a:srgbClr val="EEF3F8"/>
            </a:solidFill>
            <a:prstDash val="solid"/>
          </a:ln>
        </p:spPr>
      </p:sp>
      <p:sp>
        <p:nvSpPr>
          <p:cNvPr id="9" name="Text 7"/>
          <p:cNvSpPr txBox="1"/>
          <p:nvPr/>
        </p:nvSpPr>
        <p:spPr>
          <a:xfrm>
            <a:off x="594360" y="2304288"/>
            <a:ext cx="3749040" cy="612648"/>
          </a:xfrm>
          <a:prstGeom prst="rect">
            <a:avLst/>
          </a:prstGeom>
          <a:noFill/>
          <a:ln/>
        </p:spPr>
        <p:txBody>
          <a:bodyPr wrap="square" lIns="0" tIns="0" rIns="0" bIns="0" rtlCol="0" anchor="ctr"/>
          <a:lstStyle/>
          <a:p>
            <a:pPr algn="ctr" indent="0" marL="0">
              <a:buNone/>
            </a:pPr>
            <a:r>
              <a:rPr lang="en-US" sz="1500" dirty="0">
                <a:solidFill>
                  <a:srgbClr val="0B1F3A"/>
                </a:solidFill>
                <a:latin typeface="Cambria" pitchFamily="34" charset="0"/>
                <a:ea typeface="Cambria" pitchFamily="34" charset="-122"/>
                <a:cs typeface="Cambria" pitchFamily="34" charset="-120"/>
              </a:rPr>
              <a:t>LSB = FSR / 2ᴺ</a:t>
            </a:r>
            <a:endParaRPr lang="en-US" sz="1500" dirty="0"/>
          </a:p>
        </p:txBody>
      </p:sp>
      <p:sp>
        <p:nvSpPr>
          <p:cNvPr id="10" name="Text 8"/>
          <p:cNvSpPr txBox="1"/>
          <p:nvPr/>
        </p:nvSpPr>
        <p:spPr>
          <a:xfrm>
            <a:off x="594360" y="2871216"/>
            <a:ext cx="3749040" cy="256032"/>
          </a:xfrm>
          <a:prstGeom prst="rect">
            <a:avLst/>
          </a:prstGeom>
          <a:noFill/>
          <a:ln/>
        </p:spPr>
        <p:txBody>
          <a:bodyPr wrap="square" lIns="0" tIns="0" rIns="0" bIns="0" rtlCol="0" anchor="t"/>
          <a:lstStyle/>
          <a:p>
            <a:pPr algn="ctr" indent="0" marL="0">
              <a:buNone/>
            </a:pPr>
            <a:r>
              <a:rPr lang="en-US" sz="1000" dirty="0">
                <a:solidFill>
                  <a:srgbClr val="5B6B7F"/>
                </a:solidFill>
                <a:latin typeface="Calibri" pitchFamily="34" charset="0"/>
                <a:ea typeface="Calibri" pitchFamily="34" charset="-122"/>
                <a:cs typeface="Calibri" pitchFamily="34" charset="-120"/>
              </a:rPr>
              <a:t>The quantum: nothing smaller than this can be resolved</a:t>
            </a:r>
            <a:endParaRPr lang="en-US" sz="1000" dirty="0"/>
          </a:p>
        </p:txBody>
      </p:sp>
      <p:graphicFrame>
        <p:nvGraphicFramePr>
          <p:cNvPr id="11" name="Chart 0" descr=""/>
          <p:cNvGraphicFramePr/>
          <p:nvPr/>
        </p:nvGraphicFramePr>
        <p:xfrm>
          <a:off x="4663440" y="1042416"/>
          <a:ext cx="4023360" cy="2084832"/>
        </p:xfrm>
        <a:graphic xmlns:a="http://schemas.openxmlformats.org/drawingml/2006/main">
          <a:graphicData uri="http://schemas.openxmlformats.org/drawingml/2006/chart">
            <c:chart xmlns:c="http://schemas.openxmlformats.org/drawingml/2006/chart" r:id="rId1"/>
          </a:graphicData>
        </a:graphic>
      </p:graphicFrame>
      <p:sp>
        <p:nvSpPr>
          <p:cNvPr id="12" name="Text 9"/>
          <p:cNvSpPr txBox="1"/>
          <p:nvPr/>
        </p:nvSpPr>
        <p:spPr>
          <a:xfrm>
            <a:off x="4663440" y="3200400"/>
            <a:ext cx="4023360" cy="347472"/>
          </a:xfrm>
          <a:prstGeom prst="rect">
            <a:avLst/>
          </a:prstGeom>
          <a:noFill/>
          <a:ln/>
        </p:spPr>
        <p:txBody>
          <a:bodyPr wrap="square" lIns="0" tIns="0" rIns="0" bIns="0" rtlCol="0" anchor="ctr"/>
          <a:lstStyle/>
          <a:p>
            <a:pPr algn="ctr" indent="0" marL="0">
              <a:buNone/>
            </a:pPr>
            <a:r>
              <a:rPr lang="en-US" sz="1000" i="1" dirty="0">
                <a:solidFill>
                  <a:srgbClr val="5B6B7F"/>
                </a:solidFill>
                <a:latin typeface="Calibri" pitchFamily="34" charset="0"/>
                <a:ea typeface="Calibri" pitchFamily="34" charset="-122"/>
                <a:cs typeface="Calibri" pitchFamily="34" charset="-120"/>
              </a:rPr>
              <a:t>Once the LSB drops below the noise of the circuitry in front of the ADC, extra bits buy nothing at all.</a:t>
            </a:r>
            <a:endParaRPr lang="en-US" sz="1000" dirty="0"/>
          </a:p>
        </p:txBody>
      </p:sp>
      <p:sp>
        <p:nvSpPr>
          <p:cNvPr id="13" name="Shape 10"/>
          <p:cNvSpPr/>
          <p:nvPr/>
        </p:nvSpPr>
        <p:spPr>
          <a:xfrm>
            <a:off x="457200" y="3675888"/>
            <a:ext cx="4023360" cy="1024128"/>
          </a:xfrm>
          <a:prstGeom prst="roundRect">
            <a:avLst>
              <a:gd name="adj" fmla="val 7143"/>
            </a:avLst>
          </a:prstGeom>
          <a:solidFill>
            <a:srgbClr val="E4F7F4"/>
          </a:solidFill>
          <a:ln w="12700">
            <a:solidFill>
              <a:srgbClr val="E4F7F4"/>
            </a:solidFill>
            <a:prstDash val="solid"/>
          </a:ln>
        </p:spPr>
      </p:sp>
      <p:sp>
        <p:nvSpPr>
          <p:cNvPr id="14" name="Shape 11"/>
          <p:cNvSpPr/>
          <p:nvPr/>
        </p:nvSpPr>
        <p:spPr>
          <a:xfrm>
            <a:off x="566928" y="3776472"/>
            <a:ext cx="237744" cy="237744"/>
          </a:xfrm>
          <a:prstGeom prst="ellipse">
            <a:avLst/>
          </a:prstGeom>
          <a:solidFill>
            <a:srgbClr val="2EC4B6"/>
          </a:solidFill>
          <a:ln w="12700">
            <a:solidFill>
              <a:srgbClr val="2EC4B6"/>
            </a:solidFill>
            <a:prstDash val="solid"/>
          </a:ln>
        </p:spPr>
      </p:sp>
      <p:sp>
        <p:nvSpPr>
          <p:cNvPr id="15" name="Text 12"/>
          <p:cNvSpPr txBox="1"/>
          <p:nvPr/>
        </p:nvSpPr>
        <p:spPr>
          <a:xfrm>
            <a:off x="566928" y="3776472"/>
            <a:ext cx="237744" cy="237744"/>
          </a:xfrm>
          <a:prstGeom prst="rect">
            <a:avLst/>
          </a:prstGeom>
          <a:noFill/>
          <a:ln/>
        </p:spPr>
        <p:txBody>
          <a:bodyPr wrap="square" lIns="0" tIns="0" rIns="0" bIns="0" rtlCol="0" anchor="ctr"/>
          <a:lstStyle/>
          <a:p>
            <a:pPr algn="ctr" indent="0" marL="0">
              <a:buNone/>
            </a:pPr>
            <a:r>
              <a:rPr lang="en-US" sz="1200" b="1" dirty="0">
                <a:solidFill>
                  <a:srgbClr val="0B1F3A"/>
                </a:solidFill>
                <a:latin typeface="Calibri" pitchFamily="34" charset="0"/>
                <a:ea typeface="Calibri" pitchFamily="34" charset="-122"/>
                <a:cs typeface="Calibri" pitchFamily="34" charset="-120"/>
              </a:rPr>
              <a:t>≈</a:t>
            </a:r>
            <a:endParaRPr lang="en-US" sz="1200" dirty="0"/>
          </a:p>
        </p:txBody>
      </p:sp>
      <p:sp>
        <p:nvSpPr>
          <p:cNvPr id="16" name="Text 13"/>
          <p:cNvSpPr txBox="1"/>
          <p:nvPr/>
        </p:nvSpPr>
        <p:spPr>
          <a:xfrm>
            <a:off x="877824" y="3739896"/>
            <a:ext cx="3493008" cy="896112"/>
          </a:xfrm>
          <a:prstGeom prst="rect">
            <a:avLst/>
          </a:prstGeom>
          <a:noFill/>
          <a:ln/>
        </p:spPr>
        <p:txBody>
          <a:bodyPr wrap="square" lIns="0" tIns="0" rIns="0" bIns="0" rtlCol="0" anchor="t"/>
          <a:lstStyle/>
          <a:p>
            <a:pPr indent="0" marL="0">
              <a:buNone/>
            </a:pPr>
            <a:r>
              <a:rPr lang="en-US" sz="1050" b="1" dirty="0">
                <a:solidFill>
                  <a:srgbClr val="0B1F3A"/>
                </a:solidFill>
                <a:latin typeface="Calibri" pitchFamily="34" charset="0"/>
                <a:ea typeface="Calibri" pitchFamily="34" charset="-122"/>
                <a:cs typeface="Calibri" pitchFamily="34" charset="-120"/>
              </a:rPr>
              <a:t>Think of it like this  </a:t>
            </a:r>
            <a:pPr indent="0" marL="0">
              <a:buNone/>
            </a:pPr>
            <a:r>
              <a:rPr lang="en-US" sz="1050" dirty="0">
                <a:solidFill>
                  <a:srgbClr val="14213D"/>
                </a:solidFill>
                <a:latin typeface="Calibri" pitchFamily="34" charset="0"/>
                <a:ea typeface="Calibri" pitchFamily="34" charset="-122"/>
                <a:cs typeface="Calibri" pitchFamily="34" charset="-120"/>
              </a:rPr>
              <a:t>The distance between two marks on the ruler. Everything else on the datasheet is measured in "how many marks wrong".</a:t>
            </a:r>
            <a:endParaRPr lang="en-US" sz="1050" dirty="0"/>
          </a:p>
        </p:txBody>
      </p:sp>
      <p:sp>
        <p:nvSpPr>
          <p:cNvPr id="17" name="Shape 14"/>
          <p:cNvSpPr/>
          <p:nvPr/>
        </p:nvSpPr>
        <p:spPr>
          <a:xfrm>
            <a:off x="4663440" y="3675888"/>
            <a:ext cx="4023360" cy="1024128"/>
          </a:xfrm>
          <a:prstGeom prst="roundRect">
            <a:avLst>
              <a:gd name="adj" fmla="val 7143"/>
            </a:avLst>
          </a:prstGeom>
          <a:solidFill>
            <a:srgbClr val="FFFFFF"/>
          </a:solidFill>
          <a:ln w="12700">
            <a:solidFill>
              <a:srgbClr val="0B1F3A"/>
            </a:solidFill>
            <a:prstDash val="solid"/>
          </a:ln>
        </p:spPr>
      </p:sp>
      <p:sp>
        <p:nvSpPr>
          <p:cNvPr id="18" name="Shape 15"/>
          <p:cNvSpPr/>
          <p:nvPr/>
        </p:nvSpPr>
        <p:spPr>
          <a:xfrm>
            <a:off x="4773168" y="3566160"/>
            <a:ext cx="914400" cy="219456"/>
          </a:xfrm>
          <a:prstGeom prst="roundRect">
            <a:avLst>
              <a:gd name="adj" fmla="val 25000"/>
            </a:avLst>
          </a:prstGeom>
          <a:solidFill>
            <a:srgbClr val="0B1F3A"/>
          </a:solidFill>
          <a:ln w="12700">
            <a:solidFill>
              <a:srgbClr val="0B1F3A"/>
            </a:solidFill>
            <a:prstDash val="solid"/>
          </a:ln>
        </p:spPr>
      </p:sp>
      <p:sp>
        <p:nvSpPr>
          <p:cNvPr id="19" name="Text 16"/>
          <p:cNvSpPr txBox="1"/>
          <p:nvPr/>
        </p:nvSpPr>
        <p:spPr>
          <a:xfrm>
            <a:off x="4773168" y="3566160"/>
            <a:ext cx="914400" cy="219456"/>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EXAMPLE</a:t>
            </a:r>
            <a:endParaRPr lang="en-US" sz="850" dirty="0"/>
          </a:p>
        </p:txBody>
      </p:sp>
      <p:sp>
        <p:nvSpPr>
          <p:cNvPr id="20" name="Text 17"/>
          <p:cNvSpPr txBox="1"/>
          <p:nvPr/>
        </p:nvSpPr>
        <p:spPr>
          <a:xfrm>
            <a:off x="4791456" y="3813048"/>
            <a:ext cx="3803904" cy="841248"/>
          </a:xfrm>
          <a:prstGeom prst="rect">
            <a:avLst/>
          </a:prstGeom>
          <a:noFill/>
          <a:ln/>
        </p:spPr>
        <p:txBody>
          <a:bodyPr wrap="square" lIns="0" tIns="0" rIns="0" bIns="0" rtlCol="0" anchor="t"/>
          <a:lstStyle/>
          <a:p>
            <a:pPr indent="0" marL="0">
              <a:spcAft>
                <a:spcPts val="100"/>
              </a:spcAft>
              <a:buNone/>
            </a:pPr>
            <a:r>
              <a:rPr lang="en-US" sz="900" b="1" dirty="0">
                <a:solidFill>
                  <a:srgbClr val="0B1F3A"/>
                </a:solidFill>
                <a:latin typeface="Calibri" pitchFamily="34" charset="0"/>
                <a:ea typeface="Calibri" pitchFamily="34" charset="-122"/>
                <a:cs typeface="Calibri" pitchFamily="34" charset="-120"/>
              </a:rPr>
              <a:t>Same converter, three ranges</a:t>
            </a:r>
            <a:endParaRPr lang="en-US" sz="900" dirty="0"/>
          </a:p>
          <a:p>
            <a:pPr marL="114300" indent="-114300">
              <a:spcAft>
                <a:spcPts val="100"/>
              </a:spcAft>
              <a:buSzPct val="100000"/>
              <a:buChar char="•"/>
            </a:pPr>
            <a:r>
              <a:rPr lang="en-US" sz="900" dirty="0">
                <a:solidFill>
                  <a:srgbClr val="14213D"/>
                </a:solidFill>
                <a:latin typeface="Cambria" pitchFamily="34" charset="0"/>
                <a:ea typeface="Cambria" pitchFamily="34" charset="-122"/>
                <a:cs typeface="Cambria" pitchFamily="34" charset="-120"/>
              </a:rPr>
              <a:t>12 bit over 2 V: LSB = 2 / 4096 = 488 µV</a:t>
            </a:r>
            <a:endParaRPr lang="en-US" sz="900" dirty="0"/>
          </a:p>
          <a:p>
            <a:pPr marL="114300" indent="-114300">
              <a:spcAft>
                <a:spcPts val="100"/>
              </a:spcAft>
              <a:buSzPct val="100000"/>
              <a:buChar char="•"/>
            </a:pPr>
            <a:r>
              <a:rPr lang="en-US" sz="900" dirty="0">
                <a:solidFill>
                  <a:srgbClr val="14213D"/>
                </a:solidFill>
                <a:latin typeface="Cambria" pitchFamily="34" charset="0"/>
                <a:ea typeface="Cambria" pitchFamily="34" charset="-122"/>
                <a:cs typeface="Cambria" pitchFamily="34" charset="-120"/>
              </a:rPr>
              <a:t>12 bit over 5 V: LSB = 1.22 mV</a:t>
            </a:r>
            <a:endParaRPr lang="en-US" sz="900" dirty="0"/>
          </a:p>
          <a:p>
            <a:pPr marL="114300" indent="-114300">
              <a:spcAft>
                <a:spcPts val="100"/>
              </a:spcAft>
              <a:buSzPct val="100000"/>
              <a:buChar char="•"/>
            </a:pPr>
            <a:r>
              <a:rPr lang="en-US" sz="900" dirty="0">
                <a:solidFill>
                  <a:srgbClr val="14213D"/>
                </a:solidFill>
                <a:latin typeface="Cambria" pitchFamily="34" charset="0"/>
                <a:ea typeface="Cambria" pitchFamily="34" charset="-122"/>
                <a:cs typeface="Cambria" pitchFamily="34" charset="-120"/>
              </a:rPr>
              <a:t>16 bit over 2 V: LSB = 30.5 µV — smaller than most op-amp offsets</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5998464" cy="640080"/>
          </a:xfrm>
          <a:prstGeom prst="rect">
            <a:avLst/>
          </a:prstGeom>
          <a:noFill/>
          <a:ln/>
        </p:spPr>
        <p:txBody>
          <a:bodyPr wrap="square" lIns="0" tIns="0" rIns="0" bIns="0" rtlCol="0" anchor="ctr"/>
          <a:lstStyle/>
          <a:p>
            <a:pPr indent="0" marL="0">
              <a:buNone/>
            </a:pPr>
            <a:r>
              <a:rPr lang="en-US" sz="2800" b="1" dirty="0">
                <a:solidFill>
                  <a:srgbClr val="0B1F3A"/>
                </a:solidFill>
                <a:latin typeface="Cambria" pitchFamily="34" charset="0"/>
                <a:ea typeface="Cambria" pitchFamily="34" charset="-122"/>
                <a:cs typeface="Cambria" pitchFamily="34" charset="-120"/>
              </a:rPr>
              <a:t>Quantisation error</a:t>
            </a:r>
            <a:endParaRPr lang="en-US" sz="2800" dirty="0"/>
          </a:p>
        </p:txBody>
      </p:sp>
      <p:sp>
        <p:nvSpPr>
          <p:cNvPr id="3" name="Text 1"/>
          <p:cNvSpPr txBox="1"/>
          <p:nvPr/>
        </p:nvSpPr>
        <p:spPr>
          <a:xfrm>
            <a:off x="457200" y="4796028"/>
            <a:ext cx="4572000" cy="228600"/>
          </a:xfrm>
          <a:prstGeom prst="rect">
            <a:avLst/>
          </a:prstGeom>
          <a:noFill/>
          <a:ln/>
        </p:spPr>
        <p:txBody>
          <a:bodyPr wrap="square" lIns="0" tIns="0" rIns="0" bIns="0" rtlCol="0" anchor="ctr"/>
          <a:lstStyle/>
          <a:p>
            <a:pPr indent="0" marL="0">
              <a:buNone/>
            </a:pPr>
            <a:r>
              <a:rPr lang="en-US" sz="900" dirty="0">
                <a:solidFill>
                  <a:srgbClr val="5B6B7F"/>
                </a:solidFill>
                <a:latin typeface="Calibri" pitchFamily="34" charset="0"/>
                <a:ea typeface="Calibri" pitchFamily="34" charset="-122"/>
                <a:cs typeface="Calibri" pitchFamily="34" charset="-120"/>
              </a:rPr>
              <a:t>Part 1 · Resolution and the transfer function</a:t>
            </a:r>
            <a:endParaRPr lang="en-US" sz="900" dirty="0"/>
          </a:p>
        </p:txBody>
      </p:sp>
      <p:sp>
        <p:nvSpPr>
          <p:cNvPr id="4" name="Text 2"/>
          <p:cNvSpPr txBox="1"/>
          <p:nvPr/>
        </p:nvSpPr>
        <p:spPr>
          <a:xfrm>
            <a:off x="7772400" y="4796028"/>
            <a:ext cx="914400" cy="228600"/>
          </a:xfrm>
          <a:prstGeom prst="rect">
            <a:avLst/>
          </a:prstGeom>
          <a:noFill/>
          <a:ln/>
        </p:spPr>
        <p:txBody>
          <a:bodyPr wrap="square" lIns="0" tIns="0" rIns="0" bIns="0" rtlCol="0" anchor="ctr"/>
          <a:lstStyle/>
          <a:p>
            <a:pPr algn="r" indent="0" marL="0">
              <a:buNone/>
            </a:pPr>
            <a:r>
              <a:rPr lang="en-US" sz="900" dirty="0">
                <a:solidFill>
                  <a:srgbClr val="5B6B7F"/>
                </a:solidFill>
                <a:latin typeface="Calibri" pitchFamily="34" charset="0"/>
                <a:ea typeface="Calibri" pitchFamily="34" charset="-122"/>
                <a:cs typeface="Calibri" pitchFamily="34" charset="-120"/>
              </a:rPr>
              <a:t>8</a:t>
            </a:r>
            <a:endParaRPr lang="en-US" sz="900" dirty="0"/>
          </a:p>
        </p:txBody>
      </p:sp>
      <p:sp>
        <p:nvSpPr>
          <p:cNvPr id="5" name="Shape 3"/>
          <p:cNvSpPr/>
          <p:nvPr/>
        </p:nvSpPr>
        <p:spPr>
          <a:xfrm>
            <a:off x="6684264" y="384048"/>
            <a:ext cx="2002536" cy="384048"/>
          </a:xfrm>
          <a:prstGeom prst="roundRect">
            <a:avLst>
              <a:gd name="adj" fmla="val 19048"/>
            </a:avLst>
          </a:prstGeom>
          <a:solidFill>
            <a:srgbClr val="EEF3F8"/>
          </a:solidFill>
          <a:ln w="12700">
            <a:solidFill>
              <a:srgbClr val="EEF3F8"/>
            </a:solidFill>
            <a:prstDash val="solid"/>
          </a:ln>
        </p:spPr>
      </p:sp>
      <p:sp>
        <p:nvSpPr>
          <p:cNvPr id="6" name="Text 4"/>
          <p:cNvSpPr txBox="1"/>
          <p:nvPr/>
        </p:nvSpPr>
        <p:spPr>
          <a:xfrm>
            <a:off x="6684264" y="384048"/>
            <a:ext cx="2002536" cy="384048"/>
          </a:xfrm>
          <a:prstGeom prst="rect">
            <a:avLst/>
          </a:prstGeom>
          <a:noFill/>
          <a:ln/>
        </p:spPr>
        <p:txBody>
          <a:bodyPr wrap="square" lIns="0" tIns="0" rIns="0" bIns="0" rtlCol="0" anchor="ctr"/>
          <a:lstStyle/>
          <a:p>
            <a:pPr algn="ctr" indent="0" marL="0">
              <a:buNone/>
            </a:pPr>
            <a:r>
              <a:rPr lang="en-US" sz="1200" b="1" dirty="0">
                <a:solidFill>
                  <a:srgbClr val="0B1F3A"/>
                </a:solidFill>
                <a:latin typeface="Cambria" pitchFamily="34" charset="0"/>
                <a:ea typeface="Cambria" pitchFamily="34" charset="-122"/>
                <a:cs typeface="Cambria" pitchFamily="34" charset="-120"/>
              </a:rPr>
              <a:t>e_q   ·   LSB</a:t>
            </a:r>
            <a:endParaRPr lang="en-US" sz="1200" dirty="0"/>
          </a:p>
        </p:txBody>
      </p:sp>
      <p:sp>
        <p:nvSpPr>
          <p:cNvPr id="7" name="Text 5"/>
          <p:cNvSpPr txBox="1"/>
          <p:nvPr/>
        </p:nvSpPr>
        <p:spPr>
          <a:xfrm>
            <a:off x="457200" y="1042416"/>
            <a:ext cx="4023360" cy="1207008"/>
          </a:xfrm>
          <a:prstGeom prst="rect">
            <a:avLst/>
          </a:prstGeom>
          <a:noFill/>
          <a:ln/>
        </p:spPr>
        <p:txBody>
          <a:bodyPr wrap="square" lIns="0" tIns="0" rIns="0" bIns="0" rtlCol="0" anchor="t"/>
          <a:lstStyle/>
          <a:p>
            <a:pPr indent="0" marL="0">
              <a:buNone/>
            </a:pPr>
            <a:r>
              <a:rPr lang="en-US" sz="1150" dirty="0">
                <a:solidFill>
                  <a:srgbClr val="14213D"/>
                </a:solidFill>
                <a:latin typeface="Calibri" pitchFamily="34" charset="0"/>
                <a:ea typeface="Calibri" pitchFamily="34" charset="-122"/>
                <a:cs typeface="Calibri" pitchFamily="34" charset="-120"/>
              </a:rPr>
              <a:t>The difference between the real input and the level the ADC reported. Rounding to the nearest mark means the error is never more than half a step, and on a busy signal it is as often up as down — so we treat it as a small extra noise.</a:t>
            </a:r>
            <a:endParaRPr lang="en-US" sz="1150" dirty="0"/>
          </a:p>
        </p:txBody>
      </p:sp>
      <p:sp>
        <p:nvSpPr>
          <p:cNvPr id="8" name="Shape 6"/>
          <p:cNvSpPr/>
          <p:nvPr/>
        </p:nvSpPr>
        <p:spPr>
          <a:xfrm>
            <a:off x="457200" y="2304288"/>
            <a:ext cx="4023360" cy="868680"/>
          </a:xfrm>
          <a:prstGeom prst="roundRect">
            <a:avLst>
              <a:gd name="adj" fmla="val 8421"/>
            </a:avLst>
          </a:prstGeom>
          <a:solidFill>
            <a:srgbClr val="EEF3F8"/>
          </a:solidFill>
          <a:ln w="12700">
            <a:solidFill>
              <a:srgbClr val="EEF3F8"/>
            </a:solidFill>
            <a:prstDash val="solid"/>
          </a:ln>
        </p:spPr>
      </p:sp>
      <p:sp>
        <p:nvSpPr>
          <p:cNvPr id="9" name="Text 7"/>
          <p:cNvSpPr txBox="1"/>
          <p:nvPr/>
        </p:nvSpPr>
        <p:spPr>
          <a:xfrm>
            <a:off x="594360" y="2304288"/>
            <a:ext cx="3749040" cy="612648"/>
          </a:xfrm>
          <a:prstGeom prst="rect">
            <a:avLst/>
          </a:prstGeom>
          <a:noFill/>
          <a:ln/>
        </p:spPr>
        <p:txBody>
          <a:bodyPr wrap="square" lIns="0" tIns="0" rIns="0" bIns="0" rtlCol="0" anchor="ctr"/>
          <a:lstStyle/>
          <a:p>
            <a:pPr algn="ctr" indent="0" marL="0">
              <a:buNone/>
            </a:pPr>
            <a:r>
              <a:rPr lang="en-US" sz="1500" dirty="0">
                <a:solidFill>
                  <a:srgbClr val="0B1F3A"/>
                </a:solidFill>
                <a:latin typeface="Cambria" pitchFamily="34" charset="0"/>
                <a:ea typeface="Cambria" pitchFamily="34" charset="-122"/>
                <a:cs typeface="Cambria" pitchFamily="34" charset="-120"/>
              </a:rPr>
              <a:t>−½ LSB ≤ e_q &lt; +½ LSB</a:t>
            </a:r>
            <a:endParaRPr lang="en-US" sz="1500" dirty="0"/>
          </a:p>
        </p:txBody>
      </p:sp>
      <p:sp>
        <p:nvSpPr>
          <p:cNvPr id="10" name="Text 8"/>
          <p:cNvSpPr txBox="1"/>
          <p:nvPr/>
        </p:nvSpPr>
        <p:spPr>
          <a:xfrm>
            <a:off x="594360" y="2871216"/>
            <a:ext cx="3749040" cy="256032"/>
          </a:xfrm>
          <a:prstGeom prst="rect">
            <a:avLst/>
          </a:prstGeom>
          <a:noFill/>
          <a:ln/>
        </p:spPr>
        <p:txBody>
          <a:bodyPr wrap="square" lIns="0" tIns="0" rIns="0" bIns="0" rtlCol="0" anchor="t"/>
          <a:lstStyle/>
          <a:p>
            <a:pPr algn="ctr" indent="0" marL="0">
              <a:buNone/>
            </a:pPr>
            <a:r>
              <a:rPr lang="en-US" sz="1000" dirty="0">
                <a:solidFill>
                  <a:srgbClr val="5B6B7F"/>
                </a:solidFill>
                <a:latin typeface="Calibri" pitchFamily="34" charset="0"/>
                <a:ea typeface="Calibri" pitchFamily="34" charset="-122"/>
                <a:cs typeface="Calibri" pitchFamily="34" charset="-120"/>
              </a:rPr>
              <a:t>The error can never exceed half a step</a:t>
            </a:r>
            <a:endParaRPr lang="en-US" sz="1000" dirty="0"/>
          </a:p>
        </p:txBody>
      </p:sp>
      <p:graphicFrame>
        <p:nvGraphicFramePr>
          <p:cNvPr id="11" name="Chart 0" descr=""/>
          <p:cNvGraphicFramePr/>
          <p:nvPr/>
        </p:nvGraphicFramePr>
        <p:xfrm>
          <a:off x="4663440" y="1042416"/>
          <a:ext cx="4023360" cy="2450592"/>
        </p:xfrm>
        <a:graphic xmlns:a="http://schemas.openxmlformats.org/drawingml/2006/main">
          <a:graphicData uri="http://schemas.openxmlformats.org/drawingml/2006/chart">
            <c:chart xmlns:c="http://schemas.openxmlformats.org/drawingml/2006/chart" r:id="rId1"/>
          </a:graphicData>
        </a:graphic>
      </p:graphicFrame>
      <p:sp>
        <p:nvSpPr>
          <p:cNvPr id="12" name="Shape 9"/>
          <p:cNvSpPr/>
          <p:nvPr/>
        </p:nvSpPr>
        <p:spPr>
          <a:xfrm>
            <a:off x="457200" y="3675888"/>
            <a:ext cx="4023360" cy="1024128"/>
          </a:xfrm>
          <a:prstGeom prst="roundRect">
            <a:avLst>
              <a:gd name="adj" fmla="val 7143"/>
            </a:avLst>
          </a:prstGeom>
          <a:solidFill>
            <a:srgbClr val="E4F7F4"/>
          </a:solidFill>
          <a:ln w="12700">
            <a:solidFill>
              <a:srgbClr val="E4F7F4"/>
            </a:solidFill>
            <a:prstDash val="solid"/>
          </a:ln>
        </p:spPr>
      </p:sp>
      <p:sp>
        <p:nvSpPr>
          <p:cNvPr id="13" name="Shape 10"/>
          <p:cNvSpPr/>
          <p:nvPr/>
        </p:nvSpPr>
        <p:spPr>
          <a:xfrm>
            <a:off x="566928" y="3776472"/>
            <a:ext cx="237744" cy="237744"/>
          </a:xfrm>
          <a:prstGeom prst="ellipse">
            <a:avLst/>
          </a:prstGeom>
          <a:solidFill>
            <a:srgbClr val="2EC4B6"/>
          </a:solidFill>
          <a:ln w="12700">
            <a:solidFill>
              <a:srgbClr val="2EC4B6"/>
            </a:solidFill>
            <a:prstDash val="solid"/>
          </a:ln>
        </p:spPr>
      </p:sp>
      <p:sp>
        <p:nvSpPr>
          <p:cNvPr id="14" name="Text 11"/>
          <p:cNvSpPr txBox="1"/>
          <p:nvPr/>
        </p:nvSpPr>
        <p:spPr>
          <a:xfrm>
            <a:off x="566928" y="3776472"/>
            <a:ext cx="237744" cy="237744"/>
          </a:xfrm>
          <a:prstGeom prst="rect">
            <a:avLst/>
          </a:prstGeom>
          <a:noFill/>
          <a:ln/>
        </p:spPr>
        <p:txBody>
          <a:bodyPr wrap="square" lIns="0" tIns="0" rIns="0" bIns="0" rtlCol="0" anchor="ctr"/>
          <a:lstStyle/>
          <a:p>
            <a:pPr algn="ctr" indent="0" marL="0">
              <a:buNone/>
            </a:pPr>
            <a:r>
              <a:rPr lang="en-US" sz="1200" b="1" dirty="0">
                <a:solidFill>
                  <a:srgbClr val="0B1F3A"/>
                </a:solidFill>
                <a:latin typeface="Calibri" pitchFamily="34" charset="0"/>
                <a:ea typeface="Calibri" pitchFamily="34" charset="-122"/>
                <a:cs typeface="Calibri" pitchFamily="34" charset="-120"/>
              </a:rPr>
              <a:t>≈</a:t>
            </a:r>
            <a:endParaRPr lang="en-US" sz="1200" dirty="0"/>
          </a:p>
        </p:txBody>
      </p:sp>
      <p:sp>
        <p:nvSpPr>
          <p:cNvPr id="15" name="Text 12"/>
          <p:cNvSpPr txBox="1"/>
          <p:nvPr/>
        </p:nvSpPr>
        <p:spPr>
          <a:xfrm>
            <a:off x="877824" y="3739896"/>
            <a:ext cx="3493008" cy="896112"/>
          </a:xfrm>
          <a:prstGeom prst="rect">
            <a:avLst/>
          </a:prstGeom>
          <a:noFill/>
          <a:ln/>
        </p:spPr>
        <p:txBody>
          <a:bodyPr wrap="square" lIns="0" tIns="0" rIns="0" bIns="0" rtlCol="0" anchor="t"/>
          <a:lstStyle/>
          <a:p>
            <a:pPr indent="0" marL="0">
              <a:buNone/>
            </a:pPr>
            <a:r>
              <a:rPr lang="en-US" sz="1050" b="1" dirty="0">
                <a:solidFill>
                  <a:srgbClr val="0B1F3A"/>
                </a:solidFill>
                <a:latin typeface="Calibri" pitchFamily="34" charset="0"/>
                <a:ea typeface="Calibri" pitchFamily="34" charset="-122"/>
                <a:cs typeface="Calibri" pitchFamily="34" charset="-120"/>
              </a:rPr>
              <a:t>Think of it like this  </a:t>
            </a:r>
            <a:pPr indent="0" marL="0">
              <a:buNone/>
            </a:pPr>
            <a:r>
              <a:rPr lang="en-US" sz="1050" dirty="0">
                <a:solidFill>
                  <a:srgbClr val="14213D"/>
                </a:solidFill>
                <a:latin typeface="Calibri" pitchFamily="34" charset="0"/>
                <a:ea typeface="Calibri" pitchFamily="34" charset="-122"/>
                <a:cs typeface="Calibri" pitchFamily="34" charset="-120"/>
              </a:rPr>
              <a:t>Rounding every price to the nearest 10p. Sometimes you gain 5p, sometimes you lose 5p, and over a month it averages out like small random noise.</a:t>
            </a:r>
            <a:endParaRPr lang="en-US" sz="1050" dirty="0"/>
          </a:p>
        </p:txBody>
      </p:sp>
      <p:sp>
        <p:nvSpPr>
          <p:cNvPr id="16" name="Shape 13"/>
          <p:cNvSpPr/>
          <p:nvPr/>
        </p:nvSpPr>
        <p:spPr>
          <a:xfrm>
            <a:off x="4663440" y="3675888"/>
            <a:ext cx="4023360" cy="1024128"/>
          </a:xfrm>
          <a:prstGeom prst="roundRect">
            <a:avLst>
              <a:gd name="adj" fmla="val 7143"/>
            </a:avLst>
          </a:prstGeom>
          <a:solidFill>
            <a:srgbClr val="FFFFFF"/>
          </a:solidFill>
          <a:ln w="12700">
            <a:solidFill>
              <a:srgbClr val="0B1F3A"/>
            </a:solidFill>
            <a:prstDash val="solid"/>
          </a:ln>
        </p:spPr>
      </p:sp>
      <p:sp>
        <p:nvSpPr>
          <p:cNvPr id="17" name="Shape 14"/>
          <p:cNvSpPr/>
          <p:nvPr/>
        </p:nvSpPr>
        <p:spPr>
          <a:xfrm>
            <a:off x="4773168" y="3566160"/>
            <a:ext cx="914400" cy="219456"/>
          </a:xfrm>
          <a:prstGeom prst="roundRect">
            <a:avLst>
              <a:gd name="adj" fmla="val 25000"/>
            </a:avLst>
          </a:prstGeom>
          <a:solidFill>
            <a:srgbClr val="0B1F3A"/>
          </a:solidFill>
          <a:ln w="12700">
            <a:solidFill>
              <a:srgbClr val="0B1F3A"/>
            </a:solidFill>
            <a:prstDash val="solid"/>
          </a:ln>
        </p:spPr>
      </p:sp>
      <p:sp>
        <p:nvSpPr>
          <p:cNvPr id="18" name="Text 15"/>
          <p:cNvSpPr txBox="1"/>
          <p:nvPr/>
        </p:nvSpPr>
        <p:spPr>
          <a:xfrm>
            <a:off x="4773168" y="3566160"/>
            <a:ext cx="914400" cy="219456"/>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EXAMPLE</a:t>
            </a:r>
            <a:endParaRPr lang="en-US" sz="850" dirty="0"/>
          </a:p>
        </p:txBody>
      </p:sp>
      <p:sp>
        <p:nvSpPr>
          <p:cNvPr id="19" name="Text 16"/>
          <p:cNvSpPr txBox="1"/>
          <p:nvPr/>
        </p:nvSpPr>
        <p:spPr>
          <a:xfrm>
            <a:off x="4791456" y="3813048"/>
            <a:ext cx="3803904" cy="841248"/>
          </a:xfrm>
          <a:prstGeom prst="rect">
            <a:avLst/>
          </a:prstGeom>
          <a:noFill/>
          <a:ln/>
        </p:spPr>
        <p:txBody>
          <a:bodyPr wrap="square" lIns="0" tIns="0" rIns="0" bIns="0" rtlCol="0" anchor="t"/>
          <a:lstStyle/>
          <a:p>
            <a:pPr indent="0" marL="0">
              <a:spcAft>
                <a:spcPts val="100"/>
              </a:spcAft>
              <a:buNone/>
            </a:pPr>
            <a:r>
              <a:rPr lang="en-US" sz="1000" b="1" dirty="0">
                <a:solidFill>
                  <a:srgbClr val="0B1F3A"/>
                </a:solidFill>
                <a:latin typeface="Calibri" pitchFamily="34" charset="0"/>
                <a:ea typeface="Calibri" pitchFamily="34" charset="-122"/>
                <a:cs typeface="Calibri" pitchFamily="34" charset="-120"/>
              </a:rPr>
              <a:t>12-bit, 2 V range</a:t>
            </a:r>
            <a:endParaRPr lang="en-US" sz="1000" dirty="0"/>
          </a:p>
          <a:p>
            <a:pPr marL="114300" indent="-114300">
              <a:spcAft>
                <a:spcPts val="100"/>
              </a:spcAft>
              <a:buSzPct val="100000"/>
              <a:buChar char="•"/>
            </a:pPr>
            <a:r>
              <a:rPr lang="en-US" sz="1000" dirty="0">
                <a:solidFill>
                  <a:srgbClr val="14213D"/>
                </a:solidFill>
                <a:latin typeface="Cambria" pitchFamily="34" charset="0"/>
                <a:ea typeface="Cambria" pitchFamily="34" charset="-122"/>
                <a:cs typeface="Cambria" pitchFamily="34" charset="-120"/>
              </a:rPr>
              <a:t>LSB 488 µV, so the error stays within ±244 µV</a:t>
            </a:r>
            <a:endParaRPr lang="en-US" sz="1000" dirty="0"/>
          </a:p>
          <a:p>
            <a:pPr marL="114300" indent="-114300">
              <a:spcAft>
                <a:spcPts val="100"/>
              </a:spcAft>
              <a:buSzPct val="100000"/>
              <a:buChar char="•"/>
            </a:pPr>
            <a:r>
              <a:rPr lang="en-US" sz="1000" dirty="0">
                <a:solidFill>
                  <a:srgbClr val="14213D"/>
                </a:solidFill>
                <a:latin typeface="Cambria" pitchFamily="34" charset="0"/>
                <a:ea typeface="Cambria" pitchFamily="34" charset="-122"/>
                <a:cs typeface="Cambria" pitchFamily="34" charset="-120"/>
              </a:rPr>
              <a:t>rms error = 488 µV / √12 = 141 µV</a:t>
            </a:r>
            <a:endParaRPr lang="en-US" sz="1000" dirty="0"/>
          </a:p>
          <a:p>
            <a:pPr marL="114300" indent="-114300">
              <a:spcAft>
                <a:spcPts val="100"/>
              </a:spcAft>
              <a:buSzPct val="100000"/>
              <a:buChar char="•"/>
            </a:pPr>
            <a:r>
              <a:rPr lang="en-US" sz="1000" dirty="0">
                <a:solidFill>
                  <a:srgbClr val="14213D"/>
                </a:solidFill>
                <a:latin typeface="Cambria" pitchFamily="34" charset="0"/>
                <a:ea typeface="Cambria" pitchFamily="34" charset="-122"/>
                <a:cs typeface="Cambria" pitchFamily="34" charset="-120"/>
              </a:rPr>
              <a:t>Against a 0.7 V rms full-scale sine that is 74 dB down</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640080"/>
          </a:xfrm>
          <a:prstGeom prst="rect">
            <a:avLst/>
          </a:prstGeom>
          <a:noFill/>
          <a:ln/>
        </p:spPr>
        <p:txBody>
          <a:bodyPr wrap="square" lIns="0" tIns="0" rIns="0" bIns="0" rtlCol="0" anchor="ctr"/>
          <a:lstStyle/>
          <a:p>
            <a:pPr indent="0" marL="0">
              <a:buNone/>
            </a:pPr>
            <a:r>
              <a:rPr lang="en-US" sz="2800" b="1" dirty="0">
                <a:solidFill>
                  <a:srgbClr val="0B1F3A"/>
                </a:solidFill>
                <a:latin typeface="Cambria" pitchFamily="34" charset="0"/>
                <a:ea typeface="Cambria" pitchFamily="34" charset="-122"/>
                <a:cs typeface="Cambria" pitchFamily="34" charset="-120"/>
              </a:rPr>
              <a:t>Output coding</a:t>
            </a:r>
            <a:endParaRPr lang="en-US" sz="2800" dirty="0"/>
          </a:p>
        </p:txBody>
      </p:sp>
      <p:sp>
        <p:nvSpPr>
          <p:cNvPr id="3" name="Text 1"/>
          <p:cNvSpPr txBox="1"/>
          <p:nvPr/>
        </p:nvSpPr>
        <p:spPr>
          <a:xfrm>
            <a:off x="457200" y="4796028"/>
            <a:ext cx="4572000" cy="228600"/>
          </a:xfrm>
          <a:prstGeom prst="rect">
            <a:avLst/>
          </a:prstGeom>
          <a:noFill/>
          <a:ln/>
        </p:spPr>
        <p:txBody>
          <a:bodyPr wrap="square" lIns="0" tIns="0" rIns="0" bIns="0" rtlCol="0" anchor="ctr"/>
          <a:lstStyle/>
          <a:p>
            <a:pPr indent="0" marL="0">
              <a:buNone/>
            </a:pPr>
            <a:r>
              <a:rPr lang="en-US" sz="900" dirty="0">
                <a:solidFill>
                  <a:srgbClr val="5B6B7F"/>
                </a:solidFill>
                <a:latin typeface="Calibri" pitchFamily="34" charset="0"/>
                <a:ea typeface="Calibri" pitchFamily="34" charset="-122"/>
                <a:cs typeface="Calibri" pitchFamily="34" charset="-120"/>
              </a:rPr>
              <a:t>Part 1 · Resolution and the transfer function</a:t>
            </a:r>
            <a:endParaRPr lang="en-US" sz="900" dirty="0"/>
          </a:p>
        </p:txBody>
      </p:sp>
      <p:sp>
        <p:nvSpPr>
          <p:cNvPr id="4" name="Text 2"/>
          <p:cNvSpPr txBox="1"/>
          <p:nvPr/>
        </p:nvSpPr>
        <p:spPr>
          <a:xfrm>
            <a:off x="7772400" y="4796028"/>
            <a:ext cx="914400" cy="228600"/>
          </a:xfrm>
          <a:prstGeom prst="rect">
            <a:avLst/>
          </a:prstGeom>
          <a:noFill/>
          <a:ln/>
        </p:spPr>
        <p:txBody>
          <a:bodyPr wrap="square" lIns="0" tIns="0" rIns="0" bIns="0" rtlCol="0" anchor="ctr"/>
          <a:lstStyle/>
          <a:p>
            <a:pPr algn="r" indent="0" marL="0">
              <a:buNone/>
            </a:pPr>
            <a:r>
              <a:rPr lang="en-US" sz="900" dirty="0">
                <a:solidFill>
                  <a:srgbClr val="5B6B7F"/>
                </a:solidFill>
                <a:latin typeface="Calibri" pitchFamily="34" charset="0"/>
                <a:ea typeface="Calibri" pitchFamily="34" charset="-122"/>
                <a:cs typeface="Calibri" pitchFamily="34" charset="-120"/>
              </a:rPr>
              <a:t>9</a:t>
            </a:r>
            <a:endParaRPr lang="en-US" sz="900" dirty="0"/>
          </a:p>
        </p:txBody>
      </p:sp>
      <p:sp>
        <p:nvSpPr>
          <p:cNvPr id="5" name="Text 3"/>
          <p:cNvSpPr txBox="1"/>
          <p:nvPr/>
        </p:nvSpPr>
        <p:spPr>
          <a:xfrm>
            <a:off x="457200" y="1042416"/>
            <a:ext cx="4023360" cy="1005840"/>
          </a:xfrm>
          <a:prstGeom prst="rect">
            <a:avLst/>
          </a:prstGeom>
          <a:noFill/>
          <a:ln/>
        </p:spPr>
        <p:txBody>
          <a:bodyPr wrap="square" lIns="0" tIns="0" rIns="0" bIns="0" rtlCol="0" anchor="t"/>
          <a:lstStyle/>
          <a:p>
            <a:pPr indent="0" marL="0">
              <a:buNone/>
            </a:pPr>
            <a:r>
              <a:rPr lang="en-US" sz="1150" dirty="0">
                <a:solidFill>
                  <a:srgbClr val="14213D"/>
                </a:solidFill>
                <a:latin typeface="Calibri" pitchFamily="34" charset="0"/>
                <a:ea typeface="Calibri" pitchFamily="34" charset="-122"/>
                <a:cs typeface="Calibri" pitchFamily="34" charset="-120"/>
              </a:rPr>
              <a:t>How the level number is written down in binary. It changes nothing about accuracy, but getting it wrong turns a clean sine into a waveform that jumps violently through mid-scale.</a:t>
            </a:r>
            <a:endParaRPr lang="en-US" sz="1150" dirty="0"/>
          </a:p>
        </p:txBody>
      </p:sp>
      <p:sp>
        <p:nvSpPr>
          <p:cNvPr id="6" name="Text 4"/>
          <p:cNvSpPr txBox="1"/>
          <p:nvPr/>
        </p:nvSpPr>
        <p:spPr>
          <a:xfrm>
            <a:off x="457200" y="2103120"/>
            <a:ext cx="4023360" cy="1444752"/>
          </a:xfrm>
          <a:prstGeom prst="rect">
            <a:avLst/>
          </a:prstGeom>
          <a:noFill/>
          <a:ln/>
        </p:spPr>
        <p:txBody>
          <a:bodyPr wrap="square" lIns="0" tIns="0" rIns="0" bIns="0" rtlCol="0" anchor="t"/>
          <a:lstStyle/>
          <a:p>
            <a:pPr marL="342900" indent="-342900">
              <a:spcAft>
                <a:spcPts val="300"/>
              </a:spcAft>
              <a:buSzPct val="100000"/>
              <a:buChar char="•"/>
            </a:pPr>
            <a:r>
              <a:rPr lang="en-US" sz="1100" dirty="0">
                <a:solidFill>
                  <a:srgbClr val="14213D"/>
                </a:solidFill>
                <a:latin typeface="Calibri" pitchFamily="34" charset="0"/>
                <a:ea typeface="Calibri" pitchFamily="34" charset="-122"/>
                <a:cs typeface="Calibri" pitchFamily="34" charset="-120"/>
              </a:rPr>
              <a:t>Straight binary: 0 … 2ᴺ−1, natural for unipolar inputs</a:t>
            </a:r>
            <a:endParaRPr lang="en-US" sz="1100" dirty="0"/>
          </a:p>
          <a:p>
            <a:pPr marL="342900" indent="-342900">
              <a:spcAft>
                <a:spcPts val="300"/>
              </a:spcAft>
              <a:buSzPct val="100000"/>
              <a:buChar char="•"/>
            </a:pPr>
            <a:r>
              <a:rPr lang="en-US" sz="1100" dirty="0">
                <a:solidFill>
                  <a:srgbClr val="14213D"/>
                </a:solidFill>
                <a:latin typeface="Calibri" pitchFamily="34" charset="0"/>
                <a:ea typeface="Calibri" pitchFamily="34" charset="-122"/>
                <a:cs typeface="Calibri" pitchFamily="34" charset="-120"/>
              </a:rPr>
              <a:t>Offset binary: mid-scale is 1000…0, so zero volts is the middle code</a:t>
            </a:r>
            <a:endParaRPr lang="en-US" sz="1100" dirty="0"/>
          </a:p>
          <a:p>
            <a:pPr marL="342900" indent="-342900">
              <a:spcAft>
                <a:spcPts val="300"/>
              </a:spcAft>
              <a:buSzPct val="100000"/>
              <a:buChar char="•"/>
            </a:pPr>
            <a:r>
              <a:rPr lang="en-US" sz="1100" dirty="0">
                <a:solidFill>
                  <a:srgbClr val="14213D"/>
                </a:solidFill>
                <a:latin typeface="Calibri" pitchFamily="34" charset="0"/>
                <a:ea typeface="Calibri" pitchFamily="34" charset="-122"/>
                <a:cs typeface="Calibri" pitchFamily="34" charset="-120"/>
              </a:rPr>
              <a:t>Two’s complement: offset binary with the top bit inverted; negative numbers are negative</a:t>
            </a:r>
            <a:endParaRPr lang="en-US" sz="1100" dirty="0"/>
          </a:p>
          <a:p>
            <a:pPr marL="342900" indent="-342900">
              <a:spcAft>
                <a:spcPts val="300"/>
              </a:spcAft>
              <a:buSzPct val="100000"/>
              <a:buChar char="•"/>
            </a:pPr>
            <a:r>
              <a:rPr lang="en-US" sz="1100" dirty="0">
                <a:solidFill>
                  <a:srgbClr val="14213D"/>
                </a:solidFill>
                <a:latin typeface="Calibri" pitchFamily="34" charset="0"/>
                <a:ea typeface="Calibri" pitchFamily="34" charset="-122"/>
                <a:cs typeface="Calibri" pitchFamily="34" charset="-120"/>
              </a:rPr>
              <a:t>Gray code: only one bit changes between neighbours, so a mistimed read cannot produce a wildly wrong value</a:t>
            </a:r>
            <a:endParaRPr lang="en-US" sz="11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663440" y="1042416"/>
          <a:ext cx="4023360" cy="914400"/>
        </p:xfrm>
        <a:graphic>
          <a:graphicData uri="http://schemas.openxmlformats.org/drawingml/2006/table">
            <a:tbl>
              <a:tblPr/>
              <a:tblGrid>
                <a:gridCol w="1188720"/>
                <a:gridCol w="1417320"/>
                <a:gridCol w="1417320"/>
              </a:tblGrid>
              <a:tr h="301752">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Input</a:t>
                      </a:r>
                      <a:endParaRPr lang="en-US" sz="105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0B1F3A"/>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Straight binary</a:t>
                      </a:r>
                      <a:endParaRPr lang="en-US" sz="105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0B1F3A"/>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Two’s complement</a:t>
                      </a:r>
                      <a:endParaRPr lang="en-US" sz="105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0B1F3A"/>
                    </a:solidFill>
                  </a:tcPr>
                </a:tc>
              </a:tr>
              <a:tr h="301752">
                <a:tc>
                  <a:txBody>
                    <a:bodyPr/>
                    <a:lstStyle/>
                    <a:p>
                      <a:pPr indent="0" marL="0">
                        <a:buNone/>
                      </a:pPr>
                      <a:r>
                        <a:rPr lang="en-US" sz="1050" dirty="0">
                          <a:solidFill>
                            <a:srgbClr val="14213D"/>
                          </a:solidFill>
                          <a:latin typeface="Calibri" pitchFamily="34" charset="0"/>
                          <a:ea typeface="Calibri" pitchFamily="34" charset="-122"/>
                          <a:cs typeface="Calibri" pitchFamily="34" charset="-120"/>
                        </a:rPr>
                        <a:t>+ full scale</a:t>
                      </a:r>
                      <a:endParaRPr lang="en-US" sz="105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EEF3F8"/>
                    </a:solidFill>
                  </a:tcPr>
                </a:tc>
                <a:tc>
                  <a:txBody>
                    <a:bodyPr/>
                    <a:lstStyle/>
                    <a:p>
                      <a:pPr indent="0" marL="0">
                        <a:buNone/>
                      </a:pPr>
                      <a:r>
                        <a:rPr lang="en-US" sz="1050" dirty="0">
                          <a:solidFill>
                            <a:srgbClr val="14213D"/>
                          </a:solidFill>
                          <a:latin typeface="Calibri" pitchFamily="34" charset="0"/>
                          <a:ea typeface="Calibri" pitchFamily="34" charset="-122"/>
                          <a:cs typeface="Calibri" pitchFamily="34" charset="-120"/>
                        </a:rPr>
                        <a:t>1111 1111</a:t>
                      </a:r>
                      <a:endParaRPr lang="en-US" sz="105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EEF3F8"/>
                    </a:solidFill>
                  </a:tcPr>
                </a:tc>
                <a:tc>
                  <a:txBody>
                    <a:bodyPr/>
                    <a:lstStyle/>
                    <a:p>
                      <a:pPr indent="0" marL="0">
                        <a:buNone/>
                      </a:pPr>
                      <a:r>
                        <a:rPr lang="en-US" sz="1050" dirty="0">
                          <a:solidFill>
                            <a:srgbClr val="14213D"/>
                          </a:solidFill>
                          <a:latin typeface="Calibri" pitchFamily="34" charset="0"/>
                          <a:ea typeface="Calibri" pitchFamily="34" charset="-122"/>
                          <a:cs typeface="Calibri" pitchFamily="34" charset="-120"/>
                        </a:rPr>
                        <a:t>0111 1111</a:t>
                      </a:r>
                      <a:endParaRPr lang="en-US" sz="105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EEF3F8"/>
                    </a:solidFill>
                  </a:tcPr>
                </a:tc>
              </a:tr>
              <a:tr h="301752">
                <a:tc>
                  <a:txBody>
                    <a:bodyPr/>
                    <a:lstStyle/>
                    <a:p>
                      <a:pPr indent="0" marL="0">
                        <a:buNone/>
                      </a:pPr>
                      <a:r>
                        <a:rPr lang="en-US" sz="1050" dirty="0">
                          <a:solidFill>
                            <a:srgbClr val="14213D"/>
                          </a:solidFill>
                          <a:latin typeface="Calibri" pitchFamily="34" charset="0"/>
                          <a:ea typeface="Calibri" pitchFamily="34" charset="-122"/>
                          <a:cs typeface="Calibri" pitchFamily="34" charset="-120"/>
                        </a:rPr>
                        <a:t>mid-scale</a:t>
                      </a:r>
                      <a:endParaRPr lang="en-US" sz="105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FFFFF"/>
                    </a:solidFill>
                  </a:tcPr>
                </a:tc>
                <a:tc>
                  <a:txBody>
                    <a:bodyPr/>
                    <a:lstStyle/>
                    <a:p>
                      <a:pPr indent="0" marL="0">
                        <a:buNone/>
                      </a:pPr>
                      <a:r>
                        <a:rPr lang="en-US" sz="1050" dirty="0">
                          <a:solidFill>
                            <a:srgbClr val="14213D"/>
                          </a:solidFill>
                          <a:latin typeface="Calibri" pitchFamily="34" charset="0"/>
                          <a:ea typeface="Calibri" pitchFamily="34" charset="-122"/>
                          <a:cs typeface="Calibri" pitchFamily="34" charset="-120"/>
                        </a:rPr>
                        <a:t>1000 0000</a:t>
                      </a:r>
                      <a:endParaRPr lang="en-US" sz="105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FFFFF"/>
                    </a:solidFill>
                  </a:tcPr>
                </a:tc>
                <a:tc>
                  <a:txBody>
                    <a:bodyPr/>
                    <a:lstStyle/>
                    <a:p>
                      <a:pPr indent="0" marL="0">
                        <a:buNone/>
                      </a:pPr>
                      <a:r>
                        <a:rPr lang="en-US" sz="1050" dirty="0">
                          <a:solidFill>
                            <a:srgbClr val="14213D"/>
                          </a:solidFill>
                          <a:latin typeface="Calibri" pitchFamily="34" charset="0"/>
                          <a:ea typeface="Calibri" pitchFamily="34" charset="-122"/>
                          <a:cs typeface="Calibri" pitchFamily="34" charset="-120"/>
                        </a:rPr>
                        <a:t>0000 0000</a:t>
                      </a:r>
                      <a:endParaRPr lang="en-US" sz="105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FFFFF"/>
                    </a:solidFill>
                  </a:tcPr>
                </a:tc>
              </a:tr>
              <a:tr h="301752">
                <a:tc>
                  <a:txBody>
                    <a:bodyPr/>
                    <a:lstStyle/>
                    <a:p>
                      <a:pPr indent="0" marL="0">
                        <a:buNone/>
                      </a:pPr>
                      <a:r>
                        <a:rPr lang="en-US" sz="1050" dirty="0">
                          <a:solidFill>
                            <a:srgbClr val="14213D"/>
                          </a:solidFill>
                          <a:latin typeface="Calibri" pitchFamily="34" charset="0"/>
                          <a:ea typeface="Calibri" pitchFamily="34" charset="-122"/>
                          <a:cs typeface="Calibri" pitchFamily="34" charset="-120"/>
                        </a:rPr>
                        <a:t>− full scale</a:t>
                      </a:r>
                      <a:endParaRPr lang="en-US" sz="105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EEF3F8"/>
                    </a:solidFill>
                  </a:tcPr>
                </a:tc>
                <a:tc>
                  <a:txBody>
                    <a:bodyPr/>
                    <a:lstStyle/>
                    <a:p>
                      <a:pPr indent="0" marL="0">
                        <a:buNone/>
                      </a:pPr>
                      <a:r>
                        <a:rPr lang="en-US" sz="1050" dirty="0">
                          <a:solidFill>
                            <a:srgbClr val="14213D"/>
                          </a:solidFill>
                          <a:latin typeface="Calibri" pitchFamily="34" charset="0"/>
                          <a:ea typeface="Calibri" pitchFamily="34" charset="-122"/>
                          <a:cs typeface="Calibri" pitchFamily="34" charset="-120"/>
                        </a:rPr>
                        <a:t>0000 0000</a:t>
                      </a:r>
                      <a:endParaRPr lang="en-US" sz="105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EEF3F8"/>
                    </a:solidFill>
                  </a:tcPr>
                </a:tc>
                <a:tc>
                  <a:txBody>
                    <a:bodyPr/>
                    <a:lstStyle/>
                    <a:p>
                      <a:pPr indent="0" marL="0">
                        <a:buNone/>
                      </a:pPr>
                      <a:r>
                        <a:rPr lang="en-US" sz="1050" dirty="0">
                          <a:solidFill>
                            <a:srgbClr val="14213D"/>
                          </a:solidFill>
                          <a:latin typeface="Calibri" pitchFamily="34" charset="0"/>
                          <a:ea typeface="Calibri" pitchFamily="34" charset="-122"/>
                          <a:cs typeface="Calibri" pitchFamily="34" charset="-120"/>
                        </a:rPr>
                        <a:t>1000 0000</a:t>
                      </a:r>
                      <a:endParaRPr lang="en-US" sz="105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EEF3F8"/>
                    </a:solidFill>
                  </a:tcPr>
                </a:tc>
              </a:tr>
            </a:tbl>
          </a:graphicData>
        </a:graphic>
      </p:graphicFrame>
      <p:sp>
        <p:nvSpPr>
          <p:cNvPr id="8" name="Text 5"/>
          <p:cNvSpPr txBox="1"/>
          <p:nvPr/>
        </p:nvSpPr>
        <p:spPr>
          <a:xfrm>
            <a:off x="4663440" y="3200400"/>
            <a:ext cx="4023360" cy="347472"/>
          </a:xfrm>
          <a:prstGeom prst="rect">
            <a:avLst/>
          </a:prstGeom>
          <a:noFill/>
          <a:ln/>
        </p:spPr>
        <p:txBody>
          <a:bodyPr wrap="square" lIns="0" tIns="0" rIns="0" bIns="0" rtlCol="0" anchor="ctr"/>
          <a:lstStyle/>
          <a:p>
            <a:pPr algn="ctr" indent="0" marL="0">
              <a:buNone/>
            </a:pPr>
            <a:r>
              <a:rPr lang="en-US" sz="1000" i="1" dirty="0">
                <a:solidFill>
                  <a:srgbClr val="5B6B7F"/>
                </a:solidFill>
                <a:latin typeface="Calibri" pitchFamily="34" charset="0"/>
                <a:ea typeface="Calibri" pitchFamily="34" charset="-122"/>
                <a:cs typeface="Calibri" pitchFamily="34" charset="-120"/>
              </a:rPr>
              <a:t>This is a five-minute bug that costs a day. Check the coding before you debug the analogue.</a:t>
            </a:r>
            <a:endParaRPr lang="en-US" sz="1000" dirty="0"/>
          </a:p>
        </p:txBody>
      </p:sp>
      <p:sp>
        <p:nvSpPr>
          <p:cNvPr id="9" name="Shape 6"/>
          <p:cNvSpPr/>
          <p:nvPr/>
        </p:nvSpPr>
        <p:spPr>
          <a:xfrm>
            <a:off x="457200" y="3675888"/>
            <a:ext cx="4023360" cy="1024128"/>
          </a:xfrm>
          <a:prstGeom prst="roundRect">
            <a:avLst>
              <a:gd name="adj" fmla="val 7143"/>
            </a:avLst>
          </a:prstGeom>
          <a:solidFill>
            <a:srgbClr val="E4F7F4"/>
          </a:solidFill>
          <a:ln w="12700">
            <a:solidFill>
              <a:srgbClr val="E4F7F4"/>
            </a:solidFill>
            <a:prstDash val="solid"/>
          </a:ln>
        </p:spPr>
      </p:sp>
      <p:sp>
        <p:nvSpPr>
          <p:cNvPr id="10" name="Shape 7"/>
          <p:cNvSpPr/>
          <p:nvPr/>
        </p:nvSpPr>
        <p:spPr>
          <a:xfrm>
            <a:off x="566928" y="3776472"/>
            <a:ext cx="237744" cy="237744"/>
          </a:xfrm>
          <a:prstGeom prst="ellipse">
            <a:avLst/>
          </a:prstGeom>
          <a:solidFill>
            <a:srgbClr val="2EC4B6"/>
          </a:solidFill>
          <a:ln w="12700">
            <a:solidFill>
              <a:srgbClr val="2EC4B6"/>
            </a:solidFill>
            <a:prstDash val="solid"/>
          </a:ln>
        </p:spPr>
      </p:sp>
      <p:sp>
        <p:nvSpPr>
          <p:cNvPr id="11" name="Text 8"/>
          <p:cNvSpPr txBox="1"/>
          <p:nvPr/>
        </p:nvSpPr>
        <p:spPr>
          <a:xfrm>
            <a:off x="566928" y="3776472"/>
            <a:ext cx="237744" cy="237744"/>
          </a:xfrm>
          <a:prstGeom prst="rect">
            <a:avLst/>
          </a:prstGeom>
          <a:noFill/>
          <a:ln/>
        </p:spPr>
        <p:txBody>
          <a:bodyPr wrap="square" lIns="0" tIns="0" rIns="0" bIns="0" rtlCol="0" anchor="ctr"/>
          <a:lstStyle/>
          <a:p>
            <a:pPr algn="ctr" indent="0" marL="0">
              <a:buNone/>
            </a:pPr>
            <a:r>
              <a:rPr lang="en-US" sz="1200" b="1" dirty="0">
                <a:solidFill>
                  <a:srgbClr val="0B1F3A"/>
                </a:solidFill>
                <a:latin typeface="Calibri" pitchFamily="34" charset="0"/>
                <a:ea typeface="Calibri" pitchFamily="34" charset="-122"/>
                <a:cs typeface="Calibri" pitchFamily="34" charset="-120"/>
              </a:rPr>
              <a:t>≈</a:t>
            </a:r>
            <a:endParaRPr lang="en-US" sz="1200" dirty="0"/>
          </a:p>
        </p:txBody>
      </p:sp>
      <p:sp>
        <p:nvSpPr>
          <p:cNvPr id="12" name="Text 9"/>
          <p:cNvSpPr txBox="1"/>
          <p:nvPr/>
        </p:nvSpPr>
        <p:spPr>
          <a:xfrm>
            <a:off x="877824" y="3739896"/>
            <a:ext cx="3493008" cy="896112"/>
          </a:xfrm>
          <a:prstGeom prst="rect">
            <a:avLst/>
          </a:prstGeom>
          <a:noFill/>
          <a:ln/>
        </p:spPr>
        <p:txBody>
          <a:bodyPr wrap="square" lIns="0" tIns="0" rIns="0" bIns="0" rtlCol="0" anchor="t"/>
          <a:lstStyle/>
          <a:p>
            <a:pPr indent="0" marL="0">
              <a:buNone/>
            </a:pPr>
            <a:r>
              <a:rPr lang="en-US" sz="1050" b="1" dirty="0">
                <a:solidFill>
                  <a:srgbClr val="0B1F3A"/>
                </a:solidFill>
                <a:latin typeface="Calibri" pitchFamily="34" charset="0"/>
                <a:ea typeface="Calibri" pitchFamily="34" charset="-122"/>
                <a:cs typeface="Calibri" pitchFamily="34" charset="-120"/>
              </a:rPr>
              <a:t>Think of it like this  </a:t>
            </a:r>
            <a:pPr indent="0" marL="0">
              <a:buNone/>
            </a:pPr>
            <a:r>
              <a:rPr lang="en-US" sz="1050" dirty="0">
                <a:solidFill>
                  <a:srgbClr val="14213D"/>
                </a:solidFill>
                <a:latin typeface="Calibri" pitchFamily="34" charset="0"/>
                <a:ea typeface="Calibri" pitchFamily="34" charset="-122"/>
                <a:cs typeface="Calibri" pitchFamily="34" charset="-120"/>
              </a:rPr>
              <a:t>The same measurement written in different notations. "Minus three" and "3 below zero" are the same height; a reader expecting one and given the other gets nonsense.</a:t>
            </a:r>
            <a:endParaRPr lang="en-US" sz="1050" dirty="0"/>
          </a:p>
        </p:txBody>
      </p:sp>
      <p:sp>
        <p:nvSpPr>
          <p:cNvPr id="13" name="Shape 10"/>
          <p:cNvSpPr/>
          <p:nvPr/>
        </p:nvSpPr>
        <p:spPr>
          <a:xfrm>
            <a:off x="4663440" y="3675888"/>
            <a:ext cx="4023360" cy="1024128"/>
          </a:xfrm>
          <a:prstGeom prst="roundRect">
            <a:avLst>
              <a:gd name="adj" fmla="val 7143"/>
            </a:avLst>
          </a:prstGeom>
          <a:solidFill>
            <a:srgbClr val="FFFFFF"/>
          </a:solidFill>
          <a:ln w="12700">
            <a:solidFill>
              <a:srgbClr val="0B1F3A"/>
            </a:solidFill>
            <a:prstDash val="solid"/>
          </a:ln>
        </p:spPr>
      </p:sp>
      <p:sp>
        <p:nvSpPr>
          <p:cNvPr id="14" name="Shape 11"/>
          <p:cNvSpPr/>
          <p:nvPr/>
        </p:nvSpPr>
        <p:spPr>
          <a:xfrm>
            <a:off x="4773168" y="3566160"/>
            <a:ext cx="914400" cy="219456"/>
          </a:xfrm>
          <a:prstGeom prst="roundRect">
            <a:avLst>
              <a:gd name="adj" fmla="val 25000"/>
            </a:avLst>
          </a:prstGeom>
          <a:solidFill>
            <a:srgbClr val="0B1F3A"/>
          </a:solidFill>
          <a:ln w="12700">
            <a:solidFill>
              <a:srgbClr val="0B1F3A"/>
            </a:solidFill>
            <a:prstDash val="solid"/>
          </a:ln>
        </p:spPr>
      </p:sp>
      <p:sp>
        <p:nvSpPr>
          <p:cNvPr id="15" name="Text 12"/>
          <p:cNvSpPr txBox="1"/>
          <p:nvPr/>
        </p:nvSpPr>
        <p:spPr>
          <a:xfrm>
            <a:off x="4773168" y="3566160"/>
            <a:ext cx="914400" cy="219456"/>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EXAMPLE</a:t>
            </a:r>
            <a:endParaRPr lang="en-US" sz="850" dirty="0"/>
          </a:p>
        </p:txBody>
      </p:sp>
      <p:sp>
        <p:nvSpPr>
          <p:cNvPr id="16" name="Text 13"/>
          <p:cNvSpPr txBox="1"/>
          <p:nvPr/>
        </p:nvSpPr>
        <p:spPr>
          <a:xfrm>
            <a:off x="4791456" y="3813048"/>
            <a:ext cx="3803904" cy="841248"/>
          </a:xfrm>
          <a:prstGeom prst="rect">
            <a:avLst/>
          </a:prstGeom>
          <a:noFill/>
          <a:ln/>
        </p:spPr>
        <p:txBody>
          <a:bodyPr wrap="square" lIns="0" tIns="0" rIns="0" bIns="0" rtlCol="0" anchor="t"/>
          <a:lstStyle/>
          <a:p>
            <a:pPr indent="0" marL="0">
              <a:spcAft>
                <a:spcPts val="100"/>
              </a:spcAft>
              <a:buNone/>
            </a:pPr>
            <a:r>
              <a:rPr lang="en-US" sz="900" b="1" dirty="0">
                <a:solidFill>
                  <a:srgbClr val="0B1F3A"/>
                </a:solidFill>
                <a:latin typeface="Calibri" pitchFamily="34" charset="0"/>
                <a:ea typeface="Calibri" pitchFamily="34" charset="-122"/>
                <a:cs typeface="Calibri" pitchFamily="34" charset="-120"/>
              </a:rPr>
              <a:t>Mid-scale on a 12-bit part</a:t>
            </a:r>
            <a:endParaRPr lang="en-US" sz="900" dirty="0"/>
          </a:p>
          <a:p>
            <a:pPr marL="114300" indent="-114300">
              <a:spcAft>
                <a:spcPts val="100"/>
              </a:spcAft>
              <a:buSzPct val="100000"/>
              <a:buChar char="•"/>
            </a:pPr>
            <a:r>
              <a:rPr lang="en-US" sz="900" dirty="0">
                <a:solidFill>
                  <a:srgbClr val="14213D"/>
                </a:solidFill>
                <a:latin typeface="Cambria" pitchFamily="34" charset="0"/>
                <a:ea typeface="Cambria" pitchFamily="34" charset="-122"/>
                <a:cs typeface="Cambria" pitchFamily="34" charset="-120"/>
              </a:rPr>
              <a:t>Straight binary: 2048 = 1000 0000 0000</a:t>
            </a:r>
            <a:endParaRPr lang="en-US" sz="900" dirty="0"/>
          </a:p>
          <a:p>
            <a:pPr marL="114300" indent="-114300">
              <a:spcAft>
                <a:spcPts val="100"/>
              </a:spcAft>
              <a:buSzPct val="100000"/>
              <a:buChar char="•"/>
            </a:pPr>
            <a:r>
              <a:rPr lang="en-US" sz="900" dirty="0">
                <a:solidFill>
                  <a:srgbClr val="14213D"/>
                </a:solidFill>
                <a:latin typeface="Cambria" pitchFamily="34" charset="0"/>
                <a:ea typeface="Cambria" pitchFamily="34" charset="-122"/>
                <a:cs typeface="Cambria" pitchFamily="34" charset="-120"/>
              </a:rPr>
              <a:t>Two’s complement: 0 = 0000 0000 0000</a:t>
            </a:r>
            <a:endParaRPr lang="en-US" sz="900" dirty="0"/>
          </a:p>
          <a:p>
            <a:pPr marL="114300" indent="-114300">
              <a:spcAft>
                <a:spcPts val="100"/>
              </a:spcAft>
              <a:buSzPct val="100000"/>
              <a:buChar char="•"/>
            </a:pPr>
            <a:r>
              <a:rPr lang="en-US" sz="900" dirty="0">
                <a:solidFill>
                  <a:srgbClr val="14213D"/>
                </a:solidFill>
                <a:latin typeface="Cambria" pitchFamily="34" charset="0"/>
                <a:ea typeface="Cambria" pitchFamily="34" charset="-122"/>
                <a:cs typeface="Cambria" pitchFamily="34" charset="-120"/>
              </a:rPr>
              <a:t>Read two’s complement as straight binary and every negative sample looks like a huge positive one</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4709160" cy="640080"/>
          </a:xfrm>
          <a:prstGeom prst="rect">
            <a:avLst/>
          </a:prstGeom>
          <a:noFill/>
          <a:ln/>
        </p:spPr>
        <p:txBody>
          <a:bodyPr wrap="square" lIns="0" tIns="0" rIns="0" bIns="0" rtlCol="0" anchor="ctr"/>
          <a:lstStyle/>
          <a:p>
            <a:pPr indent="0" marL="0">
              <a:buNone/>
            </a:pPr>
            <a:r>
              <a:rPr lang="en-US" sz="1800" b="1" dirty="0">
                <a:solidFill>
                  <a:srgbClr val="0B1F3A"/>
                </a:solidFill>
                <a:latin typeface="Cambria" pitchFamily="34" charset="0"/>
                <a:ea typeface="Cambria" pitchFamily="34" charset="-122"/>
                <a:cs typeface="Cambria" pitchFamily="34" charset="-120"/>
              </a:rPr>
              <a:t>Reference voltage and its drift</a:t>
            </a:r>
            <a:endParaRPr lang="en-US" sz="1800" dirty="0"/>
          </a:p>
        </p:txBody>
      </p:sp>
      <p:sp>
        <p:nvSpPr>
          <p:cNvPr id="3" name="Text 1"/>
          <p:cNvSpPr txBox="1"/>
          <p:nvPr/>
        </p:nvSpPr>
        <p:spPr>
          <a:xfrm>
            <a:off x="457200" y="4796028"/>
            <a:ext cx="4572000" cy="228600"/>
          </a:xfrm>
          <a:prstGeom prst="rect">
            <a:avLst/>
          </a:prstGeom>
          <a:noFill/>
          <a:ln/>
        </p:spPr>
        <p:txBody>
          <a:bodyPr wrap="square" lIns="0" tIns="0" rIns="0" bIns="0" rtlCol="0" anchor="ctr"/>
          <a:lstStyle/>
          <a:p>
            <a:pPr indent="0" marL="0">
              <a:buNone/>
            </a:pPr>
            <a:r>
              <a:rPr lang="en-US" sz="900" dirty="0">
                <a:solidFill>
                  <a:srgbClr val="5B6B7F"/>
                </a:solidFill>
                <a:latin typeface="Calibri" pitchFamily="34" charset="0"/>
                <a:ea typeface="Calibri" pitchFamily="34" charset="-122"/>
                <a:cs typeface="Calibri" pitchFamily="34" charset="-120"/>
              </a:rPr>
              <a:t>Part 1 · Resolution and the transfer function</a:t>
            </a:r>
            <a:endParaRPr lang="en-US" sz="900" dirty="0"/>
          </a:p>
        </p:txBody>
      </p:sp>
      <p:sp>
        <p:nvSpPr>
          <p:cNvPr id="4" name="Text 2"/>
          <p:cNvSpPr txBox="1"/>
          <p:nvPr/>
        </p:nvSpPr>
        <p:spPr>
          <a:xfrm>
            <a:off x="7772400" y="4796028"/>
            <a:ext cx="914400" cy="228600"/>
          </a:xfrm>
          <a:prstGeom prst="rect">
            <a:avLst/>
          </a:prstGeom>
          <a:noFill/>
          <a:ln/>
        </p:spPr>
        <p:txBody>
          <a:bodyPr wrap="square" lIns="0" tIns="0" rIns="0" bIns="0" rtlCol="0" anchor="ctr"/>
          <a:lstStyle/>
          <a:p>
            <a:pPr algn="r" indent="0" marL="0">
              <a:buNone/>
            </a:pPr>
            <a:r>
              <a:rPr lang="en-US" sz="900" dirty="0">
                <a:solidFill>
                  <a:srgbClr val="5B6B7F"/>
                </a:solidFill>
                <a:latin typeface="Calibri" pitchFamily="34" charset="0"/>
                <a:ea typeface="Calibri" pitchFamily="34" charset="-122"/>
                <a:cs typeface="Calibri" pitchFamily="34" charset="-120"/>
              </a:rPr>
              <a:t>10</a:t>
            </a:r>
            <a:endParaRPr lang="en-US" sz="900" dirty="0"/>
          </a:p>
        </p:txBody>
      </p:sp>
      <p:sp>
        <p:nvSpPr>
          <p:cNvPr id="5" name="Shape 3"/>
          <p:cNvSpPr/>
          <p:nvPr/>
        </p:nvSpPr>
        <p:spPr>
          <a:xfrm>
            <a:off x="5394960" y="384048"/>
            <a:ext cx="3291840" cy="384048"/>
          </a:xfrm>
          <a:prstGeom prst="roundRect">
            <a:avLst>
              <a:gd name="adj" fmla="val 19048"/>
            </a:avLst>
          </a:prstGeom>
          <a:solidFill>
            <a:srgbClr val="EEF3F8"/>
          </a:solidFill>
          <a:ln w="12700">
            <a:solidFill>
              <a:srgbClr val="EEF3F8"/>
            </a:solidFill>
            <a:prstDash val="solid"/>
          </a:ln>
        </p:spPr>
      </p:sp>
      <p:sp>
        <p:nvSpPr>
          <p:cNvPr id="6" name="Text 4"/>
          <p:cNvSpPr txBox="1"/>
          <p:nvPr/>
        </p:nvSpPr>
        <p:spPr>
          <a:xfrm>
            <a:off x="5394960" y="384048"/>
            <a:ext cx="3291840" cy="384048"/>
          </a:xfrm>
          <a:prstGeom prst="rect">
            <a:avLst/>
          </a:prstGeom>
          <a:noFill/>
          <a:ln/>
        </p:spPr>
        <p:txBody>
          <a:bodyPr wrap="square" lIns="0" tIns="0" rIns="0" bIns="0" rtlCol="0" anchor="ctr"/>
          <a:lstStyle/>
          <a:p>
            <a:pPr algn="ctr" indent="0" marL="0">
              <a:buNone/>
            </a:pPr>
            <a:r>
              <a:rPr lang="en-US" sz="1200" b="1" dirty="0">
                <a:solidFill>
                  <a:srgbClr val="0B1F3A"/>
                </a:solidFill>
                <a:latin typeface="Cambria" pitchFamily="34" charset="0"/>
                <a:ea typeface="Cambria" pitchFamily="34" charset="-122"/>
                <a:cs typeface="Cambria" pitchFamily="34" charset="-120"/>
              </a:rPr>
              <a:t>V_ref, ppm/°C   ·   V, ppm/°C</a:t>
            </a:r>
            <a:endParaRPr lang="en-US" sz="1200" dirty="0"/>
          </a:p>
        </p:txBody>
      </p:sp>
      <p:sp>
        <p:nvSpPr>
          <p:cNvPr id="7" name="Text 5"/>
          <p:cNvSpPr txBox="1"/>
          <p:nvPr/>
        </p:nvSpPr>
        <p:spPr>
          <a:xfrm>
            <a:off x="457200" y="1042416"/>
            <a:ext cx="4023360" cy="1207008"/>
          </a:xfrm>
          <a:prstGeom prst="rect">
            <a:avLst/>
          </a:prstGeom>
          <a:noFill/>
          <a:ln/>
        </p:spPr>
        <p:txBody>
          <a:bodyPr wrap="square" lIns="0" tIns="0" rIns="0" bIns="0" rtlCol="0" anchor="t"/>
          <a:lstStyle/>
          <a:p>
            <a:pPr indent="0" marL="0">
              <a:buNone/>
            </a:pPr>
            <a:r>
              <a:rPr lang="en-US" sz="1150" dirty="0">
                <a:solidFill>
                  <a:srgbClr val="14213D"/>
                </a:solidFill>
                <a:latin typeface="Calibri" pitchFamily="34" charset="0"/>
                <a:ea typeface="Calibri" pitchFamily="34" charset="-122"/>
                <a:cs typeface="Calibri" pitchFamily="34" charset="-120"/>
              </a:rPr>
              <a:t>Every ADC measures its input as a fraction of a reference. The converter can only ever be as accurate as that reference, so reference error appears directly as gain error, and reference drift appears as gain drift over temperature.</a:t>
            </a:r>
            <a:endParaRPr lang="en-US" sz="1150" dirty="0"/>
          </a:p>
        </p:txBody>
      </p:sp>
      <p:sp>
        <p:nvSpPr>
          <p:cNvPr id="8" name="Shape 6"/>
          <p:cNvSpPr/>
          <p:nvPr/>
        </p:nvSpPr>
        <p:spPr>
          <a:xfrm>
            <a:off x="457200" y="2304288"/>
            <a:ext cx="4023360" cy="868680"/>
          </a:xfrm>
          <a:prstGeom prst="roundRect">
            <a:avLst>
              <a:gd name="adj" fmla="val 8421"/>
            </a:avLst>
          </a:prstGeom>
          <a:solidFill>
            <a:srgbClr val="EEF3F8"/>
          </a:solidFill>
          <a:ln w="12700">
            <a:solidFill>
              <a:srgbClr val="EEF3F8"/>
            </a:solidFill>
            <a:prstDash val="solid"/>
          </a:ln>
        </p:spPr>
      </p:sp>
      <p:sp>
        <p:nvSpPr>
          <p:cNvPr id="9" name="Text 7"/>
          <p:cNvSpPr txBox="1"/>
          <p:nvPr/>
        </p:nvSpPr>
        <p:spPr>
          <a:xfrm>
            <a:off x="594360" y="2304288"/>
            <a:ext cx="3749040" cy="612648"/>
          </a:xfrm>
          <a:prstGeom prst="rect">
            <a:avLst/>
          </a:prstGeom>
          <a:noFill/>
          <a:ln/>
        </p:spPr>
        <p:txBody>
          <a:bodyPr wrap="square" lIns="0" tIns="0" rIns="0" bIns="0" rtlCol="0" anchor="ctr"/>
          <a:lstStyle/>
          <a:p>
            <a:pPr algn="ctr" indent="0" marL="0">
              <a:buNone/>
            </a:pPr>
            <a:r>
              <a:rPr lang="en-US" sz="1500" dirty="0">
                <a:solidFill>
                  <a:srgbClr val="0B1F3A"/>
                </a:solidFill>
                <a:latin typeface="Cambria" pitchFamily="34" charset="0"/>
                <a:ea typeface="Cambria" pitchFamily="34" charset="-122"/>
                <a:cs typeface="Cambria" pitchFamily="34" charset="-120"/>
              </a:rPr>
              <a:t>code ≈ 2ᴺ × V_in / V_ref</a:t>
            </a:r>
            <a:endParaRPr lang="en-US" sz="1500" dirty="0"/>
          </a:p>
        </p:txBody>
      </p:sp>
      <p:sp>
        <p:nvSpPr>
          <p:cNvPr id="10" name="Text 8"/>
          <p:cNvSpPr txBox="1"/>
          <p:nvPr/>
        </p:nvSpPr>
        <p:spPr>
          <a:xfrm>
            <a:off x="594360" y="2871216"/>
            <a:ext cx="3749040" cy="256032"/>
          </a:xfrm>
          <a:prstGeom prst="rect">
            <a:avLst/>
          </a:prstGeom>
          <a:noFill/>
          <a:ln/>
        </p:spPr>
        <p:txBody>
          <a:bodyPr wrap="square" lIns="0" tIns="0" rIns="0" bIns="0" rtlCol="0" anchor="t"/>
          <a:lstStyle/>
          <a:p>
            <a:pPr algn="ctr" indent="0" marL="0">
              <a:buNone/>
            </a:pPr>
            <a:r>
              <a:rPr lang="en-US" sz="1000" dirty="0">
                <a:solidFill>
                  <a:srgbClr val="5B6B7F"/>
                </a:solidFill>
                <a:latin typeface="Calibri" pitchFamily="34" charset="0"/>
                <a:ea typeface="Calibri" pitchFamily="34" charset="-122"/>
                <a:cs typeface="Calibri" pitchFamily="34" charset="-120"/>
              </a:rPr>
              <a:t>The reading is a ratio, not an absolute measurement</a:t>
            </a:r>
            <a:endParaRPr lang="en-US" sz="1000" dirty="0"/>
          </a:p>
        </p:txBody>
      </p:sp>
      <p:graphicFrame>
        <p:nvGraphicFramePr>
          <p:cNvPr id="11" name="Chart 0" descr=""/>
          <p:cNvGraphicFramePr/>
          <p:nvPr/>
        </p:nvGraphicFramePr>
        <p:xfrm>
          <a:off x="4663440" y="1042416"/>
          <a:ext cx="4023360" cy="2084832"/>
        </p:xfrm>
        <a:graphic xmlns:a="http://schemas.openxmlformats.org/drawingml/2006/main">
          <a:graphicData uri="http://schemas.openxmlformats.org/drawingml/2006/chart">
            <c:chart xmlns:c="http://schemas.openxmlformats.org/drawingml/2006/chart" r:id="rId1"/>
          </a:graphicData>
        </a:graphic>
      </p:graphicFrame>
      <p:sp>
        <p:nvSpPr>
          <p:cNvPr id="12" name="Text 9"/>
          <p:cNvSpPr txBox="1"/>
          <p:nvPr/>
        </p:nvSpPr>
        <p:spPr>
          <a:xfrm>
            <a:off x="4663440" y="3200400"/>
            <a:ext cx="4023360" cy="347472"/>
          </a:xfrm>
          <a:prstGeom prst="rect">
            <a:avLst/>
          </a:prstGeom>
          <a:noFill/>
          <a:ln/>
        </p:spPr>
        <p:txBody>
          <a:bodyPr wrap="square" lIns="0" tIns="0" rIns="0" bIns="0" rtlCol="0" anchor="ctr"/>
          <a:lstStyle/>
          <a:p>
            <a:pPr algn="ctr" indent="0" marL="0">
              <a:buNone/>
            </a:pPr>
            <a:r>
              <a:rPr lang="en-US" sz="1000" i="1" dirty="0">
                <a:solidFill>
                  <a:srgbClr val="5B6B7F"/>
                </a:solidFill>
                <a:latin typeface="Calibri" pitchFamily="34" charset="0"/>
                <a:ea typeface="Calibri" pitchFamily="34" charset="-122"/>
                <a:cs typeface="Calibri" pitchFamily="34" charset="-120"/>
              </a:rPr>
              <a:t>For any converter above 12 bits, the reference is usually the accuracy limit, not the converter. Noise on the reference also lands straight in the result.</a:t>
            </a:r>
            <a:endParaRPr lang="en-US" sz="1000" dirty="0"/>
          </a:p>
        </p:txBody>
      </p:sp>
      <p:sp>
        <p:nvSpPr>
          <p:cNvPr id="13" name="Shape 10"/>
          <p:cNvSpPr/>
          <p:nvPr/>
        </p:nvSpPr>
        <p:spPr>
          <a:xfrm>
            <a:off x="457200" y="3675888"/>
            <a:ext cx="4023360" cy="1024128"/>
          </a:xfrm>
          <a:prstGeom prst="roundRect">
            <a:avLst>
              <a:gd name="adj" fmla="val 7143"/>
            </a:avLst>
          </a:prstGeom>
          <a:solidFill>
            <a:srgbClr val="E4F7F4"/>
          </a:solidFill>
          <a:ln w="12700">
            <a:solidFill>
              <a:srgbClr val="E4F7F4"/>
            </a:solidFill>
            <a:prstDash val="solid"/>
          </a:ln>
        </p:spPr>
      </p:sp>
      <p:sp>
        <p:nvSpPr>
          <p:cNvPr id="14" name="Shape 11"/>
          <p:cNvSpPr/>
          <p:nvPr/>
        </p:nvSpPr>
        <p:spPr>
          <a:xfrm>
            <a:off x="566928" y="3776472"/>
            <a:ext cx="237744" cy="237744"/>
          </a:xfrm>
          <a:prstGeom prst="ellipse">
            <a:avLst/>
          </a:prstGeom>
          <a:solidFill>
            <a:srgbClr val="2EC4B6"/>
          </a:solidFill>
          <a:ln w="12700">
            <a:solidFill>
              <a:srgbClr val="2EC4B6"/>
            </a:solidFill>
            <a:prstDash val="solid"/>
          </a:ln>
        </p:spPr>
      </p:sp>
      <p:sp>
        <p:nvSpPr>
          <p:cNvPr id="15" name="Text 12"/>
          <p:cNvSpPr txBox="1"/>
          <p:nvPr/>
        </p:nvSpPr>
        <p:spPr>
          <a:xfrm>
            <a:off x="566928" y="3776472"/>
            <a:ext cx="237744" cy="237744"/>
          </a:xfrm>
          <a:prstGeom prst="rect">
            <a:avLst/>
          </a:prstGeom>
          <a:noFill/>
          <a:ln/>
        </p:spPr>
        <p:txBody>
          <a:bodyPr wrap="square" lIns="0" tIns="0" rIns="0" bIns="0" rtlCol="0" anchor="ctr"/>
          <a:lstStyle/>
          <a:p>
            <a:pPr algn="ctr" indent="0" marL="0">
              <a:buNone/>
            </a:pPr>
            <a:r>
              <a:rPr lang="en-US" sz="1200" b="1" dirty="0">
                <a:solidFill>
                  <a:srgbClr val="0B1F3A"/>
                </a:solidFill>
                <a:latin typeface="Calibri" pitchFamily="34" charset="0"/>
                <a:ea typeface="Calibri" pitchFamily="34" charset="-122"/>
                <a:cs typeface="Calibri" pitchFamily="34" charset="-120"/>
              </a:rPr>
              <a:t>≈</a:t>
            </a:r>
            <a:endParaRPr lang="en-US" sz="1200" dirty="0"/>
          </a:p>
        </p:txBody>
      </p:sp>
      <p:sp>
        <p:nvSpPr>
          <p:cNvPr id="16" name="Text 13"/>
          <p:cNvSpPr txBox="1"/>
          <p:nvPr/>
        </p:nvSpPr>
        <p:spPr>
          <a:xfrm>
            <a:off x="877824" y="3739896"/>
            <a:ext cx="3493008" cy="896112"/>
          </a:xfrm>
          <a:prstGeom prst="rect">
            <a:avLst/>
          </a:prstGeom>
          <a:noFill/>
          <a:ln/>
        </p:spPr>
        <p:txBody>
          <a:bodyPr wrap="square" lIns="0" tIns="0" rIns="0" bIns="0" rtlCol="0" anchor="t"/>
          <a:lstStyle/>
          <a:p>
            <a:pPr indent="0" marL="0">
              <a:buNone/>
            </a:pPr>
            <a:r>
              <a:rPr lang="en-US" sz="1050" b="1" dirty="0">
                <a:solidFill>
                  <a:srgbClr val="0B1F3A"/>
                </a:solidFill>
                <a:latin typeface="Calibri" pitchFamily="34" charset="0"/>
                <a:ea typeface="Calibri" pitchFamily="34" charset="-122"/>
                <a:cs typeface="Calibri" pitchFamily="34" charset="-120"/>
              </a:rPr>
              <a:t>Think of it like this  </a:t>
            </a:r>
            <a:pPr indent="0" marL="0">
              <a:buNone/>
            </a:pPr>
            <a:r>
              <a:rPr lang="en-US" sz="1050" dirty="0">
                <a:solidFill>
                  <a:srgbClr val="14213D"/>
                </a:solidFill>
                <a:latin typeface="Calibri" pitchFamily="34" charset="0"/>
                <a:ea typeface="Calibri" pitchFamily="34" charset="-122"/>
                <a:cs typeface="Calibri" pitchFamily="34" charset="-120"/>
              </a:rPr>
              <a:t>A ruler made of metal. It measures perfectly at 20 °C, but on a hot day the whole ruler has stretched and every reading is proportionally wrong.</a:t>
            </a:r>
            <a:endParaRPr lang="en-US" sz="1050" dirty="0"/>
          </a:p>
        </p:txBody>
      </p:sp>
      <p:sp>
        <p:nvSpPr>
          <p:cNvPr id="17" name="Shape 14"/>
          <p:cNvSpPr/>
          <p:nvPr/>
        </p:nvSpPr>
        <p:spPr>
          <a:xfrm>
            <a:off x="4663440" y="3675888"/>
            <a:ext cx="4023360" cy="1024128"/>
          </a:xfrm>
          <a:prstGeom prst="roundRect">
            <a:avLst>
              <a:gd name="adj" fmla="val 7143"/>
            </a:avLst>
          </a:prstGeom>
          <a:solidFill>
            <a:srgbClr val="FFFFFF"/>
          </a:solidFill>
          <a:ln w="12700">
            <a:solidFill>
              <a:srgbClr val="0B1F3A"/>
            </a:solidFill>
            <a:prstDash val="solid"/>
          </a:ln>
        </p:spPr>
      </p:sp>
      <p:sp>
        <p:nvSpPr>
          <p:cNvPr id="18" name="Shape 15"/>
          <p:cNvSpPr/>
          <p:nvPr/>
        </p:nvSpPr>
        <p:spPr>
          <a:xfrm>
            <a:off x="4773168" y="3566160"/>
            <a:ext cx="914400" cy="219456"/>
          </a:xfrm>
          <a:prstGeom prst="roundRect">
            <a:avLst>
              <a:gd name="adj" fmla="val 25000"/>
            </a:avLst>
          </a:prstGeom>
          <a:solidFill>
            <a:srgbClr val="0B1F3A"/>
          </a:solidFill>
          <a:ln w="12700">
            <a:solidFill>
              <a:srgbClr val="0B1F3A"/>
            </a:solidFill>
            <a:prstDash val="solid"/>
          </a:ln>
        </p:spPr>
      </p:sp>
      <p:sp>
        <p:nvSpPr>
          <p:cNvPr id="19" name="Text 16"/>
          <p:cNvSpPr txBox="1"/>
          <p:nvPr/>
        </p:nvSpPr>
        <p:spPr>
          <a:xfrm>
            <a:off x="4773168" y="3566160"/>
            <a:ext cx="914400" cy="219456"/>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EXAMPLE</a:t>
            </a:r>
            <a:endParaRPr lang="en-US" sz="850" dirty="0"/>
          </a:p>
        </p:txBody>
      </p:sp>
      <p:sp>
        <p:nvSpPr>
          <p:cNvPr id="20" name="Text 17"/>
          <p:cNvSpPr txBox="1"/>
          <p:nvPr/>
        </p:nvSpPr>
        <p:spPr>
          <a:xfrm>
            <a:off x="4791456" y="3813048"/>
            <a:ext cx="3803904" cy="841248"/>
          </a:xfrm>
          <a:prstGeom prst="rect">
            <a:avLst/>
          </a:prstGeom>
          <a:noFill/>
          <a:ln/>
        </p:spPr>
        <p:txBody>
          <a:bodyPr wrap="square" lIns="0" tIns="0" rIns="0" bIns="0" rtlCol="0" anchor="t"/>
          <a:lstStyle/>
          <a:p>
            <a:pPr indent="0" marL="0">
              <a:spcAft>
                <a:spcPts val="100"/>
              </a:spcAft>
              <a:buNone/>
            </a:pPr>
            <a:r>
              <a:rPr lang="en-US" sz="900" b="1" dirty="0">
                <a:solidFill>
                  <a:srgbClr val="0B1F3A"/>
                </a:solidFill>
                <a:latin typeface="Calibri" pitchFamily="34" charset="0"/>
                <a:ea typeface="Calibri" pitchFamily="34" charset="-122"/>
                <a:cs typeface="Calibri" pitchFamily="34" charset="-120"/>
              </a:rPr>
              <a:t>How many bits does drift cost?</a:t>
            </a:r>
            <a:endParaRPr lang="en-US" sz="900" dirty="0"/>
          </a:p>
          <a:p>
            <a:pPr marL="114300" indent="-114300">
              <a:spcAft>
                <a:spcPts val="100"/>
              </a:spcAft>
              <a:buSzPct val="100000"/>
              <a:buChar char="•"/>
            </a:pPr>
            <a:r>
              <a:rPr lang="en-US" sz="900" dirty="0">
                <a:solidFill>
                  <a:srgbClr val="14213D"/>
                </a:solidFill>
                <a:latin typeface="Cambria" pitchFamily="34" charset="0"/>
                <a:ea typeface="Cambria" pitchFamily="34" charset="-122"/>
                <a:cs typeface="Cambria" pitchFamily="34" charset="-120"/>
              </a:rPr>
              <a:t>16-bit part: 1 LSB = 1/65 536 = 15 ppm of full scale</a:t>
            </a:r>
            <a:endParaRPr lang="en-US" sz="900" dirty="0"/>
          </a:p>
          <a:p>
            <a:pPr marL="114300" indent="-114300">
              <a:spcAft>
                <a:spcPts val="100"/>
              </a:spcAft>
              <a:buSzPct val="100000"/>
              <a:buChar char="•"/>
            </a:pPr>
            <a:r>
              <a:rPr lang="en-US" sz="900" dirty="0">
                <a:solidFill>
                  <a:srgbClr val="14213D"/>
                </a:solidFill>
                <a:latin typeface="Cambria" pitchFamily="34" charset="0"/>
                <a:ea typeface="Cambria" pitchFamily="34" charset="-122"/>
                <a:cs typeface="Cambria" pitchFamily="34" charset="-120"/>
              </a:rPr>
              <a:t>A 10 ppm/°C reference over 50 °C drifts 500 ppm</a:t>
            </a:r>
            <a:endParaRPr lang="en-US" sz="900" dirty="0"/>
          </a:p>
          <a:p>
            <a:pPr marL="114300" indent="-114300">
              <a:spcAft>
                <a:spcPts val="100"/>
              </a:spcAft>
              <a:buSzPct val="100000"/>
              <a:buChar char="•"/>
            </a:pPr>
            <a:r>
              <a:rPr lang="en-US" sz="900" dirty="0">
                <a:solidFill>
                  <a:srgbClr val="14213D"/>
                </a:solidFill>
                <a:latin typeface="Cambria" pitchFamily="34" charset="0"/>
                <a:ea typeface="Cambria" pitchFamily="34" charset="-122"/>
                <a:cs typeface="Cambria" pitchFamily="34" charset="-120"/>
              </a:rPr>
              <a:t>That is 33 LSB — five bits of accuracy lost to temperature alone</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F3A"/>
        </a:solidFill>
      </p:bgPr>
    </p:bg>
    <p:spTree>
      <p:nvGrpSpPr>
        <p:cNvPr id="1" name=""/>
        <p:cNvGrpSpPr/>
        <p:nvPr/>
      </p:nvGrpSpPr>
      <p:grpSpPr>
        <a:xfrm>
          <a:off x="0" y="0"/>
          <a:ext cx="0" cy="0"/>
          <a:chOff x="0" y="0"/>
          <a:chExt cx="0" cy="0"/>
        </a:xfrm>
      </p:grpSpPr>
      <p:sp>
        <p:nvSpPr>
          <p:cNvPr id="2" name="Text 0"/>
          <p:cNvSpPr txBox="1"/>
          <p:nvPr/>
        </p:nvSpPr>
        <p:spPr>
          <a:xfrm>
            <a:off x="457200" y="411480"/>
            <a:ext cx="822960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Recap · the ruler itself</a:t>
            </a:r>
            <a:endParaRPr lang="en-US" sz="3000" dirty="0"/>
          </a:p>
        </p:txBody>
      </p:sp>
      <p:sp>
        <p:nvSpPr>
          <p:cNvPr id="3" name="Shape 1"/>
          <p:cNvSpPr/>
          <p:nvPr/>
        </p:nvSpPr>
        <p:spPr>
          <a:xfrm>
            <a:off x="457200" y="1271016"/>
            <a:ext cx="274320" cy="274320"/>
          </a:xfrm>
          <a:prstGeom prst="ellipse">
            <a:avLst/>
          </a:prstGeom>
          <a:solidFill>
            <a:srgbClr val="2EC4B6"/>
          </a:solidFill>
          <a:ln w="12700">
            <a:solidFill>
              <a:srgbClr val="2EC4B6"/>
            </a:solidFill>
            <a:prstDash val="solid"/>
          </a:ln>
        </p:spPr>
      </p:sp>
      <p:sp>
        <p:nvSpPr>
          <p:cNvPr id="4" name="Text 2"/>
          <p:cNvSpPr txBox="1"/>
          <p:nvPr/>
        </p:nvSpPr>
        <p:spPr>
          <a:xfrm>
            <a:off x="457200" y="1271016"/>
            <a:ext cx="274320" cy="274320"/>
          </a:xfrm>
          <a:prstGeom prst="rect">
            <a:avLst/>
          </a:prstGeom>
          <a:noFill/>
          <a:ln/>
        </p:spPr>
        <p:txBody>
          <a:bodyPr wrap="square" lIns="0" tIns="0" rIns="0" bIns="0" rtlCol="0" anchor="ctr"/>
          <a:lstStyle/>
          <a:p>
            <a:pPr algn="ctr" indent="0" marL="0">
              <a:buNone/>
            </a:pPr>
            <a:r>
              <a:rPr lang="en-US" sz="1200" b="1" dirty="0">
                <a:solidFill>
                  <a:srgbClr val="0B1F3A"/>
                </a:solidFill>
              </a:rPr>
              <a:t>✓</a:t>
            </a:r>
            <a:endParaRPr lang="en-US" sz="1200" dirty="0"/>
          </a:p>
        </p:txBody>
      </p:sp>
      <p:sp>
        <p:nvSpPr>
          <p:cNvPr id="5" name="Text 3"/>
          <p:cNvSpPr txBox="1"/>
          <p:nvPr/>
        </p:nvSpPr>
        <p:spPr>
          <a:xfrm>
            <a:off x="868680" y="1188720"/>
            <a:ext cx="7818120" cy="566928"/>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Resolution N sets the number of marks: 2ᴺ. It promises nothing about accuracy</a:t>
            </a:r>
            <a:endParaRPr lang="en-US" sz="1450" dirty="0"/>
          </a:p>
        </p:txBody>
      </p:sp>
      <p:sp>
        <p:nvSpPr>
          <p:cNvPr id="6" name="Shape 4"/>
          <p:cNvSpPr/>
          <p:nvPr/>
        </p:nvSpPr>
        <p:spPr>
          <a:xfrm>
            <a:off x="457200" y="1837944"/>
            <a:ext cx="274320" cy="274320"/>
          </a:xfrm>
          <a:prstGeom prst="ellipse">
            <a:avLst/>
          </a:prstGeom>
          <a:solidFill>
            <a:srgbClr val="2EC4B6"/>
          </a:solidFill>
          <a:ln w="12700">
            <a:solidFill>
              <a:srgbClr val="2EC4B6"/>
            </a:solidFill>
            <a:prstDash val="solid"/>
          </a:ln>
        </p:spPr>
      </p:sp>
      <p:sp>
        <p:nvSpPr>
          <p:cNvPr id="7" name="Text 5"/>
          <p:cNvSpPr txBox="1"/>
          <p:nvPr/>
        </p:nvSpPr>
        <p:spPr>
          <a:xfrm>
            <a:off x="457200" y="1837944"/>
            <a:ext cx="274320" cy="274320"/>
          </a:xfrm>
          <a:prstGeom prst="rect">
            <a:avLst/>
          </a:prstGeom>
          <a:noFill/>
          <a:ln/>
        </p:spPr>
        <p:txBody>
          <a:bodyPr wrap="square" lIns="0" tIns="0" rIns="0" bIns="0" rtlCol="0" anchor="ctr"/>
          <a:lstStyle/>
          <a:p>
            <a:pPr algn="ctr" indent="0" marL="0">
              <a:buNone/>
            </a:pPr>
            <a:r>
              <a:rPr lang="en-US" sz="1200" b="1" dirty="0">
                <a:solidFill>
                  <a:srgbClr val="0B1F3A"/>
                </a:solidFill>
              </a:rPr>
              <a:t>✓</a:t>
            </a:r>
            <a:endParaRPr lang="en-US" sz="1200" dirty="0"/>
          </a:p>
        </p:txBody>
      </p:sp>
      <p:sp>
        <p:nvSpPr>
          <p:cNvPr id="8" name="Text 6"/>
          <p:cNvSpPr txBox="1"/>
          <p:nvPr/>
        </p:nvSpPr>
        <p:spPr>
          <a:xfrm>
            <a:off x="868680" y="1755648"/>
            <a:ext cx="7818120" cy="566928"/>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Full-scale range is the length of the ruler; going past it clips and sprays harmonics</a:t>
            </a:r>
            <a:endParaRPr lang="en-US" sz="1450" dirty="0"/>
          </a:p>
        </p:txBody>
      </p:sp>
      <p:sp>
        <p:nvSpPr>
          <p:cNvPr id="9" name="Shape 7"/>
          <p:cNvSpPr/>
          <p:nvPr/>
        </p:nvSpPr>
        <p:spPr>
          <a:xfrm>
            <a:off x="457200" y="2404872"/>
            <a:ext cx="274320" cy="274320"/>
          </a:xfrm>
          <a:prstGeom prst="ellipse">
            <a:avLst/>
          </a:prstGeom>
          <a:solidFill>
            <a:srgbClr val="2EC4B6"/>
          </a:solidFill>
          <a:ln w="12700">
            <a:solidFill>
              <a:srgbClr val="2EC4B6"/>
            </a:solidFill>
            <a:prstDash val="solid"/>
          </a:ln>
        </p:spPr>
      </p:sp>
      <p:sp>
        <p:nvSpPr>
          <p:cNvPr id="10" name="Text 8"/>
          <p:cNvSpPr txBox="1"/>
          <p:nvPr/>
        </p:nvSpPr>
        <p:spPr>
          <a:xfrm>
            <a:off x="457200" y="2404872"/>
            <a:ext cx="274320" cy="274320"/>
          </a:xfrm>
          <a:prstGeom prst="rect">
            <a:avLst/>
          </a:prstGeom>
          <a:noFill/>
          <a:ln/>
        </p:spPr>
        <p:txBody>
          <a:bodyPr wrap="square" lIns="0" tIns="0" rIns="0" bIns="0" rtlCol="0" anchor="ctr"/>
          <a:lstStyle/>
          <a:p>
            <a:pPr algn="ctr" indent="0" marL="0">
              <a:buNone/>
            </a:pPr>
            <a:r>
              <a:rPr lang="en-US" sz="1200" b="1" dirty="0">
                <a:solidFill>
                  <a:srgbClr val="0B1F3A"/>
                </a:solidFill>
              </a:rPr>
              <a:t>✓</a:t>
            </a:r>
            <a:endParaRPr lang="en-US" sz="1200" dirty="0"/>
          </a:p>
        </p:txBody>
      </p:sp>
      <p:sp>
        <p:nvSpPr>
          <p:cNvPr id="11" name="Text 9"/>
          <p:cNvSpPr txBox="1"/>
          <p:nvPr/>
        </p:nvSpPr>
        <p:spPr>
          <a:xfrm>
            <a:off x="868680" y="2322576"/>
            <a:ext cx="7818120" cy="566928"/>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LSB = FSR / 2ᴺ is the unit every other parameter is quoted in</a:t>
            </a:r>
            <a:endParaRPr lang="en-US" sz="1450" dirty="0"/>
          </a:p>
        </p:txBody>
      </p:sp>
      <p:sp>
        <p:nvSpPr>
          <p:cNvPr id="12" name="Shape 10"/>
          <p:cNvSpPr/>
          <p:nvPr/>
        </p:nvSpPr>
        <p:spPr>
          <a:xfrm>
            <a:off x="457200" y="2971800"/>
            <a:ext cx="274320" cy="274320"/>
          </a:xfrm>
          <a:prstGeom prst="ellipse">
            <a:avLst/>
          </a:prstGeom>
          <a:solidFill>
            <a:srgbClr val="2EC4B6"/>
          </a:solidFill>
          <a:ln w="12700">
            <a:solidFill>
              <a:srgbClr val="2EC4B6"/>
            </a:solidFill>
            <a:prstDash val="solid"/>
          </a:ln>
        </p:spPr>
      </p:sp>
      <p:sp>
        <p:nvSpPr>
          <p:cNvPr id="13" name="Text 11"/>
          <p:cNvSpPr txBox="1"/>
          <p:nvPr/>
        </p:nvSpPr>
        <p:spPr>
          <a:xfrm>
            <a:off x="457200" y="2971800"/>
            <a:ext cx="274320" cy="274320"/>
          </a:xfrm>
          <a:prstGeom prst="rect">
            <a:avLst/>
          </a:prstGeom>
          <a:noFill/>
          <a:ln/>
        </p:spPr>
        <p:txBody>
          <a:bodyPr wrap="square" lIns="0" tIns="0" rIns="0" bIns="0" rtlCol="0" anchor="ctr"/>
          <a:lstStyle/>
          <a:p>
            <a:pPr algn="ctr" indent="0" marL="0">
              <a:buNone/>
            </a:pPr>
            <a:r>
              <a:rPr lang="en-US" sz="1200" b="1" dirty="0">
                <a:solidFill>
                  <a:srgbClr val="0B1F3A"/>
                </a:solidFill>
              </a:rPr>
              <a:t>✓</a:t>
            </a:r>
            <a:endParaRPr lang="en-US" sz="1200" dirty="0"/>
          </a:p>
        </p:txBody>
      </p:sp>
      <p:sp>
        <p:nvSpPr>
          <p:cNvPr id="14" name="Text 12"/>
          <p:cNvSpPr txBox="1"/>
          <p:nvPr/>
        </p:nvSpPr>
        <p:spPr>
          <a:xfrm>
            <a:off x="868680" y="2889504"/>
            <a:ext cx="7818120" cy="566928"/>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Quantisation error is at most half an LSB and behaves like noise of power LSB²/12</a:t>
            </a:r>
            <a:endParaRPr lang="en-US" sz="1450" dirty="0"/>
          </a:p>
        </p:txBody>
      </p:sp>
      <p:sp>
        <p:nvSpPr>
          <p:cNvPr id="15" name="Shape 13"/>
          <p:cNvSpPr/>
          <p:nvPr/>
        </p:nvSpPr>
        <p:spPr>
          <a:xfrm>
            <a:off x="457200" y="3538728"/>
            <a:ext cx="274320" cy="274320"/>
          </a:xfrm>
          <a:prstGeom prst="ellipse">
            <a:avLst/>
          </a:prstGeom>
          <a:solidFill>
            <a:srgbClr val="2EC4B6"/>
          </a:solidFill>
          <a:ln w="12700">
            <a:solidFill>
              <a:srgbClr val="2EC4B6"/>
            </a:solidFill>
            <a:prstDash val="solid"/>
          </a:ln>
        </p:spPr>
      </p:sp>
      <p:sp>
        <p:nvSpPr>
          <p:cNvPr id="16" name="Text 14"/>
          <p:cNvSpPr txBox="1"/>
          <p:nvPr/>
        </p:nvSpPr>
        <p:spPr>
          <a:xfrm>
            <a:off x="457200" y="3538728"/>
            <a:ext cx="274320" cy="274320"/>
          </a:xfrm>
          <a:prstGeom prst="rect">
            <a:avLst/>
          </a:prstGeom>
          <a:noFill/>
          <a:ln/>
        </p:spPr>
        <p:txBody>
          <a:bodyPr wrap="square" lIns="0" tIns="0" rIns="0" bIns="0" rtlCol="0" anchor="ctr"/>
          <a:lstStyle/>
          <a:p>
            <a:pPr algn="ctr" indent="0" marL="0">
              <a:buNone/>
            </a:pPr>
            <a:r>
              <a:rPr lang="en-US" sz="1200" b="1" dirty="0">
                <a:solidFill>
                  <a:srgbClr val="0B1F3A"/>
                </a:solidFill>
              </a:rPr>
              <a:t>✓</a:t>
            </a:r>
            <a:endParaRPr lang="en-US" sz="1200" dirty="0"/>
          </a:p>
        </p:txBody>
      </p:sp>
      <p:sp>
        <p:nvSpPr>
          <p:cNvPr id="17" name="Text 15"/>
          <p:cNvSpPr txBox="1"/>
          <p:nvPr/>
        </p:nvSpPr>
        <p:spPr>
          <a:xfrm>
            <a:off x="868680" y="3456432"/>
            <a:ext cx="7818120" cy="566928"/>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The reading is a ratio to V_ref, so reference error and drift are your error and drift</a:t>
            </a:r>
            <a:endParaRPr lang="en-US" sz="1450" dirty="0"/>
          </a:p>
        </p:txBody>
      </p:sp>
      <p:sp>
        <p:nvSpPr>
          <p:cNvPr id="18" name="Text 16"/>
          <p:cNvSpPr txBox="1"/>
          <p:nvPr/>
        </p:nvSpPr>
        <p:spPr>
          <a:xfrm>
            <a:off x="7772400" y="4796028"/>
            <a:ext cx="914400" cy="228600"/>
          </a:xfrm>
          <a:prstGeom prst="rect">
            <a:avLst/>
          </a:prstGeom>
          <a:noFill/>
          <a:ln/>
        </p:spPr>
        <p:txBody>
          <a:bodyPr wrap="square" lIns="0" tIns="0" rIns="0" bIns="0" rtlCol="0" anchor="ctr"/>
          <a:lstStyle/>
          <a:p>
            <a:pPr algn="r" indent="0" marL="0">
              <a:buNone/>
            </a:pPr>
            <a:r>
              <a:rPr lang="en-US" sz="900" dirty="0">
                <a:solidFill>
                  <a:srgbClr val="8FA3BF"/>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F3A"/>
        </a:solidFill>
      </p:bgPr>
    </p:bg>
    <p:spTree>
      <p:nvGrpSpPr>
        <p:cNvPr id="1" name=""/>
        <p:cNvGrpSpPr/>
        <p:nvPr/>
      </p:nvGrpSpPr>
      <p:grpSpPr>
        <a:xfrm>
          <a:off x="0" y="0"/>
          <a:ext cx="0" cy="0"/>
          <a:chOff x="0" y="0"/>
          <a:chExt cx="0" cy="0"/>
        </a:xfrm>
      </p:grpSpPr>
      <p:sp>
        <p:nvSpPr>
          <p:cNvPr id="2" name="Text 0"/>
          <p:cNvSpPr txBox="1"/>
          <p:nvPr/>
        </p:nvSpPr>
        <p:spPr>
          <a:xfrm>
            <a:off x="457200" y="1234440"/>
            <a:ext cx="5486400" cy="365760"/>
          </a:xfrm>
          <a:prstGeom prst="rect">
            <a:avLst/>
          </a:prstGeom>
          <a:noFill/>
          <a:ln/>
        </p:spPr>
        <p:txBody>
          <a:bodyPr wrap="square" lIns="0" tIns="0" rIns="0" bIns="0" rtlCol="0" anchor="ctr"/>
          <a:lstStyle/>
          <a:p>
            <a:pPr indent="0" marL="0">
              <a:buNone/>
            </a:pPr>
            <a:r>
              <a:rPr lang="en-US" sz="1400" b="1" dirty="0">
                <a:solidFill>
                  <a:srgbClr val="2EC4B6"/>
                </a:solidFill>
                <a:latin typeface="Calibri" pitchFamily="34" charset="0"/>
                <a:ea typeface="Calibri" pitchFamily="34" charset="-122"/>
                <a:cs typeface="Calibri" pitchFamily="34" charset="-120"/>
              </a:rPr>
              <a:t>Part 2</a:t>
            </a:r>
            <a:endParaRPr lang="en-US" sz="1400" dirty="0"/>
          </a:p>
        </p:txBody>
      </p:sp>
      <p:sp>
        <p:nvSpPr>
          <p:cNvPr id="3" name="Text 1"/>
          <p:cNvSpPr txBox="1"/>
          <p:nvPr/>
        </p:nvSpPr>
        <p:spPr>
          <a:xfrm>
            <a:off x="457200" y="1600200"/>
            <a:ext cx="8229600" cy="9144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Static accuracy (DC)</a:t>
            </a:r>
            <a:endParaRPr lang="en-US" sz="3800" dirty="0"/>
          </a:p>
        </p:txBody>
      </p:sp>
      <p:sp>
        <p:nvSpPr>
          <p:cNvPr id="4" name="Text 2"/>
          <p:cNvSpPr txBox="1"/>
          <p:nvPr/>
        </p:nvSpPr>
        <p:spPr>
          <a:xfrm>
            <a:off x="457200" y="2560320"/>
            <a:ext cx="8229600" cy="457200"/>
          </a:xfrm>
          <a:prstGeom prst="rect">
            <a:avLst/>
          </a:prstGeom>
          <a:noFill/>
          <a:ln/>
        </p:spPr>
        <p:txBody>
          <a:bodyPr wrap="square" lIns="0" tIns="0" rIns="0" bIns="0" rtlCol="0" anchor="ctr"/>
          <a:lstStyle/>
          <a:p>
            <a:pPr indent="0" marL="0">
              <a:buNone/>
            </a:pPr>
            <a:r>
              <a:rPr lang="en-US" sz="1600" dirty="0">
                <a:solidFill>
                  <a:srgbClr val="D7DEE8"/>
                </a:solidFill>
                <a:latin typeface="Calibri" pitchFamily="34" charset="0"/>
                <a:ea typeface="Calibri" pitchFamily="34" charset="-122"/>
                <a:cs typeface="Calibri" pitchFamily="34" charset="-120"/>
              </a:rPr>
              <a:t>Are the marks in the right places? The DC parameters</a:t>
            </a:r>
            <a:endParaRPr lang="en-US" sz="1600" dirty="0"/>
          </a:p>
        </p:txBody>
      </p:sp>
      <p:sp>
        <p:nvSpPr>
          <p:cNvPr id="5" name="Text 3"/>
          <p:cNvSpPr txBox="1"/>
          <p:nvPr/>
        </p:nvSpPr>
        <p:spPr>
          <a:xfrm>
            <a:off x="457200" y="3063240"/>
            <a:ext cx="3657600" cy="274320"/>
          </a:xfrm>
          <a:prstGeom prst="rect">
            <a:avLst/>
          </a:prstGeom>
          <a:noFill/>
          <a:ln/>
        </p:spPr>
        <p:txBody>
          <a:bodyPr wrap="square" lIns="0" tIns="0" rIns="0" bIns="0" rtlCol="0" anchor="ctr"/>
          <a:lstStyle/>
          <a:p>
            <a:pPr indent="0" marL="0">
              <a:buNone/>
            </a:pPr>
            <a:r>
              <a:rPr lang="en-US" sz="1100" dirty="0">
                <a:solidFill>
                  <a:srgbClr val="B8C4D6"/>
                </a:solidFill>
                <a:latin typeface="Calibri" pitchFamily="34" charset="0"/>
                <a:ea typeface="Calibri" pitchFamily="34" charset="-122"/>
                <a:cs typeface="Calibri" pitchFamily="34" charset="-120"/>
              </a:rPr>
              <a:t>16 minutes</a:t>
            </a:r>
            <a:endParaRPr lang="en-US" sz="1100" dirty="0"/>
          </a:p>
        </p:txBody>
      </p:sp>
      <p:sp>
        <p:nvSpPr>
          <p:cNvPr id="6" name="Text 4"/>
          <p:cNvSpPr txBox="1"/>
          <p:nvPr/>
        </p:nvSpPr>
        <p:spPr>
          <a:xfrm>
            <a:off x="7772400" y="4796028"/>
            <a:ext cx="914400" cy="228600"/>
          </a:xfrm>
          <a:prstGeom prst="rect">
            <a:avLst/>
          </a:prstGeom>
          <a:noFill/>
          <a:ln/>
        </p:spPr>
        <p:txBody>
          <a:bodyPr wrap="square" lIns="0" tIns="0" rIns="0" bIns="0" rtlCol="0" anchor="ctr"/>
          <a:lstStyle/>
          <a:p>
            <a:pPr algn="r" indent="0" marL="0">
              <a:buNone/>
            </a:pPr>
            <a:r>
              <a:rPr lang="en-US" sz="900" dirty="0">
                <a:solidFill>
                  <a:srgbClr val="8FA3BF"/>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5285232" cy="640080"/>
          </a:xfrm>
          <a:prstGeom prst="rect">
            <a:avLst/>
          </a:prstGeom>
          <a:noFill/>
          <a:ln/>
        </p:spPr>
        <p:txBody>
          <a:bodyPr wrap="square" lIns="0" tIns="0" rIns="0" bIns="0" rtlCol="0" anchor="ctr"/>
          <a:lstStyle/>
          <a:p>
            <a:pPr indent="0" marL="0">
              <a:buNone/>
            </a:pPr>
            <a:r>
              <a:rPr lang="en-US" sz="2800" b="1" dirty="0">
                <a:solidFill>
                  <a:srgbClr val="0B1F3A"/>
                </a:solidFill>
                <a:latin typeface="Cambria" pitchFamily="34" charset="0"/>
                <a:ea typeface="Cambria" pitchFamily="34" charset="-122"/>
                <a:cs typeface="Cambria" pitchFamily="34" charset="-120"/>
              </a:rPr>
              <a:t>Offset error</a:t>
            </a:r>
            <a:endParaRPr lang="en-US" sz="2800" dirty="0"/>
          </a:p>
        </p:txBody>
      </p:sp>
      <p:sp>
        <p:nvSpPr>
          <p:cNvPr id="3" name="Text 1"/>
          <p:cNvSpPr txBox="1"/>
          <p:nvPr/>
        </p:nvSpPr>
        <p:spPr>
          <a:xfrm>
            <a:off x="457200" y="4796028"/>
            <a:ext cx="4572000" cy="228600"/>
          </a:xfrm>
          <a:prstGeom prst="rect">
            <a:avLst/>
          </a:prstGeom>
          <a:noFill/>
          <a:ln/>
        </p:spPr>
        <p:txBody>
          <a:bodyPr wrap="square" lIns="0" tIns="0" rIns="0" bIns="0" rtlCol="0" anchor="ctr"/>
          <a:lstStyle/>
          <a:p>
            <a:pPr indent="0" marL="0">
              <a:buNone/>
            </a:pPr>
            <a:r>
              <a:rPr lang="en-US" sz="900" dirty="0">
                <a:solidFill>
                  <a:srgbClr val="5B6B7F"/>
                </a:solidFill>
                <a:latin typeface="Calibri" pitchFamily="34" charset="0"/>
                <a:ea typeface="Calibri" pitchFamily="34" charset="-122"/>
                <a:cs typeface="Calibri" pitchFamily="34" charset="-120"/>
              </a:rPr>
              <a:t>Part 2 · Static accuracy (DC)</a:t>
            </a:r>
            <a:endParaRPr lang="en-US" sz="900" dirty="0"/>
          </a:p>
        </p:txBody>
      </p:sp>
      <p:sp>
        <p:nvSpPr>
          <p:cNvPr id="4" name="Text 2"/>
          <p:cNvSpPr txBox="1"/>
          <p:nvPr/>
        </p:nvSpPr>
        <p:spPr>
          <a:xfrm>
            <a:off x="7772400" y="4796028"/>
            <a:ext cx="914400" cy="228600"/>
          </a:xfrm>
          <a:prstGeom prst="rect">
            <a:avLst/>
          </a:prstGeom>
          <a:noFill/>
          <a:ln/>
        </p:spPr>
        <p:txBody>
          <a:bodyPr wrap="square" lIns="0" tIns="0" rIns="0" bIns="0" rtlCol="0" anchor="ctr"/>
          <a:lstStyle/>
          <a:p>
            <a:pPr algn="r" indent="0" marL="0">
              <a:buNone/>
            </a:pPr>
            <a:r>
              <a:rPr lang="en-US" sz="900" dirty="0">
                <a:solidFill>
                  <a:srgbClr val="5B6B7F"/>
                </a:solidFill>
                <a:latin typeface="Calibri" pitchFamily="34" charset="0"/>
                <a:ea typeface="Calibri" pitchFamily="34" charset="-122"/>
                <a:cs typeface="Calibri" pitchFamily="34" charset="-120"/>
              </a:rPr>
              <a:t>13</a:t>
            </a:r>
            <a:endParaRPr lang="en-US" sz="900" dirty="0"/>
          </a:p>
        </p:txBody>
      </p:sp>
      <p:sp>
        <p:nvSpPr>
          <p:cNvPr id="5" name="Shape 3"/>
          <p:cNvSpPr/>
          <p:nvPr/>
        </p:nvSpPr>
        <p:spPr>
          <a:xfrm>
            <a:off x="5971032" y="384048"/>
            <a:ext cx="2715768" cy="384048"/>
          </a:xfrm>
          <a:prstGeom prst="roundRect">
            <a:avLst>
              <a:gd name="adj" fmla="val 19048"/>
            </a:avLst>
          </a:prstGeom>
          <a:solidFill>
            <a:srgbClr val="EEF3F8"/>
          </a:solidFill>
          <a:ln w="12700">
            <a:solidFill>
              <a:srgbClr val="EEF3F8"/>
            </a:solidFill>
            <a:prstDash val="solid"/>
          </a:ln>
        </p:spPr>
      </p:sp>
      <p:sp>
        <p:nvSpPr>
          <p:cNvPr id="6" name="Text 4"/>
          <p:cNvSpPr txBox="1"/>
          <p:nvPr/>
        </p:nvSpPr>
        <p:spPr>
          <a:xfrm>
            <a:off x="5971032" y="384048"/>
            <a:ext cx="2715768" cy="384048"/>
          </a:xfrm>
          <a:prstGeom prst="rect">
            <a:avLst/>
          </a:prstGeom>
          <a:noFill/>
          <a:ln/>
        </p:spPr>
        <p:txBody>
          <a:bodyPr wrap="square" lIns="0" tIns="0" rIns="0" bIns="0" rtlCol="0" anchor="ctr"/>
          <a:lstStyle/>
          <a:p>
            <a:pPr algn="ctr" indent="0" marL="0">
              <a:buNone/>
            </a:pPr>
            <a:r>
              <a:rPr lang="en-US" sz="1200" b="1" dirty="0">
                <a:solidFill>
                  <a:srgbClr val="0B1F3A"/>
                </a:solidFill>
                <a:latin typeface="Cambria" pitchFamily="34" charset="0"/>
                <a:ea typeface="Cambria" pitchFamily="34" charset="-122"/>
                <a:cs typeface="Cambria" pitchFamily="34" charset="-120"/>
              </a:rPr>
              <a:t>E_O   ·   LSB or mV</a:t>
            </a:r>
            <a:endParaRPr lang="en-US" sz="1200" dirty="0"/>
          </a:p>
        </p:txBody>
      </p:sp>
      <p:sp>
        <p:nvSpPr>
          <p:cNvPr id="7" name="Text 5"/>
          <p:cNvSpPr txBox="1"/>
          <p:nvPr/>
        </p:nvSpPr>
        <p:spPr>
          <a:xfrm>
            <a:off x="457200" y="1042416"/>
            <a:ext cx="4023360" cy="1005840"/>
          </a:xfrm>
          <a:prstGeom prst="rect">
            <a:avLst/>
          </a:prstGeom>
          <a:noFill/>
          <a:ln/>
        </p:spPr>
        <p:txBody>
          <a:bodyPr wrap="square" lIns="0" tIns="0" rIns="0" bIns="0" rtlCol="0" anchor="t"/>
          <a:lstStyle/>
          <a:p>
            <a:pPr indent="0" marL="0">
              <a:buNone/>
            </a:pPr>
            <a:r>
              <a:rPr lang="en-US" sz="1150" dirty="0">
                <a:solidFill>
                  <a:srgbClr val="14213D"/>
                </a:solidFill>
                <a:latin typeface="Calibri" pitchFamily="34" charset="0"/>
                <a:ea typeface="Calibri" pitchFamily="34" charset="-122"/>
                <a:cs typeface="Calibri" pitchFamily="34" charset="-120"/>
              </a:rPr>
              <a:t>The whole staircase is shifted sideways: with zero volts in, the ADC does not report the zero code. Every reading is wrong by the same amount, in the same direction.</a:t>
            </a:r>
            <a:endParaRPr lang="en-US" sz="1150" dirty="0"/>
          </a:p>
        </p:txBody>
      </p:sp>
      <p:sp>
        <p:nvSpPr>
          <p:cNvPr id="8" name="Shape 6"/>
          <p:cNvSpPr/>
          <p:nvPr/>
        </p:nvSpPr>
        <p:spPr>
          <a:xfrm>
            <a:off x="457200" y="2103120"/>
            <a:ext cx="4023360" cy="868680"/>
          </a:xfrm>
          <a:prstGeom prst="roundRect">
            <a:avLst>
              <a:gd name="adj" fmla="val 8421"/>
            </a:avLst>
          </a:prstGeom>
          <a:solidFill>
            <a:srgbClr val="EEF3F8"/>
          </a:solidFill>
          <a:ln w="12700">
            <a:solidFill>
              <a:srgbClr val="EEF3F8"/>
            </a:solidFill>
            <a:prstDash val="solid"/>
          </a:ln>
        </p:spPr>
      </p:sp>
      <p:sp>
        <p:nvSpPr>
          <p:cNvPr id="9" name="Text 7"/>
          <p:cNvSpPr txBox="1"/>
          <p:nvPr/>
        </p:nvSpPr>
        <p:spPr>
          <a:xfrm>
            <a:off x="594360" y="2103120"/>
            <a:ext cx="3749040" cy="612648"/>
          </a:xfrm>
          <a:prstGeom prst="rect">
            <a:avLst/>
          </a:prstGeom>
          <a:noFill/>
          <a:ln/>
        </p:spPr>
        <p:txBody>
          <a:bodyPr wrap="square" lIns="0" tIns="0" rIns="0" bIns="0" rtlCol="0" anchor="ctr"/>
          <a:lstStyle/>
          <a:p>
            <a:pPr algn="ctr" indent="0" marL="0">
              <a:buNone/>
            </a:pPr>
            <a:r>
              <a:rPr lang="en-US" sz="1000" dirty="0">
                <a:solidFill>
                  <a:srgbClr val="0B1F3A"/>
                </a:solidFill>
                <a:latin typeface="Cambria" pitchFamily="34" charset="0"/>
                <a:ea typeface="Cambria" pitchFamily="34" charset="-122"/>
                <a:cs typeface="Cambria" pitchFamily="34" charset="-120"/>
              </a:rPr>
              <a:t>E_O = (first actual transition) − (first ideal transition)</a:t>
            </a:r>
            <a:endParaRPr lang="en-US" sz="1000" dirty="0"/>
          </a:p>
        </p:txBody>
      </p:sp>
      <p:sp>
        <p:nvSpPr>
          <p:cNvPr id="10" name="Text 8"/>
          <p:cNvSpPr txBox="1"/>
          <p:nvPr/>
        </p:nvSpPr>
        <p:spPr>
          <a:xfrm>
            <a:off x="594360" y="2670048"/>
            <a:ext cx="3749040" cy="256032"/>
          </a:xfrm>
          <a:prstGeom prst="rect">
            <a:avLst/>
          </a:prstGeom>
          <a:noFill/>
          <a:ln/>
        </p:spPr>
        <p:txBody>
          <a:bodyPr wrap="square" lIns="0" tIns="0" rIns="0" bIns="0" rtlCol="0" anchor="t"/>
          <a:lstStyle/>
          <a:p>
            <a:pPr algn="ctr" indent="0" marL="0">
              <a:buNone/>
            </a:pPr>
            <a:r>
              <a:rPr lang="en-US" sz="1000" dirty="0">
                <a:solidFill>
                  <a:srgbClr val="5B6B7F"/>
                </a:solidFill>
                <a:latin typeface="Calibri" pitchFamily="34" charset="0"/>
                <a:ea typeface="Calibri" pitchFamily="34" charset="-122"/>
                <a:cs typeface="Calibri" pitchFamily="34" charset="-120"/>
              </a:rPr>
              <a:t>Measured at the bottom of the range, in LSB</a:t>
            </a:r>
            <a:endParaRPr lang="en-US" sz="1000" dirty="0"/>
          </a:p>
        </p:txBody>
      </p:sp>
      <p:graphicFrame>
        <p:nvGraphicFramePr>
          <p:cNvPr id="11" name="Chart 0" descr=""/>
          <p:cNvGraphicFramePr/>
          <p:nvPr/>
        </p:nvGraphicFramePr>
        <p:xfrm>
          <a:off x="4663440" y="1042416"/>
          <a:ext cx="4023360" cy="2084832"/>
        </p:xfrm>
        <a:graphic xmlns:a="http://schemas.openxmlformats.org/drawingml/2006/main">
          <a:graphicData uri="http://schemas.openxmlformats.org/drawingml/2006/chart">
            <c:chart xmlns:c="http://schemas.openxmlformats.org/drawingml/2006/chart" r:id="rId1"/>
          </a:graphicData>
        </a:graphic>
      </p:graphicFrame>
      <p:sp>
        <p:nvSpPr>
          <p:cNvPr id="12" name="Text 9"/>
          <p:cNvSpPr txBox="1"/>
          <p:nvPr/>
        </p:nvSpPr>
        <p:spPr>
          <a:xfrm>
            <a:off x="4663440" y="3200400"/>
            <a:ext cx="4023360" cy="347472"/>
          </a:xfrm>
          <a:prstGeom prst="rect">
            <a:avLst/>
          </a:prstGeom>
          <a:noFill/>
          <a:ln/>
        </p:spPr>
        <p:txBody>
          <a:bodyPr wrap="square" lIns="0" tIns="0" rIns="0" bIns="0" rtlCol="0" anchor="ctr"/>
          <a:lstStyle/>
          <a:p>
            <a:pPr algn="ctr" indent="0" marL="0">
              <a:buNone/>
            </a:pPr>
            <a:r>
              <a:rPr lang="en-US" sz="1000" i="1" dirty="0">
                <a:solidFill>
                  <a:srgbClr val="5B6B7F"/>
                </a:solidFill>
                <a:latin typeface="Calibri" pitchFamily="34" charset="0"/>
                <a:ea typeface="Calibri" pitchFamily="34" charset="-122"/>
                <a:cs typeface="Calibri" pitchFamily="34" charset="-120"/>
              </a:rPr>
              <a:t>Easy to remove: measure it once at zero input and subtract it in software. It matters most for small DC signals, and not at all for AC signals, where it…</a:t>
            </a:r>
            <a:endParaRPr lang="en-US" sz="1000" dirty="0"/>
          </a:p>
        </p:txBody>
      </p:sp>
      <p:sp>
        <p:nvSpPr>
          <p:cNvPr id="13" name="Shape 10"/>
          <p:cNvSpPr/>
          <p:nvPr/>
        </p:nvSpPr>
        <p:spPr>
          <a:xfrm>
            <a:off x="457200" y="3675888"/>
            <a:ext cx="4023360" cy="1024128"/>
          </a:xfrm>
          <a:prstGeom prst="roundRect">
            <a:avLst>
              <a:gd name="adj" fmla="val 7143"/>
            </a:avLst>
          </a:prstGeom>
          <a:solidFill>
            <a:srgbClr val="E4F7F4"/>
          </a:solidFill>
          <a:ln w="12700">
            <a:solidFill>
              <a:srgbClr val="E4F7F4"/>
            </a:solidFill>
            <a:prstDash val="solid"/>
          </a:ln>
        </p:spPr>
      </p:sp>
      <p:sp>
        <p:nvSpPr>
          <p:cNvPr id="14" name="Shape 11"/>
          <p:cNvSpPr/>
          <p:nvPr/>
        </p:nvSpPr>
        <p:spPr>
          <a:xfrm>
            <a:off x="566928" y="3776472"/>
            <a:ext cx="237744" cy="237744"/>
          </a:xfrm>
          <a:prstGeom prst="ellipse">
            <a:avLst/>
          </a:prstGeom>
          <a:solidFill>
            <a:srgbClr val="2EC4B6"/>
          </a:solidFill>
          <a:ln w="12700">
            <a:solidFill>
              <a:srgbClr val="2EC4B6"/>
            </a:solidFill>
            <a:prstDash val="solid"/>
          </a:ln>
        </p:spPr>
      </p:sp>
      <p:sp>
        <p:nvSpPr>
          <p:cNvPr id="15" name="Text 12"/>
          <p:cNvSpPr txBox="1"/>
          <p:nvPr/>
        </p:nvSpPr>
        <p:spPr>
          <a:xfrm>
            <a:off x="566928" y="3776472"/>
            <a:ext cx="237744" cy="237744"/>
          </a:xfrm>
          <a:prstGeom prst="rect">
            <a:avLst/>
          </a:prstGeom>
          <a:noFill/>
          <a:ln/>
        </p:spPr>
        <p:txBody>
          <a:bodyPr wrap="square" lIns="0" tIns="0" rIns="0" bIns="0" rtlCol="0" anchor="ctr"/>
          <a:lstStyle/>
          <a:p>
            <a:pPr algn="ctr" indent="0" marL="0">
              <a:buNone/>
            </a:pPr>
            <a:r>
              <a:rPr lang="en-US" sz="1200" b="1" dirty="0">
                <a:solidFill>
                  <a:srgbClr val="0B1F3A"/>
                </a:solidFill>
                <a:latin typeface="Calibri" pitchFamily="34" charset="0"/>
                <a:ea typeface="Calibri" pitchFamily="34" charset="-122"/>
                <a:cs typeface="Calibri" pitchFamily="34" charset="-120"/>
              </a:rPr>
              <a:t>≈</a:t>
            </a:r>
            <a:endParaRPr lang="en-US" sz="1200" dirty="0"/>
          </a:p>
        </p:txBody>
      </p:sp>
      <p:sp>
        <p:nvSpPr>
          <p:cNvPr id="16" name="Text 13"/>
          <p:cNvSpPr txBox="1"/>
          <p:nvPr/>
        </p:nvSpPr>
        <p:spPr>
          <a:xfrm>
            <a:off x="877824" y="3739896"/>
            <a:ext cx="3493008" cy="896112"/>
          </a:xfrm>
          <a:prstGeom prst="rect">
            <a:avLst/>
          </a:prstGeom>
          <a:noFill/>
          <a:ln/>
        </p:spPr>
        <p:txBody>
          <a:bodyPr wrap="square" lIns="0" tIns="0" rIns="0" bIns="0" rtlCol="0" anchor="t"/>
          <a:lstStyle/>
          <a:p>
            <a:pPr indent="0" marL="0">
              <a:buNone/>
            </a:pPr>
            <a:r>
              <a:rPr lang="en-US" sz="1050" b="1" dirty="0">
                <a:solidFill>
                  <a:srgbClr val="0B1F3A"/>
                </a:solidFill>
                <a:latin typeface="Calibri" pitchFamily="34" charset="0"/>
                <a:ea typeface="Calibri" pitchFamily="34" charset="-122"/>
                <a:cs typeface="Calibri" pitchFamily="34" charset="-120"/>
              </a:rPr>
              <a:t>Think of it like this  </a:t>
            </a:r>
            <a:pPr indent="0" marL="0">
              <a:buNone/>
            </a:pPr>
            <a:r>
              <a:rPr lang="en-US" sz="1050" dirty="0">
                <a:solidFill>
                  <a:srgbClr val="14213D"/>
                </a:solidFill>
                <a:latin typeface="Calibri" pitchFamily="34" charset="0"/>
                <a:ea typeface="Calibri" pitchFamily="34" charset="-122"/>
                <a:cs typeface="Calibri" pitchFamily="34" charset="-120"/>
              </a:rPr>
              <a:t>A bathroom scale that reads 2 kg with nobody standing on it. Every weight it reports is 2 kg too high, and you can fix it by turning the little wheel.</a:t>
            </a:r>
            <a:endParaRPr lang="en-US" sz="1050" dirty="0"/>
          </a:p>
        </p:txBody>
      </p:sp>
      <p:sp>
        <p:nvSpPr>
          <p:cNvPr id="17" name="Shape 14"/>
          <p:cNvSpPr/>
          <p:nvPr/>
        </p:nvSpPr>
        <p:spPr>
          <a:xfrm>
            <a:off x="4663440" y="3675888"/>
            <a:ext cx="4023360" cy="1024128"/>
          </a:xfrm>
          <a:prstGeom prst="roundRect">
            <a:avLst>
              <a:gd name="adj" fmla="val 7143"/>
            </a:avLst>
          </a:prstGeom>
          <a:solidFill>
            <a:srgbClr val="FFFFFF"/>
          </a:solidFill>
          <a:ln w="12700">
            <a:solidFill>
              <a:srgbClr val="0B1F3A"/>
            </a:solidFill>
            <a:prstDash val="solid"/>
          </a:ln>
        </p:spPr>
      </p:sp>
      <p:sp>
        <p:nvSpPr>
          <p:cNvPr id="18" name="Shape 15"/>
          <p:cNvSpPr/>
          <p:nvPr/>
        </p:nvSpPr>
        <p:spPr>
          <a:xfrm>
            <a:off x="4773168" y="3566160"/>
            <a:ext cx="914400" cy="219456"/>
          </a:xfrm>
          <a:prstGeom prst="roundRect">
            <a:avLst>
              <a:gd name="adj" fmla="val 25000"/>
            </a:avLst>
          </a:prstGeom>
          <a:solidFill>
            <a:srgbClr val="0B1F3A"/>
          </a:solidFill>
          <a:ln w="12700">
            <a:solidFill>
              <a:srgbClr val="0B1F3A"/>
            </a:solidFill>
            <a:prstDash val="solid"/>
          </a:ln>
        </p:spPr>
      </p:sp>
      <p:sp>
        <p:nvSpPr>
          <p:cNvPr id="19" name="Text 16"/>
          <p:cNvSpPr txBox="1"/>
          <p:nvPr/>
        </p:nvSpPr>
        <p:spPr>
          <a:xfrm>
            <a:off x="4773168" y="3566160"/>
            <a:ext cx="914400" cy="219456"/>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EXAMPLE</a:t>
            </a:r>
            <a:endParaRPr lang="en-US" sz="850" dirty="0"/>
          </a:p>
        </p:txBody>
      </p:sp>
      <p:sp>
        <p:nvSpPr>
          <p:cNvPr id="20" name="Text 17"/>
          <p:cNvSpPr txBox="1"/>
          <p:nvPr/>
        </p:nvSpPr>
        <p:spPr>
          <a:xfrm>
            <a:off x="4791456" y="3813048"/>
            <a:ext cx="3803904" cy="841248"/>
          </a:xfrm>
          <a:prstGeom prst="rect">
            <a:avLst/>
          </a:prstGeom>
          <a:noFill/>
          <a:ln/>
        </p:spPr>
        <p:txBody>
          <a:bodyPr wrap="square" lIns="0" tIns="0" rIns="0" bIns="0" rtlCol="0" anchor="t"/>
          <a:lstStyle/>
          <a:p>
            <a:pPr indent="0" marL="0">
              <a:spcAft>
                <a:spcPts val="100"/>
              </a:spcAft>
              <a:buNone/>
            </a:pPr>
            <a:r>
              <a:rPr lang="en-US" sz="900" b="1" dirty="0">
                <a:solidFill>
                  <a:srgbClr val="0B1F3A"/>
                </a:solidFill>
                <a:latin typeface="Calibri" pitchFamily="34" charset="0"/>
                <a:ea typeface="Calibri" pitchFamily="34" charset="-122"/>
                <a:cs typeface="Calibri" pitchFamily="34" charset="-120"/>
              </a:rPr>
              <a:t>A 5 LSB offset on a 12-bit, 2 V part</a:t>
            </a:r>
            <a:endParaRPr lang="en-US" sz="900" dirty="0"/>
          </a:p>
          <a:p>
            <a:pPr marL="114300" indent="-114300">
              <a:spcAft>
                <a:spcPts val="100"/>
              </a:spcAft>
              <a:buSzPct val="100000"/>
              <a:buChar char="•"/>
            </a:pPr>
            <a:r>
              <a:rPr lang="en-US" sz="900" dirty="0">
                <a:solidFill>
                  <a:srgbClr val="14213D"/>
                </a:solidFill>
                <a:latin typeface="Cambria" pitchFamily="34" charset="0"/>
                <a:ea typeface="Cambria" pitchFamily="34" charset="-122"/>
                <a:cs typeface="Cambria" pitchFamily="34" charset="-120"/>
              </a:rPr>
              <a:t>5 × 488 µV = 2.44 mV added to every reading</a:t>
            </a:r>
            <a:endParaRPr lang="en-US" sz="900" dirty="0"/>
          </a:p>
          <a:p>
            <a:pPr marL="114300" indent="-114300">
              <a:spcAft>
                <a:spcPts val="100"/>
              </a:spcAft>
              <a:buSzPct val="100000"/>
              <a:buChar char="•"/>
            </a:pPr>
            <a:r>
              <a:rPr lang="en-US" sz="900" dirty="0">
                <a:solidFill>
                  <a:srgbClr val="14213D"/>
                </a:solidFill>
                <a:latin typeface="Cambria" pitchFamily="34" charset="0"/>
                <a:ea typeface="Cambria" pitchFamily="34" charset="-122"/>
                <a:cs typeface="Cambria" pitchFamily="34" charset="-120"/>
              </a:rPr>
              <a:t>Measuring a 10 mV sensor signal: a 24 % error</a:t>
            </a:r>
            <a:endParaRPr lang="en-US" sz="900" dirty="0"/>
          </a:p>
          <a:p>
            <a:pPr marL="114300" indent="-114300">
              <a:spcAft>
                <a:spcPts val="100"/>
              </a:spcAft>
              <a:buSzPct val="100000"/>
              <a:buChar char="•"/>
            </a:pPr>
            <a:r>
              <a:rPr lang="en-US" sz="900" dirty="0">
                <a:solidFill>
                  <a:srgbClr val="14213D"/>
                </a:solidFill>
                <a:latin typeface="Cambria" pitchFamily="34" charset="0"/>
                <a:ea typeface="Cambria" pitchFamily="34" charset="-122"/>
                <a:cs typeface="Cambria" pitchFamily="34" charset="-120"/>
              </a:rPr>
              <a:t>Measuring a 1 V signal: a 0.24 % error — the same offset, far less harm</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5047488" cy="640080"/>
          </a:xfrm>
          <a:prstGeom prst="rect">
            <a:avLst/>
          </a:prstGeom>
          <a:noFill/>
          <a:ln/>
        </p:spPr>
        <p:txBody>
          <a:bodyPr wrap="square" lIns="0" tIns="0" rIns="0" bIns="0" rtlCol="0" anchor="ctr"/>
          <a:lstStyle/>
          <a:p>
            <a:pPr indent="0" marL="0">
              <a:buNone/>
            </a:pPr>
            <a:r>
              <a:rPr lang="en-US" sz="2800" b="1" dirty="0">
                <a:solidFill>
                  <a:srgbClr val="0B1F3A"/>
                </a:solidFill>
                <a:latin typeface="Cambria" pitchFamily="34" charset="0"/>
                <a:ea typeface="Cambria" pitchFamily="34" charset="-122"/>
                <a:cs typeface="Cambria" pitchFamily="34" charset="-120"/>
              </a:rPr>
              <a:t>Gain error</a:t>
            </a:r>
            <a:endParaRPr lang="en-US" sz="2800" dirty="0"/>
          </a:p>
        </p:txBody>
      </p:sp>
      <p:sp>
        <p:nvSpPr>
          <p:cNvPr id="3" name="Text 1"/>
          <p:cNvSpPr txBox="1"/>
          <p:nvPr/>
        </p:nvSpPr>
        <p:spPr>
          <a:xfrm>
            <a:off x="457200" y="4796028"/>
            <a:ext cx="4572000" cy="228600"/>
          </a:xfrm>
          <a:prstGeom prst="rect">
            <a:avLst/>
          </a:prstGeom>
          <a:noFill/>
          <a:ln/>
        </p:spPr>
        <p:txBody>
          <a:bodyPr wrap="square" lIns="0" tIns="0" rIns="0" bIns="0" rtlCol="0" anchor="ctr"/>
          <a:lstStyle/>
          <a:p>
            <a:pPr indent="0" marL="0">
              <a:buNone/>
            </a:pPr>
            <a:r>
              <a:rPr lang="en-US" sz="900" dirty="0">
                <a:solidFill>
                  <a:srgbClr val="5B6B7F"/>
                </a:solidFill>
                <a:latin typeface="Calibri" pitchFamily="34" charset="0"/>
                <a:ea typeface="Calibri" pitchFamily="34" charset="-122"/>
                <a:cs typeface="Calibri" pitchFamily="34" charset="-120"/>
              </a:rPr>
              <a:t>Part 2 · Static accuracy (DC)</a:t>
            </a:r>
            <a:endParaRPr lang="en-US" sz="900" dirty="0"/>
          </a:p>
        </p:txBody>
      </p:sp>
      <p:sp>
        <p:nvSpPr>
          <p:cNvPr id="4" name="Text 2"/>
          <p:cNvSpPr txBox="1"/>
          <p:nvPr/>
        </p:nvSpPr>
        <p:spPr>
          <a:xfrm>
            <a:off x="7772400" y="4796028"/>
            <a:ext cx="914400" cy="228600"/>
          </a:xfrm>
          <a:prstGeom prst="rect">
            <a:avLst/>
          </a:prstGeom>
          <a:noFill/>
          <a:ln/>
        </p:spPr>
        <p:txBody>
          <a:bodyPr wrap="square" lIns="0" tIns="0" rIns="0" bIns="0" rtlCol="0" anchor="ctr"/>
          <a:lstStyle/>
          <a:p>
            <a:pPr algn="r" indent="0" marL="0">
              <a:buNone/>
            </a:pPr>
            <a:r>
              <a:rPr lang="en-US" sz="900" dirty="0">
                <a:solidFill>
                  <a:srgbClr val="5B6B7F"/>
                </a:solidFill>
                <a:latin typeface="Calibri" pitchFamily="34" charset="0"/>
                <a:ea typeface="Calibri" pitchFamily="34" charset="-122"/>
                <a:cs typeface="Calibri" pitchFamily="34" charset="-120"/>
              </a:rPr>
              <a:t>14</a:t>
            </a:r>
            <a:endParaRPr lang="en-US" sz="900" dirty="0"/>
          </a:p>
        </p:txBody>
      </p:sp>
      <p:sp>
        <p:nvSpPr>
          <p:cNvPr id="5" name="Shape 3"/>
          <p:cNvSpPr/>
          <p:nvPr/>
        </p:nvSpPr>
        <p:spPr>
          <a:xfrm>
            <a:off x="5733288" y="384048"/>
            <a:ext cx="2953512" cy="384048"/>
          </a:xfrm>
          <a:prstGeom prst="roundRect">
            <a:avLst>
              <a:gd name="adj" fmla="val 19048"/>
            </a:avLst>
          </a:prstGeom>
          <a:solidFill>
            <a:srgbClr val="EEF3F8"/>
          </a:solidFill>
          <a:ln w="12700">
            <a:solidFill>
              <a:srgbClr val="EEF3F8"/>
            </a:solidFill>
            <a:prstDash val="solid"/>
          </a:ln>
        </p:spPr>
      </p:sp>
      <p:sp>
        <p:nvSpPr>
          <p:cNvPr id="6" name="Text 4"/>
          <p:cNvSpPr txBox="1"/>
          <p:nvPr/>
        </p:nvSpPr>
        <p:spPr>
          <a:xfrm>
            <a:off x="5733288" y="384048"/>
            <a:ext cx="2953512" cy="384048"/>
          </a:xfrm>
          <a:prstGeom prst="rect">
            <a:avLst/>
          </a:prstGeom>
          <a:noFill/>
          <a:ln/>
        </p:spPr>
        <p:txBody>
          <a:bodyPr wrap="square" lIns="0" tIns="0" rIns="0" bIns="0" rtlCol="0" anchor="ctr"/>
          <a:lstStyle/>
          <a:p>
            <a:pPr algn="ctr" indent="0" marL="0">
              <a:buNone/>
            </a:pPr>
            <a:r>
              <a:rPr lang="en-US" sz="1200" b="1" dirty="0">
                <a:solidFill>
                  <a:srgbClr val="0B1F3A"/>
                </a:solidFill>
                <a:latin typeface="Cambria" pitchFamily="34" charset="0"/>
                <a:ea typeface="Cambria" pitchFamily="34" charset="-122"/>
                <a:cs typeface="Cambria" pitchFamily="34" charset="-120"/>
              </a:rPr>
              <a:t>E_G   ·   % FS or LSB</a:t>
            </a:r>
            <a:endParaRPr lang="en-US" sz="1200" dirty="0"/>
          </a:p>
        </p:txBody>
      </p:sp>
      <p:sp>
        <p:nvSpPr>
          <p:cNvPr id="7" name="Text 5"/>
          <p:cNvSpPr txBox="1"/>
          <p:nvPr/>
        </p:nvSpPr>
        <p:spPr>
          <a:xfrm>
            <a:off x="457200" y="1042416"/>
            <a:ext cx="4023360" cy="1005840"/>
          </a:xfrm>
          <a:prstGeom prst="rect">
            <a:avLst/>
          </a:prstGeom>
          <a:noFill/>
          <a:ln/>
        </p:spPr>
        <p:txBody>
          <a:bodyPr wrap="square" lIns="0" tIns="0" rIns="0" bIns="0" rtlCol="0" anchor="t"/>
          <a:lstStyle/>
          <a:p>
            <a:pPr indent="0" marL="0">
              <a:buNone/>
            </a:pPr>
            <a:r>
              <a:rPr lang="en-US" sz="1150" dirty="0">
                <a:solidFill>
                  <a:srgbClr val="14213D"/>
                </a:solidFill>
                <a:latin typeface="Calibri" pitchFamily="34" charset="0"/>
                <a:ea typeface="Calibri" pitchFamily="34" charset="-122"/>
                <a:cs typeface="Calibri" pitchFamily="34" charset="-120"/>
              </a:rPr>
              <a:t>The staircase has the right starting point but the wrong slope, so the error grows the further up the range you go. Usually the reference is the culprit.</a:t>
            </a:r>
            <a:endParaRPr lang="en-US" sz="1150" dirty="0"/>
          </a:p>
        </p:txBody>
      </p:sp>
      <p:sp>
        <p:nvSpPr>
          <p:cNvPr id="8" name="Shape 6"/>
          <p:cNvSpPr/>
          <p:nvPr/>
        </p:nvSpPr>
        <p:spPr>
          <a:xfrm>
            <a:off x="457200" y="2103120"/>
            <a:ext cx="4023360" cy="868680"/>
          </a:xfrm>
          <a:prstGeom prst="roundRect">
            <a:avLst>
              <a:gd name="adj" fmla="val 8421"/>
            </a:avLst>
          </a:prstGeom>
          <a:solidFill>
            <a:srgbClr val="EEF3F8"/>
          </a:solidFill>
          <a:ln w="12700">
            <a:solidFill>
              <a:srgbClr val="EEF3F8"/>
            </a:solidFill>
            <a:prstDash val="solid"/>
          </a:ln>
        </p:spPr>
      </p:sp>
      <p:sp>
        <p:nvSpPr>
          <p:cNvPr id="9" name="Text 7"/>
          <p:cNvSpPr txBox="1"/>
          <p:nvPr/>
        </p:nvSpPr>
        <p:spPr>
          <a:xfrm>
            <a:off x="594360" y="2103120"/>
            <a:ext cx="3749040" cy="612648"/>
          </a:xfrm>
          <a:prstGeom prst="rect">
            <a:avLst/>
          </a:prstGeom>
          <a:noFill/>
          <a:ln/>
        </p:spPr>
        <p:txBody>
          <a:bodyPr wrap="square" lIns="0" tIns="0" rIns="0" bIns="0" rtlCol="0" anchor="ctr"/>
          <a:lstStyle/>
          <a:p>
            <a:pPr algn="ctr" indent="0" marL="0">
              <a:buNone/>
            </a:pPr>
            <a:r>
              <a:rPr lang="en-US" sz="1300" dirty="0">
                <a:solidFill>
                  <a:srgbClr val="0B1F3A"/>
                </a:solidFill>
                <a:latin typeface="Cambria" pitchFamily="34" charset="0"/>
                <a:ea typeface="Cambria" pitchFamily="34" charset="-122"/>
                <a:cs typeface="Cambria" pitchFamily="34" charset="-120"/>
              </a:rPr>
              <a:t>E_G = (actual slope / ideal slope) − 1</a:t>
            </a:r>
            <a:endParaRPr lang="en-US" sz="1300" dirty="0"/>
          </a:p>
        </p:txBody>
      </p:sp>
      <p:sp>
        <p:nvSpPr>
          <p:cNvPr id="10" name="Text 8"/>
          <p:cNvSpPr txBox="1"/>
          <p:nvPr/>
        </p:nvSpPr>
        <p:spPr>
          <a:xfrm>
            <a:off x="594360" y="2670048"/>
            <a:ext cx="3749040" cy="256032"/>
          </a:xfrm>
          <a:prstGeom prst="rect">
            <a:avLst/>
          </a:prstGeom>
          <a:noFill/>
          <a:ln/>
        </p:spPr>
        <p:txBody>
          <a:bodyPr wrap="square" lIns="0" tIns="0" rIns="0" bIns="0" rtlCol="0" anchor="t"/>
          <a:lstStyle/>
          <a:p>
            <a:pPr algn="ctr" indent="0" marL="0">
              <a:buNone/>
            </a:pPr>
            <a:r>
              <a:rPr lang="en-US" sz="1000" dirty="0">
                <a:solidFill>
                  <a:srgbClr val="5B6B7F"/>
                </a:solidFill>
                <a:latin typeface="Calibri" pitchFamily="34" charset="0"/>
                <a:ea typeface="Calibri" pitchFamily="34" charset="-122"/>
                <a:cs typeface="Calibri" pitchFamily="34" charset="-120"/>
              </a:rPr>
              <a:t>Quoted as a percentage of full scale, or in LSB at full scale</a:t>
            </a:r>
            <a:endParaRPr lang="en-US" sz="1000" dirty="0"/>
          </a:p>
        </p:txBody>
      </p:sp>
      <p:graphicFrame>
        <p:nvGraphicFramePr>
          <p:cNvPr id="11" name="Chart 0" descr=""/>
          <p:cNvGraphicFramePr/>
          <p:nvPr/>
        </p:nvGraphicFramePr>
        <p:xfrm>
          <a:off x="4663440" y="1042416"/>
          <a:ext cx="4023360" cy="2084832"/>
        </p:xfrm>
        <a:graphic xmlns:a="http://schemas.openxmlformats.org/drawingml/2006/main">
          <a:graphicData uri="http://schemas.openxmlformats.org/drawingml/2006/chart">
            <c:chart xmlns:c="http://schemas.openxmlformats.org/drawingml/2006/chart" r:id="rId1"/>
          </a:graphicData>
        </a:graphic>
      </p:graphicFrame>
      <p:sp>
        <p:nvSpPr>
          <p:cNvPr id="12" name="Text 9"/>
          <p:cNvSpPr txBox="1"/>
          <p:nvPr/>
        </p:nvSpPr>
        <p:spPr>
          <a:xfrm>
            <a:off x="4663440" y="3200400"/>
            <a:ext cx="4023360" cy="347472"/>
          </a:xfrm>
          <a:prstGeom prst="rect">
            <a:avLst/>
          </a:prstGeom>
          <a:noFill/>
          <a:ln/>
        </p:spPr>
        <p:txBody>
          <a:bodyPr wrap="square" lIns="0" tIns="0" rIns="0" bIns="0" rtlCol="0" anchor="ctr"/>
          <a:lstStyle/>
          <a:p>
            <a:pPr algn="ctr" indent="0" marL="0">
              <a:buNone/>
            </a:pPr>
            <a:r>
              <a:rPr lang="en-US" sz="1000" i="1" dirty="0">
                <a:solidFill>
                  <a:srgbClr val="5B6B7F"/>
                </a:solidFill>
                <a:latin typeface="Calibri" pitchFamily="34" charset="0"/>
                <a:ea typeface="Calibri" pitchFamily="34" charset="-122"/>
                <a:cs typeface="Calibri" pitchFamily="34" charset="-120"/>
              </a:rPr>
              <a:t>Also correctable in software with a two-point calibration: measure near zero and near full scale, then fit a straight line. What calibration cannot fix…</a:t>
            </a:r>
            <a:endParaRPr lang="en-US" sz="1000" dirty="0"/>
          </a:p>
        </p:txBody>
      </p:sp>
      <p:sp>
        <p:nvSpPr>
          <p:cNvPr id="13" name="Shape 10"/>
          <p:cNvSpPr/>
          <p:nvPr/>
        </p:nvSpPr>
        <p:spPr>
          <a:xfrm>
            <a:off x="457200" y="3675888"/>
            <a:ext cx="4023360" cy="1024128"/>
          </a:xfrm>
          <a:prstGeom prst="roundRect">
            <a:avLst>
              <a:gd name="adj" fmla="val 7143"/>
            </a:avLst>
          </a:prstGeom>
          <a:solidFill>
            <a:srgbClr val="E4F7F4"/>
          </a:solidFill>
          <a:ln w="12700">
            <a:solidFill>
              <a:srgbClr val="E4F7F4"/>
            </a:solidFill>
            <a:prstDash val="solid"/>
          </a:ln>
        </p:spPr>
      </p:sp>
      <p:sp>
        <p:nvSpPr>
          <p:cNvPr id="14" name="Shape 11"/>
          <p:cNvSpPr/>
          <p:nvPr/>
        </p:nvSpPr>
        <p:spPr>
          <a:xfrm>
            <a:off x="566928" y="3776472"/>
            <a:ext cx="237744" cy="237744"/>
          </a:xfrm>
          <a:prstGeom prst="ellipse">
            <a:avLst/>
          </a:prstGeom>
          <a:solidFill>
            <a:srgbClr val="2EC4B6"/>
          </a:solidFill>
          <a:ln w="12700">
            <a:solidFill>
              <a:srgbClr val="2EC4B6"/>
            </a:solidFill>
            <a:prstDash val="solid"/>
          </a:ln>
        </p:spPr>
      </p:sp>
      <p:sp>
        <p:nvSpPr>
          <p:cNvPr id="15" name="Text 12"/>
          <p:cNvSpPr txBox="1"/>
          <p:nvPr/>
        </p:nvSpPr>
        <p:spPr>
          <a:xfrm>
            <a:off x="566928" y="3776472"/>
            <a:ext cx="237744" cy="237744"/>
          </a:xfrm>
          <a:prstGeom prst="rect">
            <a:avLst/>
          </a:prstGeom>
          <a:noFill/>
          <a:ln/>
        </p:spPr>
        <p:txBody>
          <a:bodyPr wrap="square" lIns="0" tIns="0" rIns="0" bIns="0" rtlCol="0" anchor="ctr"/>
          <a:lstStyle/>
          <a:p>
            <a:pPr algn="ctr" indent="0" marL="0">
              <a:buNone/>
            </a:pPr>
            <a:r>
              <a:rPr lang="en-US" sz="1200" b="1" dirty="0">
                <a:solidFill>
                  <a:srgbClr val="0B1F3A"/>
                </a:solidFill>
                <a:latin typeface="Calibri" pitchFamily="34" charset="0"/>
                <a:ea typeface="Calibri" pitchFamily="34" charset="-122"/>
                <a:cs typeface="Calibri" pitchFamily="34" charset="-120"/>
              </a:rPr>
              <a:t>≈</a:t>
            </a:r>
            <a:endParaRPr lang="en-US" sz="1200" dirty="0"/>
          </a:p>
        </p:txBody>
      </p:sp>
      <p:sp>
        <p:nvSpPr>
          <p:cNvPr id="16" name="Text 13"/>
          <p:cNvSpPr txBox="1"/>
          <p:nvPr/>
        </p:nvSpPr>
        <p:spPr>
          <a:xfrm>
            <a:off x="877824" y="3739896"/>
            <a:ext cx="3493008" cy="896112"/>
          </a:xfrm>
          <a:prstGeom prst="rect">
            <a:avLst/>
          </a:prstGeom>
          <a:noFill/>
          <a:ln/>
        </p:spPr>
        <p:txBody>
          <a:bodyPr wrap="square" lIns="0" tIns="0" rIns="0" bIns="0" rtlCol="0" anchor="t"/>
          <a:lstStyle/>
          <a:p>
            <a:pPr indent="0" marL="0">
              <a:buNone/>
            </a:pPr>
            <a:r>
              <a:rPr lang="en-US" sz="1050" b="1" dirty="0">
                <a:solidFill>
                  <a:srgbClr val="0B1F3A"/>
                </a:solidFill>
                <a:latin typeface="Calibri" pitchFamily="34" charset="0"/>
                <a:ea typeface="Calibri" pitchFamily="34" charset="-122"/>
                <a:cs typeface="Calibri" pitchFamily="34" charset="-120"/>
              </a:rPr>
              <a:t>Think of it like this  </a:t>
            </a:r>
            <a:pPr indent="0" marL="0">
              <a:buNone/>
            </a:pPr>
            <a:r>
              <a:rPr lang="en-US" sz="1050" dirty="0">
                <a:solidFill>
                  <a:srgbClr val="14213D"/>
                </a:solidFill>
                <a:latin typeface="Calibri" pitchFamily="34" charset="0"/>
                <a:ea typeface="Calibri" pitchFamily="34" charset="-122"/>
                <a:cs typeface="Calibri" pitchFamily="34" charset="-120"/>
              </a:rPr>
              <a:t>A tailor’s tape measure that has stretched. It still starts at zero, but by the far end everything reads short by a fixed proportion.</a:t>
            </a:r>
            <a:endParaRPr lang="en-US" sz="1050" dirty="0"/>
          </a:p>
        </p:txBody>
      </p:sp>
      <p:sp>
        <p:nvSpPr>
          <p:cNvPr id="17" name="Shape 14"/>
          <p:cNvSpPr/>
          <p:nvPr/>
        </p:nvSpPr>
        <p:spPr>
          <a:xfrm>
            <a:off x="4663440" y="3675888"/>
            <a:ext cx="4023360" cy="1024128"/>
          </a:xfrm>
          <a:prstGeom prst="roundRect">
            <a:avLst>
              <a:gd name="adj" fmla="val 7143"/>
            </a:avLst>
          </a:prstGeom>
          <a:solidFill>
            <a:srgbClr val="FFFFFF"/>
          </a:solidFill>
          <a:ln w="12700">
            <a:solidFill>
              <a:srgbClr val="0B1F3A"/>
            </a:solidFill>
            <a:prstDash val="solid"/>
          </a:ln>
        </p:spPr>
      </p:sp>
      <p:sp>
        <p:nvSpPr>
          <p:cNvPr id="18" name="Shape 15"/>
          <p:cNvSpPr/>
          <p:nvPr/>
        </p:nvSpPr>
        <p:spPr>
          <a:xfrm>
            <a:off x="4773168" y="3566160"/>
            <a:ext cx="914400" cy="219456"/>
          </a:xfrm>
          <a:prstGeom prst="roundRect">
            <a:avLst>
              <a:gd name="adj" fmla="val 25000"/>
            </a:avLst>
          </a:prstGeom>
          <a:solidFill>
            <a:srgbClr val="0B1F3A"/>
          </a:solidFill>
          <a:ln w="12700">
            <a:solidFill>
              <a:srgbClr val="0B1F3A"/>
            </a:solidFill>
            <a:prstDash val="solid"/>
          </a:ln>
        </p:spPr>
      </p:sp>
      <p:sp>
        <p:nvSpPr>
          <p:cNvPr id="19" name="Text 16"/>
          <p:cNvSpPr txBox="1"/>
          <p:nvPr/>
        </p:nvSpPr>
        <p:spPr>
          <a:xfrm>
            <a:off x="4773168" y="3566160"/>
            <a:ext cx="914400" cy="219456"/>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EXAMPLE</a:t>
            </a:r>
            <a:endParaRPr lang="en-US" sz="850" dirty="0"/>
          </a:p>
        </p:txBody>
      </p:sp>
      <p:sp>
        <p:nvSpPr>
          <p:cNvPr id="20" name="Text 17"/>
          <p:cNvSpPr txBox="1"/>
          <p:nvPr/>
        </p:nvSpPr>
        <p:spPr>
          <a:xfrm>
            <a:off x="4791456" y="3813048"/>
            <a:ext cx="3803904" cy="841248"/>
          </a:xfrm>
          <a:prstGeom prst="rect">
            <a:avLst/>
          </a:prstGeom>
          <a:noFill/>
          <a:ln/>
        </p:spPr>
        <p:txBody>
          <a:bodyPr wrap="square" lIns="0" tIns="0" rIns="0" bIns="0" rtlCol="0" anchor="t"/>
          <a:lstStyle/>
          <a:p>
            <a:pPr indent="0" marL="0">
              <a:spcAft>
                <a:spcPts val="100"/>
              </a:spcAft>
              <a:buNone/>
            </a:pPr>
            <a:r>
              <a:rPr lang="en-US" sz="900" b="1" dirty="0">
                <a:solidFill>
                  <a:srgbClr val="0B1F3A"/>
                </a:solidFill>
                <a:latin typeface="Calibri" pitchFamily="34" charset="0"/>
                <a:ea typeface="Calibri" pitchFamily="34" charset="-122"/>
                <a:cs typeface="Calibri" pitchFamily="34" charset="-120"/>
              </a:rPr>
              <a:t>0.5 % gain error, 12-bit</a:t>
            </a:r>
            <a:endParaRPr lang="en-US" sz="900" dirty="0"/>
          </a:p>
          <a:p>
            <a:pPr marL="114300" indent="-114300">
              <a:spcAft>
                <a:spcPts val="100"/>
              </a:spcAft>
              <a:buSzPct val="100000"/>
              <a:buChar char="•"/>
            </a:pPr>
            <a:r>
              <a:rPr lang="en-US" sz="900" dirty="0">
                <a:solidFill>
                  <a:srgbClr val="14213D"/>
                </a:solidFill>
                <a:latin typeface="Cambria" pitchFamily="34" charset="0"/>
                <a:ea typeface="Cambria" pitchFamily="34" charset="-122"/>
                <a:cs typeface="Cambria" pitchFamily="34" charset="-120"/>
              </a:rPr>
              <a:t>At mid-scale (2048): error 10 LSB</a:t>
            </a:r>
            <a:endParaRPr lang="en-US" sz="900" dirty="0"/>
          </a:p>
          <a:p>
            <a:pPr marL="114300" indent="-114300">
              <a:spcAft>
                <a:spcPts val="100"/>
              </a:spcAft>
              <a:buSzPct val="100000"/>
              <a:buChar char="•"/>
            </a:pPr>
            <a:r>
              <a:rPr lang="en-US" sz="900" dirty="0">
                <a:solidFill>
                  <a:srgbClr val="14213D"/>
                </a:solidFill>
                <a:latin typeface="Cambria" pitchFamily="34" charset="0"/>
                <a:ea typeface="Cambria" pitchFamily="34" charset="-122"/>
                <a:cs typeface="Cambria" pitchFamily="34" charset="-120"/>
              </a:rPr>
              <a:t>At full scale (4095): error 20 LSB</a:t>
            </a:r>
            <a:endParaRPr lang="en-US" sz="900" dirty="0"/>
          </a:p>
          <a:p>
            <a:pPr marL="114300" indent="-114300">
              <a:spcAft>
                <a:spcPts val="100"/>
              </a:spcAft>
              <a:buSzPct val="100000"/>
              <a:buChar char="•"/>
            </a:pPr>
            <a:r>
              <a:rPr lang="en-US" sz="900" dirty="0">
                <a:solidFill>
                  <a:srgbClr val="14213D"/>
                </a:solidFill>
                <a:latin typeface="Cambria" pitchFamily="34" charset="0"/>
                <a:ea typeface="Cambria" pitchFamily="34" charset="-122"/>
                <a:cs typeface="Cambria" pitchFamily="34" charset="-120"/>
              </a:rPr>
              <a:t>At zero: no error at all — that is what distinguishes it from offset</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5998464" cy="640080"/>
          </a:xfrm>
          <a:prstGeom prst="rect">
            <a:avLst/>
          </a:prstGeom>
          <a:noFill/>
          <a:ln/>
        </p:spPr>
        <p:txBody>
          <a:bodyPr wrap="square" lIns="0" tIns="0" rIns="0" bIns="0" rtlCol="0" anchor="ctr"/>
          <a:lstStyle/>
          <a:p>
            <a:pPr indent="0" marL="0">
              <a:buNone/>
            </a:pPr>
            <a:r>
              <a:rPr lang="en-US" sz="2000" b="1" dirty="0">
                <a:solidFill>
                  <a:srgbClr val="0B1F3A"/>
                </a:solidFill>
                <a:latin typeface="Cambria" pitchFamily="34" charset="0"/>
                <a:ea typeface="Cambria" pitchFamily="34" charset="-122"/>
                <a:cs typeface="Cambria" pitchFamily="34" charset="-120"/>
              </a:rPr>
              <a:t>DNL — differential non-linearity</a:t>
            </a:r>
            <a:endParaRPr lang="en-US" sz="2000" dirty="0"/>
          </a:p>
        </p:txBody>
      </p:sp>
      <p:sp>
        <p:nvSpPr>
          <p:cNvPr id="3" name="Text 1"/>
          <p:cNvSpPr txBox="1"/>
          <p:nvPr/>
        </p:nvSpPr>
        <p:spPr>
          <a:xfrm>
            <a:off x="457200" y="4796028"/>
            <a:ext cx="4572000" cy="228600"/>
          </a:xfrm>
          <a:prstGeom prst="rect">
            <a:avLst/>
          </a:prstGeom>
          <a:noFill/>
          <a:ln/>
        </p:spPr>
        <p:txBody>
          <a:bodyPr wrap="square" lIns="0" tIns="0" rIns="0" bIns="0" rtlCol="0" anchor="ctr"/>
          <a:lstStyle/>
          <a:p>
            <a:pPr indent="0" marL="0">
              <a:buNone/>
            </a:pPr>
            <a:r>
              <a:rPr lang="en-US" sz="900" dirty="0">
                <a:solidFill>
                  <a:srgbClr val="5B6B7F"/>
                </a:solidFill>
                <a:latin typeface="Calibri" pitchFamily="34" charset="0"/>
                <a:ea typeface="Calibri" pitchFamily="34" charset="-122"/>
                <a:cs typeface="Calibri" pitchFamily="34" charset="-120"/>
              </a:rPr>
              <a:t>Part 2 · Static accuracy (DC)</a:t>
            </a:r>
            <a:endParaRPr lang="en-US" sz="900" dirty="0"/>
          </a:p>
        </p:txBody>
      </p:sp>
      <p:sp>
        <p:nvSpPr>
          <p:cNvPr id="4" name="Text 2"/>
          <p:cNvSpPr txBox="1"/>
          <p:nvPr/>
        </p:nvSpPr>
        <p:spPr>
          <a:xfrm>
            <a:off x="7772400" y="4796028"/>
            <a:ext cx="914400" cy="228600"/>
          </a:xfrm>
          <a:prstGeom prst="rect">
            <a:avLst/>
          </a:prstGeom>
          <a:noFill/>
          <a:ln/>
        </p:spPr>
        <p:txBody>
          <a:bodyPr wrap="square" lIns="0" tIns="0" rIns="0" bIns="0" rtlCol="0" anchor="ctr"/>
          <a:lstStyle/>
          <a:p>
            <a:pPr algn="r" indent="0" marL="0">
              <a:buNone/>
            </a:pPr>
            <a:r>
              <a:rPr lang="en-US" sz="900" dirty="0">
                <a:solidFill>
                  <a:srgbClr val="5B6B7F"/>
                </a:solidFill>
                <a:latin typeface="Calibri" pitchFamily="34" charset="0"/>
                <a:ea typeface="Calibri" pitchFamily="34" charset="-122"/>
                <a:cs typeface="Calibri" pitchFamily="34" charset="-120"/>
              </a:rPr>
              <a:t>15</a:t>
            </a:r>
            <a:endParaRPr lang="en-US" sz="900" dirty="0"/>
          </a:p>
        </p:txBody>
      </p:sp>
      <p:sp>
        <p:nvSpPr>
          <p:cNvPr id="5" name="Shape 3"/>
          <p:cNvSpPr/>
          <p:nvPr/>
        </p:nvSpPr>
        <p:spPr>
          <a:xfrm>
            <a:off x="6684264" y="384048"/>
            <a:ext cx="2002536" cy="384048"/>
          </a:xfrm>
          <a:prstGeom prst="roundRect">
            <a:avLst>
              <a:gd name="adj" fmla="val 19048"/>
            </a:avLst>
          </a:prstGeom>
          <a:solidFill>
            <a:srgbClr val="EEF3F8"/>
          </a:solidFill>
          <a:ln w="12700">
            <a:solidFill>
              <a:srgbClr val="EEF3F8"/>
            </a:solidFill>
            <a:prstDash val="solid"/>
          </a:ln>
        </p:spPr>
      </p:sp>
      <p:sp>
        <p:nvSpPr>
          <p:cNvPr id="6" name="Text 4"/>
          <p:cNvSpPr txBox="1"/>
          <p:nvPr/>
        </p:nvSpPr>
        <p:spPr>
          <a:xfrm>
            <a:off x="6684264" y="384048"/>
            <a:ext cx="2002536" cy="384048"/>
          </a:xfrm>
          <a:prstGeom prst="rect">
            <a:avLst/>
          </a:prstGeom>
          <a:noFill/>
          <a:ln/>
        </p:spPr>
        <p:txBody>
          <a:bodyPr wrap="square" lIns="0" tIns="0" rIns="0" bIns="0" rtlCol="0" anchor="ctr"/>
          <a:lstStyle/>
          <a:p>
            <a:pPr algn="ctr" indent="0" marL="0">
              <a:buNone/>
            </a:pPr>
            <a:r>
              <a:rPr lang="en-US" sz="1200" b="1" dirty="0">
                <a:solidFill>
                  <a:srgbClr val="0B1F3A"/>
                </a:solidFill>
                <a:latin typeface="Cambria" pitchFamily="34" charset="0"/>
                <a:ea typeface="Cambria" pitchFamily="34" charset="-122"/>
                <a:cs typeface="Cambria" pitchFamily="34" charset="-120"/>
              </a:rPr>
              <a:t>DNL   ·   LSB</a:t>
            </a:r>
            <a:endParaRPr lang="en-US" sz="1200" dirty="0"/>
          </a:p>
        </p:txBody>
      </p:sp>
      <p:sp>
        <p:nvSpPr>
          <p:cNvPr id="7" name="Text 5"/>
          <p:cNvSpPr txBox="1"/>
          <p:nvPr/>
        </p:nvSpPr>
        <p:spPr>
          <a:xfrm>
            <a:off x="457200" y="1042416"/>
            <a:ext cx="4023360" cy="804672"/>
          </a:xfrm>
          <a:prstGeom prst="rect">
            <a:avLst/>
          </a:prstGeom>
          <a:noFill/>
          <a:ln/>
        </p:spPr>
        <p:txBody>
          <a:bodyPr wrap="square" lIns="0" tIns="0" rIns="0" bIns="0" rtlCol="0" anchor="t"/>
          <a:lstStyle/>
          <a:p>
            <a:pPr indent="0" marL="0">
              <a:buNone/>
            </a:pPr>
            <a:r>
              <a:rPr lang="en-US" sz="1150" dirty="0">
                <a:solidFill>
                  <a:srgbClr val="14213D"/>
                </a:solidFill>
                <a:latin typeface="Calibri" pitchFamily="34" charset="0"/>
                <a:ea typeface="Calibri" pitchFamily="34" charset="-122"/>
                <a:cs typeface="Calibri" pitchFamily="34" charset="-120"/>
              </a:rPr>
              <a:t>How much wider or narrower each individual step is than one ideal LSB. It is a local measure: one bad step among 4095 good ones still counts.</a:t>
            </a:r>
            <a:endParaRPr lang="en-US" sz="1150" dirty="0"/>
          </a:p>
        </p:txBody>
      </p:sp>
      <p:sp>
        <p:nvSpPr>
          <p:cNvPr id="8" name="Shape 6"/>
          <p:cNvSpPr/>
          <p:nvPr/>
        </p:nvSpPr>
        <p:spPr>
          <a:xfrm>
            <a:off x="457200" y="1901952"/>
            <a:ext cx="4023360" cy="868680"/>
          </a:xfrm>
          <a:prstGeom prst="roundRect">
            <a:avLst>
              <a:gd name="adj" fmla="val 8421"/>
            </a:avLst>
          </a:prstGeom>
          <a:solidFill>
            <a:srgbClr val="EEF3F8"/>
          </a:solidFill>
          <a:ln w="12700">
            <a:solidFill>
              <a:srgbClr val="EEF3F8"/>
            </a:solidFill>
            <a:prstDash val="solid"/>
          </a:ln>
        </p:spPr>
      </p:sp>
      <p:sp>
        <p:nvSpPr>
          <p:cNvPr id="9" name="Text 7"/>
          <p:cNvSpPr txBox="1"/>
          <p:nvPr/>
        </p:nvSpPr>
        <p:spPr>
          <a:xfrm>
            <a:off x="594360" y="1901952"/>
            <a:ext cx="3749040" cy="612648"/>
          </a:xfrm>
          <a:prstGeom prst="rect">
            <a:avLst/>
          </a:prstGeom>
          <a:noFill/>
          <a:ln/>
        </p:spPr>
        <p:txBody>
          <a:bodyPr wrap="square" lIns="0" tIns="0" rIns="0" bIns="0" rtlCol="0" anchor="ctr"/>
          <a:lstStyle/>
          <a:p>
            <a:pPr algn="ctr" indent="0" marL="0">
              <a:buNone/>
            </a:pPr>
            <a:r>
              <a:rPr lang="en-US" sz="1200" dirty="0">
                <a:solidFill>
                  <a:srgbClr val="0B1F3A"/>
                </a:solidFill>
                <a:latin typeface="Cambria" pitchFamily="34" charset="0"/>
                <a:ea typeface="Cambria" pitchFamily="34" charset="-122"/>
                <a:cs typeface="Cambria" pitchFamily="34" charset="-120"/>
              </a:rPr>
              <a:t>DNL(k) = (actual width of code k) / LSB − 1</a:t>
            </a:r>
            <a:endParaRPr lang="en-US" sz="1200" dirty="0"/>
          </a:p>
        </p:txBody>
      </p:sp>
      <p:sp>
        <p:nvSpPr>
          <p:cNvPr id="10" name="Text 8"/>
          <p:cNvSpPr txBox="1"/>
          <p:nvPr/>
        </p:nvSpPr>
        <p:spPr>
          <a:xfrm>
            <a:off x="594360" y="2468880"/>
            <a:ext cx="3749040" cy="256032"/>
          </a:xfrm>
          <a:prstGeom prst="rect">
            <a:avLst/>
          </a:prstGeom>
          <a:noFill/>
          <a:ln/>
        </p:spPr>
        <p:txBody>
          <a:bodyPr wrap="square" lIns="0" tIns="0" rIns="0" bIns="0" rtlCol="0" anchor="t"/>
          <a:lstStyle/>
          <a:p>
            <a:pPr algn="ctr" indent="0" marL="0">
              <a:buNone/>
            </a:pPr>
            <a:r>
              <a:rPr lang="en-US" sz="1000" dirty="0">
                <a:solidFill>
                  <a:srgbClr val="5B6B7F"/>
                </a:solidFill>
                <a:latin typeface="Calibri" pitchFamily="34" charset="0"/>
                <a:ea typeface="Calibri" pitchFamily="34" charset="-122"/>
                <a:cs typeface="Calibri" pitchFamily="34" charset="-120"/>
              </a:rPr>
              <a:t>Zero means every step is exactly one LSB wide</a:t>
            </a:r>
            <a:endParaRPr lang="en-US" sz="1000" dirty="0"/>
          </a:p>
        </p:txBody>
      </p:sp>
      <p:graphicFrame>
        <p:nvGraphicFramePr>
          <p:cNvPr id="11" name="Chart 0" descr=""/>
          <p:cNvGraphicFramePr/>
          <p:nvPr/>
        </p:nvGraphicFramePr>
        <p:xfrm>
          <a:off x="4663440" y="1042416"/>
          <a:ext cx="4023360" cy="2084832"/>
        </p:xfrm>
        <a:graphic xmlns:a="http://schemas.openxmlformats.org/drawingml/2006/main">
          <a:graphicData uri="http://schemas.openxmlformats.org/drawingml/2006/chart">
            <c:chart xmlns:c="http://schemas.openxmlformats.org/drawingml/2006/chart" r:id="rId1"/>
          </a:graphicData>
        </a:graphic>
      </p:graphicFrame>
      <p:sp>
        <p:nvSpPr>
          <p:cNvPr id="12" name="Text 9"/>
          <p:cNvSpPr txBox="1"/>
          <p:nvPr/>
        </p:nvSpPr>
        <p:spPr>
          <a:xfrm>
            <a:off x="4663440" y="3200400"/>
            <a:ext cx="4023360" cy="347472"/>
          </a:xfrm>
          <a:prstGeom prst="rect">
            <a:avLst/>
          </a:prstGeom>
          <a:noFill/>
          <a:ln/>
        </p:spPr>
        <p:txBody>
          <a:bodyPr wrap="square" lIns="0" tIns="0" rIns="0" bIns="0" rtlCol="0" anchor="ctr"/>
          <a:lstStyle/>
          <a:p>
            <a:pPr algn="ctr" indent="0" marL="0">
              <a:buNone/>
            </a:pPr>
            <a:r>
              <a:rPr lang="en-US" sz="1000" i="1" dirty="0">
                <a:solidFill>
                  <a:srgbClr val="5B6B7F"/>
                </a:solidFill>
                <a:latin typeface="Calibri" pitchFamily="34" charset="0"/>
                <a:ea typeface="Calibri" pitchFamily="34" charset="-122"/>
                <a:cs typeface="Calibri" pitchFamily="34" charset="-120"/>
              </a:rPr>
              <a:t>DNL is the noise-like part of static error: it adds directly to the noise floor and generates spurs, so it hurts AC performance as well as DC.</a:t>
            </a:r>
            <a:endParaRPr lang="en-US" sz="1000" dirty="0"/>
          </a:p>
        </p:txBody>
      </p:sp>
      <p:sp>
        <p:nvSpPr>
          <p:cNvPr id="13" name="Shape 10"/>
          <p:cNvSpPr/>
          <p:nvPr/>
        </p:nvSpPr>
        <p:spPr>
          <a:xfrm>
            <a:off x="457200" y="3675888"/>
            <a:ext cx="4023360" cy="1024128"/>
          </a:xfrm>
          <a:prstGeom prst="roundRect">
            <a:avLst>
              <a:gd name="adj" fmla="val 7143"/>
            </a:avLst>
          </a:prstGeom>
          <a:solidFill>
            <a:srgbClr val="E4F7F4"/>
          </a:solidFill>
          <a:ln w="12700">
            <a:solidFill>
              <a:srgbClr val="E4F7F4"/>
            </a:solidFill>
            <a:prstDash val="solid"/>
          </a:ln>
        </p:spPr>
      </p:sp>
      <p:sp>
        <p:nvSpPr>
          <p:cNvPr id="14" name="Shape 11"/>
          <p:cNvSpPr/>
          <p:nvPr/>
        </p:nvSpPr>
        <p:spPr>
          <a:xfrm>
            <a:off x="566928" y="3776472"/>
            <a:ext cx="237744" cy="237744"/>
          </a:xfrm>
          <a:prstGeom prst="ellipse">
            <a:avLst/>
          </a:prstGeom>
          <a:solidFill>
            <a:srgbClr val="2EC4B6"/>
          </a:solidFill>
          <a:ln w="12700">
            <a:solidFill>
              <a:srgbClr val="2EC4B6"/>
            </a:solidFill>
            <a:prstDash val="solid"/>
          </a:ln>
        </p:spPr>
      </p:sp>
      <p:sp>
        <p:nvSpPr>
          <p:cNvPr id="15" name="Text 12"/>
          <p:cNvSpPr txBox="1"/>
          <p:nvPr/>
        </p:nvSpPr>
        <p:spPr>
          <a:xfrm>
            <a:off x="566928" y="3776472"/>
            <a:ext cx="237744" cy="237744"/>
          </a:xfrm>
          <a:prstGeom prst="rect">
            <a:avLst/>
          </a:prstGeom>
          <a:noFill/>
          <a:ln/>
        </p:spPr>
        <p:txBody>
          <a:bodyPr wrap="square" lIns="0" tIns="0" rIns="0" bIns="0" rtlCol="0" anchor="ctr"/>
          <a:lstStyle/>
          <a:p>
            <a:pPr algn="ctr" indent="0" marL="0">
              <a:buNone/>
            </a:pPr>
            <a:r>
              <a:rPr lang="en-US" sz="1200" b="1" dirty="0">
                <a:solidFill>
                  <a:srgbClr val="0B1F3A"/>
                </a:solidFill>
                <a:latin typeface="Calibri" pitchFamily="34" charset="0"/>
                <a:ea typeface="Calibri" pitchFamily="34" charset="-122"/>
                <a:cs typeface="Calibri" pitchFamily="34" charset="-120"/>
              </a:rPr>
              <a:t>≈</a:t>
            </a:r>
            <a:endParaRPr lang="en-US" sz="1200" dirty="0"/>
          </a:p>
        </p:txBody>
      </p:sp>
      <p:sp>
        <p:nvSpPr>
          <p:cNvPr id="16" name="Text 13"/>
          <p:cNvSpPr txBox="1"/>
          <p:nvPr/>
        </p:nvSpPr>
        <p:spPr>
          <a:xfrm>
            <a:off x="877824" y="3739896"/>
            <a:ext cx="3493008" cy="896112"/>
          </a:xfrm>
          <a:prstGeom prst="rect">
            <a:avLst/>
          </a:prstGeom>
          <a:noFill/>
          <a:ln/>
        </p:spPr>
        <p:txBody>
          <a:bodyPr wrap="square" lIns="0" tIns="0" rIns="0" bIns="0" rtlCol="0" anchor="t"/>
          <a:lstStyle/>
          <a:p>
            <a:pPr indent="0" marL="0">
              <a:buNone/>
            </a:pPr>
            <a:r>
              <a:rPr lang="en-US" sz="1050" b="1" dirty="0">
                <a:solidFill>
                  <a:srgbClr val="0B1F3A"/>
                </a:solidFill>
                <a:latin typeface="Calibri" pitchFamily="34" charset="0"/>
                <a:ea typeface="Calibri" pitchFamily="34" charset="-122"/>
                <a:cs typeface="Calibri" pitchFamily="34" charset="-120"/>
              </a:rPr>
              <a:t>Think of it like this  </a:t>
            </a:r>
            <a:pPr indent="0" marL="0">
              <a:buNone/>
            </a:pPr>
            <a:r>
              <a:rPr lang="en-US" sz="1050" dirty="0">
                <a:solidFill>
                  <a:srgbClr val="14213D"/>
                </a:solidFill>
                <a:latin typeface="Calibri" pitchFamily="34" charset="0"/>
                <a:ea typeface="Calibri" pitchFamily="34" charset="-122"/>
                <a:cs typeface="Calibri" pitchFamily="34" charset="-120"/>
              </a:rPr>
              <a:t>A ruler where the marks are not evenly spaced. Most centimetres are right, but one is 1.4 cm and the next is 0.6 cm.</a:t>
            </a:r>
            <a:endParaRPr lang="en-US" sz="1050" dirty="0"/>
          </a:p>
        </p:txBody>
      </p:sp>
      <p:sp>
        <p:nvSpPr>
          <p:cNvPr id="17" name="Shape 14"/>
          <p:cNvSpPr/>
          <p:nvPr/>
        </p:nvSpPr>
        <p:spPr>
          <a:xfrm>
            <a:off x="4663440" y="3675888"/>
            <a:ext cx="4023360" cy="1024128"/>
          </a:xfrm>
          <a:prstGeom prst="roundRect">
            <a:avLst>
              <a:gd name="adj" fmla="val 7143"/>
            </a:avLst>
          </a:prstGeom>
          <a:solidFill>
            <a:srgbClr val="FFFFFF"/>
          </a:solidFill>
          <a:ln w="12700">
            <a:solidFill>
              <a:srgbClr val="0B1F3A"/>
            </a:solidFill>
            <a:prstDash val="solid"/>
          </a:ln>
        </p:spPr>
      </p:sp>
      <p:sp>
        <p:nvSpPr>
          <p:cNvPr id="18" name="Shape 15"/>
          <p:cNvSpPr/>
          <p:nvPr/>
        </p:nvSpPr>
        <p:spPr>
          <a:xfrm>
            <a:off x="4773168" y="3566160"/>
            <a:ext cx="914400" cy="219456"/>
          </a:xfrm>
          <a:prstGeom prst="roundRect">
            <a:avLst>
              <a:gd name="adj" fmla="val 25000"/>
            </a:avLst>
          </a:prstGeom>
          <a:solidFill>
            <a:srgbClr val="0B1F3A"/>
          </a:solidFill>
          <a:ln w="12700">
            <a:solidFill>
              <a:srgbClr val="0B1F3A"/>
            </a:solidFill>
            <a:prstDash val="solid"/>
          </a:ln>
        </p:spPr>
      </p:sp>
      <p:sp>
        <p:nvSpPr>
          <p:cNvPr id="19" name="Text 16"/>
          <p:cNvSpPr txBox="1"/>
          <p:nvPr/>
        </p:nvSpPr>
        <p:spPr>
          <a:xfrm>
            <a:off x="4773168" y="3566160"/>
            <a:ext cx="914400" cy="219456"/>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EXAMPLE</a:t>
            </a:r>
            <a:endParaRPr lang="en-US" sz="850" dirty="0"/>
          </a:p>
        </p:txBody>
      </p:sp>
      <p:sp>
        <p:nvSpPr>
          <p:cNvPr id="20" name="Text 17"/>
          <p:cNvSpPr txBox="1"/>
          <p:nvPr/>
        </p:nvSpPr>
        <p:spPr>
          <a:xfrm>
            <a:off x="4791456" y="3813048"/>
            <a:ext cx="3803904" cy="841248"/>
          </a:xfrm>
          <a:prstGeom prst="rect">
            <a:avLst/>
          </a:prstGeom>
          <a:noFill/>
          <a:ln/>
        </p:spPr>
        <p:txBody>
          <a:bodyPr wrap="square" lIns="0" tIns="0" rIns="0" bIns="0" rtlCol="0" anchor="t"/>
          <a:lstStyle/>
          <a:p>
            <a:pPr indent="0" marL="0">
              <a:spcAft>
                <a:spcPts val="100"/>
              </a:spcAft>
              <a:buNone/>
            </a:pPr>
            <a:r>
              <a:rPr lang="en-US" sz="900" b="1" dirty="0">
                <a:solidFill>
                  <a:srgbClr val="0B1F3A"/>
                </a:solidFill>
                <a:latin typeface="Calibri" pitchFamily="34" charset="0"/>
                <a:ea typeface="Calibri" pitchFamily="34" charset="-122"/>
                <a:cs typeface="Calibri" pitchFamily="34" charset="-120"/>
              </a:rPr>
              <a:t>Reading the spec</a:t>
            </a:r>
            <a:endParaRPr lang="en-US" sz="900" dirty="0"/>
          </a:p>
          <a:p>
            <a:pPr marL="114300" indent="-114300">
              <a:spcAft>
                <a:spcPts val="100"/>
              </a:spcAft>
              <a:buSzPct val="100000"/>
              <a:buChar char="•"/>
            </a:pPr>
            <a:r>
              <a:rPr lang="en-US" sz="900" dirty="0">
                <a:solidFill>
                  <a:srgbClr val="14213D"/>
                </a:solidFill>
                <a:latin typeface="Cambria" pitchFamily="34" charset="0"/>
                <a:ea typeface="Cambria" pitchFamily="34" charset="-122"/>
                <a:cs typeface="Cambria" pitchFamily="34" charset="-120"/>
              </a:rPr>
              <a:t>DNL = ±0.5 LSB: every step is between 0.5 and 1.5 LSB wide</a:t>
            </a:r>
            <a:endParaRPr lang="en-US" sz="900" dirty="0"/>
          </a:p>
          <a:p>
            <a:pPr marL="114300" indent="-114300">
              <a:spcAft>
                <a:spcPts val="100"/>
              </a:spcAft>
              <a:buSzPct val="100000"/>
              <a:buChar char="•"/>
            </a:pPr>
            <a:r>
              <a:rPr lang="en-US" sz="900" dirty="0">
                <a:solidFill>
                  <a:srgbClr val="14213D"/>
                </a:solidFill>
                <a:latin typeface="Cambria" pitchFamily="34" charset="0"/>
                <a:ea typeface="Cambria" pitchFamily="34" charset="-122"/>
                <a:cs typeface="Cambria" pitchFamily="34" charset="-120"/>
              </a:rPr>
              <a:t>DNL = −0.9 LSB: one step is only a tenth of an LSB wide — nearly invisible</a:t>
            </a:r>
            <a:endParaRPr lang="en-US" sz="900" dirty="0"/>
          </a:p>
          <a:p>
            <a:pPr marL="114300" indent="-114300">
              <a:spcAft>
                <a:spcPts val="100"/>
              </a:spcAft>
              <a:buSzPct val="100000"/>
              <a:buChar char="•"/>
            </a:pPr>
            <a:r>
              <a:rPr lang="en-US" sz="900" dirty="0">
                <a:solidFill>
                  <a:srgbClr val="14213D"/>
                </a:solidFill>
                <a:latin typeface="Cambria" pitchFamily="34" charset="0"/>
                <a:ea typeface="Cambria" pitchFamily="34" charset="-122"/>
                <a:cs typeface="Cambria" pitchFamily="34" charset="-120"/>
              </a:rPr>
              <a:t>DNL = −1.0 LSB: that code never appears at all (see the next slide)</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640080"/>
          </a:xfrm>
          <a:prstGeom prst="rect">
            <a:avLst/>
          </a:prstGeom>
          <a:noFill/>
          <a:ln/>
        </p:spPr>
        <p:txBody>
          <a:bodyPr wrap="square" lIns="0" tIns="0" rIns="0" bIns="0" rtlCol="0" anchor="ctr"/>
          <a:lstStyle/>
          <a:p>
            <a:pPr indent="0" marL="0">
              <a:buNone/>
            </a:pPr>
            <a:r>
              <a:rPr lang="en-US" sz="2800" b="1" dirty="0">
                <a:solidFill>
                  <a:srgbClr val="0B1F3A"/>
                </a:solidFill>
                <a:latin typeface="Cambria" pitchFamily="34" charset="0"/>
                <a:ea typeface="Cambria" pitchFamily="34" charset="-122"/>
                <a:cs typeface="Cambria" pitchFamily="34" charset="-120"/>
              </a:rPr>
              <a:t>Missing codes and monotonicity</a:t>
            </a:r>
            <a:endParaRPr lang="en-US" sz="2800" dirty="0"/>
          </a:p>
        </p:txBody>
      </p:sp>
      <p:sp>
        <p:nvSpPr>
          <p:cNvPr id="3" name="Text 1"/>
          <p:cNvSpPr txBox="1"/>
          <p:nvPr/>
        </p:nvSpPr>
        <p:spPr>
          <a:xfrm>
            <a:off x="457200" y="4796028"/>
            <a:ext cx="4572000" cy="228600"/>
          </a:xfrm>
          <a:prstGeom prst="rect">
            <a:avLst/>
          </a:prstGeom>
          <a:noFill/>
          <a:ln/>
        </p:spPr>
        <p:txBody>
          <a:bodyPr wrap="square" lIns="0" tIns="0" rIns="0" bIns="0" rtlCol="0" anchor="ctr"/>
          <a:lstStyle/>
          <a:p>
            <a:pPr indent="0" marL="0">
              <a:buNone/>
            </a:pPr>
            <a:r>
              <a:rPr lang="en-US" sz="900" dirty="0">
                <a:solidFill>
                  <a:srgbClr val="5B6B7F"/>
                </a:solidFill>
                <a:latin typeface="Calibri" pitchFamily="34" charset="0"/>
                <a:ea typeface="Calibri" pitchFamily="34" charset="-122"/>
                <a:cs typeface="Calibri" pitchFamily="34" charset="-120"/>
              </a:rPr>
              <a:t>Part 2 · Static accuracy (DC)</a:t>
            </a:r>
            <a:endParaRPr lang="en-US" sz="900" dirty="0"/>
          </a:p>
        </p:txBody>
      </p:sp>
      <p:sp>
        <p:nvSpPr>
          <p:cNvPr id="4" name="Text 2"/>
          <p:cNvSpPr txBox="1"/>
          <p:nvPr/>
        </p:nvSpPr>
        <p:spPr>
          <a:xfrm>
            <a:off x="7772400" y="4796028"/>
            <a:ext cx="914400" cy="228600"/>
          </a:xfrm>
          <a:prstGeom prst="rect">
            <a:avLst/>
          </a:prstGeom>
          <a:noFill/>
          <a:ln/>
        </p:spPr>
        <p:txBody>
          <a:bodyPr wrap="square" lIns="0" tIns="0" rIns="0" bIns="0" rtlCol="0" anchor="ctr"/>
          <a:lstStyle/>
          <a:p>
            <a:pPr algn="r" indent="0" marL="0">
              <a:buNone/>
            </a:pPr>
            <a:r>
              <a:rPr lang="en-US" sz="900" dirty="0">
                <a:solidFill>
                  <a:srgbClr val="5B6B7F"/>
                </a:solidFill>
                <a:latin typeface="Calibri" pitchFamily="34" charset="0"/>
                <a:ea typeface="Calibri" pitchFamily="34" charset="-122"/>
                <a:cs typeface="Calibri" pitchFamily="34" charset="-120"/>
              </a:rPr>
              <a:t>16</a:t>
            </a:r>
            <a:endParaRPr lang="en-US" sz="900" dirty="0"/>
          </a:p>
        </p:txBody>
      </p:sp>
      <p:sp>
        <p:nvSpPr>
          <p:cNvPr id="5" name="Text 3"/>
          <p:cNvSpPr txBox="1"/>
          <p:nvPr/>
        </p:nvSpPr>
        <p:spPr>
          <a:xfrm>
            <a:off x="457200" y="1042416"/>
            <a:ext cx="4023360" cy="1005840"/>
          </a:xfrm>
          <a:prstGeom prst="rect">
            <a:avLst/>
          </a:prstGeom>
          <a:noFill/>
          <a:ln/>
        </p:spPr>
        <p:txBody>
          <a:bodyPr wrap="square" lIns="0" tIns="0" rIns="0" bIns="0" rtlCol="0" anchor="t"/>
          <a:lstStyle/>
          <a:p>
            <a:pPr indent="0" marL="0">
              <a:buNone/>
            </a:pPr>
            <a:r>
              <a:rPr lang="en-US" sz="1150" dirty="0">
                <a:solidFill>
                  <a:srgbClr val="14213D"/>
                </a:solidFill>
                <a:latin typeface="Calibri" pitchFamily="34" charset="0"/>
                <a:ea typeface="Calibri" pitchFamily="34" charset="-122"/>
                <a:cs typeface="Calibri" pitchFamily="34" charset="-120"/>
              </a:rPr>
              <a:t>Two guarantees that follow from DNL. A code is missing when DNL reaches −1 LSB: that output value can never occur, whatever the input. A converter is monotonic when a rising input can never produce a falling output.</a:t>
            </a:r>
            <a:endParaRPr lang="en-US" sz="1150" dirty="0"/>
          </a:p>
        </p:txBody>
      </p:sp>
      <p:sp>
        <p:nvSpPr>
          <p:cNvPr id="6" name="Shape 4"/>
          <p:cNvSpPr/>
          <p:nvPr/>
        </p:nvSpPr>
        <p:spPr>
          <a:xfrm>
            <a:off x="457200" y="2103120"/>
            <a:ext cx="4023360" cy="685800"/>
          </a:xfrm>
          <a:prstGeom prst="roundRect">
            <a:avLst>
              <a:gd name="adj" fmla="val 10667"/>
            </a:avLst>
          </a:prstGeom>
          <a:solidFill>
            <a:srgbClr val="EEF3F8"/>
          </a:solidFill>
          <a:ln w="12700">
            <a:solidFill>
              <a:srgbClr val="EEF3F8"/>
            </a:solidFill>
            <a:prstDash val="solid"/>
          </a:ln>
        </p:spPr>
      </p:sp>
      <p:sp>
        <p:nvSpPr>
          <p:cNvPr id="7" name="Text 5"/>
          <p:cNvSpPr txBox="1"/>
          <p:nvPr/>
        </p:nvSpPr>
        <p:spPr>
          <a:xfrm>
            <a:off x="594360" y="2103120"/>
            <a:ext cx="3749040" cy="429768"/>
          </a:xfrm>
          <a:prstGeom prst="rect">
            <a:avLst/>
          </a:prstGeom>
          <a:noFill/>
          <a:ln/>
        </p:spPr>
        <p:txBody>
          <a:bodyPr wrap="square" lIns="0" tIns="0" rIns="0" bIns="0" rtlCol="0" anchor="ctr"/>
          <a:lstStyle/>
          <a:p>
            <a:pPr algn="ctr" indent="0" marL="0">
              <a:buNone/>
            </a:pPr>
            <a:r>
              <a:rPr lang="en-US" sz="1500" dirty="0">
                <a:solidFill>
                  <a:srgbClr val="0B1F3A"/>
                </a:solidFill>
                <a:latin typeface="Cambria" pitchFamily="34" charset="0"/>
                <a:ea typeface="Cambria" pitchFamily="34" charset="-122"/>
                <a:cs typeface="Cambria" pitchFamily="34" charset="-120"/>
              </a:rPr>
              <a:t>DNL ≤ −1 LSB  →  missing code</a:t>
            </a:r>
            <a:endParaRPr lang="en-US" sz="1500" dirty="0"/>
          </a:p>
        </p:txBody>
      </p:sp>
      <p:sp>
        <p:nvSpPr>
          <p:cNvPr id="8" name="Text 6"/>
          <p:cNvSpPr txBox="1"/>
          <p:nvPr/>
        </p:nvSpPr>
        <p:spPr>
          <a:xfrm>
            <a:off x="594360" y="2487168"/>
            <a:ext cx="3749040" cy="256032"/>
          </a:xfrm>
          <a:prstGeom prst="rect">
            <a:avLst/>
          </a:prstGeom>
          <a:noFill/>
          <a:ln/>
        </p:spPr>
        <p:txBody>
          <a:bodyPr wrap="square" lIns="0" tIns="0" rIns="0" bIns="0" rtlCol="0" anchor="t"/>
          <a:lstStyle/>
          <a:p>
            <a:pPr algn="ctr" indent="0" marL="0">
              <a:buNone/>
            </a:pPr>
            <a:r>
              <a:rPr lang="en-US" sz="1000" dirty="0">
                <a:solidFill>
                  <a:srgbClr val="5B6B7F"/>
                </a:solidFill>
                <a:latin typeface="Calibri" pitchFamily="34" charset="0"/>
                <a:ea typeface="Calibri" pitchFamily="34" charset="-122"/>
                <a:cs typeface="Calibri" pitchFamily="34" charset="-120"/>
              </a:rPr>
              <a:t>The step has been squeezed to zero width</a:t>
            </a:r>
            <a:endParaRPr lang="en-US" sz="1000" dirty="0"/>
          </a:p>
        </p:txBody>
      </p:sp>
      <p:sp>
        <p:nvSpPr>
          <p:cNvPr id="9" name="Shape 7"/>
          <p:cNvSpPr/>
          <p:nvPr/>
        </p:nvSpPr>
        <p:spPr>
          <a:xfrm>
            <a:off x="457200" y="2862072"/>
            <a:ext cx="4023360" cy="685800"/>
          </a:xfrm>
          <a:prstGeom prst="roundRect">
            <a:avLst>
              <a:gd name="adj" fmla="val 10667"/>
            </a:avLst>
          </a:prstGeom>
          <a:solidFill>
            <a:srgbClr val="EEF3F8"/>
          </a:solidFill>
          <a:ln w="12700">
            <a:solidFill>
              <a:srgbClr val="EEF3F8"/>
            </a:solidFill>
            <a:prstDash val="solid"/>
          </a:ln>
        </p:spPr>
      </p:sp>
      <p:sp>
        <p:nvSpPr>
          <p:cNvPr id="10" name="Text 8"/>
          <p:cNvSpPr txBox="1"/>
          <p:nvPr/>
        </p:nvSpPr>
        <p:spPr>
          <a:xfrm>
            <a:off x="594360" y="2862072"/>
            <a:ext cx="3749040" cy="429768"/>
          </a:xfrm>
          <a:prstGeom prst="rect">
            <a:avLst/>
          </a:prstGeom>
          <a:noFill/>
          <a:ln/>
        </p:spPr>
        <p:txBody>
          <a:bodyPr wrap="square" lIns="0" tIns="0" rIns="0" bIns="0" rtlCol="0" anchor="ctr"/>
          <a:lstStyle/>
          <a:p>
            <a:pPr algn="ctr" indent="0" marL="0">
              <a:buNone/>
            </a:pPr>
            <a:r>
              <a:rPr lang="en-US" sz="1000" dirty="0">
                <a:solidFill>
                  <a:srgbClr val="0B1F3A"/>
                </a:solidFill>
                <a:latin typeface="Cambria" pitchFamily="34" charset="0"/>
                <a:ea typeface="Cambria" pitchFamily="34" charset="-122"/>
                <a:cs typeface="Cambria" pitchFamily="34" charset="-120"/>
              </a:rPr>
              <a:t>DNL &gt; −1 LSB everywhere  →  guaranteed monotonic</a:t>
            </a:r>
            <a:endParaRPr lang="en-US" sz="1000" dirty="0"/>
          </a:p>
        </p:txBody>
      </p:sp>
      <p:sp>
        <p:nvSpPr>
          <p:cNvPr id="11" name="Text 9"/>
          <p:cNvSpPr txBox="1"/>
          <p:nvPr/>
        </p:nvSpPr>
        <p:spPr>
          <a:xfrm>
            <a:off x="594360" y="3246120"/>
            <a:ext cx="3749040" cy="256032"/>
          </a:xfrm>
          <a:prstGeom prst="rect">
            <a:avLst/>
          </a:prstGeom>
          <a:noFill/>
          <a:ln/>
        </p:spPr>
        <p:txBody>
          <a:bodyPr wrap="square" lIns="0" tIns="0" rIns="0" bIns="0" rtlCol="0" anchor="t"/>
          <a:lstStyle/>
          <a:p>
            <a:pPr algn="ctr" indent="0" marL="0">
              <a:buNone/>
            </a:pPr>
            <a:r>
              <a:rPr lang="en-US" sz="1000" dirty="0">
                <a:solidFill>
                  <a:srgbClr val="5B6B7F"/>
                </a:solidFill>
                <a:latin typeface="Calibri" pitchFamily="34" charset="0"/>
                <a:ea typeface="Calibri" pitchFamily="34" charset="-122"/>
                <a:cs typeface="Calibri" pitchFamily="34" charset="-120"/>
              </a:rPr>
              <a:t>The usual way the guarantee is stated</a:t>
            </a:r>
            <a:endParaRPr lang="en-US" sz="1000" dirty="0"/>
          </a:p>
        </p:txBody>
      </p:sp>
      <p:graphicFrame>
        <p:nvGraphicFramePr>
          <p:cNvPr id="12" name="Chart 0" descr=""/>
          <p:cNvGraphicFramePr/>
          <p:nvPr/>
        </p:nvGraphicFramePr>
        <p:xfrm>
          <a:off x="4663440" y="1042416"/>
          <a:ext cx="4023360" cy="2084832"/>
        </p:xfrm>
        <a:graphic xmlns:a="http://schemas.openxmlformats.org/drawingml/2006/main">
          <a:graphicData uri="http://schemas.openxmlformats.org/drawingml/2006/chart">
            <c:chart xmlns:c="http://schemas.openxmlformats.org/drawingml/2006/chart" r:id="rId1"/>
          </a:graphicData>
        </a:graphic>
      </p:graphicFrame>
      <p:sp>
        <p:nvSpPr>
          <p:cNvPr id="13" name="Text 10"/>
          <p:cNvSpPr txBox="1"/>
          <p:nvPr/>
        </p:nvSpPr>
        <p:spPr>
          <a:xfrm>
            <a:off x="4663440" y="3200400"/>
            <a:ext cx="4023360" cy="347472"/>
          </a:xfrm>
          <a:prstGeom prst="rect">
            <a:avLst/>
          </a:prstGeom>
          <a:noFill/>
          <a:ln/>
        </p:spPr>
        <p:txBody>
          <a:bodyPr wrap="square" lIns="0" tIns="0" rIns="0" bIns="0" rtlCol="0" anchor="ctr"/>
          <a:lstStyle/>
          <a:p>
            <a:pPr algn="ctr" indent="0" marL="0">
              <a:buNone/>
            </a:pPr>
            <a:r>
              <a:rPr lang="en-US" sz="1000" i="1" dirty="0">
                <a:solidFill>
                  <a:srgbClr val="5B6B7F"/>
                </a:solidFill>
                <a:latin typeface="Calibri" pitchFamily="34" charset="0"/>
                <a:ea typeface="Calibri" pitchFamily="34" charset="-122"/>
                <a:cs typeface="Calibri" pitchFamily="34" charset="-120"/>
              </a:rPr>
              <a:t>"No missing codes" is a guarantee worth paying for in measurement work. "Monotonic" is essential in any feedback loop.</a:t>
            </a:r>
            <a:endParaRPr lang="en-US" sz="1000" dirty="0"/>
          </a:p>
        </p:txBody>
      </p:sp>
      <p:sp>
        <p:nvSpPr>
          <p:cNvPr id="14" name="Shape 11"/>
          <p:cNvSpPr/>
          <p:nvPr/>
        </p:nvSpPr>
        <p:spPr>
          <a:xfrm>
            <a:off x="457200" y="3675888"/>
            <a:ext cx="4023360" cy="1024128"/>
          </a:xfrm>
          <a:prstGeom prst="roundRect">
            <a:avLst>
              <a:gd name="adj" fmla="val 7143"/>
            </a:avLst>
          </a:prstGeom>
          <a:solidFill>
            <a:srgbClr val="E4F7F4"/>
          </a:solidFill>
          <a:ln w="12700">
            <a:solidFill>
              <a:srgbClr val="E4F7F4"/>
            </a:solidFill>
            <a:prstDash val="solid"/>
          </a:ln>
        </p:spPr>
      </p:sp>
      <p:sp>
        <p:nvSpPr>
          <p:cNvPr id="15" name="Shape 12"/>
          <p:cNvSpPr/>
          <p:nvPr/>
        </p:nvSpPr>
        <p:spPr>
          <a:xfrm>
            <a:off x="566928" y="3776472"/>
            <a:ext cx="237744" cy="237744"/>
          </a:xfrm>
          <a:prstGeom prst="ellipse">
            <a:avLst/>
          </a:prstGeom>
          <a:solidFill>
            <a:srgbClr val="2EC4B6"/>
          </a:solidFill>
          <a:ln w="12700">
            <a:solidFill>
              <a:srgbClr val="2EC4B6"/>
            </a:solidFill>
            <a:prstDash val="solid"/>
          </a:ln>
        </p:spPr>
      </p:sp>
      <p:sp>
        <p:nvSpPr>
          <p:cNvPr id="16" name="Text 13"/>
          <p:cNvSpPr txBox="1"/>
          <p:nvPr/>
        </p:nvSpPr>
        <p:spPr>
          <a:xfrm>
            <a:off x="566928" y="3776472"/>
            <a:ext cx="237744" cy="237744"/>
          </a:xfrm>
          <a:prstGeom prst="rect">
            <a:avLst/>
          </a:prstGeom>
          <a:noFill/>
          <a:ln/>
        </p:spPr>
        <p:txBody>
          <a:bodyPr wrap="square" lIns="0" tIns="0" rIns="0" bIns="0" rtlCol="0" anchor="ctr"/>
          <a:lstStyle/>
          <a:p>
            <a:pPr algn="ctr" indent="0" marL="0">
              <a:buNone/>
            </a:pPr>
            <a:r>
              <a:rPr lang="en-US" sz="1200" b="1" dirty="0">
                <a:solidFill>
                  <a:srgbClr val="0B1F3A"/>
                </a:solidFill>
                <a:latin typeface="Calibri" pitchFamily="34" charset="0"/>
                <a:ea typeface="Calibri" pitchFamily="34" charset="-122"/>
                <a:cs typeface="Calibri" pitchFamily="34" charset="-120"/>
              </a:rPr>
              <a:t>≈</a:t>
            </a:r>
            <a:endParaRPr lang="en-US" sz="1200" dirty="0"/>
          </a:p>
        </p:txBody>
      </p:sp>
      <p:sp>
        <p:nvSpPr>
          <p:cNvPr id="17" name="Text 14"/>
          <p:cNvSpPr txBox="1"/>
          <p:nvPr/>
        </p:nvSpPr>
        <p:spPr>
          <a:xfrm>
            <a:off x="877824" y="3739896"/>
            <a:ext cx="3493008" cy="896112"/>
          </a:xfrm>
          <a:prstGeom prst="rect">
            <a:avLst/>
          </a:prstGeom>
          <a:noFill/>
          <a:ln/>
        </p:spPr>
        <p:txBody>
          <a:bodyPr wrap="square" lIns="0" tIns="0" rIns="0" bIns="0" rtlCol="0" anchor="t"/>
          <a:lstStyle/>
          <a:p>
            <a:pPr indent="0" marL="0">
              <a:buNone/>
            </a:pPr>
            <a:r>
              <a:rPr lang="en-US" sz="1050" b="1" dirty="0">
                <a:solidFill>
                  <a:srgbClr val="0B1F3A"/>
                </a:solidFill>
                <a:latin typeface="Calibri" pitchFamily="34" charset="0"/>
                <a:ea typeface="Calibri" pitchFamily="34" charset="-122"/>
                <a:cs typeface="Calibri" pitchFamily="34" charset="-120"/>
              </a:rPr>
              <a:t>Think of it like this  </a:t>
            </a:r>
            <a:pPr indent="0" marL="0">
              <a:buNone/>
            </a:pPr>
            <a:r>
              <a:rPr lang="en-US" sz="1050" dirty="0">
                <a:solidFill>
                  <a:srgbClr val="14213D"/>
                </a:solidFill>
                <a:latin typeface="Calibri" pitchFamily="34" charset="0"/>
                <a:ea typeface="Calibri" pitchFamily="34" charset="-122"/>
                <a:cs typeface="Calibri" pitchFamily="34" charset="-120"/>
              </a:rPr>
              <a:t>A lift that never stops on the fourth floor. It works fine, but you can never get out there — and if it sometimes goes down when you press "up", nothing built on it can be trusted.</a:t>
            </a:r>
            <a:endParaRPr lang="en-US" sz="1050" dirty="0"/>
          </a:p>
        </p:txBody>
      </p:sp>
      <p:sp>
        <p:nvSpPr>
          <p:cNvPr id="18" name="Shape 15"/>
          <p:cNvSpPr/>
          <p:nvPr/>
        </p:nvSpPr>
        <p:spPr>
          <a:xfrm>
            <a:off x="4663440" y="3675888"/>
            <a:ext cx="4023360" cy="1024128"/>
          </a:xfrm>
          <a:prstGeom prst="roundRect">
            <a:avLst>
              <a:gd name="adj" fmla="val 7143"/>
            </a:avLst>
          </a:prstGeom>
          <a:solidFill>
            <a:srgbClr val="FFFFFF"/>
          </a:solidFill>
          <a:ln w="12700">
            <a:solidFill>
              <a:srgbClr val="0B1F3A"/>
            </a:solidFill>
            <a:prstDash val="solid"/>
          </a:ln>
        </p:spPr>
      </p:sp>
      <p:sp>
        <p:nvSpPr>
          <p:cNvPr id="19" name="Shape 16"/>
          <p:cNvSpPr/>
          <p:nvPr/>
        </p:nvSpPr>
        <p:spPr>
          <a:xfrm>
            <a:off x="4773168" y="3566160"/>
            <a:ext cx="914400" cy="219456"/>
          </a:xfrm>
          <a:prstGeom prst="roundRect">
            <a:avLst>
              <a:gd name="adj" fmla="val 25000"/>
            </a:avLst>
          </a:prstGeom>
          <a:solidFill>
            <a:srgbClr val="0B1F3A"/>
          </a:solidFill>
          <a:ln w="12700">
            <a:solidFill>
              <a:srgbClr val="0B1F3A"/>
            </a:solidFill>
            <a:prstDash val="solid"/>
          </a:ln>
        </p:spPr>
      </p:sp>
      <p:sp>
        <p:nvSpPr>
          <p:cNvPr id="20" name="Text 17"/>
          <p:cNvSpPr txBox="1"/>
          <p:nvPr/>
        </p:nvSpPr>
        <p:spPr>
          <a:xfrm>
            <a:off x="4773168" y="3566160"/>
            <a:ext cx="914400" cy="219456"/>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EXAMPLE</a:t>
            </a:r>
            <a:endParaRPr lang="en-US" sz="850" dirty="0"/>
          </a:p>
        </p:txBody>
      </p:sp>
      <p:sp>
        <p:nvSpPr>
          <p:cNvPr id="21" name="Text 18"/>
          <p:cNvSpPr txBox="1"/>
          <p:nvPr/>
        </p:nvSpPr>
        <p:spPr>
          <a:xfrm>
            <a:off x="4791456" y="3813048"/>
            <a:ext cx="3803904" cy="841248"/>
          </a:xfrm>
          <a:prstGeom prst="rect">
            <a:avLst/>
          </a:prstGeom>
          <a:noFill/>
          <a:ln/>
        </p:spPr>
        <p:txBody>
          <a:bodyPr wrap="square" lIns="0" tIns="0" rIns="0" bIns="0" rtlCol="0" anchor="t"/>
          <a:lstStyle/>
          <a:p>
            <a:pPr indent="0" marL="0">
              <a:spcAft>
                <a:spcPts val="100"/>
              </a:spcAft>
              <a:buNone/>
            </a:pPr>
            <a:r>
              <a:rPr lang="en-US" sz="900" b="1" dirty="0">
                <a:solidFill>
                  <a:srgbClr val="0B1F3A"/>
                </a:solidFill>
                <a:latin typeface="Calibri" pitchFamily="34" charset="0"/>
                <a:ea typeface="Calibri" pitchFamily="34" charset="-122"/>
                <a:cs typeface="Calibri" pitchFamily="34" charset="-120"/>
              </a:rPr>
              <a:t>Why monotonicity is non-negotiable in a control loop</a:t>
            </a:r>
            <a:endParaRPr lang="en-US" sz="900" dirty="0"/>
          </a:p>
          <a:p>
            <a:pPr marL="114300" indent="-114300">
              <a:spcAft>
                <a:spcPts val="100"/>
              </a:spcAft>
              <a:buSzPct val="100000"/>
              <a:buChar char="•"/>
            </a:pPr>
            <a:r>
              <a:rPr lang="en-US" sz="900" dirty="0">
                <a:solidFill>
                  <a:srgbClr val="14213D"/>
                </a:solidFill>
                <a:latin typeface="Cambria" pitchFamily="34" charset="0"/>
                <a:ea typeface="Cambria" pitchFamily="34" charset="-122"/>
                <a:cs typeface="Cambria" pitchFamily="34" charset="-120"/>
              </a:rPr>
              <a:t>A servo raises its drive and reads the sensor back</a:t>
            </a:r>
            <a:endParaRPr lang="en-US" sz="900" dirty="0"/>
          </a:p>
          <a:p>
            <a:pPr marL="114300" indent="-114300">
              <a:spcAft>
                <a:spcPts val="100"/>
              </a:spcAft>
              <a:buSzPct val="100000"/>
              <a:buChar char="•"/>
            </a:pPr>
            <a:r>
              <a:rPr lang="en-US" sz="900" dirty="0">
                <a:solidFill>
                  <a:srgbClr val="14213D"/>
                </a:solidFill>
                <a:latin typeface="Cambria" pitchFamily="34" charset="0"/>
                <a:ea typeface="Cambria" pitchFamily="34" charset="-122"/>
                <a:cs typeface="Cambria" pitchFamily="34" charset="-120"/>
              </a:rPr>
              <a:t>A non-monotonic ADC reports a fall, so the loop pushes harder</a:t>
            </a:r>
            <a:endParaRPr lang="en-US" sz="900" dirty="0"/>
          </a:p>
          <a:p>
            <a:pPr marL="114300" indent="-114300">
              <a:spcAft>
                <a:spcPts val="100"/>
              </a:spcAft>
              <a:buSzPct val="100000"/>
              <a:buChar char="•"/>
            </a:pPr>
            <a:r>
              <a:rPr lang="en-US" sz="900" dirty="0">
                <a:solidFill>
                  <a:srgbClr val="14213D"/>
                </a:solidFill>
                <a:latin typeface="Cambria" pitchFamily="34" charset="0"/>
                <a:ea typeface="Cambria" pitchFamily="34" charset="-122"/>
                <a:cs typeface="Cambria" pitchFamily="34" charset="-120"/>
              </a:rPr>
              <a:t>The loop latches up or oscillates — the classic symptom of a non-monotonic converter</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5998464" cy="64008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INL — integral non-linearity</a:t>
            </a:r>
            <a:endParaRPr lang="en-US" sz="2400" dirty="0"/>
          </a:p>
        </p:txBody>
      </p:sp>
      <p:sp>
        <p:nvSpPr>
          <p:cNvPr id="3" name="Text 1"/>
          <p:cNvSpPr txBox="1"/>
          <p:nvPr/>
        </p:nvSpPr>
        <p:spPr>
          <a:xfrm>
            <a:off x="457200" y="4796028"/>
            <a:ext cx="4572000" cy="228600"/>
          </a:xfrm>
          <a:prstGeom prst="rect">
            <a:avLst/>
          </a:prstGeom>
          <a:noFill/>
          <a:ln/>
        </p:spPr>
        <p:txBody>
          <a:bodyPr wrap="square" lIns="0" tIns="0" rIns="0" bIns="0" rtlCol="0" anchor="ctr"/>
          <a:lstStyle/>
          <a:p>
            <a:pPr indent="0" marL="0">
              <a:buNone/>
            </a:pPr>
            <a:r>
              <a:rPr lang="en-US" sz="900" dirty="0">
                <a:solidFill>
                  <a:srgbClr val="5B6B7F"/>
                </a:solidFill>
                <a:latin typeface="Calibri" pitchFamily="34" charset="0"/>
                <a:ea typeface="Calibri" pitchFamily="34" charset="-122"/>
                <a:cs typeface="Calibri" pitchFamily="34" charset="-120"/>
              </a:rPr>
              <a:t>Part 2 · Static accuracy (DC)</a:t>
            </a:r>
            <a:endParaRPr lang="en-US" sz="900" dirty="0"/>
          </a:p>
        </p:txBody>
      </p:sp>
      <p:sp>
        <p:nvSpPr>
          <p:cNvPr id="4" name="Text 2"/>
          <p:cNvSpPr txBox="1"/>
          <p:nvPr/>
        </p:nvSpPr>
        <p:spPr>
          <a:xfrm>
            <a:off x="7772400" y="4796028"/>
            <a:ext cx="914400" cy="228600"/>
          </a:xfrm>
          <a:prstGeom prst="rect">
            <a:avLst/>
          </a:prstGeom>
          <a:noFill/>
          <a:ln/>
        </p:spPr>
        <p:txBody>
          <a:bodyPr wrap="square" lIns="0" tIns="0" rIns="0" bIns="0" rtlCol="0" anchor="ctr"/>
          <a:lstStyle/>
          <a:p>
            <a:pPr algn="r" indent="0" marL="0">
              <a:buNone/>
            </a:pPr>
            <a:r>
              <a:rPr lang="en-US" sz="900" dirty="0">
                <a:solidFill>
                  <a:srgbClr val="5B6B7F"/>
                </a:solidFill>
                <a:latin typeface="Calibri" pitchFamily="34" charset="0"/>
                <a:ea typeface="Calibri" pitchFamily="34" charset="-122"/>
                <a:cs typeface="Calibri" pitchFamily="34" charset="-120"/>
              </a:rPr>
              <a:t>17</a:t>
            </a:r>
            <a:endParaRPr lang="en-US" sz="900" dirty="0"/>
          </a:p>
        </p:txBody>
      </p:sp>
      <p:sp>
        <p:nvSpPr>
          <p:cNvPr id="5" name="Shape 3"/>
          <p:cNvSpPr/>
          <p:nvPr/>
        </p:nvSpPr>
        <p:spPr>
          <a:xfrm>
            <a:off x="6684264" y="384048"/>
            <a:ext cx="2002536" cy="384048"/>
          </a:xfrm>
          <a:prstGeom prst="roundRect">
            <a:avLst>
              <a:gd name="adj" fmla="val 19048"/>
            </a:avLst>
          </a:prstGeom>
          <a:solidFill>
            <a:srgbClr val="EEF3F8"/>
          </a:solidFill>
          <a:ln w="12700">
            <a:solidFill>
              <a:srgbClr val="EEF3F8"/>
            </a:solidFill>
            <a:prstDash val="solid"/>
          </a:ln>
        </p:spPr>
      </p:sp>
      <p:sp>
        <p:nvSpPr>
          <p:cNvPr id="6" name="Text 4"/>
          <p:cNvSpPr txBox="1"/>
          <p:nvPr/>
        </p:nvSpPr>
        <p:spPr>
          <a:xfrm>
            <a:off x="6684264" y="384048"/>
            <a:ext cx="2002536" cy="384048"/>
          </a:xfrm>
          <a:prstGeom prst="rect">
            <a:avLst/>
          </a:prstGeom>
          <a:noFill/>
          <a:ln/>
        </p:spPr>
        <p:txBody>
          <a:bodyPr wrap="square" lIns="0" tIns="0" rIns="0" bIns="0" rtlCol="0" anchor="ctr"/>
          <a:lstStyle/>
          <a:p>
            <a:pPr algn="ctr" indent="0" marL="0">
              <a:buNone/>
            </a:pPr>
            <a:r>
              <a:rPr lang="en-US" sz="1200" b="1" dirty="0">
                <a:solidFill>
                  <a:srgbClr val="0B1F3A"/>
                </a:solidFill>
                <a:latin typeface="Cambria" pitchFamily="34" charset="0"/>
                <a:ea typeface="Cambria" pitchFamily="34" charset="-122"/>
                <a:cs typeface="Cambria" pitchFamily="34" charset="-120"/>
              </a:rPr>
              <a:t>INL   ·   LSB</a:t>
            </a:r>
            <a:endParaRPr lang="en-US" sz="1200" dirty="0"/>
          </a:p>
        </p:txBody>
      </p:sp>
      <p:sp>
        <p:nvSpPr>
          <p:cNvPr id="7" name="Text 5"/>
          <p:cNvSpPr txBox="1"/>
          <p:nvPr/>
        </p:nvSpPr>
        <p:spPr>
          <a:xfrm>
            <a:off x="457200" y="1042416"/>
            <a:ext cx="4023360" cy="1005840"/>
          </a:xfrm>
          <a:prstGeom prst="rect">
            <a:avLst/>
          </a:prstGeom>
          <a:noFill/>
          <a:ln/>
        </p:spPr>
        <p:txBody>
          <a:bodyPr wrap="square" lIns="0" tIns="0" rIns="0" bIns="0" rtlCol="0" anchor="t"/>
          <a:lstStyle/>
          <a:p>
            <a:pPr indent="0" marL="0">
              <a:buNone/>
            </a:pPr>
            <a:r>
              <a:rPr lang="en-US" sz="1150" dirty="0">
                <a:solidFill>
                  <a:srgbClr val="14213D"/>
                </a:solidFill>
                <a:latin typeface="Calibri" pitchFamily="34" charset="0"/>
                <a:ea typeface="Calibri" pitchFamily="34" charset="-122"/>
                <a:cs typeface="Calibri" pitchFamily="34" charset="-120"/>
              </a:rPr>
              <a:t>How far the whole staircase bends away from a straight line, once offset and gain have been taken out. Where DNL is local and jagged, INL is the smooth, long bow across the range — and it is the running sum of DNL.</a:t>
            </a:r>
            <a:endParaRPr lang="en-US" sz="1150" dirty="0"/>
          </a:p>
        </p:txBody>
      </p:sp>
      <p:sp>
        <p:nvSpPr>
          <p:cNvPr id="8" name="Shape 6"/>
          <p:cNvSpPr/>
          <p:nvPr/>
        </p:nvSpPr>
        <p:spPr>
          <a:xfrm>
            <a:off x="457200" y="2103120"/>
            <a:ext cx="4023360" cy="685800"/>
          </a:xfrm>
          <a:prstGeom prst="roundRect">
            <a:avLst>
              <a:gd name="adj" fmla="val 10667"/>
            </a:avLst>
          </a:prstGeom>
          <a:solidFill>
            <a:srgbClr val="EEF3F8"/>
          </a:solidFill>
          <a:ln w="12700">
            <a:solidFill>
              <a:srgbClr val="EEF3F8"/>
            </a:solidFill>
            <a:prstDash val="solid"/>
          </a:ln>
        </p:spPr>
      </p:sp>
      <p:sp>
        <p:nvSpPr>
          <p:cNvPr id="9" name="Text 7"/>
          <p:cNvSpPr txBox="1"/>
          <p:nvPr/>
        </p:nvSpPr>
        <p:spPr>
          <a:xfrm>
            <a:off x="594360" y="2103120"/>
            <a:ext cx="3749040" cy="429768"/>
          </a:xfrm>
          <a:prstGeom prst="rect">
            <a:avLst/>
          </a:prstGeom>
          <a:noFill/>
          <a:ln/>
        </p:spPr>
        <p:txBody>
          <a:bodyPr wrap="square" lIns="0" tIns="0" rIns="0" bIns="0" rtlCol="0" anchor="ctr"/>
          <a:lstStyle/>
          <a:p>
            <a:pPr algn="ctr" indent="0" marL="0">
              <a:buNone/>
            </a:pPr>
            <a:r>
              <a:rPr lang="en-US" sz="1500" dirty="0">
                <a:solidFill>
                  <a:srgbClr val="0B1F3A"/>
                </a:solidFill>
                <a:latin typeface="Cambria" pitchFamily="34" charset="0"/>
                <a:ea typeface="Cambria" pitchFamily="34" charset="-122"/>
                <a:cs typeface="Cambria" pitchFamily="34" charset="-120"/>
              </a:rPr>
              <a:t>INL(k) = Σ DNL up to k</a:t>
            </a:r>
            <a:endParaRPr lang="en-US" sz="1500" dirty="0"/>
          </a:p>
        </p:txBody>
      </p:sp>
      <p:sp>
        <p:nvSpPr>
          <p:cNvPr id="10" name="Text 8"/>
          <p:cNvSpPr txBox="1"/>
          <p:nvPr/>
        </p:nvSpPr>
        <p:spPr>
          <a:xfrm>
            <a:off x="594360" y="2487168"/>
            <a:ext cx="3749040" cy="256032"/>
          </a:xfrm>
          <a:prstGeom prst="rect">
            <a:avLst/>
          </a:prstGeom>
          <a:noFill/>
          <a:ln/>
        </p:spPr>
        <p:txBody>
          <a:bodyPr wrap="square" lIns="0" tIns="0" rIns="0" bIns="0" rtlCol="0" anchor="t"/>
          <a:lstStyle/>
          <a:p>
            <a:pPr algn="ctr" indent="0" marL="0">
              <a:buNone/>
            </a:pPr>
            <a:r>
              <a:rPr lang="en-US" sz="1000" dirty="0">
                <a:solidFill>
                  <a:srgbClr val="5B6B7F"/>
                </a:solidFill>
                <a:latin typeface="Calibri" pitchFamily="34" charset="0"/>
                <a:ea typeface="Calibri" pitchFamily="34" charset="-122"/>
                <a:cs typeface="Calibri" pitchFamily="34" charset="-120"/>
              </a:rPr>
              <a:t>Accumulated step errors</a:t>
            </a:r>
            <a:endParaRPr lang="en-US" sz="1000" dirty="0"/>
          </a:p>
        </p:txBody>
      </p:sp>
      <p:sp>
        <p:nvSpPr>
          <p:cNvPr id="11" name="Shape 9"/>
          <p:cNvSpPr/>
          <p:nvPr/>
        </p:nvSpPr>
        <p:spPr>
          <a:xfrm>
            <a:off x="457200" y="2862072"/>
            <a:ext cx="4023360" cy="685800"/>
          </a:xfrm>
          <a:prstGeom prst="roundRect">
            <a:avLst>
              <a:gd name="adj" fmla="val 10667"/>
            </a:avLst>
          </a:prstGeom>
          <a:solidFill>
            <a:srgbClr val="EEF3F8"/>
          </a:solidFill>
          <a:ln w="12700">
            <a:solidFill>
              <a:srgbClr val="EEF3F8"/>
            </a:solidFill>
            <a:prstDash val="solid"/>
          </a:ln>
        </p:spPr>
      </p:sp>
      <p:sp>
        <p:nvSpPr>
          <p:cNvPr id="12" name="Text 10"/>
          <p:cNvSpPr txBox="1"/>
          <p:nvPr/>
        </p:nvSpPr>
        <p:spPr>
          <a:xfrm>
            <a:off x="594360" y="2862072"/>
            <a:ext cx="3749040" cy="429768"/>
          </a:xfrm>
          <a:prstGeom prst="rect">
            <a:avLst/>
          </a:prstGeom>
          <a:noFill/>
          <a:ln/>
        </p:spPr>
        <p:txBody>
          <a:bodyPr wrap="square" lIns="0" tIns="0" rIns="0" bIns="0" rtlCol="0" anchor="ctr"/>
          <a:lstStyle/>
          <a:p>
            <a:pPr algn="ctr" indent="0" marL="0">
              <a:buNone/>
            </a:pPr>
            <a:r>
              <a:rPr lang="en-US" sz="1300" dirty="0">
                <a:solidFill>
                  <a:srgbClr val="0B1F3A"/>
                </a:solidFill>
                <a:latin typeface="Cambria" pitchFamily="34" charset="0"/>
                <a:ea typeface="Cambria" pitchFamily="34" charset="-122"/>
                <a:cs typeface="Cambria" pitchFamily="34" charset="-120"/>
              </a:rPr>
              <a:t>INL = (actual transition − ideal) / LSB</a:t>
            </a:r>
            <a:endParaRPr lang="en-US" sz="1300" dirty="0"/>
          </a:p>
        </p:txBody>
      </p:sp>
      <p:sp>
        <p:nvSpPr>
          <p:cNvPr id="13" name="Text 11"/>
          <p:cNvSpPr txBox="1"/>
          <p:nvPr/>
        </p:nvSpPr>
        <p:spPr>
          <a:xfrm>
            <a:off x="594360" y="3246120"/>
            <a:ext cx="3749040" cy="256032"/>
          </a:xfrm>
          <a:prstGeom prst="rect">
            <a:avLst/>
          </a:prstGeom>
          <a:noFill/>
          <a:ln/>
        </p:spPr>
        <p:txBody>
          <a:bodyPr wrap="square" lIns="0" tIns="0" rIns="0" bIns="0" rtlCol="0" anchor="t"/>
          <a:lstStyle/>
          <a:p>
            <a:pPr algn="ctr" indent="0" marL="0">
              <a:buNone/>
            </a:pPr>
            <a:r>
              <a:rPr lang="en-US" sz="1000" dirty="0">
                <a:solidFill>
                  <a:srgbClr val="5B6B7F"/>
                </a:solidFill>
                <a:latin typeface="Calibri" pitchFamily="34" charset="0"/>
                <a:ea typeface="Calibri" pitchFamily="34" charset="-122"/>
                <a:cs typeface="Calibri" pitchFamily="34" charset="-120"/>
              </a:rPr>
              <a:t>Endpoint method; the best-fit-line method gives about half the number</a:t>
            </a:r>
            <a:endParaRPr lang="en-US" sz="1000" dirty="0"/>
          </a:p>
        </p:txBody>
      </p:sp>
      <p:graphicFrame>
        <p:nvGraphicFramePr>
          <p:cNvPr id="14" name="Chart 0" descr=""/>
          <p:cNvGraphicFramePr/>
          <p:nvPr/>
        </p:nvGraphicFramePr>
        <p:xfrm>
          <a:off x="4663440" y="1042416"/>
          <a:ext cx="4023360" cy="2084832"/>
        </p:xfrm>
        <a:graphic xmlns:a="http://schemas.openxmlformats.org/drawingml/2006/main">
          <a:graphicData uri="http://schemas.openxmlformats.org/drawingml/2006/chart">
            <c:chart xmlns:c="http://schemas.openxmlformats.org/drawingml/2006/chart" r:id="rId1"/>
          </a:graphicData>
        </a:graphic>
      </p:graphicFrame>
      <p:sp>
        <p:nvSpPr>
          <p:cNvPr id="15" name="Text 12"/>
          <p:cNvSpPr txBox="1"/>
          <p:nvPr/>
        </p:nvSpPr>
        <p:spPr>
          <a:xfrm>
            <a:off x="4663440" y="3200400"/>
            <a:ext cx="4023360" cy="347472"/>
          </a:xfrm>
          <a:prstGeom prst="rect">
            <a:avLst/>
          </a:prstGeom>
          <a:noFill/>
          <a:ln/>
        </p:spPr>
        <p:txBody>
          <a:bodyPr wrap="square" lIns="0" tIns="0" rIns="0" bIns="0" rtlCol="0" anchor="ctr"/>
          <a:lstStyle/>
          <a:p>
            <a:pPr algn="ctr" indent="0" marL="0">
              <a:buNone/>
            </a:pPr>
            <a:r>
              <a:rPr lang="en-US" sz="1000" i="1" dirty="0">
                <a:solidFill>
                  <a:srgbClr val="5B6B7F"/>
                </a:solidFill>
                <a:latin typeface="Calibri" pitchFamily="34" charset="0"/>
                <a:ea typeface="Calibri" pitchFamily="34" charset="-122"/>
                <a:cs typeface="Calibri" pitchFamily="34" charset="-120"/>
              </a:rPr>
              <a:t>INL sets the distortion floor. If you need SFDR, buy INL. Note which definition the datasheet uses: endpoint or best-fit changes the number by a factor…</a:t>
            </a:r>
            <a:endParaRPr lang="en-US" sz="1000" dirty="0"/>
          </a:p>
        </p:txBody>
      </p:sp>
      <p:sp>
        <p:nvSpPr>
          <p:cNvPr id="16" name="Shape 13"/>
          <p:cNvSpPr/>
          <p:nvPr/>
        </p:nvSpPr>
        <p:spPr>
          <a:xfrm>
            <a:off x="457200" y="3675888"/>
            <a:ext cx="4023360" cy="1024128"/>
          </a:xfrm>
          <a:prstGeom prst="roundRect">
            <a:avLst>
              <a:gd name="adj" fmla="val 7143"/>
            </a:avLst>
          </a:prstGeom>
          <a:solidFill>
            <a:srgbClr val="E4F7F4"/>
          </a:solidFill>
          <a:ln w="12700">
            <a:solidFill>
              <a:srgbClr val="E4F7F4"/>
            </a:solidFill>
            <a:prstDash val="solid"/>
          </a:ln>
        </p:spPr>
      </p:sp>
      <p:sp>
        <p:nvSpPr>
          <p:cNvPr id="17" name="Shape 14"/>
          <p:cNvSpPr/>
          <p:nvPr/>
        </p:nvSpPr>
        <p:spPr>
          <a:xfrm>
            <a:off x="566928" y="3776472"/>
            <a:ext cx="237744" cy="237744"/>
          </a:xfrm>
          <a:prstGeom prst="ellipse">
            <a:avLst/>
          </a:prstGeom>
          <a:solidFill>
            <a:srgbClr val="2EC4B6"/>
          </a:solidFill>
          <a:ln w="12700">
            <a:solidFill>
              <a:srgbClr val="2EC4B6"/>
            </a:solidFill>
            <a:prstDash val="solid"/>
          </a:ln>
        </p:spPr>
      </p:sp>
      <p:sp>
        <p:nvSpPr>
          <p:cNvPr id="18" name="Text 15"/>
          <p:cNvSpPr txBox="1"/>
          <p:nvPr/>
        </p:nvSpPr>
        <p:spPr>
          <a:xfrm>
            <a:off x="566928" y="3776472"/>
            <a:ext cx="237744" cy="237744"/>
          </a:xfrm>
          <a:prstGeom prst="rect">
            <a:avLst/>
          </a:prstGeom>
          <a:noFill/>
          <a:ln/>
        </p:spPr>
        <p:txBody>
          <a:bodyPr wrap="square" lIns="0" tIns="0" rIns="0" bIns="0" rtlCol="0" anchor="ctr"/>
          <a:lstStyle/>
          <a:p>
            <a:pPr algn="ctr" indent="0" marL="0">
              <a:buNone/>
            </a:pPr>
            <a:r>
              <a:rPr lang="en-US" sz="1200" b="1" dirty="0">
                <a:solidFill>
                  <a:srgbClr val="0B1F3A"/>
                </a:solidFill>
                <a:latin typeface="Calibri" pitchFamily="34" charset="0"/>
                <a:ea typeface="Calibri" pitchFamily="34" charset="-122"/>
                <a:cs typeface="Calibri" pitchFamily="34" charset="-120"/>
              </a:rPr>
              <a:t>≈</a:t>
            </a:r>
            <a:endParaRPr lang="en-US" sz="1200" dirty="0"/>
          </a:p>
        </p:txBody>
      </p:sp>
      <p:sp>
        <p:nvSpPr>
          <p:cNvPr id="19" name="Text 16"/>
          <p:cNvSpPr txBox="1"/>
          <p:nvPr/>
        </p:nvSpPr>
        <p:spPr>
          <a:xfrm>
            <a:off x="877824" y="3739896"/>
            <a:ext cx="3493008" cy="896112"/>
          </a:xfrm>
          <a:prstGeom prst="rect">
            <a:avLst/>
          </a:prstGeom>
          <a:noFill/>
          <a:ln/>
        </p:spPr>
        <p:txBody>
          <a:bodyPr wrap="square" lIns="0" tIns="0" rIns="0" bIns="0" rtlCol="0" anchor="t"/>
          <a:lstStyle/>
          <a:p>
            <a:pPr indent="0" marL="0">
              <a:buNone/>
            </a:pPr>
            <a:r>
              <a:rPr lang="en-US" sz="1050" b="1" dirty="0">
                <a:solidFill>
                  <a:srgbClr val="0B1F3A"/>
                </a:solidFill>
                <a:latin typeface="Calibri" pitchFamily="34" charset="0"/>
                <a:ea typeface="Calibri" pitchFamily="34" charset="-122"/>
                <a:cs typeface="Calibri" pitchFamily="34" charset="-120"/>
              </a:rPr>
              <a:t>Think of it like this  </a:t>
            </a:r>
            <a:pPr indent="0" marL="0">
              <a:buNone/>
            </a:pPr>
            <a:r>
              <a:rPr lang="en-US" sz="1050" dirty="0">
                <a:solidFill>
                  <a:srgbClr val="14213D"/>
                </a:solidFill>
                <a:latin typeface="Calibri" pitchFamily="34" charset="0"/>
                <a:ea typeface="Calibri" pitchFamily="34" charset="-122"/>
                <a:cs typeface="Calibri" pitchFamily="34" charset="-120"/>
              </a:rPr>
              <a:t>A ruler that is gently bowed. Each individual centimetre looks fine, but by the middle the accumulated bend has you several millimetres out.</a:t>
            </a:r>
            <a:endParaRPr lang="en-US" sz="1050" dirty="0"/>
          </a:p>
        </p:txBody>
      </p:sp>
      <p:sp>
        <p:nvSpPr>
          <p:cNvPr id="20" name="Shape 17"/>
          <p:cNvSpPr/>
          <p:nvPr/>
        </p:nvSpPr>
        <p:spPr>
          <a:xfrm>
            <a:off x="4663440" y="3675888"/>
            <a:ext cx="4023360" cy="1024128"/>
          </a:xfrm>
          <a:prstGeom prst="roundRect">
            <a:avLst>
              <a:gd name="adj" fmla="val 7143"/>
            </a:avLst>
          </a:prstGeom>
          <a:solidFill>
            <a:srgbClr val="FFFFFF"/>
          </a:solidFill>
          <a:ln w="12700">
            <a:solidFill>
              <a:srgbClr val="0B1F3A"/>
            </a:solidFill>
            <a:prstDash val="solid"/>
          </a:ln>
        </p:spPr>
      </p:sp>
      <p:sp>
        <p:nvSpPr>
          <p:cNvPr id="21" name="Shape 18"/>
          <p:cNvSpPr/>
          <p:nvPr/>
        </p:nvSpPr>
        <p:spPr>
          <a:xfrm>
            <a:off x="4773168" y="3566160"/>
            <a:ext cx="914400" cy="219456"/>
          </a:xfrm>
          <a:prstGeom prst="roundRect">
            <a:avLst>
              <a:gd name="adj" fmla="val 25000"/>
            </a:avLst>
          </a:prstGeom>
          <a:solidFill>
            <a:srgbClr val="0B1F3A"/>
          </a:solidFill>
          <a:ln w="12700">
            <a:solidFill>
              <a:srgbClr val="0B1F3A"/>
            </a:solidFill>
            <a:prstDash val="solid"/>
          </a:ln>
        </p:spPr>
      </p:sp>
      <p:sp>
        <p:nvSpPr>
          <p:cNvPr id="22" name="Text 19"/>
          <p:cNvSpPr txBox="1"/>
          <p:nvPr/>
        </p:nvSpPr>
        <p:spPr>
          <a:xfrm>
            <a:off x="4773168" y="3566160"/>
            <a:ext cx="914400" cy="219456"/>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EXAMPLE</a:t>
            </a:r>
            <a:endParaRPr lang="en-US" sz="850" dirty="0"/>
          </a:p>
        </p:txBody>
      </p:sp>
      <p:sp>
        <p:nvSpPr>
          <p:cNvPr id="23" name="Text 20"/>
          <p:cNvSpPr txBox="1"/>
          <p:nvPr/>
        </p:nvSpPr>
        <p:spPr>
          <a:xfrm>
            <a:off x="4791456" y="3813048"/>
            <a:ext cx="3803904" cy="841248"/>
          </a:xfrm>
          <a:prstGeom prst="rect">
            <a:avLst/>
          </a:prstGeom>
          <a:noFill/>
          <a:ln/>
        </p:spPr>
        <p:txBody>
          <a:bodyPr wrap="square" lIns="0" tIns="0" rIns="0" bIns="0" rtlCol="0" anchor="t"/>
          <a:lstStyle/>
          <a:p>
            <a:pPr indent="0" marL="0">
              <a:spcAft>
                <a:spcPts val="100"/>
              </a:spcAft>
              <a:buNone/>
            </a:pPr>
            <a:r>
              <a:rPr lang="en-US" sz="900" b="1" dirty="0">
                <a:solidFill>
                  <a:srgbClr val="0B1F3A"/>
                </a:solidFill>
                <a:latin typeface="Calibri" pitchFamily="34" charset="0"/>
                <a:ea typeface="Calibri" pitchFamily="34" charset="-122"/>
                <a:cs typeface="Calibri" pitchFamily="34" charset="-120"/>
              </a:rPr>
              <a:t>INL is what limits distortion</a:t>
            </a:r>
            <a:endParaRPr lang="en-US" sz="900" dirty="0"/>
          </a:p>
          <a:p>
            <a:pPr marL="114300" indent="-114300">
              <a:spcAft>
                <a:spcPts val="100"/>
              </a:spcAft>
              <a:buSzPct val="100000"/>
              <a:buChar char="•"/>
            </a:pPr>
            <a:r>
              <a:rPr lang="en-US" sz="900" dirty="0">
                <a:solidFill>
                  <a:srgbClr val="14213D"/>
                </a:solidFill>
                <a:latin typeface="Cambria" pitchFamily="34" charset="0"/>
                <a:ea typeface="Cambria" pitchFamily="34" charset="-122"/>
                <a:cs typeface="Cambria" pitchFamily="34" charset="-120"/>
              </a:rPr>
              <a:t>±2 LSB INL on a 14-bit part</a:t>
            </a:r>
            <a:endParaRPr lang="en-US" sz="900" dirty="0"/>
          </a:p>
          <a:p>
            <a:pPr marL="114300" indent="-114300">
              <a:spcAft>
                <a:spcPts val="100"/>
              </a:spcAft>
              <a:buSzPct val="100000"/>
              <a:buChar char="•"/>
            </a:pPr>
            <a:r>
              <a:rPr lang="en-US" sz="900" dirty="0">
                <a:solidFill>
                  <a:srgbClr val="14213D"/>
                </a:solidFill>
                <a:latin typeface="Cambria" pitchFamily="34" charset="0"/>
                <a:ea typeface="Cambria" pitchFamily="34" charset="-122"/>
                <a:cs typeface="Cambria" pitchFamily="34" charset="-120"/>
              </a:rPr>
              <a:t>The bow acts like a soft nonlinearity, so it makes harmonics</a:t>
            </a:r>
            <a:endParaRPr lang="en-US" sz="900" dirty="0"/>
          </a:p>
          <a:p>
            <a:pPr marL="114300" indent="-114300">
              <a:spcAft>
                <a:spcPts val="100"/>
              </a:spcAft>
              <a:buSzPct val="100000"/>
              <a:buChar char="•"/>
            </a:pPr>
            <a:r>
              <a:rPr lang="en-US" sz="900" dirty="0">
                <a:solidFill>
                  <a:srgbClr val="14213D"/>
                </a:solidFill>
                <a:latin typeface="Cambria" pitchFamily="34" charset="0"/>
                <a:ea typeface="Cambria" pitchFamily="34" charset="-122"/>
                <a:cs typeface="Cambria" pitchFamily="34" charset="-120"/>
              </a:rPr>
              <a:t>Typically caps SFDR around 80 – 85 dB no matter how good the noise is</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5998464" cy="640080"/>
          </a:xfrm>
          <a:prstGeom prst="rect">
            <a:avLst/>
          </a:prstGeom>
          <a:noFill/>
          <a:ln/>
        </p:spPr>
        <p:txBody>
          <a:bodyPr wrap="square" lIns="0" tIns="0" rIns="0" bIns="0" rtlCol="0" anchor="ctr"/>
          <a:lstStyle/>
          <a:p>
            <a:pPr indent="0" marL="0">
              <a:buNone/>
            </a:pPr>
            <a:r>
              <a:rPr lang="en-US" sz="2800" b="1" dirty="0">
                <a:solidFill>
                  <a:srgbClr val="0B1F3A"/>
                </a:solidFill>
                <a:latin typeface="Cambria" pitchFamily="34" charset="0"/>
                <a:ea typeface="Cambria" pitchFamily="34" charset="-122"/>
                <a:cs typeface="Cambria" pitchFamily="34" charset="-120"/>
              </a:rPr>
              <a:t>Total unadjusted error</a:t>
            </a:r>
            <a:endParaRPr lang="en-US" sz="2800" dirty="0"/>
          </a:p>
        </p:txBody>
      </p:sp>
      <p:sp>
        <p:nvSpPr>
          <p:cNvPr id="3" name="Text 1"/>
          <p:cNvSpPr txBox="1"/>
          <p:nvPr/>
        </p:nvSpPr>
        <p:spPr>
          <a:xfrm>
            <a:off x="457200" y="4796028"/>
            <a:ext cx="4572000" cy="228600"/>
          </a:xfrm>
          <a:prstGeom prst="rect">
            <a:avLst/>
          </a:prstGeom>
          <a:noFill/>
          <a:ln/>
        </p:spPr>
        <p:txBody>
          <a:bodyPr wrap="square" lIns="0" tIns="0" rIns="0" bIns="0" rtlCol="0" anchor="ctr"/>
          <a:lstStyle/>
          <a:p>
            <a:pPr indent="0" marL="0">
              <a:buNone/>
            </a:pPr>
            <a:r>
              <a:rPr lang="en-US" sz="900" dirty="0">
                <a:solidFill>
                  <a:srgbClr val="5B6B7F"/>
                </a:solidFill>
                <a:latin typeface="Calibri" pitchFamily="34" charset="0"/>
                <a:ea typeface="Calibri" pitchFamily="34" charset="-122"/>
                <a:cs typeface="Calibri" pitchFamily="34" charset="-120"/>
              </a:rPr>
              <a:t>Part 2 · Static accuracy (DC)</a:t>
            </a:r>
            <a:endParaRPr lang="en-US" sz="900" dirty="0"/>
          </a:p>
        </p:txBody>
      </p:sp>
      <p:sp>
        <p:nvSpPr>
          <p:cNvPr id="4" name="Text 2"/>
          <p:cNvSpPr txBox="1"/>
          <p:nvPr/>
        </p:nvSpPr>
        <p:spPr>
          <a:xfrm>
            <a:off x="7772400" y="4796028"/>
            <a:ext cx="914400" cy="228600"/>
          </a:xfrm>
          <a:prstGeom prst="rect">
            <a:avLst/>
          </a:prstGeom>
          <a:noFill/>
          <a:ln/>
        </p:spPr>
        <p:txBody>
          <a:bodyPr wrap="square" lIns="0" tIns="0" rIns="0" bIns="0" rtlCol="0" anchor="ctr"/>
          <a:lstStyle/>
          <a:p>
            <a:pPr algn="r" indent="0" marL="0">
              <a:buNone/>
            </a:pPr>
            <a:r>
              <a:rPr lang="en-US" sz="900" dirty="0">
                <a:solidFill>
                  <a:srgbClr val="5B6B7F"/>
                </a:solidFill>
                <a:latin typeface="Calibri" pitchFamily="34" charset="0"/>
                <a:ea typeface="Calibri" pitchFamily="34" charset="-122"/>
                <a:cs typeface="Calibri" pitchFamily="34" charset="-120"/>
              </a:rPr>
              <a:t>18</a:t>
            </a:r>
            <a:endParaRPr lang="en-US" sz="900" dirty="0"/>
          </a:p>
        </p:txBody>
      </p:sp>
      <p:sp>
        <p:nvSpPr>
          <p:cNvPr id="5" name="Shape 3"/>
          <p:cNvSpPr/>
          <p:nvPr/>
        </p:nvSpPr>
        <p:spPr>
          <a:xfrm>
            <a:off x="6684264" y="384048"/>
            <a:ext cx="2002536" cy="384048"/>
          </a:xfrm>
          <a:prstGeom prst="roundRect">
            <a:avLst>
              <a:gd name="adj" fmla="val 19048"/>
            </a:avLst>
          </a:prstGeom>
          <a:solidFill>
            <a:srgbClr val="EEF3F8"/>
          </a:solidFill>
          <a:ln w="12700">
            <a:solidFill>
              <a:srgbClr val="EEF3F8"/>
            </a:solidFill>
            <a:prstDash val="solid"/>
          </a:ln>
        </p:spPr>
      </p:sp>
      <p:sp>
        <p:nvSpPr>
          <p:cNvPr id="6" name="Text 4"/>
          <p:cNvSpPr txBox="1"/>
          <p:nvPr/>
        </p:nvSpPr>
        <p:spPr>
          <a:xfrm>
            <a:off x="6684264" y="384048"/>
            <a:ext cx="2002536" cy="384048"/>
          </a:xfrm>
          <a:prstGeom prst="rect">
            <a:avLst/>
          </a:prstGeom>
          <a:noFill/>
          <a:ln/>
        </p:spPr>
        <p:txBody>
          <a:bodyPr wrap="square" lIns="0" tIns="0" rIns="0" bIns="0" rtlCol="0" anchor="ctr"/>
          <a:lstStyle/>
          <a:p>
            <a:pPr algn="ctr" indent="0" marL="0">
              <a:buNone/>
            </a:pPr>
            <a:r>
              <a:rPr lang="en-US" sz="1200" b="1" dirty="0">
                <a:solidFill>
                  <a:srgbClr val="0B1F3A"/>
                </a:solidFill>
                <a:latin typeface="Cambria" pitchFamily="34" charset="0"/>
                <a:ea typeface="Cambria" pitchFamily="34" charset="-122"/>
                <a:cs typeface="Cambria" pitchFamily="34" charset="-120"/>
              </a:rPr>
              <a:t>TUE   ·   LSB</a:t>
            </a:r>
            <a:endParaRPr lang="en-US" sz="1200" dirty="0"/>
          </a:p>
        </p:txBody>
      </p:sp>
      <p:sp>
        <p:nvSpPr>
          <p:cNvPr id="7" name="Text 5"/>
          <p:cNvSpPr txBox="1"/>
          <p:nvPr/>
        </p:nvSpPr>
        <p:spPr>
          <a:xfrm>
            <a:off x="457200" y="1042416"/>
            <a:ext cx="4023360" cy="1005840"/>
          </a:xfrm>
          <a:prstGeom prst="rect">
            <a:avLst/>
          </a:prstGeom>
          <a:noFill/>
          <a:ln/>
        </p:spPr>
        <p:txBody>
          <a:bodyPr wrap="square" lIns="0" tIns="0" rIns="0" bIns="0" rtlCol="0" anchor="t"/>
          <a:lstStyle/>
          <a:p>
            <a:pPr indent="0" marL="0">
              <a:buNone/>
            </a:pPr>
            <a:r>
              <a:rPr lang="en-US" sz="1150" dirty="0">
                <a:solidFill>
                  <a:srgbClr val="14213D"/>
                </a:solidFill>
                <a:latin typeface="Calibri" pitchFamily="34" charset="0"/>
                <a:ea typeface="Calibri" pitchFamily="34" charset="-122"/>
                <a:cs typeface="Calibri" pitchFamily="34" charset="-120"/>
              </a:rPr>
              <a:t>The single worst-case number: every static error added together, with no calibration applied. It answers the only question that matters for an uncalibrated system — how far out can one reading possibly be?</a:t>
            </a:r>
            <a:endParaRPr lang="en-US" sz="1150" dirty="0"/>
          </a:p>
        </p:txBody>
      </p:sp>
      <p:sp>
        <p:nvSpPr>
          <p:cNvPr id="8" name="Shape 6"/>
          <p:cNvSpPr/>
          <p:nvPr/>
        </p:nvSpPr>
        <p:spPr>
          <a:xfrm>
            <a:off x="457200" y="2103120"/>
            <a:ext cx="4023360" cy="685800"/>
          </a:xfrm>
          <a:prstGeom prst="roundRect">
            <a:avLst>
              <a:gd name="adj" fmla="val 10667"/>
            </a:avLst>
          </a:prstGeom>
          <a:solidFill>
            <a:srgbClr val="EEF3F8"/>
          </a:solidFill>
          <a:ln w="12700">
            <a:solidFill>
              <a:srgbClr val="EEF3F8"/>
            </a:solidFill>
            <a:prstDash val="solid"/>
          </a:ln>
        </p:spPr>
      </p:sp>
      <p:sp>
        <p:nvSpPr>
          <p:cNvPr id="9" name="Text 7"/>
          <p:cNvSpPr txBox="1"/>
          <p:nvPr/>
        </p:nvSpPr>
        <p:spPr>
          <a:xfrm>
            <a:off x="594360" y="2103120"/>
            <a:ext cx="3749040" cy="429768"/>
          </a:xfrm>
          <a:prstGeom prst="rect">
            <a:avLst/>
          </a:prstGeom>
          <a:noFill/>
          <a:ln/>
        </p:spPr>
        <p:txBody>
          <a:bodyPr wrap="square" lIns="0" tIns="0" rIns="0" bIns="0" rtlCol="0" anchor="ctr"/>
          <a:lstStyle/>
          <a:p>
            <a:pPr algn="ctr" indent="0" marL="0">
              <a:buNone/>
            </a:pPr>
            <a:r>
              <a:rPr lang="en-US" sz="1500" dirty="0">
                <a:solidFill>
                  <a:srgbClr val="0B1F3A"/>
                </a:solidFill>
                <a:latin typeface="Cambria" pitchFamily="34" charset="0"/>
                <a:ea typeface="Cambria" pitchFamily="34" charset="-122"/>
                <a:cs typeface="Cambria" pitchFamily="34" charset="-120"/>
              </a:rPr>
              <a:t>TUE ≈ √( E_O² + E_G² + INL² + … )</a:t>
            </a:r>
            <a:endParaRPr lang="en-US" sz="1500" dirty="0"/>
          </a:p>
        </p:txBody>
      </p:sp>
      <p:sp>
        <p:nvSpPr>
          <p:cNvPr id="10" name="Text 8"/>
          <p:cNvSpPr txBox="1"/>
          <p:nvPr/>
        </p:nvSpPr>
        <p:spPr>
          <a:xfrm>
            <a:off x="594360" y="2487168"/>
            <a:ext cx="3749040" cy="256032"/>
          </a:xfrm>
          <a:prstGeom prst="rect">
            <a:avLst/>
          </a:prstGeom>
          <a:noFill/>
          <a:ln/>
        </p:spPr>
        <p:txBody>
          <a:bodyPr wrap="square" lIns="0" tIns="0" rIns="0" bIns="0" rtlCol="0" anchor="t"/>
          <a:lstStyle/>
          <a:p>
            <a:pPr algn="ctr" indent="0" marL="0">
              <a:buNone/>
            </a:pPr>
            <a:r>
              <a:rPr lang="en-US" sz="1000" dirty="0">
                <a:solidFill>
                  <a:srgbClr val="5B6B7F"/>
                </a:solidFill>
                <a:latin typeface="Calibri" pitchFamily="34" charset="0"/>
                <a:ea typeface="Calibri" pitchFamily="34" charset="-122"/>
                <a:cs typeface="Calibri" pitchFamily="34" charset="-120"/>
              </a:rPr>
              <a:t>Root-sum-square, if the errors are independent</a:t>
            </a:r>
            <a:endParaRPr lang="en-US" sz="1000" dirty="0"/>
          </a:p>
        </p:txBody>
      </p:sp>
      <p:sp>
        <p:nvSpPr>
          <p:cNvPr id="11" name="Shape 9"/>
          <p:cNvSpPr/>
          <p:nvPr/>
        </p:nvSpPr>
        <p:spPr>
          <a:xfrm>
            <a:off x="457200" y="2862072"/>
            <a:ext cx="4023360" cy="685800"/>
          </a:xfrm>
          <a:prstGeom prst="roundRect">
            <a:avLst>
              <a:gd name="adj" fmla="val 10667"/>
            </a:avLst>
          </a:prstGeom>
          <a:solidFill>
            <a:srgbClr val="EEF3F8"/>
          </a:solidFill>
          <a:ln w="12700">
            <a:solidFill>
              <a:srgbClr val="EEF3F8"/>
            </a:solidFill>
            <a:prstDash val="solid"/>
          </a:ln>
        </p:spPr>
      </p:sp>
      <p:sp>
        <p:nvSpPr>
          <p:cNvPr id="12" name="Text 10"/>
          <p:cNvSpPr txBox="1"/>
          <p:nvPr/>
        </p:nvSpPr>
        <p:spPr>
          <a:xfrm>
            <a:off x="594360" y="2862072"/>
            <a:ext cx="3749040" cy="429768"/>
          </a:xfrm>
          <a:prstGeom prst="rect">
            <a:avLst/>
          </a:prstGeom>
          <a:noFill/>
          <a:ln/>
        </p:spPr>
        <p:txBody>
          <a:bodyPr wrap="square" lIns="0" tIns="0" rIns="0" bIns="0" rtlCol="0" anchor="ctr"/>
          <a:lstStyle/>
          <a:p>
            <a:pPr algn="ctr" indent="0" marL="0">
              <a:buNone/>
            </a:pPr>
            <a:r>
              <a:rPr lang="en-US" sz="1400" dirty="0">
                <a:solidFill>
                  <a:srgbClr val="0B1F3A"/>
                </a:solidFill>
                <a:latin typeface="Cambria" pitchFamily="34" charset="0"/>
                <a:ea typeface="Cambria" pitchFamily="34" charset="-122"/>
                <a:cs typeface="Cambria" pitchFamily="34" charset="-120"/>
              </a:rPr>
              <a:t>TUE_worst = |E_O| + |E_G| + |INL| + ½</a:t>
            </a:r>
            <a:endParaRPr lang="en-US" sz="1400" dirty="0"/>
          </a:p>
        </p:txBody>
      </p:sp>
      <p:sp>
        <p:nvSpPr>
          <p:cNvPr id="13" name="Text 11"/>
          <p:cNvSpPr txBox="1"/>
          <p:nvPr/>
        </p:nvSpPr>
        <p:spPr>
          <a:xfrm>
            <a:off x="594360" y="3246120"/>
            <a:ext cx="3749040" cy="256032"/>
          </a:xfrm>
          <a:prstGeom prst="rect">
            <a:avLst/>
          </a:prstGeom>
          <a:noFill/>
          <a:ln/>
        </p:spPr>
        <p:txBody>
          <a:bodyPr wrap="square" lIns="0" tIns="0" rIns="0" bIns="0" rtlCol="0" anchor="t"/>
          <a:lstStyle/>
          <a:p>
            <a:pPr algn="ctr" indent="0" marL="0">
              <a:buNone/>
            </a:pPr>
            <a:r>
              <a:rPr lang="en-US" sz="1000" dirty="0">
                <a:solidFill>
                  <a:srgbClr val="5B6B7F"/>
                </a:solidFill>
                <a:latin typeface="Calibri" pitchFamily="34" charset="0"/>
                <a:ea typeface="Calibri" pitchFamily="34" charset="-122"/>
                <a:cs typeface="Calibri" pitchFamily="34" charset="-120"/>
              </a:rPr>
              <a:t>Straight sum: the pessimistic bound some datasheets quote</a:t>
            </a:r>
            <a:endParaRPr lang="en-US" sz="1000" dirty="0"/>
          </a:p>
        </p:txBody>
      </p:sp>
      <p:graphicFrame>
        <p:nvGraphicFramePr>
          <p:cNvPr id="14" name="Chart 0" descr=""/>
          <p:cNvGraphicFramePr/>
          <p:nvPr/>
        </p:nvGraphicFramePr>
        <p:xfrm>
          <a:off x="4663440" y="1042416"/>
          <a:ext cx="4023360" cy="2084832"/>
        </p:xfrm>
        <a:graphic xmlns:a="http://schemas.openxmlformats.org/drawingml/2006/main">
          <a:graphicData uri="http://schemas.openxmlformats.org/drawingml/2006/chart">
            <c:chart xmlns:c="http://schemas.openxmlformats.org/drawingml/2006/chart" r:id="rId1"/>
          </a:graphicData>
        </a:graphic>
      </p:graphicFrame>
      <p:sp>
        <p:nvSpPr>
          <p:cNvPr id="15" name="Text 12"/>
          <p:cNvSpPr txBox="1"/>
          <p:nvPr/>
        </p:nvSpPr>
        <p:spPr>
          <a:xfrm>
            <a:off x="4663440" y="3200400"/>
            <a:ext cx="4023360" cy="347472"/>
          </a:xfrm>
          <a:prstGeom prst="rect">
            <a:avLst/>
          </a:prstGeom>
          <a:noFill/>
          <a:ln/>
        </p:spPr>
        <p:txBody>
          <a:bodyPr wrap="square" lIns="0" tIns="0" rIns="0" bIns="0" rtlCol="0" anchor="ctr"/>
          <a:lstStyle/>
          <a:p>
            <a:pPr algn="ctr" indent="0" marL="0">
              <a:buNone/>
            </a:pPr>
            <a:r>
              <a:rPr lang="en-US" sz="1000" i="1" dirty="0">
                <a:solidFill>
                  <a:srgbClr val="5B6B7F"/>
                </a:solidFill>
                <a:latin typeface="Calibri" pitchFamily="34" charset="0"/>
                <a:ea typeface="Calibri" pitchFamily="34" charset="-122"/>
                <a:cs typeface="Calibri" pitchFamily="34" charset="-120"/>
              </a:rPr>
              <a:t>If you never calibrate, TUE is the only accuracy number that means anything. If you do calibrate, offset and gain drop out and INL plus drift dominate.</a:t>
            </a:r>
            <a:endParaRPr lang="en-US" sz="1000" dirty="0"/>
          </a:p>
        </p:txBody>
      </p:sp>
      <p:sp>
        <p:nvSpPr>
          <p:cNvPr id="16" name="Shape 13"/>
          <p:cNvSpPr/>
          <p:nvPr/>
        </p:nvSpPr>
        <p:spPr>
          <a:xfrm>
            <a:off x="457200" y="3675888"/>
            <a:ext cx="4023360" cy="1024128"/>
          </a:xfrm>
          <a:prstGeom prst="roundRect">
            <a:avLst>
              <a:gd name="adj" fmla="val 7143"/>
            </a:avLst>
          </a:prstGeom>
          <a:solidFill>
            <a:srgbClr val="E4F7F4"/>
          </a:solidFill>
          <a:ln w="12700">
            <a:solidFill>
              <a:srgbClr val="E4F7F4"/>
            </a:solidFill>
            <a:prstDash val="solid"/>
          </a:ln>
        </p:spPr>
      </p:sp>
      <p:sp>
        <p:nvSpPr>
          <p:cNvPr id="17" name="Shape 14"/>
          <p:cNvSpPr/>
          <p:nvPr/>
        </p:nvSpPr>
        <p:spPr>
          <a:xfrm>
            <a:off x="566928" y="3776472"/>
            <a:ext cx="237744" cy="237744"/>
          </a:xfrm>
          <a:prstGeom prst="ellipse">
            <a:avLst/>
          </a:prstGeom>
          <a:solidFill>
            <a:srgbClr val="2EC4B6"/>
          </a:solidFill>
          <a:ln w="12700">
            <a:solidFill>
              <a:srgbClr val="2EC4B6"/>
            </a:solidFill>
            <a:prstDash val="solid"/>
          </a:ln>
        </p:spPr>
      </p:sp>
      <p:sp>
        <p:nvSpPr>
          <p:cNvPr id="18" name="Text 15"/>
          <p:cNvSpPr txBox="1"/>
          <p:nvPr/>
        </p:nvSpPr>
        <p:spPr>
          <a:xfrm>
            <a:off x="566928" y="3776472"/>
            <a:ext cx="237744" cy="237744"/>
          </a:xfrm>
          <a:prstGeom prst="rect">
            <a:avLst/>
          </a:prstGeom>
          <a:noFill/>
          <a:ln/>
        </p:spPr>
        <p:txBody>
          <a:bodyPr wrap="square" lIns="0" tIns="0" rIns="0" bIns="0" rtlCol="0" anchor="ctr"/>
          <a:lstStyle/>
          <a:p>
            <a:pPr algn="ctr" indent="0" marL="0">
              <a:buNone/>
            </a:pPr>
            <a:r>
              <a:rPr lang="en-US" sz="1200" b="1" dirty="0">
                <a:solidFill>
                  <a:srgbClr val="0B1F3A"/>
                </a:solidFill>
                <a:latin typeface="Calibri" pitchFamily="34" charset="0"/>
                <a:ea typeface="Calibri" pitchFamily="34" charset="-122"/>
                <a:cs typeface="Calibri" pitchFamily="34" charset="-120"/>
              </a:rPr>
              <a:t>≈</a:t>
            </a:r>
            <a:endParaRPr lang="en-US" sz="1200" dirty="0"/>
          </a:p>
        </p:txBody>
      </p:sp>
      <p:sp>
        <p:nvSpPr>
          <p:cNvPr id="19" name="Text 16"/>
          <p:cNvSpPr txBox="1"/>
          <p:nvPr/>
        </p:nvSpPr>
        <p:spPr>
          <a:xfrm>
            <a:off x="877824" y="3739896"/>
            <a:ext cx="3493008" cy="896112"/>
          </a:xfrm>
          <a:prstGeom prst="rect">
            <a:avLst/>
          </a:prstGeom>
          <a:noFill/>
          <a:ln/>
        </p:spPr>
        <p:txBody>
          <a:bodyPr wrap="square" lIns="0" tIns="0" rIns="0" bIns="0" rtlCol="0" anchor="t"/>
          <a:lstStyle/>
          <a:p>
            <a:pPr indent="0" marL="0">
              <a:buNone/>
            </a:pPr>
            <a:r>
              <a:rPr lang="en-US" sz="1050" b="1" dirty="0">
                <a:solidFill>
                  <a:srgbClr val="0B1F3A"/>
                </a:solidFill>
                <a:latin typeface="Calibri" pitchFamily="34" charset="0"/>
                <a:ea typeface="Calibri" pitchFamily="34" charset="-122"/>
                <a:cs typeface="Calibri" pitchFamily="34" charset="-120"/>
              </a:rPr>
              <a:t>Think of it like this  </a:t>
            </a:r>
            <a:pPr indent="0" marL="0">
              <a:buNone/>
            </a:pPr>
            <a:r>
              <a:rPr lang="en-US" sz="1050" dirty="0">
                <a:solidFill>
                  <a:srgbClr val="14213D"/>
                </a:solidFill>
                <a:latin typeface="Calibri" pitchFamily="34" charset="0"/>
                <a:ea typeface="Calibri" pitchFamily="34" charset="-122"/>
                <a:cs typeface="Calibri" pitchFamily="34" charset="-120"/>
              </a:rPr>
              <a:t>Every source of measurement error in one number, the way a shipping estimate quotes the worst case rather than the average.</a:t>
            </a:r>
            <a:endParaRPr lang="en-US" sz="1050" dirty="0"/>
          </a:p>
        </p:txBody>
      </p:sp>
      <p:sp>
        <p:nvSpPr>
          <p:cNvPr id="20" name="Shape 17"/>
          <p:cNvSpPr/>
          <p:nvPr/>
        </p:nvSpPr>
        <p:spPr>
          <a:xfrm>
            <a:off x="4663440" y="3675888"/>
            <a:ext cx="4023360" cy="1024128"/>
          </a:xfrm>
          <a:prstGeom prst="roundRect">
            <a:avLst>
              <a:gd name="adj" fmla="val 7143"/>
            </a:avLst>
          </a:prstGeom>
          <a:solidFill>
            <a:srgbClr val="FFFFFF"/>
          </a:solidFill>
          <a:ln w="12700">
            <a:solidFill>
              <a:srgbClr val="0B1F3A"/>
            </a:solidFill>
            <a:prstDash val="solid"/>
          </a:ln>
        </p:spPr>
      </p:sp>
      <p:sp>
        <p:nvSpPr>
          <p:cNvPr id="21" name="Shape 18"/>
          <p:cNvSpPr/>
          <p:nvPr/>
        </p:nvSpPr>
        <p:spPr>
          <a:xfrm>
            <a:off x="4773168" y="3566160"/>
            <a:ext cx="914400" cy="219456"/>
          </a:xfrm>
          <a:prstGeom prst="roundRect">
            <a:avLst>
              <a:gd name="adj" fmla="val 25000"/>
            </a:avLst>
          </a:prstGeom>
          <a:solidFill>
            <a:srgbClr val="0B1F3A"/>
          </a:solidFill>
          <a:ln w="12700">
            <a:solidFill>
              <a:srgbClr val="0B1F3A"/>
            </a:solidFill>
            <a:prstDash val="solid"/>
          </a:ln>
        </p:spPr>
      </p:sp>
      <p:sp>
        <p:nvSpPr>
          <p:cNvPr id="22" name="Text 19"/>
          <p:cNvSpPr txBox="1"/>
          <p:nvPr/>
        </p:nvSpPr>
        <p:spPr>
          <a:xfrm>
            <a:off x="4773168" y="3566160"/>
            <a:ext cx="914400" cy="219456"/>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EXAMPLE</a:t>
            </a:r>
            <a:endParaRPr lang="en-US" sz="850" dirty="0"/>
          </a:p>
        </p:txBody>
      </p:sp>
      <p:sp>
        <p:nvSpPr>
          <p:cNvPr id="23" name="Text 20"/>
          <p:cNvSpPr txBox="1"/>
          <p:nvPr/>
        </p:nvSpPr>
        <p:spPr>
          <a:xfrm>
            <a:off x="4791456" y="3813048"/>
            <a:ext cx="3803904" cy="841248"/>
          </a:xfrm>
          <a:prstGeom prst="rect">
            <a:avLst/>
          </a:prstGeom>
          <a:noFill/>
          <a:ln/>
        </p:spPr>
        <p:txBody>
          <a:bodyPr wrap="square" lIns="0" tIns="0" rIns="0" bIns="0" rtlCol="0" anchor="t"/>
          <a:lstStyle/>
          <a:p>
            <a:pPr indent="0" marL="0">
              <a:spcAft>
                <a:spcPts val="100"/>
              </a:spcAft>
              <a:buNone/>
            </a:pPr>
            <a:r>
              <a:rPr lang="en-US" sz="900" b="1" dirty="0">
                <a:solidFill>
                  <a:srgbClr val="0B1F3A"/>
                </a:solidFill>
                <a:latin typeface="Calibri" pitchFamily="34" charset="0"/>
                <a:ea typeface="Calibri" pitchFamily="34" charset="-122"/>
                <a:cs typeface="Calibri" pitchFamily="34" charset="-120"/>
              </a:rPr>
              <a:t>12-bit part, no calibration</a:t>
            </a:r>
            <a:endParaRPr lang="en-US" sz="900" dirty="0"/>
          </a:p>
          <a:p>
            <a:pPr marL="114300" indent="-114300">
              <a:spcAft>
                <a:spcPts val="100"/>
              </a:spcAft>
              <a:buSzPct val="100000"/>
              <a:buChar char="•"/>
            </a:pPr>
            <a:r>
              <a:rPr lang="en-US" sz="900" dirty="0">
                <a:solidFill>
                  <a:srgbClr val="14213D"/>
                </a:solidFill>
                <a:latin typeface="Cambria" pitchFamily="34" charset="0"/>
                <a:ea typeface="Cambria" pitchFamily="34" charset="-122"/>
                <a:cs typeface="Cambria" pitchFamily="34" charset="-120"/>
              </a:rPr>
              <a:t>Offset 2 LSB, gain 3 LSB, INL 1.5 LSB, quantisation 0.5 LSB</a:t>
            </a:r>
            <a:endParaRPr lang="en-US" sz="900" dirty="0"/>
          </a:p>
          <a:p>
            <a:pPr marL="114300" indent="-114300">
              <a:spcAft>
                <a:spcPts val="100"/>
              </a:spcAft>
              <a:buSzPct val="100000"/>
              <a:buChar char="•"/>
            </a:pPr>
            <a:r>
              <a:rPr lang="en-US" sz="900" dirty="0">
                <a:solidFill>
                  <a:srgbClr val="14213D"/>
                </a:solidFill>
                <a:latin typeface="Cambria" pitchFamily="34" charset="0"/>
                <a:ea typeface="Cambria" pitchFamily="34" charset="-122"/>
                <a:cs typeface="Cambria" pitchFamily="34" charset="-120"/>
              </a:rPr>
              <a:t>Root-sum-square: √(4 + 9 + 2.25 + 0.25) = 3.9 LSB</a:t>
            </a:r>
            <a:endParaRPr lang="en-US" sz="900" dirty="0"/>
          </a:p>
          <a:p>
            <a:pPr marL="114300" indent="-114300">
              <a:spcAft>
                <a:spcPts val="100"/>
              </a:spcAft>
              <a:buSzPct val="100000"/>
              <a:buChar char="•"/>
            </a:pPr>
            <a:r>
              <a:rPr lang="en-US" sz="900" dirty="0">
                <a:solidFill>
                  <a:srgbClr val="14213D"/>
                </a:solidFill>
                <a:latin typeface="Cambria" pitchFamily="34" charset="0"/>
                <a:ea typeface="Cambria" pitchFamily="34" charset="-122"/>
                <a:cs typeface="Cambria" pitchFamily="34" charset="-120"/>
              </a:rPr>
              <a:t>Worst case sum: 7 LSB — so trust about 9 of your 12 bits</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4709160" cy="640080"/>
          </a:xfrm>
          <a:prstGeom prst="rect">
            <a:avLst/>
          </a:prstGeom>
          <a:noFill/>
          <a:ln/>
        </p:spPr>
        <p:txBody>
          <a:bodyPr wrap="square" lIns="0" tIns="0" rIns="0" bIns="0" rtlCol="0" anchor="ctr"/>
          <a:lstStyle/>
          <a:p>
            <a:pPr indent="0" marL="0">
              <a:buNone/>
            </a:pPr>
            <a:r>
              <a:rPr lang="en-US" sz="2800" b="1" dirty="0">
                <a:solidFill>
                  <a:srgbClr val="0B1F3A"/>
                </a:solidFill>
                <a:latin typeface="Cambria" pitchFamily="34" charset="0"/>
                <a:ea typeface="Cambria" pitchFamily="34" charset="-122"/>
                <a:cs typeface="Cambria" pitchFamily="34" charset="-120"/>
              </a:rPr>
              <a:t>Temperature drift</a:t>
            </a:r>
            <a:endParaRPr lang="en-US" sz="2800" dirty="0"/>
          </a:p>
        </p:txBody>
      </p:sp>
      <p:sp>
        <p:nvSpPr>
          <p:cNvPr id="3" name="Text 1"/>
          <p:cNvSpPr txBox="1"/>
          <p:nvPr/>
        </p:nvSpPr>
        <p:spPr>
          <a:xfrm>
            <a:off x="457200" y="4796028"/>
            <a:ext cx="4572000" cy="228600"/>
          </a:xfrm>
          <a:prstGeom prst="rect">
            <a:avLst/>
          </a:prstGeom>
          <a:noFill/>
          <a:ln/>
        </p:spPr>
        <p:txBody>
          <a:bodyPr wrap="square" lIns="0" tIns="0" rIns="0" bIns="0" rtlCol="0" anchor="ctr"/>
          <a:lstStyle/>
          <a:p>
            <a:pPr indent="0" marL="0">
              <a:buNone/>
            </a:pPr>
            <a:r>
              <a:rPr lang="en-US" sz="900" dirty="0">
                <a:solidFill>
                  <a:srgbClr val="5B6B7F"/>
                </a:solidFill>
                <a:latin typeface="Calibri" pitchFamily="34" charset="0"/>
                <a:ea typeface="Calibri" pitchFamily="34" charset="-122"/>
                <a:cs typeface="Calibri" pitchFamily="34" charset="-120"/>
              </a:rPr>
              <a:t>Part 2 · Static accuracy (DC)</a:t>
            </a:r>
            <a:endParaRPr lang="en-US" sz="900" dirty="0"/>
          </a:p>
        </p:txBody>
      </p:sp>
      <p:sp>
        <p:nvSpPr>
          <p:cNvPr id="4" name="Text 2"/>
          <p:cNvSpPr txBox="1"/>
          <p:nvPr/>
        </p:nvSpPr>
        <p:spPr>
          <a:xfrm>
            <a:off x="7772400" y="4796028"/>
            <a:ext cx="914400" cy="228600"/>
          </a:xfrm>
          <a:prstGeom prst="rect">
            <a:avLst/>
          </a:prstGeom>
          <a:noFill/>
          <a:ln/>
        </p:spPr>
        <p:txBody>
          <a:bodyPr wrap="square" lIns="0" tIns="0" rIns="0" bIns="0" rtlCol="0" anchor="ctr"/>
          <a:lstStyle/>
          <a:p>
            <a:pPr algn="r" indent="0" marL="0">
              <a:buNone/>
            </a:pPr>
            <a:r>
              <a:rPr lang="en-US" sz="900" dirty="0">
                <a:solidFill>
                  <a:srgbClr val="5B6B7F"/>
                </a:solidFill>
                <a:latin typeface="Calibri" pitchFamily="34" charset="0"/>
                <a:ea typeface="Calibri" pitchFamily="34" charset="-122"/>
                <a:cs typeface="Calibri" pitchFamily="34" charset="-120"/>
              </a:rPr>
              <a:t>19</a:t>
            </a:r>
            <a:endParaRPr lang="en-US" sz="900" dirty="0"/>
          </a:p>
        </p:txBody>
      </p:sp>
      <p:sp>
        <p:nvSpPr>
          <p:cNvPr id="5" name="Shape 3"/>
          <p:cNvSpPr/>
          <p:nvPr/>
        </p:nvSpPr>
        <p:spPr>
          <a:xfrm>
            <a:off x="5394960" y="384048"/>
            <a:ext cx="3291840" cy="384048"/>
          </a:xfrm>
          <a:prstGeom prst="roundRect">
            <a:avLst>
              <a:gd name="adj" fmla="val 19048"/>
            </a:avLst>
          </a:prstGeom>
          <a:solidFill>
            <a:srgbClr val="EEF3F8"/>
          </a:solidFill>
          <a:ln w="12700">
            <a:solidFill>
              <a:srgbClr val="EEF3F8"/>
            </a:solidFill>
            <a:prstDash val="solid"/>
          </a:ln>
        </p:spPr>
      </p:sp>
      <p:sp>
        <p:nvSpPr>
          <p:cNvPr id="6" name="Text 4"/>
          <p:cNvSpPr txBox="1"/>
          <p:nvPr/>
        </p:nvSpPr>
        <p:spPr>
          <a:xfrm>
            <a:off x="5394960" y="384048"/>
            <a:ext cx="3291840" cy="384048"/>
          </a:xfrm>
          <a:prstGeom prst="rect">
            <a:avLst/>
          </a:prstGeom>
          <a:noFill/>
          <a:ln/>
        </p:spPr>
        <p:txBody>
          <a:bodyPr wrap="square" lIns="0" tIns="0" rIns="0" bIns="0" rtlCol="0" anchor="ctr"/>
          <a:lstStyle/>
          <a:p>
            <a:pPr algn="ctr" indent="0" marL="0">
              <a:buNone/>
            </a:pPr>
            <a:r>
              <a:rPr lang="en-US" sz="1200" b="1" dirty="0">
                <a:solidFill>
                  <a:srgbClr val="0B1F3A"/>
                </a:solidFill>
                <a:latin typeface="Cambria" pitchFamily="34" charset="0"/>
                <a:ea typeface="Cambria" pitchFamily="34" charset="-122"/>
                <a:cs typeface="Cambria" pitchFamily="34" charset="-120"/>
              </a:rPr>
              <a:t>ppm/°C   ·   ppm/°C or LSB/°C</a:t>
            </a:r>
            <a:endParaRPr lang="en-US" sz="1200" dirty="0"/>
          </a:p>
        </p:txBody>
      </p:sp>
      <p:sp>
        <p:nvSpPr>
          <p:cNvPr id="7" name="Text 5"/>
          <p:cNvSpPr txBox="1"/>
          <p:nvPr/>
        </p:nvSpPr>
        <p:spPr>
          <a:xfrm>
            <a:off x="457200" y="1042416"/>
            <a:ext cx="4023360" cy="1005840"/>
          </a:xfrm>
          <a:prstGeom prst="rect">
            <a:avLst/>
          </a:prstGeom>
          <a:noFill/>
          <a:ln/>
        </p:spPr>
        <p:txBody>
          <a:bodyPr wrap="square" lIns="0" tIns="0" rIns="0" bIns="0" rtlCol="0" anchor="t"/>
          <a:lstStyle/>
          <a:p>
            <a:pPr indent="0" marL="0">
              <a:buNone/>
            </a:pPr>
            <a:r>
              <a:rPr lang="en-US" sz="1150" dirty="0">
                <a:solidFill>
                  <a:srgbClr val="14213D"/>
                </a:solidFill>
                <a:latin typeface="Calibri" pitchFamily="34" charset="0"/>
                <a:ea typeface="Calibri" pitchFamily="34" charset="-122"/>
                <a:cs typeface="Calibri" pitchFamily="34" charset="-120"/>
              </a:rPr>
              <a:t>Offset and gain both move with temperature. Calibration at 25 °C on the bench does nothing for a board that runs at 70 °C in a cabinet, so drift is the error that survives calibration.</a:t>
            </a:r>
            <a:endParaRPr lang="en-US" sz="1150" dirty="0"/>
          </a:p>
        </p:txBody>
      </p:sp>
      <p:sp>
        <p:nvSpPr>
          <p:cNvPr id="8" name="Shape 6"/>
          <p:cNvSpPr/>
          <p:nvPr/>
        </p:nvSpPr>
        <p:spPr>
          <a:xfrm>
            <a:off x="457200" y="2103120"/>
            <a:ext cx="4023360" cy="868680"/>
          </a:xfrm>
          <a:prstGeom prst="roundRect">
            <a:avLst>
              <a:gd name="adj" fmla="val 8421"/>
            </a:avLst>
          </a:prstGeom>
          <a:solidFill>
            <a:srgbClr val="EEF3F8"/>
          </a:solidFill>
          <a:ln w="12700">
            <a:solidFill>
              <a:srgbClr val="EEF3F8"/>
            </a:solidFill>
            <a:prstDash val="solid"/>
          </a:ln>
        </p:spPr>
      </p:sp>
      <p:sp>
        <p:nvSpPr>
          <p:cNvPr id="9" name="Text 7"/>
          <p:cNvSpPr txBox="1"/>
          <p:nvPr/>
        </p:nvSpPr>
        <p:spPr>
          <a:xfrm>
            <a:off x="594360" y="2103120"/>
            <a:ext cx="3749040" cy="612648"/>
          </a:xfrm>
          <a:prstGeom prst="rect">
            <a:avLst/>
          </a:prstGeom>
          <a:noFill/>
          <a:ln/>
        </p:spPr>
        <p:txBody>
          <a:bodyPr wrap="square" lIns="0" tIns="0" rIns="0" bIns="0" rtlCol="0" anchor="ctr"/>
          <a:lstStyle/>
          <a:p>
            <a:pPr algn="ctr" indent="0" marL="0">
              <a:buNone/>
            </a:pPr>
            <a:r>
              <a:rPr lang="en-US" sz="1200" dirty="0">
                <a:solidFill>
                  <a:srgbClr val="0B1F3A"/>
                </a:solidFill>
                <a:latin typeface="Cambria" pitchFamily="34" charset="0"/>
                <a:ea typeface="Cambria" pitchFamily="34" charset="-122"/>
                <a:cs typeface="Cambria" pitchFamily="34" charset="-120"/>
              </a:rPr>
              <a:t>error(T) = error(25 °C) + drift × (T − 25)</a:t>
            </a:r>
            <a:endParaRPr lang="en-US" sz="1200" dirty="0"/>
          </a:p>
        </p:txBody>
      </p:sp>
      <p:sp>
        <p:nvSpPr>
          <p:cNvPr id="10" name="Text 8"/>
          <p:cNvSpPr txBox="1"/>
          <p:nvPr/>
        </p:nvSpPr>
        <p:spPr>
          <a:xfrm>
            <a:off x="594360" y="2670048"/>
            <a:ext cx="3749040" cy="256032"/>
          </a:xfrm>
          <a:prstGeom prst="rect">
            <a:avLst/>
          </a:prstGeom>
          <a:noFill/>
          <a:ln/>
        </p:spPr>
        <p:txBody>
          <a:bodyPr wrap="square" lIns="0" tIns="0" rIns="0" bIns="0" rtlCol="0" anchor="t"/>
          <a:lstStyle/>
          <a:p>
            <a:pPr algn="ctr" indent="0" marL="0">
              <a:buNone/>
            </a:pPr>
            <a:r>
              <a:rPr lang="en-US" sz="1000" dirty="0">
                <a:solidFill>
                  <a:srgbClr val="5B6B7F"/>
                </a:solidFill>
                <a:latin typeface="Calibri" pitchFamily="34" charset="0"/>
                <a:ea typeface="Calibri" pitchFamily="34" charset="-122"/>
                <a:cs typeface="Calibri" pitchFamily="34" charset="-120"/>
              </a:rPr>
              <a:t>1 ppm of full scale = 0.065 LSB at 16 bits</a:t>
            </a:r>
            <a:endParaRPr lang="en-US" sz="1000" dirty="0"/>
          </a:p>
        </p:txBody>
      </p:sp>
      <p:graphicFrame>
        <p:nvGraphicFramePr>
          <p:cNvPr id="11" name="Chart 0" descr=""/>
          <p:cNvGraphicFramePr/>
          <p:nvPr/>
        </p:nvGraphicFramePr>
        <p:xfrm>
          <a:off x="4663440" y="1042416"/>
          <a:ext cx="4023360" cy="2084832"/>
        </p:xfrm>
        <a:graphic xmlns:a="http://schemas.openxmlformats.org/drawingml/2006/main">
          <a:graphicData uri="http://schemas.openxmlformats.org/drawingml/2006/chart">
            <c:chart xmlns:c="http://schemas.openxmlformats.org/drawingml/2006/chart" r:id="rId1"/>
          </a:graphicData>
        </a:graphic>
      </p:graphicFrame>
      <p:sp>
        <p:nvSpPr>
          <p:cNvPr id="12" name="Text 9"/>
          <p:cNvSpPr txBox="1"/>
          <p:nvPr/>
        </p:nvSpPr>
        <p:spPr>
          <a:xfrm>
            <a:off x="4663440" y="3200400"/>
            <a:ext cx="4023360" cy="347472"/>
          </a:xfrm>
          <a:prstGeom prst="rect">
            <a:avLst/>
          </a:prstGeom>
          <a:noFill/>
          <a:ln/>
        </p:spPr>
        <p:txBody>
          <a:bodyPr wrap="square" lIns="0" tIns="0" rIns="0" bIns="0" rtlCol="0" anchor="ctr"/>
          <a:lstStyle/>
          <a:p>
            <a:pPr algn="ctr" indent="0" marL="0">
              <a:buNone/>
            </a:pPr>
            <a:r>
              <a:rPr lang="en-US" sz="1000" i="1" dirty="0">
                <a:solidFill>
                  <a:srgbClr val="5B6B7F"/>
                </a:solidFill>
                <a:latin typeface="Calibri" pitchFamily="34" charset="0"/>
                <a:ea typeface="Calibri" pitchFamily="34" charset="-122"/>
                <a:cs typeface="Calibri" pitchFamily="34" charset="-120"/>
              </a:rPr>
              <a:t>For precision work, drift and reference stability usually beat resolution as the thing to spend money on.</a:t>
            </a:r>
            <a:endParaRPr lang="en-US" sz="1000" dirty="0"/>
          </a:p>
        </p:txBody>
      </p:sp>
      <p:sp>
        <p:nvSpPr>
          <p:cNvPr id="13" name="Shape 10"/>
          <p:cNvSpPr/>
          <p:nvPr/>
        </p:nvSpPr>
        <p:spPr>
          <a:xfrm>
            <a:off x="457200" y="3675888"/>
            <a:ext cx="4023360" cy="1024128"/>
          </a:xfrm>
          <a:prstGeom prst="roundRect">
            <a:avLst>
              <a:gd name="adj" fmla="val 7143"/>
            </a:avLst>
          </a:prstGeom>
          <a:solidFill>
            <a:srgbClr val="E4F7F4"/>
          </a:solidFill>
          <a:ln w="12700">
            <a:solidFill>
              <a:srgbClr val="E4F7F4"/>
            </a:solidFill>
            <a:prstDash val="solid"/>
          </a:ln>
        </p:spPr>
      </p:sp>
      <p:sp>
        <p:nvSpPr>
          <p:cNvPr id="14" name="Shape 11"/>
          <p:cNvSpPr/>
          <p:nvPr/>
        </p:nvSpPr>
        <p:spPr>
          <a:xfrm>
            <a:off x="566928" y="3776472"/>
            <a:ext cx="237744" cy="237744"/>
          </a:xfrm>
          <a:prstGeom prst="ellipse">
            <a:avLst/>
          </a:prstGeom>
          <a:solidFill>
            <a:srgbClr val="2EC4B6"/>
          </a:solidFill>
          <a:ln w="12700">
            <a:solidFill>
              <a:srgbClr val="2EC4B6"/>
            </a:solidFill>
            <a:prstDash val="solid"/>
          </a:ln>
        </p:spPr>
      </p:sp>
      <p:sp>
        <p:nvSpPr>
          <p:cNvPr id="15" name="Text 12"/>
          <p:cNvSpPr txBox="1"/>
          <p:nvPr/>
        </p:nvSpPr>
        <p:spPr>
          <a:xfrm>
            <a:off x="566928" y="3776472"/>
            <a:ext cx="237744" cy="237744"/>
          </a:xfrm>
          <a:prstGeom prst="rect">
            <a:avLst/>
          </a:prstGeom>
          <a:noFill/>
          <a:ln/>
        </p:spPr>
        <p:txBody>
          <a:bodyPr wrap="square" lIns="0" tIns="0" rIns="0" bIns="0" rtlCol="0" anchor="ctr"/>
          <a:lstStyle/>
          <a:p>
            <a:pPr algn="ctr" indent="0" marL="0">
              <a:buNone/>
            </a:pPr>
            <a:r>
              <a:rPr lang="en-US" sz="1200" b="1" dirty="0">
                <a:solidFill>
                  <a:srgbClr val="0B1F3A"/>
                </a:solidFill>
                <a:latin typeface="Calibri" pitchFamily="34" charset="0"/>
                <a:ea typeface="Calibri" pitchFamily="34" charset="-122"/>
                <a:cs typeface="Calibri" pitchFamily="34" charset="-120"/>
              </a:rPr>
              <a:t>≈</a:t>
            </a:r>
            <a:endParaRPr lang="en-US" sz="1200" dirty="0"/>
          </a:p>
        </p:txBody>
      </p:sp>
      <p:sp>
        <p:nvSpPr>
          <p:cNvPr id="16" name="Text 13"/>
          <p:cNvSpPr txBox="1"/>
          <p:nvPr/>
        </p:nvSpPr>
        <p:spPr>
          <a:xfrm>
            <a:off x="877824" y="3739896"/>
            <a:ext cx="3493008" cy="896112"/>
          </a:xfrm>
          <a:prstGeom prst="rect">
            <a:avLst/>
          </a:prstGeom>
          <a:noFill/>
          <a:ln/>
        </p:spPr>
        <p:txBody>
          <a:bodyPr wrap="square" lIns="0" tIns="0" rIns="0" bIns="0" rtlCol="0" anchor="t"/>
          <a:lstStyle/>
          <a:p>
            <a:pPr indent="0" marL="0">
              <a:buNone/>
            </a:pPr>
            <a:r>
              <a:rPr lang="en-US" sz="1050" b="1" dirty="0">
                <a:solidFill>
                  <a:srgbClr val="0B1F3A"/>
                </a:solidFill>
                <a:latin typeface="Calibri" pitchFamily="34" charset="0"/>
                <a:ea typeface="Calibri" pitchFamily="34" charset="-122"/>
                <a:cs typeface="Calibri" pitchFamily="34" charset="-120"/>
              </a:rPr>
              <a:t>Think of it like this  </a:t>
            </a:r>
            <a:pPr indent="0" marL="0">
              <a:buNone/>
            </a:pPr>
            <a:r>
              <a:rPr lang="en-US" sz="1050" dirty="0">
                <a:solidFill>
                  <a:srgbClr val="14213D"/>
                </a:solidFill>
                <a:latin typeface="Calibri" pitchFamily="34" charset="0"/>
                <a:ea typeface="Calibri" pitchFamily="34" charset="-122"/>
                <a:cs typeface="Calibri" pitchFamily="34" charset="-120"/>
              </a:rPr>
              <a:t>Calibrating your kitchen scale in a cold kitchen, then using it beside a hot oven. The calibration was honest; the conditions moved.</a:t>
            </a:r>
            <a:endParaRPr lang="en-US" sz="1050" dirty="0"/>
          </a:p>
        </p:txBody>
      </p:sp>
      <p:sp>
        <p:nvSpPr>
          <p:cNvPr id="17" name="Shape 14"/>
          <p:cNvSpPr/>
          <p:nvPr/>
        </p:nvSpPr>
        <p:spPr>
          <a:xfrm>
            <a:off x="4663440" y="3675888"/>
            <a:ext cx="4023360" cy="1024128"/>
          </a:xfrm>
          <a:prstGeom prst="roundRect">
            <a:avLst>
              <a:gd name="adj" fmla="val 7143"/>
            </a:avLst>
          </a:prstGeom>
          <a:solidFill>
            <a:srgbClr val="FFFFFF"/>
          </a:solidFill>
          <a:ln w="12700">
            <a:solidFill>
              <a:srgbClr val="0B1F3A"/>
            </a:solidFill>
            <a:prstDash val="solid"/>
          </a:ln>
        </p:spPr>
      </p:sp>
      <p:sp>
        <p:nvSpPr>
          <p:cNvPr id="18" name="Shape 15"/>
          <p:cNvSpPr/>
          <p:nvPr/>
        </p:nvSpPr>
        <p:spPr>
          <a:xfrm>
            <a:off x="4773168" y="3566160"/>
            <a:ext cx="914400" cy="219456"/>
          </a:xfrm>
          <a:prstGeom prst="roundRect">
            <a:avLst>
              <a:gd name="adj" fmla="val 25000"/>
            </a:avLst>
          </a:prstGeom>
          <a:solidFill>
            <a:srgbClr val="0B1F3A"/>
          </a:solidFill>
          <a:ln w="12700">
            <a:solidFill>
              <a:srgbClr val="0B1F3A"/>
            </a:solidFill>
            <a:prstDash val="solid"/>
          </a:ln>
        </p:spPr>
      </p:sp>
      <p:sp>
        <p:nvSpPr>
          <p:cNvPr id="19" name="Text 16"/>
          <p:cNvSpPr txBox="1"/>
          <p:nvPr/>
        </p:nvSpPr>
        <p:spPr>
          <a:xfrm>
            <a:off x="4773168" y="3566160"/>
            <a:ext cx="914400" cy="219456"/>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EXAMPLE</a:t>
            </a:r>
            <a:endParaRPr lang="en-US" sz="850" dirty="0"/>
          </a:p>
        </p:txBody>
      </p:sp>
      <p:sp>
        <p:nvSpPr>
          <p:cNvPr id="20" name="Text 17"/>
          <p:cNvSpPr txBox="1"/>
          <p:nvPr/>
        </p:nvSpPr>
        <p:spPr>
          <a:xfrm>
            <a:off x="4791456" y="3813048"/>
            <a:ext cx="3803904" cy="841248"/>
          </a:xfrm>
          <a:prstGeom prst="rect">
            <a:avLst/>
          </a:prstGeom>
          <a:noFill/>
          <a:ln/>
        </p:spPr>
        <p:txBody>
          <a:bodyPr wrap="square" lIns="0" tIns="0" rIns="0" bIns="0" rtlCol="0" anchor="t"/>
          <a:lstStyle/>
          <a:p>
            <a:pPr indent="0" marL="0">
              <a:spcAft>
                <a:spcPts val="100"/>
              </a:spcAft>
              <a:buNone/>
            </a:pPr>
            <a:r>
              <a:rPr lang="en-US" sz="900" b="1" dirty="0">
                <a:solidFill>
                  <a:srgbClr val="0B1F3A"/>
                </a:solidFill>
                <a:latin typeface="Calibri" pitchFamily="34" charset="0"/>
                <a:ea typeface="Calibri" pitchFamily="34" charset="-122"/>
                <a:cs typeface="Calibri" pitchFamily="34" charset="-120"/>
              </a:rPr>
              <a:t>A 16-bit measurement over an industrial range</a:t>
            </a:r>
            <a:endParaRPr lang="en-US" sz="900" dirty="0"/>
          </a:p>
          <a:p>
            <a:pPr marL="114300" indent="-114300">
              <a:spcAft>
                <a:spcPts val="100"/>
              </a:spcAft>
              <a:buSzPct val="100000"/>
              <a:buChar char="•"/>
            </a:pPr>
            <a:r>
              <a:rPr lang="en-US" sz="900" dirty="0">
                <a:solidFill>
                  <a:srgbClr val="14213D"/>
                </a:solidFill>
                <a:latin typeface="Cambria" pitchFamily="34" charset="0"/>
                <a:ea typeface="Cambria" pitchFamily="34" charset="-122"/>
                <a:cs typeface="Cambria" pitchFamily="34" charset="-120"/>
              </a:rPr>
              <a:t>Gain drift 5 ppm/°C, range −40 to +85 °C, so ΔT = 60 °C from calibration</a:t>
            </a:r>
            <a:endParaRPr lang="en-US" sz="900" dirty="0"/>
          </a:p>
          <a:p>
            <a:pPr marL="114300" indent="-114300">
              <a:spcAft>
                <a:spcPts val="100"/>
              </a:spcAft>
              <a:buSzPct val="100000"/>
              <a:buChar char="•"/>
            </a:pPr>
            <a:r>
              <a:rPr lang="en-US" sz="900" dirty="0">
                <a:solidFill>
                  <a:srgbClr val="14213D"/>
                </a:solidFill>
                <a:latin typeface="Cambria" pitchFamily="34" charset="0"/>
                <a:ea typeface="Cambria" pitchFamily="34" charset="-122"/>
                <a:cs typeface="Cambria" pitchFamily="34" charset="-120"/>
              </a:rPr>
              <a:t>5 × 60 = 300 ppm = 19.7 LSB at 16 bits</a:t>
            </a:r>
            <a:endParaRPr lang="en-US" sz="900" dirty="0"/>
          </a:p>
          <a:p>
            <a:pPr marL="114300" indent="-114300">
              <a:spcAft>
                <a:spcPts val="100"/>
              </a:spcAft>
              <a:buSzPct val="100000"/>
              <a:buChar char="•"/>
            </a:pPr>
            <a:r>
              <a:rPr lang="en-US" sz="900" dirty="0">
                <a:solidFill>
                  <a:srgbClr val="14213D"/>
                </a:solidFill>
                <a:latin typeface="Cambria" pitchFamily="34" charset="0"/>
                <a:ea typeface="Cambria" pitchFamily="34" charset="-122"/>
                <a:cs typeface="Cambria" pitchFamily="34" charset="-120"/>
              </a:rPr>
              <a:t>Four bits gone, and no amount of room-temperature calibration recovers them</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5285232" cy="640080"/>
          </a:xfrm>
          <a:prstGeom prst="rect">
            <a:avLst/>
          </a:prstGeom>
          <a:noFill/>
          <a:ln/>
        </p:spPr>
        <p:txBody>
          <a:bodyPr wrap="square" lIns="0" tIns="0" rIns="0" bIns="0" rtlCol="0" anchor="ctr"/>
          <a:lstStyle/>
          <a:p>
            <a:pPr indent="0" marL="0">
              <a:buNone/>
            </a:pPr>
            <a:r>
              <a:rPr lang="en-US" sz="2800" b="1" dirty="0">
                <a:solidFill>
                  <a:srgbClr val="0B1F3A"/>
                </a:solidFill>
                <a:latin typeface="Cambria" pitchFamily="34" charset="0"/>
                <a:ea typeface="Cambria" pitchFamily="34" charset="-122"/>
                <a:cs typeface="Cambria" pitchFamily="34" charset="-120"/>
              </a:rPr>
              <a:t>PSRR and CMRR</a:t>
            </a:r>
            <a:endParaRPr lang="en-US" sz="2800" dirty="0"/>
          </a:p>
        </p:txBody>
      </p:sp>
      <p:sp>
        <p:nvSpPr>
          <p:cNvPr id="3" name="Text 1"/>
          <p:cNvSpPr txBox="1"/>
          <p:nvPr/>
        </p:nvSpPr>
        <p:spPr>
          <a:xfrm>
            <a:off x="457200" y="4796028"/>
            <a:ext cx="4572000" cy="228600"/>
          </a:xfrm>
          <a:prstGeom prst="rect">
            <a:avLst/>
          </a:prstGeom>
          <a:noFill/>
          <a:ln/>
        </p:spPr>
        <p:txBody>
          <a:bodyPr wrap="square" lIns="0" tIns="0" rIns="0" bIns="0" rtlCol="0" anchor="ctr"/>
          <a:lstStyle/>
          <a:p>
            <a:pPr indent="0" marL="0">
              <a:buNone/>
            </a:pPr>
            <a:r>
              <a:rPr lang="en-US" sz="900" dirty="0">
                <a:solidFill>
                  <a:srgbClr val="5B6B7F"/>
                </a:solidFill>
                <a:latin typeface="Calibri" pitchFamily="34" charset="0"/>
                <a:ea typeface="Calibri" pitchFamily="34" charset="-122"/>
                <a:cs typeface="Calibri" pitchFamily="34" charset="-120"/>
              </a:rPr>
              <a:t>Part 2 · Static accuracy (DC)</a:t>
            </a:r>
            <a:endParaRPr lang="en-US" sz="900" dirty="0"/>
          </a:p>
        </p:txBody>
      </p:sp>
      <p:sp>
        <p:nvSpPr>
          <p:cNvPr id="4" name="Text 2"/>
          <p:cNvSpPr txBox="1"/>
          <p:nvPr/>
        </p:nvSpPr>
        <p:spPr>
          <a:xfrm>
            <a:off x="7772400" y="4796028"/>
            <a:ext cx="914400" cy="228600"/>
          </a:xfrm>
          <a:prstGeom prst="rect">
            <a:avLst/>
          </a:prstGeom>
          <a:noFill/>
          <a:ln/>
        </p:spPr>
        <p:txBody>
          <a:bodyPr wrap="square" lIns="0" tIns="0" rIns="0" bIns="0" rtlCol="0" anchor="ctr"/>
          <a:lstStyle/>
          <a:p>
            <a:pPr algn="r" indent="0" marL="0">
              <a:buNone/>
            </a:pPr>
            <a:r>
              <a:rPr lang="en-US" sz="900" dirty="0">
                <a:solidFill>
                  <a:srgbClr val="5B6B7F"/>
                </a:solidFill>
                <a:latin typeface="Calibri" pitchFamily="34" charset="0"/>
                <a:ea typeface="Calibri" pitchFamily="34" charset="-122"/>
                <a:cs typeface="Calibri" pitchFamily="34" charset="-120"/>
              </a:rPr>
              <a:t>20</a:t>
            </a:r>
            <a:endParaRPr lang="en-US" sz="900" dirty="0"/>
          </a:p>
        </p:txBody>
      </p:sp>
      <p:sp>
        <p:nvSpPr>
          <p:cNvPr id="5" name="Shape 3"/>
          <p:cNvSpPr/>
          <p:nvPr/>
        </p:nvSpPr>
        <p:spPr>
          <a:xfrm>
            <a:off x="5971032" y="384048"/>
            <a:ext cx="2715768" cy="384048"/>
          </a:xfrm>
          <a:prstGeom prst="roundRect">
            <a:avLst>
              <a:gd name="adj" fmla="val 19048"/>
            </a:avLst>
          </a:prstGeom>
          <a:solidFill>
            <a:srgbClr val="EEF3F8"/>
          </a:solidFill>
          <a:ln w="12700">
            <a:solidFill>
              <a:srgbClr val="EEF3F8"/>
            </a:solidFill>
            <a:prstDash val="solid"/>
          </a:ln>
        </p:spPr>
      </p:sp>
      <p:sp>
        <p:nvSpPr>
          <p:cNvPr id="6" name="Text 4"/>
          <p:cNvSpPr txBox="1"/>
          <p:nvPr/>
        </p:nvSpPr>
        <p:spPr>
          <a:xfrm>
            <a:off x="5971032" y="384048"/>
            <a:ext cx="2715768" cy="384048"/>
          </a:xfrm>
          <a:prstGeom prst="rect">
            <a:avLst/>
          </a:prstGeom>
          <a:noFill/>
          <a:ln/>
        </p:spPr>
        <p:txBody>
          <a:bodyPr wrap="square" lIns="0" tIns="0" rIns="0" bIns="0" rtlCol="0" anchor="ctr"/>
          <a:lstStyle/>
          <a:p>
            <a:pPr algn="ctr" indent="0" marL="0">
              <a:buNone/>
            </a:pPr>
            <a:r>
              <a:rPr lang="en-US" sz="1200" b="1" dirty="0">
                <a:solidFill>
                  <a:srgbClr val="0B1F3A"/>
                </a:solidFill>
                <a:latin typeface="Cambria" pitchFamily="34" charset="0"/>
                <a:ea typeface="Cambria" pitchFamily="34" charset="-122"/>
                <a:cs typeface="Cambria" pitchFamily="34" charset="-120"/>
              </a:rPr>
              <a:t>PSRR, CMRR   ·   dB</a:t>
            </a:r>
            <a:endParaRPr lang="en-US" sz="1200" dirty="0"/>
          </a:p>
        </p:txBody>
      </p:sp>
      <p:sp>
        <p:nvSpPr>
          <p:cNvPr id="7" name="Text 5"/>
          <p:cNvSpPr txBox="1"/>
          <p:nvPr/>
        </p:nvSpPr>
        <p:spPr>
          <a:xfrm>
            <a:off x="457200" y="1042416"/>
            <a:ext cx="4023360" cy="1207008"/>
          </a:xfrm>
          <a:prstGeom prst="rect">
            <a:avLst/>
          </a:prstGeom>
          <a:noFill/>
          <a:ln/>
        </p:spPr>
        <p:txBody>
          <a:bodyPr wrap="square" lIns="0" tIns="0" rIns="0" bIns="0" rtlCol="0" anchor="t"/>
          <a:lstStyle/>
          <a:p>
            <a:pPr indent="0" marL="0">
              <a:buNone/>
            </a:pPr>
            <a:r>
              <a:rPr lang="en-US" sz="1150" dirty="0">
                <a:solidFill>
                  <a:srgbClr val="14213D"/>
                </a:solidFill>
                <a:latin typeface="Calibri" pitchFamily="34" charset="0"/>
                <a:ea typeface="Calibri" pitchFamily="34" charset="-122"/>
                <a:cs typeface="Calibri" pitchFamily="34" charset="-120"/>
              </a:rPr>
              <a:t>Two rejection ratios. PSRR says how much of a wobble on the supply rail leaks into the reading. CMRR says how much of a voltage common to both inputs of a differential converter leaks in, when in theory only the difference should count.</a:t>
            </a:r>
            <a:endParaRPr lang="en-US" sz="1150" dirty="0"/>
          </a:p>
        </p:txBody>
      </p:sp>
      <p:sp>
        <p:nvSpPr>
          <p:cNvPr id="8" name="Shape 6"/>
          <p:cNvSpPr/>
          <p:nvPr/>
        </p:nvSpPr>
        <p:spPr>
          <a:xfrm>
            <a:off x="457200" y="2304288"/>
            <a:ext cx="4023360" cy="868680"/>
          </a:xfrm>
          <a:prstGeom prst="roundRect">
            <a:avLst>
              <a:gd name="adj" fmla="val 8421"/>
            </a:avLst>
          </a:prstGeom>
          <a:solidFill>
            <a:srgbClr val="EEF3F8"/>
          </a:solidFill>
          <a:ln w="12700">
            <a:solidFill>
              <a:srgbClr val="EEF3F8"/>
            </a:solidFill>
            <a:prstDash val="solid"/>
          </a:ln>
        </p:spPr>
      </p:sp>
      <p:sp>
        <p:nvSpPr>
          <p:cNvPr id="9" name="Text 7"/>
          <p:cNvSpPr txBox="1"/>
          <p:nvPr/>
        </p:nvSpPr>
        <p:spPr>
          <a:xfrm>
            <a:off x="594360" y="2304288"/>
            <a:ext cx="3749040" cy="612648"/>
          </a:xfrm>
          <a:prstGeom prst="rect">
            <a:avLst/>
          </a:prstGeom>
          <a:noFill/>
          <a:ln/>
        </p:spPr>
        <p:txBody>
          <a:bodyPr wrap="square" lIns="0" tIns="0" rIns="0" bIns="0" rtlCol="0" anchor="ctr"/>
          <a:lstStyle/>
          <a:p>
            <a:pPr algn="ctr" indent="0" marL="0">
              <a:buNone/>
            </a:pPr>
            <a:r>
              <a:rPr lang="en-US" sz="1300" dirty="0">
                <a:solidFill>
                  <a:srgbClr val="0B1F3A"/>
                </a:solidFill>
                <a:latin typeface="Cambria" pitchFamily="34" charset="0"/>
                <a:ea typeface="Cambria" pitchFamily="34" charset="-122"/>
                <a:cs typeface="Cambria" pitchFamily="34" charset="-120"/>
              </a:rPr>
              <a:t>PSRR = 20 log₁₀( ΔV_supply / ΔV_error )</a:t>
            </a:r>
            <a:endParaRPr lang="en-US" sz="1300" dirty="0"/>
          </a:p>
        </p:txBody>
      </p:sp>
      <p:sp>
        <p:nvSpPr>
          <p:cNvPr id="10" name="Text 8"/>
          <p:cNvSpPr txBox="1"/>
          <p:nvPr/>
        </p:nvSpPr>
        <p:spPr>
          <a:xfrm>
            <a:off x="594360" y="2871216"/>
            <a:ext cx="3749040" cy="256032"/>
          </a:xfrm>
          <a:prstGeom prst="rect">
            <a:avLst/>
          </a:prstGeom>
          <a:noFill/>
          <a:ln/>
        </p:spPr>
        <p:txBody>
          <a:bodyPr wrap="square" lIns="0" tIns="0" rIns="0" bIns="0" rtlCol="0" anchor="t"/>
          <a:lstStyle/>
          <a:p>
            <a:pPr algn="ctr" indent="0" marL="0">
              <a:buNone/>
            </a:pPr>
            <a:r>
              <a:rPr lang="en-US" sz="1000" dirty="0">
                <a:solidFill>
                  <a:srgbClr val="5B6B7F"/>
                </a:solidFill>
                <a:latin typeface="Calibri" pitchFamily="34" charset="0"/>
                <a:ea typeface="Calibri" pitchFamily="34" charset="-122"/>
                <a:cs typeface="Calibri" pitchFamily="34" charset="-120"/>
              </a:rPr>
              <a:t>Higher is better</a:t>
            </a:r>
            <a:endParaRPr lang="en-US" sz="1000" dirty="0"/>
          </a:p>
        </p:txBody>
      </p:sp>
      <p:graphicFrame>
        <p:nvGraphicFramePr>
          <p:cNvPr id="11" name="Chart 0" descr=""/>
          <p:cNvGraphicFramePr/>
          <p:nvPr/>
        </p:nvGraphicFramePr>
        <p:xfrm>
          <a:off x="4663440" y="1042416"/>
          <a:ext cx="4023360" cy="2084832"/>
        </p:xfrm>
        <a:graphic xmlns:a="http://schemas.openxmlformats.org/drawingml/2006/main">
          <a:graphicData uri="http://schemas.openxmlformats.org/drawingml/2006/chart">
            <c:chart xmlns:c="http://schemas.openxmlformats.org/drawingml/2006/chart" r:id="rId1"/>
          </a:graphicData>
        </a:graphic>
      </p:graphicFrame>
      <p:sp>
        <p:nvSpPr>
          <p:cNvPr id="12" name="Text 9"/>
          <p:cNvSpPr txBox="1"/>
          <p:nvPr/>
        </p:nvSpPr>
        <p:spPr>
          <a:xfrm>
            <a:off x="4663440" y="3200400"/>
            <a:ext cx="4023360" cy="347472"/>
          </a:xfrm>
          <a:prstGeom prst="rect">
            <a:avLst/>
          </a:prstGeom>
          <a:noFill/>
          <a:ln/>
        </p:spPr>
        <p:txBody>
          <a:bodyPr wrap="square" lIns="0" tIns="0" rIns="0" bIns="0" rtlCol="0" anchor="ctr"/>
          <a:lstStyle/>
          <a:p>
            <a:pPr algn="ctr" indent="0" marL="0">
              <a:buNone/>
            </a:pPr>
            <a:r>
              <a:rPr lang="en-US" sz="1000" i="1" dirty="0">
                <a:solidFill>
                  <a:srgbClr val="5B6B7F"/>
                </a:solidFill>
                <a:latin typeface="Calibri" pitchFamily="34" charset="0"/>
                <a:ea typeface="Calibri" pitchFamily="34" charset="-122"/>
                <a:cs typeface="Calibri" pitchFamily="34" charset="-120"/>
              </a:rPr>
              <a:t>PSRR falls with frequency, so the number at DC is the flattering one. Check it at your switching regulator’s frequency.</a:t>
            </a:r>
            <a:endParaRPr lang="en-US" sz="1000" dirty="0"/>
          </a:p>
        </p:txBody>
      </p:sp>
      <p:sp>
        <p:nvSpPr>
          <p:cNvPr id="13" name="Shape 10"/>
          <p:cNvSpPr/>
          <p:nvPr/>
        </p:nvSpPr>
        <p:spPr>
          <a:xfrm>
            <a:off x="457200" y="3675888"/>
            <a:ext cx="4023360" cy="1024128"/>
          </a:xfrm>
          <a:prstGeom prst="roundRect">
            <a:avLst>
              <a:gd name="adj" fmla="val 7143"/>
            </a:avLst>
          </a:prstGeom>
          <a:solidFill>
            <a:srgbClr val="E4F7F4"/>
          </a:solidFill>
          <a:ln w="12700">
            <a:solidFill>
              <a:srgbClr val="E4F7F4"/>
            </a:solidFill>
            <a:prstDash val="solid"/>
          </a:ln>
        </p:spPr>
      </p:sp>
      <p:sp>
        <p:nvSpPr>
          <p:cNvPr id="14" name="Shape 11"/>
          <p:cNvSpPr/>
          <p:nvPr/>
        </p:nvSpPr>
        <p:spPr>
          <a:xfrm>
            <a:off x="566928" y="3776472"/>
            <a:ext cx="237744" cy="237744"/>
          </a:xfrm>
          <a:prstGeom prst="ellipse">
            <a:avLst/>
          </a:prstGeom>
          <a:solidFill>
            <a:srgbClr val="2EC4B6"/>
          </a:solidFill>
          <a:ln w="12700">
            <a:solidFill>
              <a:srgbClr val="2EC4B6"/>
            </a:solidFill>
            <a:prstDash val="solid"/>
          </a:ln>
        </p:spPr>
      </p:sp>
      <p:sp>
        <p:nvSpPr>
          <p:cNvPr id="15" name="Text 12"/>
          <p:cNvSpPr txBox="1"/>
          <p:nvPr/>
        </p:nvSpPr>
        <p:spPr>
          <a:xfrm>
            <a:off x="566928" y="3776472"/>
            <a:ext cx="237744" cy="237744"/>
          </a:xfrm>
          <a:prstGeom prst="rect">
            <a:avLst/>
          </a:prstGeom>
          <a:noFill/>
          <a:ln/>
        </p:spPr>
        <p:txBody>
          <a:bodyPr wrap="square" lIns="0" tIns="0" rIns="0" bIns="0" rtlCol="0" anchor="ctr"/>
          <a:lstStyle/>
          <a:p>
            <a:pPr algn="ctr" indent="0" marL="0">
              <a:buNone/>
            </a:pPr>
            <a:r>
              <a:rPr lang="en-US" sz="1200" b="1" dirty="0">
                <a:solidFill>
                  <a:srgbClr val="0B1F3A"/>
                </a:solidFill>
                <a:latin typeface="Calibri" pitchFamily="34" charset="0"/>
                <a:ea typeface="Calibri" pitchFamily="34" charset="-122"/>
                <a:cs typeface="Calibri" pitchFamily="34" charset="-120"/>
              </a:rPr>
              <a:t>≈</a:t>
            </a:r>
            <a:endParaRPr lang="en-US" sz="1200" dirty="0"/>
          </a:p>
        </p:txBody>
      </p:sp>
      <p:sp>
        <p:nvSpPr>
          <p:cNvPr id="16" name="Text 13"/>
          <p:cNvSpPr txBox="1"/>
          <p:nvPr/>
        </p:nvSpPr>
        <p:spPr>
          <a:xfrm>
            <a:off x="877824" y="3739896"/>
            <a:ext cx="3493008" cy="896112"/>
          </a:xfrm>
          <a:prstGeom prst="rect">
            <a:avLst/>
          </a:prstGeom>
          <a:noFill/>
          <a:ln/>
        </p:spPr>
        <p:txBody>
          <a:bodyPr wrap="square" lIns="0" tIns="0" rIns="0" bIns="0" rtlCol="0" anchor="t"/>
          <a:lstStyle/>
          <a:p>
            <a:pPr indent="0" marL="0">
              <a:buNone/>
            </a:pPr>
            <a:r>
              <a:rPr lang="en-US" sz="1050" b="1" dirty="0">
                <a:solidFill>
                  <a:srgbClr val="0B1F3A"/>
                </a:solidFill>
                <a:latin typeface="Calibri" pitchFamily="34" charset="0"/>
                <a:ea typeface="Calibri" pitchFamily="34" charset="-122"/>
                <a:cs typeface="Calibri" pitchFamily="34" charset="-120"/>
              </a:rPr>
              <a:t>Think of it like this  </a:t>
            </a:r>
            <a:pPr indent="0" marL="0">
              <a:buNone/>
            </a:pPr>
            <a:r>
              <a:rPr lang="en-US" sz="1050" dirty="0">
                <a:solidFill>
                  <a:srgbClr val="14213D"/>
                </a:solidFill>
                <a:latin typeface="Calibri" pitchFamily="34" charset="0"/>
                <a:ea typeface="Calibri" pitchFamily="34" charset="-122"/>
                <a:cs typeface="Calibri" pitchFamily="34" charset="-120"/>
              </a:rPr>
              <a:t>Trying to weigh something on a scale sitting on a washing machine. CMRR is how well the scale ignores the shaking; PSRR is how well it ignores a flickering mains supply.</a:t>
            </a:r>
            <a:endParaRPr lang="en-US" sz="1050" dirty="0"/>
          </a:p>
        </p:txBody>
      </p:sp>
      <p:sp>
        <p:nvSpPr>
          <p:cNvPr id="17" name="Shape 14"/>
          <p:cNvSpPr/>
          <p:nvPr/>
        </p:nvSpPr>
        <p:spPr>
          <a:xfrm>
            <a:off x="4663440" y="3675888"/>
            <a:ext cx="4023360" cy="1024128"/>
          </a:xfrm>
          <a:prstGeom prst="roundRect">
            <a:avLst>
              <a:gd name="adj" fmla="val 7143"/>
            </a:avLst>
          </a:prstGeom>
          <a:solidFill>
            <a:srgbClr val="FFFFFF"/>
          </a:solidFill>
          <a:ln w="12700">
            <a:solidFill>
              <a:srgbClr val="0B1F3A"/>
            </a:solidFill>
            <a:prstDash val="solid"/>
          </a:ln>
        </p:spPr>
      </p:sp>
      <p:sp>
        <p:nvSpPr>
          <p:cNvPr id="18" name="Shape 15"/>
          <p:cNvSpPr/>
          <p:nvPr/>
        </p:nvSpPr>
        <p:spPr>
          <a:xfrm>
            <a:off x="4773168" y="3566160"/>
            <a:ext cx="914400" cy="219456"/>
          </a:xfrm>
          <a:prstGeom prst="roundRect">
            <a:avLst>
              <a:gd name="adj" fmla="val 25000"/>
            </a:avLst>
          </a:prstGeom>
          <a:solidFill>
            <a:srgbClr val="0B1F3A"/>
          </a:solidFill>
          <a:ln w="12700">
            <a:solidFill>
              <a:srgbClr val="0B1F3A"/>
            </a:solidFill>
            <a:prstDash val="solid"/>
          </a:ln>
        </p:spPr>
      </p:sp>
      <p:sp>
        <p:nvSpPr>
          <p:cNvPr id="19" name="Text 16"/>
          <p:cNvSpPr txBox="1"/>
          <p:nvPr/>
        </p:nvSpPr>
        <p:spPr>
          <a:xfrm>
            <a:off x="4773168" y="3566160"/>
            <a:ext cx="914400" cy="219456"/>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EXAMPLE</a:t>
            </a:r>
            <a:endParaRPr lang="en-US" sz="850" dirty="0"/>
          </a:p>
        </p:txBody>
      </p:sp>
      <p:sp>
        <p:nvSpPr>
          <p:cNvPr id="20" name="Text 17"/>
          <p:cNvSpPr txBox="1"/>
          <p:nvPr/>
        </p:nvSpPr>
        <p:spPr>
          <a:xfrm>
            <a:off x="4791456" y="3813048"/>
            <a:ext cx="3803904" cy="841248"/>
          </a:xfrm>
          <a:prstGeom prst="rect">
            <a:avLst/>
          </a:prstGeom>
          <a:noFill/>
          <a:ln/>
        </p:spPr>
        <p:txBody>
          <a:bodyPr wrap="square" lIns="0" tIns="0" rIns="0" bIns="0" rtlCol="0" anchor="t"/>
          <a:lstStyle/>
          <a:p>
            <a:pPr indent="0" marL="0">
              <a:spcAft>
                <a:spcPts val="100"/>
              </a:spcAft>
              <a:buNone/>
            </a:pPr>
            <a:r>
              <a:rPr lang="en-US" sz="900" b="1" dirty="0">
                <a:solidFill>
                  <a:srgbClr val="0B1F3A"/>
                </a:solidFill>
                <a:latin typeface="Calibri" pitchFamily="34" charset="0"/>
                <a:ea typeface="Calibri" pitchFamily="34" charset="-122"/>
                <a:cs typeface="Calibri" pitchFamily="34" charset="-120"/>
              </a:rPr>
              <a:t>Supply ripple leaking in</a:t>
            </a:r>
            <a:endParaRPr lang="en-US" sz="900" dirty="0"/>
          </a:p>
          <a:p>
            <a:pPr marL="114300" indent="-114300">
              <a:spcAft>
                <a:spcPts val="100"/>
              </a:spcAft>
              <a:buSzPct val="100000"/>
              <a:buChar char="•"/>
            </a:pPr>
            <a:r>
              <a:rPr lang="en-US" sz="900" dirty="0">
                <a:solidFill>
                  <a:srgbClr val="14213D"/>
                </a:solidFill>
                <a:latin typeface="Cambria" pitchFamily="34" charset="0"/>
                <a:ea typeface="Cambria" pitchFamily="34" charset="-122"/>
                <a:cs typeface="Cambria" pitchFamily="34" charset="-120"/>
              </a:rPr>
              <a:t>Switching regulator ripple: 20 mV at 500 kHz</a:t>
            </a:r>
            <a:endParaRPr lang="en-US" sz="900" dirty="0"/>
          </a:p>
          <a:p>
            <a:pPr marL="114300" indent="-114300">
              <a:spcAft>
                <a:spcPts val="100"/>
              </a:spcAft>
              <a:buSzPct val="100000"/>
              <a:buChar char="•"/>
            </a:pPr>
            <a:r>
              <a:rPr lang="en-US" sz="900" dirty="0">
                <a:solidFill>
                  <a:srgbClr val="14213D"/>
                </a:solidFill>
                <a:latin typeface="Cambria" pitchFamily="34" charset="0"/>
                <a:ea typeface="Cambria" pitchFamily="34" charset="-122"/>
                <a:cs typeface="Cambria" pitchFamily="34" charset="-120"/>
              </a:rPr>
              <a:t>ADC PSRR at 500 kHz: 60 dB → divide by 1000</a:t>
            </a:r>
            <a:endParaRPr lang="en-US" sz="900" dirty="0"/>
          </a:p>
          <a:p>
            <a:pPr marL="114300" indent="-114300">
              <a:spcAft>
                <a:spcPts val="100"/>
              </a:spcAft>
              <a:buSzPct val="100000"/>
              <a:buChar char="•"/>
            </a:pPr>
            <a:r>
              <a:rPr lang="en-US" sz="900" dirty="0">
                <a:solidFill>
                  <a:srgbClr val="14213D"/>
                </a:solidFill>
                <a:latin typeface="Cambria" pitchFamily="34" charset="0"/>
                <a:ea typeface="Cambria" pitchFamily="34" charset="-122"/>
                <a:cs typeface="Cambria" pitchFamily="34" charset="-120"/>
              </a:rPr>
              <a:t>20 µV of error — about 0.7 LSB on a 16-bit, 2 V part, and it shows as a spur at 500 kHz</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B1F3A"/>
        </a:solidFill>
      </p:bgPr>
    </p:bg>
    <p:spTree>
      <p:nvGrpSpPr>
        <p:cNvPr id="1" name=""/>
        <p:cNvGrpSpPr/>
        <p:nvPr/>
      </p:nvGrpSpPr>
      <p:grpSpPr>
        <a:xfrm>
          <a:off x="0" y="0"/>
          <a:ext cx="0" cy="0"/>
          <a:chOff x="0" y="0"/>
          <a:chExt cx="0" cy="0"/>
        </a:xfrm>
      </p:grpSpPr>
      <p:sp>
        <p:nvSpPr>
          <p:cNvPr id="2" name="Text 0"/>
          <p:cNvSpPr txBox="1"/>
          <p:nvPr/>
        </p:nvSpPr>
        <p:spPr>
          <a:xfrm>
            <a:off x="457200" y="411480"/>
            <a:ext cx="822960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Recap · static accuracy</a:t>
            </a:r>
            <a:endParaRPr lang="en-US" sz="3000" dirty="0"/>
          </a:p>
        </p:txBody>
      </p:sp>
      <p:sp>
        <p:nvSpPr>
          <p:cNvPr id="3" name="Shape 1"/>
          <p:cNvSpPr/>
          <p:nvPr/>
        </p:nvSpPr>
        <p:spPr>
          <a:xfrm>
            <a:off x="457200" y="1271016"/>
            <a:ext cx="274320" cy="274320"/>
          </a:xfrm>
          <a:prstGeom prst="ellipse">
            <a:avLst/>
          </a:prstGeom>
          <a:solidFill>
            <a:srgbClr val="2EC4B6"/>
          </a:solidFill>
          <a:ln w="12700">
            <a:solidFill>
              <a:srgbClr val="2EC4B6"/>
            </a:solidFill>
            <a:prstDash val="solid"/>
          </a:ln>
        </p:spPr>
      </p:sp>
      <p:sp>
        <p:nvSpPr>
          <p:cNvPr id="4" name="Text 2"/>
          <p:cNvSpPr txBox="1"/>
          <p:nvPr/>
        </p:nvSpPr>
        <p:spPr>
          <a:xfrm>
            <a:off x="457200" y="1271016"/>
            <a:ext cx="274320" cy="274320"/>
          </a:xfrm>
          <a:prstGeom prst="rect">
            <a:avLst/>
          </a:prstGeom>
          <a:noFill/>
          <a:ln/>
        </p:spPr>
        <p:txBody>
          <a:bodyPr wrap="square" lIns="0" tIns="0" rIns="0" bIns="0" rtlCol="0" anchor="ctr"/>
          <a:lstStyle/>
          <a:p>
            <a:pPr algn="ctr" indent="0" marL="0">
              <a:buNone/>
            </a:pPr>
            <a:r>
              <a:rPr lang="en-US" sz="1200" b="1" dirty="0">
                <a:solidFill>
                  <a:srgbClr val="0B1F3A"/>
                </a:solidFill>
              </a:rPr>
              <a:t>✓</a:t>
            </a:r>
            <a:endParaRPr lang="en-US" sz="1200" dirty="0"/>
          </a:p>
        </p:txBody>
      </p:sp>
      <p:sp>
        <p:nvSpPr>
          <p:cNvPr id="5" name="Text 3"/>
          <p:cNvSpPr txBox="1"/>
          <p:nvPr/>
        </p:nvSpPr>
        <p:spPr>
          <a:xfrm>
            <a:off x="868680" y="1188720"/>
            <a:ext cx="7818120" cy="566928"/>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Offset: the staircase is shifted — same error everywhere, easy to calibrate out</a:t>
            </a:r>
            <a:endParaRPr lang="en-US" sz="1450" dirty="0"/>
          </a:p>
        </p:txBody>
      </p:sp>
      <p:sp>
        <p:nvSpPr>
          <p:cNvPr id="6" name="Shape 4"/>
          <p:cNvSpPr/>
          <p:nvPr/>
        </p:nvSpPr>
        <p:spPr>
          <a:xfrm>
            <a:off x="457200" y="1837944"/>
            <a:ext cx="274320" cy="274320"/>
          </a:xfrm>
          <a:prstGeom prst="ellipse">
            <a:avLst/>
          </a:prstGeom>
          <a:solidFill>
            <a:srgbClr val="2EC4B6"/>
          </a:solidFill>
          <a:ln w="12700">
            <a:solidFill>
              <a:srgbClr val="2EC4B6"/>
            </a:solidFill>
            <a:prstDash val="solid"/>
          </a:ln>
        </p:spPr>
      </p:sp>
      <p:sp>
        <p:nvSpPr>
          <p:cNvPr id="7" name="Text 5"/>
          <p:cNvSpPr txBox="1"/>
          <p:nvPr/>
        </p:nvSpPr>
        <p:spPr>
          <a:xfrm>
            <a:off x="457200" y="1837944"/>
            <a:ext cx="274320" cy="274320"/>
          </a:xfrm>
          <a:prstGeom prst="rect">
            <a:avLst/>
          </a:prstGeom>
          <a:noFill/>
          <a:ln/>
        </p:spPr>
        <p:txBody>
          <a:bodyPr wrap="square" lIns="0" tIns="0" rIns="0" bIns="0" rtlCol="0" anchor="ctr"/>
          <a:lstStyle/>
          <a:p>
            <a:pPr algn="ctr" indent="0" marL="0">
              <a:buNone/>
            </a:pPr>
            <a:r>
              <a:rPr lang="en-US" sz="1200" b="1" dirty="0">
                <a:solidFill>
                  <a:srgbClr val="0B1F3A"/>
                </a:solidFill>
              </a:rPr>
              <a:t>✓</a:t>
            </a:r>
            <a:endParaRPr lang="en-US" sz="1200" dirty="0"/>
          </a:p>
        </p:txBody>
      </p:sp>
      <p:sp>
        <p:nvSpPr>
          <p:cNvPr id="8" name="Text 6"/>
          <p:cNvSpPr txBox="1"/>
          <p:nvPr/>
        </p:nvSpPr>
        <p:spPr>
          <a:xfrm>
            <a:off x="868680" y="1755648"/>
            <a:ext cx="7818120" cy="566928"/>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Gain: the staircase has the wrong slope — error grows with signal, two-point calibration fixes it</a:t>
            </a:r>
            <a:endParaRPr lang="en-US" sz="1450" dirty="0"/>
          </a:p>
        </p:txBody>
      </p:sp>
      <p:sp>
        <p:nvSpPr>
          <p:cNvPr id="9" name="Shape 7"/>
          <p:cNvSpPr/>
          <p:nvPr/>
        </p:nvSpPr>
        <p:spPr>
          <a:xfrm>
            <a:off x="457200" y="2404872"/>
            <a:ext cx="274320" cy="274320"/>
          </a:xfrm>
          <a:prstGeom prst="ellipse">
            <a:avLst/>
          </a:prstGeom>
          <a:solidFill>
            <a:srgbClr val="2EC4B6"/>
          </a:solidFill>
          <a:ln w="12700">
            <a:solidFill>
              <a:srgbClr val="2EC4B6"/>
            </a:solidFill>
            <a:prstDash val="solid"/>
          </a:ln>
        </p:spPr>
      </p:sp>
      <p:sp>
        <p:nvSpPr>
          <p:cNvPr id="10" name="Text 8"/>
          <p:cNvSpPr txBox="1"/>
          <p:nvPr/>
        </p:nvSpPr>
        <p:spPr>
          <a:xfrm>
            <a:off x="457200" y="2404872"/>
            <a:ext cx="274320" cy="274320"/>
          </a:xfrm>
          <a:prstGeom prst="rect">
            <a:avLst/>
          </a:prstGeom>
          <a:noFill/>
          <a:ln/>
        </p:spPr>
        <p:txBody>
          <a:bodyPr wrap="square" lIns="0" tIns="0" rIns="0" bIns="0" rtlCol="0" anchor="ctr"/>
          <a:lstStyle/>
          <a:p>
            <a:pPr algn="ctr" indent="0" marL="0">
              <a:buNone/>
            </a:pPr>
            <a:r>
              <a:rPr lang="en-US" sz="1200" b="1" dirty="0">
                <a:solidFill>
                  <a:srgbClr val="0B1F3A"/>
                </a:solidFill>
              </a:rPr>
              <a:t>✓</a:t>
            </a:r>
            <a:endParaRPr lang="en-US" sz="1200" dirty="0"/>
          </a:p>
        </p:txBody>
      </p:sp>
      <p:sp>
        <p:nvSpPr>
          <p:cNvPr id="11" name="Text 9"/>
          <p:cNvSpPr txBox="1"/>
          <p:nvPr/>
        </p:nvSpPr>
        <p:spPr>
          <a:xfrm>
            <a:off x="868680" y="2322576"/>
            <a:ext cx="7818120" cy="566928"/>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DNL: each step the wrong width. At −1 LSB a code goes missing; above −1 everywhere means monotonic</a:t>
            </a:r>
            <a:endParaRPr lang="en-US" sz="1450" dirty="0"/>
          </a:p>
        </p:txBody>
      </p:sp>
      <p:sp>
        <p:nvSpPr>
          <p:cNvPr id="12" name="Shape 10"/>
          <p:cNvSpPr/>
          <p:nvPr/>
        </p:nvSpPr>
        <p:spPr>
          <a:xfrm>
            <a:off x="457200" y="2971800"/>
            <a:ext cx="274320" cy="274320"/>
          </a:xfrm>
          <a:prstGeom prst="ellipse">
            <a:avLst/>
          </a:prstGeom>
          <a:solidFill>
            <a:srgbClr val="2EC4B6"/>
          </a:solidFill>
          <a:ln w="12700">
            <a:solidFill>
              <a:srgbClr val="2EC4B6"/>
            </a:solidFill>
            <a:prstDash val="solid"/>
          </a:ln>
        </p:spPr>
      </p:sp>
      <p:sp>
        <p:nvSpPr>
          <p:cNvPr id="13" name="Text 11"/>
          <p:cNvSpPr txBox="1"/>
          <p:nvPr/>
        </p:nvSpPr>
        <p:spPr>
          <a:xfrm>
            <a:off x="457200" y="2971800"/>
            <a:ext cx="274320" cy="274320"/>
          </a:xfrm>
          <a:prstGeom prst="rect">
            <a:avLst/>
          </a:prstGeom>
          <a:noFill/>
          <a:ln/>
        </p:spPr>
        <p:txBody>
          <a:bodyPr wrap="square" lIns="0" tIns="0" rIns="0" bIns="0" rtlCol="0" anchor="ctr"/>
          <a:lstStyle/>
          <a:p>
            <a:pPr algn="ctr" indent="0" marL="0">
              <a:buNone/>
            </a:pPr>
            <a:r>
              <a:rPr lang="en-US" sz="1200" b="1" dirty="0">
                <a:solidFill>
                  <a:srgbClr val="0B1F3A"/>
                </a:solidFill>
              </a:rPr>
              <a:t>✓</a:t>
            </a:r>
            <a:endParaRPr lang="en-US" sz="1200" dirty="0"/>
          </a:p>
        </p:txBody>
      </p:sp>
      <p:sp>
        <p:nvSpPr>
          <p:cNvPr id="14" name="Text 12"/>
          <p:cNvSpPr txBox="1"/>
          <p:nvPr/>
        </p:nvSpPr>
        <p:spPr>
          <a:xfrm>
            <a:off x="868680" y="2889504"/>
            <a:ext cx="7818120" cy="566928"/>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INL: the whole curve bows. It is the running sum of DNL, and it sets your distortion floor</a:t>
            </a:r>
            <a:endParaRPr lang="en-US" sz="1450" dirty="0"/>
          </a:p>
        </p:txBody>
      </p:sp>
      <p:sp>
        <p:nvSpPr>
          <p:cNvPr id="15" name="Shape 13"/>
          <p:cNvSpPr/>
          <p:nvPr/>
        </p:nvSpPr>
        <p:spPr>
          <a:xfrm>
            <a:off x="457200" y="3538728"/>
            <a:ext cx="274320" cy="274320"/>
          </a:xfrm>
          <a:prstGeom prst="ellipse">
            <a:avLst/>
          </a:prstGeom>
          <a:solidFill>
            <a:srgbClr val="2EC4B6"/>
          </a:solidFill>
          <a:ln w="12700">
            <a:solidFill>
              <a:srgbClr val="2EC4B6"/>
            </a:solidFill>
            <a:prstDash val="solid"/>
          </a:ln>
        </p:spPr>
      </p:sp>
      <p:sp>
        <p:nvSpPr>
          <p:cNvPr id="16" name="Text 14"/>
          <p:cNvSpPr txBox="1"/>
          <p:nvPr/>
        </p:nvSpPr>
        <p:spPr>
          <a:xfrm>
            <a:off x="457200" y="3538728"/>
            <a:ext cx="274320" cy="274320"/>
          </a:xfrm>
          <a:prstGeom prst="rect">
            <a:avLst/>
          </a:prstGeom>
          <a:noFill/>
          <a:ln/>
        </p:spPr>
        <p:txBody>
          <a:bodyPr wrap="square" lIns="0" tIns="0" rIns="0" bIns="0" rtlCol="0" anchor="ctr"/>
          <a:lstStyle/>
          <a:p>
            <a:pPr algn="ctr" indent="0" marL="0">
              <a:buNone/>
            </a:pPr>
            <a:r>
              <a:rPr lang="en-US" sz="1200" b="1" dirty="0">
                <a:solidFill>
                  <a:srgbClr val="0B1F3A"/>
                </a:solidFill>
              </a:rPr>
              <a:t>✓</a:t>
            </a:r>
            <a:endParaRPr lang="en-US" sz="1200" dirty="0"/>
          </a:p>
        </p:txBody>
      </p:sp>
      <p:sp>
        <p:nvSpPr>
          <p:cNvPr id="17" name="Text 15"/>
          <p:cNvSpPr txBox="1"/>
          <p:nvPr/>
        </p:nvSpPr>
        <p:spPr>
          <a:xfrm>
            <a:off x="868680" y="3456432"/>
            <a:ext cx="7818120" cy="566928"/>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TUE bundles them all for an uncalibrated system; drift is what survives calibration</a:t>
            </a:r>
            <a:endParaRPr lang="en-US" sz="1450" dirty="0"/>
          </a:p>
        </p:txBody>
      </p:sp>
      <p:sp>
        <p:nvSpPr>
          <p:cNvPr id="18" name="Text 16"/>
          <p:cNvSpPr txBox="1"/>
          <p:nvPr/>
        </p:nvSpPr>
        <p:spPr>
          <a:xfrm>
            <a:off x="7772400" y="4796028"/>
            <a:ext cx="914400" cy="228600"/>
          </a:xfrm>
          <a:prstGeom prst="rect">
            <a:avLst/>
          </a:prstGeom>
          <a:noFill/>
          <a:ln/>
        </p:spPr>
        <p:txBody>
          <a:bodyPr wrap="square" lIns="0" tIns="0" rIns="0" bIns="0" rtlCol="0" anchor="ctr"/>
          <a:lstStyle/>
          <a:p>
            <a:pPr algn="r" indent="0" marL="0">
              <a:buNone/>
            </a:pPr>
            <a:r>
              <a:rPr lang="en-US" sz="900" dirty="0">
                <a:solidFill>
                  <a:srgbClr val="8FA3BF"/>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B1F3A"/>
        </a:solidFill>
      </p:bgPr>
    </p:bg>
    <p:spTree>
      <p:nvGrpSpPr>
        <p:cNvPr id="1" name=""/>
        <p:cNvGrpSpPr/>
        <p:nvPr/>
      </p:nvGrpSpPr>
      <p:grpSpPr>
        <a:xfrm>
          <a:off x="0" y="0"/>
          <a:ext cx="0" cy="0"/>
          <a:chOff x="0" y="0"/>
          <a:chExt cx="0" cy="0"/>
        </a:xfrm>
      </p:grpSpPr>
      <p:sp>
        <p:nvSpPr>
          <p:cNvPr id="2" name="Text 0"/>
          <p:cNvSpPr txBox="1"/>
          <p:nvPr/>
        </p:nvSpPr>
        <p:spPr>
          <a:xfrm>
            <a:off x="457200" y="1234440"/>
            <a:ext cx="5486400" cy="365760"/>
          </a:xfrm>
          <a:prstGeom prst="rect">
            <a:avLst/>
          </a:prstGeom>
          <a:noFill/>
          <a:ln/>
        </p:spPr>
        <p:txBody>
          <a:bodyPr wrap="square" lIns="0" tIns="0" rIns="0" bIns="0" rtlCol="0" anchor="ctr"/>
          <a:lstStyle/>
          <a:p>
            <a:pPr indent="0" marL="0">
              <a:buNone/>
            </a:pPr>
            <a:r>
              <a:rPr lang="en-US" sz="1400" b="1" dirty="0">
                <a:solidFill>
                  <a:srgbClr val="2EC4B6"/>
                </a:solidFill>
                <a:latin typeface="Calibri" pitchFamily="34" charset="0"/>
                <a:ea typeface="Calibri" pitchFamily="34" charset="-122"/>
                <a:cs typeface="Calibri" pitchFamily="34" charset="-120"/>
              </a:rPr>
              <a:t>Part 3</a:t>
            </a:r>
            <a:endParaRPr lang="en-US" sz="1400" dirty="0"/>
          </a:p>
        </p:txBody>
      </p:sp>
      <p:sp>
        <p:nvSpPr>
          <p:cNvPr id="3" name="Text 1"/>
          <p:cNvSpPr txBox="1"/>
          <p:nvPr/>
        </p:nvSpPr>
        <p:spPr>
          <a:xfrm>
            <a:off x="457200" y="1600200"/>
            <a:ext cx="8229600" cy="9144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Dynamic performance (AC)</a:t>
            </a:r>
            <a:endParaRPr lang="en-US" sz="3800" dirty="0"/>
          </a:p>
        </p:txBody>
      </p:sp>
      <p:sp>
        <p:nvSpPr>
          <p:cNvPr id="4" name="Text 2"/>
          <p:cNvSpPr txBox="1"/>
          <p:nvPr/>
        </p:nvSpPr>
        <p:spPr>
          <a:xfrm>
            <a:off x="457200" y="2560320"/>
            <a:ext cx="8229600" cy="457200"/>
          </a:xfrm>
          <a:prstGeom prst="rect">
            <a:avLst/>
          </a:prstGeom>
          <a:noFill/>
          <a:ln/>
        </p:spPr>
        <p:txBody>
          <a:bodyPr wrap="square" lIns="0" tIns="0" rIns="0" bIns="0" rtlCol="0" anchor="ctr"/>
          <a:lstStyle/>
          <a:p>
            <a:pPr indent="0" marL="0">
              <a:buNone/>
            </a:pPr>
            <a:r>
              <a:rPr lang="en-US" sz="1600" dirty="0">
                <a:solidFill>
                  <a:srgbClr val="D7DEE8"/>
                </a:solidFill>
                <a:latin typeface="Calibri" pitchFamily="34" charset="0"/>
                <a:ea typeface="Calibri" pitchFamily="34" charset="-122"/>
                <a:cs typeface="Calibri" pitchFamily="34" charset="-120"/>
              </a:rPr>
              <a:t>What happens once the input starts moving</a:t>
            </a:r>
            <a:endParaRPr lang="en-US" sz="1600" dirty="0"/>
          </a:p>
        </p:txBody>
      </p:sp>
      <p:sp>
        <p:nvSpPr>
          <p:cNvPr id="5" name="Text 3"/>
          <p:cNvSpPr txBox="1"/>
          <p:nvPr/>
        </p:nvSpPr>
        <p:spPr>
          <a:xfrm>
            <a:off x="457200" y="3063240"/>
            <a:ext cx="3657600" cy="274320"/>
          </a:xfrm>
          <a:prstGeom prst="rect">
            <a:avLst/>
          </a:prstGeom>
          <a:noFill/>
          <a:ln/>
        </p:spPr>
        <p:txBody>
          <a:bodyPr wrap="square" lIns="0" tIns="0" rIns="0" bIns="0" rtlCol="0" anchor="ctr"/>
          <a:lstStyle/>
          <a:p>
            <a:pPr indent="0" marL="0">
              <a:buNone/>
            </a:pPr>
            <a:r>
              <a:rPr lang="en-US" sz="1100" dirty="0">
                <a:solidFill>
                  <a:srgbClr val="B8C4D6"/>
                </a:solidFill>
                <a:latin typeface="Calibri" pitchFamily="34" charset="0"/>
                <a:ea typeface="Calibri" pitchFamily="34" charset="-122"/>
                <a:cs typeface="Calibri" pitchFamily="34" charset="-120"/>
              </a:rPr>
              <a:t>20 minutes</a:t>
            </a:r>
            <a:endParaRPr lang="en-US" sz="1100" dirty="0"/>
          </a:p>
        </p:txBody>
      </p:sp>
      <p:sp>
        <p:nvSpPr>
          <p:cNvPr id="6" name="Text 4"/>
          <p:cNvSpPr txBox="1"/>
          <p:nvPr/>
        </p:nvSpPr>
        <p:spPr>
          <a:xfrm>
            <a:off x="7772400" y="4796028"/>
            <a:ext cx="914400" cy="228600"/>
          </a:xfrm>
          <a:prstGeom prst="rect">
            <a:avLst/>
          </a:prstGeom>
          <a:noFill/>
          <a:ln/>
        </p:spPr>
        <p:txBody>
          <a:bodyPr wrap="square" lIns="0" tIns="0" rIns="0" bIns="0" rtlCol="0" anchor="ctr"/>
          <a:lstStyle/>
          <a:p>
            <a:pPr algn="r" indent="0" marL="0">
              <a:buNone/>
            </a:pPr>
            <a:r>
              <a:rPr lang="en-US" sz="900" dirty="0">
                <a:solidFill>
                  <a:srgbClr val="8FA3BF"/>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6117336" cy="64008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SNR — signal-to-noise ratio</a:t>
            </a:r>
            <a:endParaRPr lang="en-US" sz="2400" dirty="0"/>
          </a:p>
        </p:txBody>
      </p:sp>
      <p:sp>
        <p:nvSpPr>
          <p:cNvPr id="3" name="Text 1"/>
          <p:cNvSpPr txBox="1"/>
          <p:nvPr/>
        </p:nvSpPr>
        <p:spPr>
          <a:xfrm>
            <a:off x="457200" y="4796028"/>
            <a:ext cx="4572000" cy="228600"/>
          </a:xfrm>
          <a:prstGeom prst="rect">
            <a:avLst/>
          </a:prstGeom>
          <a:noFill/>
          <a:ln/>
        </p:spPr>
        <p:txBody>
          <a:bodyPr wrap="square" lIns="0" tIns="0" rIns="0" bIns="0" rtlCol="0" anchor="ctr"/>
          <a:lstStyle/>
          <a:p>
            <a:pPr indent="0" marL="0">
              <a:buNone/>
            </a:pPr>
            <a:r>
              <a:rPr lang="en-US" sz="900" dirty="0">
                <a:solidFill>
                  <a:srgbClr val="5B6B7F"/>
                </a:solidFill>
                <a:latin typeface="Calibri" pitchFamily="34" charset="0"/>
                <a:ea typeface="Calibri" pitchFamily="34" charset="-122"/>
                <a:cs typeface="Calibri" pitchFamily="34" charset="-120"/>
              </a:rPr>
              <a:t>Part 3 · Dynamic performance (AC)</a:t>
            </a:r>
            <a:endParaRPr lang="en-US" sz="900" dirty="0"/>
          </a:p>
        </p:txBody>
      </p:sp>
      <p:sp>
        <p:nvSpPr>
          <p:cNvPr id="4" name="Text 2"/>
          <p:cNvSpPr txBox="1"/>
          <p:nvPr/>
        </p:nvSpPr>
        <p:spPr>
          <a:xfrm>
            <a:off x="7772400" y="4796028"/>
            <a:ext cx="914400" cy="228600"/>
          </a:xfrm>
          <a:prstGeom prst="rect">
            <a:avLst/>
          </a:prstGeom>
          <a:noFill/>
          <a:ln/>
        </p:spPr>
        <p:txBody>
          <a:bodyPr wrap="square" lIns="0" tIns="0" rIns="0" bIns="0" rtlCol="0" anchor="ctr"/>
          <a:lstStyle/>
          <a:p>
            <a:pPr algn="r" indent="0" marL="0">
              <a:buNone/>
            </a:pPr>
            <a:r>
              <a:rPr lang="en-US" sz="900" dirty="0">
                <a:solidFill>
                  <a:srgbClr val="5B6B7F"/>
                </a:solidFill>
                <a:latin typeface="Calibri" pitchFamily="34" charset="0"/>
                <a:ea typeface="Calibri" pitchFamily="34" charset="-122"/>
                <a:cs typeface="Calibri" pitchFamily="34" charset="-120"/>
              </a:rPr>
              <a:t>23</a:t>
            </a:r>
            <a:endParaRPr lang="en-US" sz="900" dirty="0"/>
          </a:p>
        </p:txBody>
      </p:sp>
      <p:sp>
        <p:nvSpPr>
          <p:cNvPr id="5" name="Shape 3"/>
          <p:cNvSpPr/>
          <p:nvPr/>
        </p:nvSpPr>
        <p:spPr>
          <a:xfrm>
            <a:off x="6803136" y="384048"/>
            <a:ext cx="1883664" cy="384048"/>
          </a:xfrm>
          <a:prstGeom prst="roundRect">
            <a:avLst>
              <a:gd name="adj" fmla="val 19048"/>
            </a:avLst>
          </a:prstGeom>
          <a:solidFill>
            <a:srgbClr val="EEF3F8"/>
          </a:solidFill>
          <a:ln w="12700">
            <a:solidFill>
              <a:srgbClr val="EEF3F8"/>
            </a:solidFill>
            <a:prstDash val="solid"/>
          </a:ln>
        </p:spPr>
      </p:sp>
      <p:sp>
        <p:nvSpPr>
          <p:cNvPr id="6" name="Text 4"/>
          <p:cNvSpPr txBox="1"/>
          <p:nvPr/>
        </p:nvSpPr>
        <p:spPr>
          <a:xfrm>
            <a:off x="6803136" y="384048"/>
            <a:ext cx="1883664" cy="384048"/>
          </a:xfrm>
          <a:prstGeom prst="rect">
            <a:avLst/>
          </a:prstGeom>
          <a:noFill/>
          <a:ln/>
        </p:spPr>
        <p:txBody>
          <a:bodyPr wrap="square" lIns="0" tIns="0" rIns="0" bIns="0" rtlCol="0" anchor="ctr"/>
          <a:lstStyle/>
          <a:p>
            <a:pPr algn="ctr" indent="0" marL="0">
              <a:buNone/>
            </a:pPr>
            <a:r>
              <a:rPr lang="en-US" sz="1200" b="1" dirty="0">
                <a:solidFill>
                  <a:srgbClr val="0B1F3A"/>
                </a:solidFill>
                <a:latin typeface="Cambria" pitchFamily="34" charset="0"/>
                <a:ea typeface="Cambria" pitchFamily="34" charset="-122"/>
                <a:cs typeface="Cambria" pitchFamily="34" charset="-120"/>
              </a:rPr>
              <a:t>SNR   ·   dB</a:t>
            </a:r>
            <a:endParaRPr lang="en-US" sz="1200" dirty="0"/>
          </a:p>
        </p:txBody>
      </p:sp>
      <p:sp>
        <p:nvSpPr>
          <p:cNvPr id="7" name="Text 5"/>
          <p:cNvSpPr txBox="1"/>
          <p:nvPr/>
        </p:nvSpPr>
        <p:spPr>
          <a:xfrm>
            <a:off x="457200" y="1042416"/>
            <a:ext cx="4023360" cy="1005840"/>
          </a:xfrm>
          <a:prstGeom prst="rect">
            <a:avLst/>
          </a:prstGeom>
          <a:noFill/>
          <a:ln/>
        </p:spPr>
        <p:txBody>
          <a:bodyPr wrap="square" lIns="0" tIns="0" rIns="0" bIns="0" rtlCol="0" anchor="t"/>
          <a:lstStyle/>
          <a:p>
            <a:pPr indent="0" marL="0">
              <a:buNone/>
            </a:pPr>
            <a:r>
              <a:rPr lang="en-US" sz="1150" dirty="0">
                <a:solidFill>
                  <a:srgbClr val="14213D"/>
                </a:solidFill>
                <a:latin typeface="Calibri" pitchFamily="34" charset="0"/>
                <a:ea typeface="Calibri" pitchFamily="34" charset="-122"/>
                <a:cs typeface="Calibri" pitchFamily="34" charset="-120"/>
              </a:rPr>
              <a:t>How far the wanted tone stands above the noise, with the harmonics deliberately excluded. It is the parameter that tells you how small a signal you can still see.</a:t>
            </a:r>
            <a:endParaRPr lang="en-US" sz="1150" dirty="0"/>
          </a:p>
        </p:txBody>
      </p:sp>
      <p:sp>
        <p:nvSpPr>
          <p:cNvPr id="8" name="Shape 6"/>
          <p:cNvSpPr/>
          <p:nvPr/>
        </p:nvSpPr>
        <p:spPr>
          <a:xfrm>
            <a:off x="457200" y="2103120"/>
            <a:ext cx="4023360" cy="685800"/>
          </a:xfrm>
          <a:prstGeom prst="roundRect">
            <a:avLst>
              <a:gd name="adj" fmla="val 10667"/>
            </a:avLst>
          </a:prstGeom>
          <a:solidFill>
            <a:srgbClr val="EEF3F8"/>
          </a:solidFill>
          <a:ln w="12700">
            <a:solidFill>
              <a:srgbClr val="EEF3F8"/>
            </a:solidFill>
            <a:prstDash val="solid"/>
          </a:ln>
        </p:spPr>
      </p:sp>
      <p:sp>
        <p:nvSpPr>
          <p:cNvPr id="9" name="Text 7"/>
          <p:cNvSpPr txBox="1"/>
          <p:nvPr/>
        </p:nvSpPr>
        <p:spPr>
          <a:xfrm>
            <a:off x="594360" y="2103120"/>
            <a:ext cx="3749040" cy="429768"/>
          </a:xfrm>
          <a:prstGeom prst="rect">
            <a:avLst/>
          </a:prstGeom>
          <a:noFill/>
          <a:ln/>
        </p:spPr>
        <p:txBody>
          <a:bodyPr wrap="square" lIns="0" tIns="0" rIns="0" bIns="0" rtlCol="0" anchor="ctr"/>
          <a:lstStyle/>
          <a:p>
            <a:pPr algn="ctr" indent="0" marL="0">
              <a:buNone/>
            </a:pPr>
            <a:r>
              <a:rPr lang="en-US" sz="1400" dirty="0">
                <a:solidFill>
                  <a:srgbClr val="0B1F3A"/>
                </a:solidFill>
                <a:latin typeface="Cambria" pitchFamily="34" charset="0"/>
                <a:ea typeface="Cambria" pitchFamily="34" charset="-122"/>
                <a:cs typeface="Cambria" pitchFamily="34" charset="-120"/>
              </a:rPr>
              <a:t>SNR = 10 log₁₀( P_signal / P_noise )</a:t>
            </a:r>
            <a:endParaRPr lang="en-US" sz="1400" dirty="0"/>
          </a:p>
        </p:txBody>
      </p:sp>
      <p:sp>
        <p:nvSpPr>
          <p:cNvPr id="10" name="Text 8"/>
          <p:cNvSpPr txBox="1"/>
          <p:nvPr/>
        </p:nvSpPr>
        <p:spPr>
          <a:xfrm>
            <a:off x="594360" y="2487168"/>
            <a:ext cx="3749040" cy="256032"/>
          </a:xfrm>
          <a:prstGeom prst="rect">
            <a:avLst/>
          </a:prstGeom>
          <a:noFill/>
          <a:ln/>
        </p:spPr>
        <p:txBody>
          <a:bodyPr wrap="square" lIns="0" tIns="0" rIns="0" bIns="0" rtlCol="0" anchor="t"/>
          <a:lstStyle/>
          <a:p>
            <a:pPr algn="ctr" indent="0" marL="0">
              <a:buNone/>
            </a:pPr>
            <a:r>
              <a:rPr lang="en-US" sz="1000" dirty="0">
                <a:solidFill>
                  <a:srgbClr val="5B6B7F"/>
                </a:solidFill>
                <a:latin typeface="Calibri" pitchFamily="34" charset="0"/>
                <a:ea typeface="Calibri" pitchFamily="34" charset="-122"/>
                <a:cs typeface="Calibri" pitchFamily="34" charset="-120"/>
              </a:rPr>
              <a:t>Harmonics are removed from the noise sum first</a:t>
            </a:r>
            <a:endParaRPr lang="en-US" sz="1000" dirty="0"/>
          </a:p>
        </p:txBody>
      </p:sp>
      <p:sp>
        <p:nvSpPr>
          <p:cNvPr id="11" name="Shape 9"/>
          <p:cNvSpPr/>
          <p:nvPr/>
        </p:nvSpPr>
        <p:spPr>
          <a:xfrm>
            <a:off x="457200" y="2862072"/>
            <a:ext cx="4023360" cy="685800"/>
          </a:xfrm>
          <a:prstGeom prst="roundRect">
            <a:avLst>
              <a:gd name="adj" fmla="val 10667"/>
            </a:avLst>
          </a:prstGeom>
          <a:solidFill>
            <a:srgbClr val="EEF3F8"/>
          </a:solidFill>
          <a:ln w="12700">
            <a:solidFill>
              <a:srgbClr val="EEF3F8"/>
            </a:solidFill>
            <a:prstDash val="solid"/>
          </a:ln>
        </p:spPr>
      </p:sp>
      <p:sp>
        <p:nvSpPr>
          <p:cNvPr id="12" name="Text 10"/>
          <p:cNvSpPr txBox="1"/>
          <p:nvPr/>
        </p:nvSpPr>
        <p:spPr>
          <a:xfrm>
            <a:off x="594360" y="2862072"/>
            <a:ext cx="3749040" cy="429768"/>
          </a:xfrm>
          <a:prstGeom prst="rect">
            <a:avLst/>
          </a:prstGeom>
          <a:noFill/>
          <a:ln/>
        </p:spPr>
        <p:txBody>
          <a:bodyPr wrap="square" lIns="0" tIns="0" rIns="0" bIns="0" rtlCol="0" anchor="ctr"/>
          <a:lstStyle/>
          <a:p>
            <a:pPr algn="ctr" indent="0" marL="0">
              <a:buNone/>
            </a:pPr>
            <a:r>
              <a:rPr lang="en-US" sz="1500" dirty="0">
                <a:solidFill>
                  <a:srgbClr val="0B1F3A"/>
                </a:solidFill>
                <a:latin typeface="Cambria" pitchFamily="34" charset="0"/>
                <a:ea typeface="Cambria" pitchFamily="34" charset="-122"/>
                <a:cs typeface="Cambria" pitchFamily="34" charset="-120"/>
              </a:rPr>
              <a:t>SNR_ideal = 6.02 N + 1.76 dB</a:t>
            </a:r>
            <a:endParaRPr lang="en-US" sz="1500" dirty="0"/>
          </a:p>
        </p:txBody>
      </p:sp>
      <p:sp>
        <p:nvSpPr>
          <p:cNvPr id="13" name="Text 11"/>
          <p:cNvSpPr txBox="1"/>
          <p:nvPr/>
        </p:nvSpPr>
        <p:spPr>
          <a:xfrm>
            <a:off x="594360" y="3246120"/>
            <a:ext cx="3749040" cy="256032"/>
          </a:xfrm>
          <a:prstGeom prst="rect">
            <a:avLst/>
          </a:prstGeom>
          <a:noFill/>
          <a:ln/>
        </p:spPr>
        <p:txBody>
          <a:bodyPr wrap="square" lIns="0" tIns="0" rIns="0" bIns="0" rtlCol="0" anchor="t"/>
          <a:lstStyle/>
          <a:p>
            <a:pPr algn="ctr" indent="0" marL="0">
              <a:buNone/>
            </a:pPr>
            <a:r>
              <a:rPr lang="en-US" sz="1000" dirty="0">
                <a:solidFill>
                  <a:srgbClr val="5B6B7F"/>
                </a:solidFill>
                <a:latin typeface="Calibri" pitchFamily="34" charset="0"/>
                <a:ea typeface="Calibri" pitchFamily="34" charset="-122"/>
                <a:cs typeface="Calibri" pitchFamily="34" charset="-120"/>
              </a:rPr>
              <a:t>The best a perfect N-bit converter can manage</a:t>
            </a:r>
            <a:endParaRPr lang="en-US" sz="1000" dirty="0"/>
          </a:p>
        </p:txBody>
      </p:sp>
      <p:graphicFrame>
        <p:nvGraphicFramePr>
          <p:cNvPr id="14" name="Chart 0" descr=""/>
          <p:cNvGraphicFramePr/>
          <p:nvPr/>
        </p:nvGraphicFramePr>
        <p:xfrm>
          <a:off x="4663440" y="1042416"/>
          <a:ext cx="4023360" cy="2084832"/>
        </p:xfrm>
        <a:graphic xmlns:a="http://schemas.openxmlformats.org/drawingml/2006/main">
          <a:graphicData uri="http://schemas.openxmlformats.org/drawingml/2006/chart">
            <c:chart xmlns:c="http://schemas.openxmlformats.org/drawingml/2006/chart" r:id="rId1"/>
          </a:graphicData>
        </a:graphic>
      </p:graphicFrame>
      <p:sp>
        <p:nvSpPr>
          <p:cNvPr id="15" name="Text 12"/>
          <p:cNvSpPr txBox="1"/>
          <p:nvPr/>
        </p:nvSpPr>
        <p:spPr>
          <a:xfrm>
            <a:off x="4663440" y="3200400"/>
            <a:ext cx="4023360" cy="347472"/>
          </a:xfrm>
          <a:prstGeom prst="rect">
            <a:avLst/>
          </a:prstGeom>
          <a:noFill/>
          <a:ln/>
        </p:spPr>
        <p:txBody>
          <a:bodyPr wrap="square" lIns="0" tIns="0" rIns="0" bIns="0" rtlCol="0" anchor="ctr"/>
          <a:lstStyle/>
          <a:p>
            <a:pPr algn="ctr" indent="0" marL="0">
              <a:buNone/>
            </a:pPr>
            <a:r>
              <a:rPr lang="en-US" sz="1000" i="1" dirty="0">
                <a:solidFill>
                  <a:srgbClr val="5B6B7F"/>
                </a:solidFill>
                <a:latin typeface="Calibri" pitchFamily="34" charset="0"/>
                <a:ea typeface="Calibri" pitchFamily="34" charset="-122"/>
                <a:cs typeface="Calibri" pitchFamily="34" charset="-120"/>
              </a:rPr>
              <a:t>Real SNR sits below the ideal because of thermal noise, clock jitter and DNL. The gap between them is the honest measure of an ADC’s quality.</a:t>
            </a:r>
            <a:endParaRPr lang="en-US" sz="1000" dirty="0"/>
          </a:p>
        </p:txBody>
      </p:sp>
      <p:sp>
        <p:nvSpPr>
          <p:cNvPr id="16" name="Shape 13"/>
          <p:cNvSpPr/>
          <p:nvPr/>
        </p:nvSpPr>
        <p:spPr>
          <a:xfrm>
            <a:off x="457200" y="3675888"/>
            <a:ext cx="4023360" cy="1024128"/>
          </a:xfrm>
          <a:prstGeom prst="roundRect">
            <a:avLst>
              <a:gd name="adj" fmla="val 7143"/>
            </a:avLst>
          </a:prstGeom>
          <a:solidFill>
            <a:srgbClr val="E4F7F4"/>
          </a:solidFill>
          <a:ln w="12700">
            <a:solidFill>
              <a:srgbClr val="E4F7F4"/>
            </a:solidFill>
            <a:prstDash val="solid"/>
          </a:ln>
        </p:spPr>
      </p:sp>
      <p:sp>
        <p:nvSpPr>
          <p:cNvPr id="17" name="Shape 14"/>
          <p:cNvSpPr/>
          <p:nvPr/>
        </p:nvSpPr>
        <p:spPr>
          <a:xfrm>
            <a:off x="566928" y="3776472"/>
            <a:ext cx="237744" cy="237744"/>
          </a:xfrm>
          <a:prstGeom prst="ellipse">
            <a:avLst/>
          </a:prstGeom>
          <a:solidFill>
            <a:srgbClr val="2EC4B6"/>
          </a:solidFill>
          <a:ln w="12700">
            <a:solidFill>
              <a:srgbClr val="2EC4B6"/>
            </a:solidFill>
            <a:prstDash val="solid"/>
          </a:ln>
        </p:spPr>
      </p:sp>
      <p:sp>
        <p:nvSpPr>
          <p:cNvPr id="18" name="Text 15"/>
          <p:cNvSpPr txBox="1"/>
          <p:nvPr/>
        </p:nvSpPr>
        <p:spPr>
          <a:xfrm>
            <a:off x="566928" y="3776472"/>
            <a:ext cx="237744" cy="237744"/>
          </a:xfrm>
          <a:prstGeom prst="rect">
            <a:avLst/>
          </a:prstGeom>
          <a:noFill/>
          <a:ln/>
        </p:spPr>
        <p:txBody>
          <a:bodyPr wrap="square" lIns="0" tIns="0" rIns="0" bIns="0" rtlCol="0" anchor="ctr"/>
          <a:lstStyle/>
          <a:p>
            <a:pPr algn="ctr" indent="0" marL="0">
              <a:buNone/>
            </a:pPr>
            <a:r>
              <a:rPr lang="en-US" sz="1200" b="1" dirty="0">
                <a:solidFill>
                  <a:srgbClr val="0B1F3A"/>
                </a:solidFill>
                <a:latin typeface="Calibri" pitchFamily="34" charset="0"/>
                <a:ea typeface="Calibri" pitchFamily="34" charset="-122"/>
                <a:cs typeface="Calibri" pitchFamily="34" charset="-120"/>
              </a:rPr>
              <a:t>≈</a:t>
            </a:r>
            <a:endParaRPr lang="en-US" sz="1200" dirty="0"/>
          </a:p>
        </p:txBody>
      </p:sp>
      <p:sp>
        <p:nvSpPr>
          <p:cNvPr id="19" name="Text 16"/>
          <p:cNvSpPr txBox="1"/>
          <p:nvPr/>
        </p:nvSpPr>
        <p:spPr>
          <a:xfrm>
            <a:off x="877824" y="3739896"/>
            <a:ext cx="3493008" cy="896112"/>
          </a:xfrm>
          <a:prstGeom prst="rect">
            <a:avLst/>
          </a:prstGeom>
          <a:noFill/>
          <a:ln/>
        </p:spPr>
        <p:txBody>
          <a:bodyPr wrap="square" lIns="0" tIns="0" rIns="0" bIns="0" rtlCol="0" anchor="t"/>
          <a:lstStyle/>
          <a:p>
            <a:pPr indent="0" marL="0">
              <a:buNone/>
            </a:pPr>
            <a:r>
              <a:rPr lang="en-US" sz="1050" b="1" dirty="0">
                <a:solidFill>
                  <a:srgbClr val="0B1F3A"/>
                </a:solidFill>
                <a:latin typeface="Calibri" pitchFamily="34" charset="0"/>
                <a:ea typeface="Calibri" pitchFamily="34" charset="-122"/>
                <a:cs typeface="Calibri" pitchFamily="34" charset="-120"/>
              </a:rPr>
              <a:t>Think of it like this  </a:t>
            </a:r>
            <a:pPr indent="0" marL="0">
              <a:buNone/>
            </a:pPr>
            <a:r>
              <a:rPr lang="en-US" sz="1050" dirty="0">
                <a:solidFill>
                  <a:srgbClr val="14213D"/>
                </a:solidFill>
                <a:latin typeface="Calibri" pitchFamily="34" charset="0"/>
                <a:ea typeface="Calibri" pitchFamily="34" charset="-122"/>
                <a:cs typeface="Calibri" pitchFamily="34" charset="-120"/>
              </a:rPr>
              <a:t>How loudly a voice stands out over the hiss of a room. Distortion is a separate problem — that is the voice being slurred, not drowned.</a:t>
            </a:r>
            <a:endParaRPr lang="en-US" sz="1050" dirty="0"/>
          </a:p>
        </p:txBody>
      </p:sp>
      <p:sp>
        <p:nvSpPr>
          <p:cNvPr id="20" name="Shape 17"/>
          <p:cNvSpPr/>
          <p:nvPr/>
        </p:nvSpPr>
        <p:spPr>
          <a:xfrm>
            <a:off x="4663440" y="3675888"/>
            <a:ext cx="4023360" cy="1024128"/>
          </a:xfrm>
          <a:prstGeom prst="roundRect">
            <a:avLst>
              <a:gd name="adj" fmla="val 7143"/>
            </a:avLst>
          </a:prstGeom>
          <a:solidFill>
            <a:srgbClr val="FFFFFF"/>
          </a:solidFill>
          <a:ln w="12700">
            <a:solidFill>
              <a:srgbClr val="0B1F3A"/>
            </a:solidFill>
            <a:prstDash val="solid"/>
          </a:ln>
        </p:spPr>
      </p:sp>
      <p:sp>
        <p:nvSpPr>
          <p:cNvPr id="21" name="Shape 18"/>
          <p:cNvSpPr/>
          <p:nvPr/>
        </p:nvSpPr>
        <p:spPr>
          <a:xfrm>
            <a:off x="4773168" y="3566160"/>
            <a:ext cx="914400" cy="219456"/>
          </a:xfrm>
          <a:prstGeom prst="roundRect">
            <a:avLst>
              <a:gd name="adj" fmla="val 25000"/>
            </a:avLst>
          </a:prstGeom>
          <a:solidFill>
            <a:srgbClr val="0B1F3A"/>
          </a:solidFill>
          <a:ln w="12700">
            <a:solidFill>
              <a:srgbClr val="0B1F3A"/>
            </a:solidFill>
            <a:prstDash val="solid"/>
          </a:ln>
        </p:spPr>
      </p:sp>
      <p:sp>
        <p:nvSpPr>
          <p:cNvPr id="22" name="Text 19"/>
          <p:cNvSpPr txBox="1"/>
          <p:nvPr/>
        </p:nvSpPr>
        <p:spPr>
          <a:xfrm>
            <a:off x="4773168" y="3566160"/>
            <a:ext cx="914400" cy="219456"/>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EXAMPLE</a:t>
            </a:r>
            <a:endParaRPr lang="en-US" sz="850" dirty="0"/>
          </a:p>
        </p:txBody>
      </p:sp>
      <p:sp>
        <p:nvSpPr>
          <p:cNvPr id="23" name="Text 20"/>
          <p:cNvSpPr txBox="1"/>
          <p:nvPr/>
        </p:nvSpPr>
        <p:spPr>
          <a:xfrm>
            <a:off x="4791456" y="3813048"/>
            <a:ext cx="3803904" cy="841248"/>
          </a:xfrm>
          <a:prstGeom prst="rect">
            <a:avLst/>
          </a:prstGeom>
          <a:noFill/>
          <a:ln/>
        </p:spPr>
        <p:txBody>
          <a:bodyPr wrap="square" lIns="0" tIns="0" rIns="0" bIns="0" rtlCol="0" anchor="t"/>
          <a:lstStyle/>
          <a:p>
            <a:pPr indent="0" marL="0">
              <a:spcAft>
                <a:spcPts val="100"/>
              </a:spcAft>
              <a:buNone/>
            </a:pPr>
            <a:r>
              <a:rPr lang="en-US" sz="1000" b="1" dirty="0">
                <a:solidFill>
                  <a:srgbClr val="0B1F3A"/>
                </a:solidFill>
                <a:latin typeface="Calibri" pitchFamily="34" charset="0"/>
                <a:ea typeface="Calibri" pitchFamily="34" charset="-122"/>
                <a:cs typeface="Calibri" pitchFamily="34" charset="-120"/>
              </a:rPr>
              <a:t>Where the ideal number comes from</a:t>
            </a:r>
            <a:endParaRPr lang="en-US" sz="1000" dirty="0"/>
          </a:p>
          <a:p>
            <a:pPr marL="114300" indent="-114300">
              <a:spcAft>
                <a:spcPts val="100"/>
              </a:spcAft>
              <a:buSzPct val="100000"/>
              <a:buChar char="•"/>
            </a:pPr>
            <a:r>
              <a:rPr lang="en-US" sz="1000" dirty="0">
                <a:solidFill>
                  <a:srgbClr val="14213D"/>
                </a:solidFill>
                <a:latin typeface="Cambria" pitchFamily="34" charset="0"/>
                <a:ea typeface="Cambria" pitchFamily="34" charset="-122"/>
                <a:cs typeface="Cambria" pitchFamily="34" charset="-120"/>
              </a:rPr>
              <a:t>Full-scale sine power: (FSR/2)²/2 = FSR²/8</a:t>
            </a:r>
            <a:endParaRPr lang="en-US" sz="1000" dirty="0"/>
          </a:p>
          <a:p>
            <a:pPr marL="114300" indent="-114300">
              <a:spcAft>
                <a:spcPts val="100"/>
              </a:spcAft>
              <a:buSzPct val="100000"/>
              <a:buChar char="•"/>
            </a:pPr>
            <a:r>
              <a:rPr lang="en-US" sz="1000" dirty="0">
                <a:solidFill>
                  <a:srgbClr val="14213D"/>
                </a:solidFill>
                <a:latin typeface="Cambria" pitchFamily="34" charset="0"/>
                <a:ea typeface="Cambria" pitchFamily="34" charset="-122"/>
                <a:cs typeface="Cambria" pitchFamily="34" charset="-120"/>
              </a:rPr>
              <a:t>Quantisation noise power: LSB²/12 = FSR²/(12 × 2²ᴺ)</a:t>
            </a:r>
            <a:endParaRPr lang="en-US" sz="1000" dirty="0"/>
          </a:p>
          <a:p>
            <a:pPr marL="114300" indent="-114300">
              <a:spcAft>
                <a:spcPts val="100"/>
              </a:spcAft>
              <a:buSzPct val="100000"/>
              <a:buChar char="•"/>
            </a:pPr>
            <a:r>
              <a:rPr lang="en-US" sz="1000" dirty="0">
                <a:solidFill>
                  <a:srgbClr val="14213D"/>
                </a:solidFill>
                <a:latin typeface="Cambria" pitchFamily="34" charset="0"/>
                <a:ea typeface="Cambria" pitchFamily="34" charset="-122"/>
                <a:cs typeface="Cambria" pitchFamily="34" charset="-120"/>
              </a:rPr>
              <a:t>Ratio = 1.5 × 2²ᴺ → 10 log₁₀ = 6.02 N + 1.76 dB</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4709160" cy="640080"/>
          </a:xfrm>
          <a:prstGeom prst="rect">
            <a:avLst/>
          </a:prstGeom>
          <a:noFill/>
          <a:ln/>
        </p:spPr>
        <p:txBody>
          <a:bodyPr wrap="square" lIns="0" tIns="0" rIns="0" bIns="0" rtlCol="0" anchor="ctr"/>
          <a:lstStyle/>
          <a:p>
            <a:pPr indent="0" marL="0">
              <a:buNone/>
            </a:pPr>
            <a:r>
              <a:rPr lang="en-US" sz="1800" b="1" dirty="0">
                <a:solidFill>
                  <a:srgbClr val="0B1F3A"/>
                </a:solidFill>
                <a:latin typeface="Cambria" pitchFamily="34" charset="0"/>
                <a:ea typeface="Cambria" pitchFamily="34" charset="-122"/>
                <a:cs typeface="Cambria" pitchFamily="34" charset="-120"/>
              </a:rPr>
              <a:t>Input-referred noise and noise-free bits</a:t>
            </a:r>
            <a:endParaRPr lang="en-US" sz="1800" dirty="0"/>
          </a:p>
        </p:txBody>
      </p:sp>
      <p:sp>
        <p:nvSpPr>
          <p:cNvPr id="3" name="Text 1"/>
          <p:cNvSpPr txBox="1"/>
          <p:nvPr/>
        </p:nvSpPr>
        <p:spPr>
          <a:xfrm>
            <a:off x="457200" y="4796028"/>
            <a:ext cx="4572000" cy="228600"/>
          </a:xfrm>
          <a:prstGeom prst="rect">
            <a:avLst/>
          </a:prstGeom>
          <a:noFill/>
          <a:ln/>
        </p:spPr>
        <p:txBody>
          <a:bodyPr wrap="square" lIns="0" tIns="0" rIns="0" bIns="0" rtlCol="0" anchor="ctr"/>
          <a:lstStyle/>
          <a:p>
            <a:pPr indent="0" marL="0">
              <a:buNone/>
            </a:pPr>
            <a:r>
              <a:rPr lang="en-US" sz="900" dirty="0">
                <a:solidFill>
                  <a:srgbClr val="5B6B7F"/>
                </a:solidFill>
                <a:latin typeface="Calibri" pitchFamily="34" charset="0"/>
                <a:ea typeface="Calibri" pitchFamily="34" charset="-122"/>
                <a:cs typeface="Calibri" pitchFamily="34" charset="-120"/>
              </a:rPr>
              <a:t>Part 3 · Dynamic performance (AC)</a:t>
            </a:r>
            <a:endParaRPr lang="en-US" sz="900" dirty="0"/>
          </a:p>
        </p:txBody>
      </p:sp>
      <p:sp>
        <p:nvSpPr>
          <p:cNvPr id="4" name="Text 2"/>
          <p:cNvSpPr txBox="1"/>
          <p:nvPr/>
        </p:nvSpPr>
        <p:spPr>
          <a:xfrm>
            <a:off x="7772400" y="4796028"/>
            <a:ext cx="914400" cy="228600"/>
          </a:xfrm>
          <a:prstGeom prst="rect">
            <a:avLst/>
          </a:prstGeom>
          <a:noFill/>
          <a:ln/>
        </p:spPr>
        <p:txBody>
          <a:bodyPr wrap="square" lIns="0" tIns="0" rIns="0" bIns="0" rtlCol="0" anchor="ctr"/>
          <a:lstStyle/>
          <a:p>
            <a:pPr algn="r" indent="0" marL="0">
              <a:buNone/>
            </a:pPr>
            <a:r>
              <a:rPr lang="en-US" sz="900" dirty="0">
                <a:solidFill>
                  <a:srgbClr val="5B6B7F"/>
                </a:solidFill>
                <a:latin typeface="Calibri" pitchFamily="34" charset="0"/>
                <a:ea typeface="Calibri" pitchFamily="34" charset="-122"/>
                <a:cs typeface="Calibri" pitchFamily="34" charset="-120"/>
              </a:rPr>
              <a:t>24</a:t>
            </a:r>
            <a:endParaRPr lang="en-US" sz="900" dirty="0"/>
          </a:p>
        </p:txBody>
      </p:sp>
      <p:sp>
        <p:nvSpPr>
          <p:cNvPr id="5" name="Shape 3"/>
          <p:cNvSpPr/>
          <p:nvPr/>
        </p:nvSpPr>
        <p:spPr>
          <a:xfrm>
            <a:off x="5394960" y="384048"/>
            <a:ext cx="3291840" cy="384048"/>
          </a:xfrm>
          <a:prstGeom prst="roundRect">
            <a:avLst>
              <a:gd name="adj" fmla="val 19048"/>
            </a:avLst>
          </a:prstGeom>
          <a:solidFill>
            <a:srgbClr val="EEF3F8"/>
          </a:solidFill>
          <a:ln w="12700">
            <a:solidFill>
              <a:srgbClr val="EEF3F8"/>
            </a:solidFill>
            <a:prstDash val="solid"/>
          </a:ln>
        </p:spPr>
      </p:sp>
      <p:sp>
        <p:nvSpPr>
          <p:cNvPr id="6" name="Text 4"/>
          <p:cNvSpPr txBox="1"/>
          <p:nvPr/>
        </p:nvSpPr>
        <p:spPr>
          <a:xfrm>
            <a:off x="5394960" y="384048"/>
            <a:ext cx="3291840" cy="384048"/>
          </a:xfrm>
          <a:prstGeom prst="rect">
            <a:avLst/>
          </a:prstGeom>
          <a:noFill/>
          <a:ln/>
        </p:spPr>
        <p:txBody>
          <a:bodyPr wrap="square" lIns="0" tIns="0" rIns="0" bIns="0" rtlCol="0" anchor="ctr"/>
          <a:lstStyle/>
          <a:p>
            <a:pPr algn="ctr" indent="0" marL="0">
              <a:buNone/>
            </a:pPr>
            <a:r>
              <a:rPr lang="en-US" sz="1200" b="1" dirty="0">
                <a:solidFill>
                  <a:srgbClr val="0B1F3A"/>
                </a:solidFill>
                <a:latin typeface="Cambria" pitchFamily="34" charset="0"/>
                <a:ea typeface="Cambria" pitchFamily="34" charset="-122"/>
                <a:cs typeface="Cambria" pitchFamily="34" charset="-120"/>
              </a:rPr>
              <a:t>σ_n, NFR   ·   LSB rms, bits</a:t>
            </a:r>
            <a:endParaRPr lang="en-US" sz="1200" dirty="0"/>
          </a:p>
        </p:txBody>
      </p:sp>
      <p:sp>
        <p:nvSpPr>
          <p:cNvPr id="7" name="Text 5"/>
          <p:cNvSpPr txBox="1"/>
          <p:nvPr/>
        </p:nvSpPr>
        <p:spPr>
          <a:xfrm>
            <a:off x="457200" y="1042416"/>
            <a:ext cx="4023360" cy="1207008"/>
          </a:xfrm>
          <a:prstGeom prst="rect">
            <a:avLst/>
          </a:prstGeom>
          <a:noFill/>
          <a:ln/>
        </p:spPr>
        <p:txBody>
          <a:bodyPr wrap="square" lIns="0" tIns="0" rIns="0" bIns="0" rtlCol="0" anchor="t"/>
          <a:lstStyle/>
          <a:p>
            <a:pPr indent="0" marL="0">
              <a:buNone/>
            </a:pPr>
            <a:r>
              <a:rPr lang="en-US" sz="1150" dirty="0">
                <a:solidFill>
                  <a:srgbClr val="14213D"/>
                </a:solidFill>
                <a:latin typeface="Calibri" pitchFamily="34" charset="0"/>
                <a:ea typeface="Calibri" pitchFamily="34" charset="-122"/>
                <a:cs typeface="Calibri" pitchFamily="34" charset="-120"/>
              </a:rPr>
              <a:t>Short the input and take thousands of readings: a perfect ADC returns the same code every time, a real one returns a small spread of codes. The width of that spread is input-referred noise, and it decides how many of your bits are actually trustworthy.</a:t>
            </a:r>
            <a:endParaRPr lang="en-US" sz="1150" dirty="0"/>
          </a:p>
        </p:txBody>
      </p:sp>
      <p:sp>
        <p:nvSpPr>
          <p:cNvPr id="8" name="Shape 6"/>
          <p:cNvSpPr/>
          <p:nvPr/>
        </p:nvSpPr>
        <p:spPr>
          <a:xfrm>
            <a:off x="457200" y="2304288"/>
            <a:ext cx="4023360" cy="868680"/>
          </a:xfrm>
          <a:prstGeom prst="roundRect">
            <a:avLst>
              <a:gd name="adj" fmla="val 8421"/>
            </a:avLst>
          </a:prstGeom>
          <a:solidFill>
            <a:srgbClr val="EEF3F8"/>
          </a:solidFill>
          <a:ln w="12700">
            <a:solidFill>
              <a:srgbClr val="EEF3F8"/>
            </a:solidFill>
            <a:prstDash val="solid"/>
          </a:ln>
        </p:spPr>
      </p:sp>
      <p:sp>
        <p:nvSpPr>
          <p:cNvPr id="9" name="Text 7"/>
          <p:cNvSpPr txBox="1"/>
          <p:nvPr/>
        </p:nvSpPr>
        <p:spPr>
          <a:xfrm>
            <a:off x="594360" y="2304288"/>
            <a:ext cx="3749040" cy="612648"/>
          </a:xfrm>
          <a:prstGeom prst="rect">
            <a:avLst/>
          </a:prstGeom>
          <a:noFill/>
          <a:ln/>
        </p:spPr>
        <p:txBody>
          <a:bodyPr wrap="square" lIns="0" tIns="0" rIns="0" bIns="0" rtlCol="0" anchor="ctr"/>
          <a:lstStyle/>
          <a:p>
            <a:pPr algn="ctr" indent="0" marL="0">
              <a:buNone/>
            </a:pPr>
            <a:r>
              <a:rPr lang="en-US" sz="1200" dirty="0">
                <a:solidFill>
                  <a:srgbClr val="0B1F3A"/>
                </a:solidFill>
                <a:latin typeface="Cambria" pitchFamily="34" charset="0"/>
                <a:ea typeface="Cambria" pitchFamily="34" charset="-122"/>
                <a:cs typeface="Cambria" pitchFamily="34" charset="-120"/>
              </a:rPr>
              <a:t>noise-free bits = log₂( 2ᴺ / (6.6 × σ_n) )</a:t>
            </a:r>
            <a:endParaRPr lang="en-US" sz="1200" dirty="0"/>
          </a:p>
        </p:txBody>
      </p:sp>
      <p:sp>
        <p:nvSpPr>
          <p:cNvPr id="10" name="Text 8"/>
          <p:cNvSpPr txBox="1"/>
          <p:nvPr/>
        </p:nvSpPr>
        <p:spPr>
          <a:xfrm>
            <a:off x="594360" y="2871216"/>
            <a:ext cx="3749040" cy="256032"/>
          </a:xfrm>
          <a:prstGeom prst="rect">
            <a:avLst/>
          </a:prstGeom>
          <a:noFill/>
          <a:ln/>
        </p:spPr>
        <p:txBody>
          <a:bodyPr wrap="square" lIns="0" tIns="0" rIns="0" bIns="0" rtlCol="0" anchor="t"/>
          <a:lstStyle/>
          <a:p>
            <a:pPr algn="ctr" indent="0" marL="0">
              <a:buNone/>
            </a:pPr>
            <a:r>
              <a:rPr lang="en-US" sz="1000" dirty="0">
                <a:solidFill>
                  <a:srgbClr val="5B6B7F"/>
                </a:solidFill>
                <a:latin typeface="Calibri" pitchFamily="34" charset="0"/>
                <a:ea typeface="Calibri" pitchFamily="34" charset="-122"/>
                <a:cs typeface="Calibri" pitchFamily="34" charset="-120"/>
              </a:rPr>
              <a:t>Peak-to-peak: codes that never flicker</a:t>
            </a:r>
            <a:endParaRPr lang="en-US" sz="1000" dirty="0"/>
          </a:p>
        </p:txBody>
      </p:sp>
      <p:graphicFrame>
        <p:nvGraphicFramePr>
          <p:cNvPr id="11" name="Chart 0" descr=""/>
          <p:cNvGraphicFramePr/>
          <p:nvPr/>
        </p:nvGraphicFramePr>
        <p:xfrm>
          <a:off x="4663440" y="1042416"/>
          <a:ext cx="4023360" cy="2084832"/>
        </p:xfrm>
        <a:graphic xmlns:a="http://schemas.openxmlformats.org/drawingml/2006/main">
          <a:graphicData uri="http://schemas.openxmlformats.org/drawingml/2006/chart">
            <c:chart xmlns:c="http://schemas.openxmlformats.org/drawingml/2006/chart" r:id="rId1"/>
          </a:graphicData>
        </a:graphic>
      </p:graphicFrame>
      <p:sp>
        <p:nvSpPr>
          <p:cNvPr id="12" name="Text 9"/>
          <p:cNvSpPr txBox="1"/>
          <p:nvPr/>
        </p:nvSpPr>
        <p:spPr>
          <a:xfrm>
            <a:off x="4663440" y="3200400"/>
            <a:ext cx="4023360" cy="347472"/>
          </a:xfrm>
          <a:prstGeom prst="rect">
            <a:avLst/>
          </a:prstGeom>
          <a:noFill/>
          <a:ln/>
        </p:spPr>
        <p:txBody>
          <a:bodyPr wrap="square" lIns="0" tIns="0" rIns="0" bIns="0" rtlCol="0" anchor="ctr"/>
          <a:lstStyle/>
          <a:p>
            <a:pPr algn="ctr" indent="0" marL="0">
              <a:buNone/>
            </a:pPr>
            <a:r>
              <a:rPr lang="en-US" sz="1000" i="1" dirty="0">
                <a:solidFill>
                  <a:srgbClr val="5B6B7F"/>
                </a:solidFill>
                <a:latin typeface="Calibri" pitchFamily="34" charset="0"/>
                <a:ea typeface="Calibri" pitchFamily="34" charset="-122"/>
                <a:cs typeface="Calibri" pitchFamily="34" charset="-120"/>
              </a:rPr>
              <a:t>This is why 24-bit converters are never 24-bit measurements. Datasheets often give a table of noise-free bits against output rate — that table is the…</a:t>
            </a:r>
            <a:endParaRPr lang="en-US" sz="1000" dirty="0"/>
          </a:p>
        </p:txBody>
      </p:sp>
      <p:sp>
        <p:nvSpPr>
          <p:cNvPr id="13" name="Shape 10"/>
          <p:cNvSpPr/>
          <p:nvPr/>
        </p:nvSpPr>
        <p:spPr>
          <a:xfrm>
            <a:off x="457200" y="3675888"/>
            <a:ext cx="4023360" cy="1024128"/>
          </a:xfrm>
          <a:prstGeom prst="roundRect">
            <a:avLst>
              <a:gd name="adj" fmla="val 7143"/>
            </a:avLst>
          </a:prstGeom>
          <a:solidFill>
            <a:srgbClr val="E4F7F4"/>
          </a:solidFill>
          <a:ln w="12700">
            <a:solidFill>
              <a:srgbClr val="E4F7F4"/>
            </a:solidFill>
            <a:prstDash val="solid"/>
          </a:ln>
        </p:spPr>
      </p:sp>
      <p:sp>
        <p:nvSpPr>
          <p:cNvPr id="14" name="Shape 11"/>
          <p:cNvSpPr/>
          <p:nvPr/>
        </p:nvSpPr>
        <p:spPr>
          <a:xfrm>
            <a:off x="566928" y="3776472"/>
            <a:ext cx="237744" cy="237744"/>
          </a:xfrm>
          <a:prstGeom prst="ellipse">
            <a:avLst/>
          </a:prstGeom>
          <a:solidFill>
            <a:srgbClr val="2EC4B6"/>
          </a:solidFill>
          <a:ln w="12700">
            <a:solidFill>
              <a:srgbClr val="2EC4B6"/>
            </a:solidFill>
            <a:prstDash val="solid"/>
          </a:ln>
        </p:spPr>
      </p:sp>
      <p:sp>
        <p:nvSpPr>
          <p:cNvPr id="15" name="Text 12"/>
          <p:cNvSpPr txBox="1"/>
          <p:nvPr/>
        </p:nvSpPr>
        <p:spPr>
          <a:xfrm>
            <a:off x="566928" y="3776472"/>
            <a:ext cx="237744" cy="237744"/>
          </a:xfrm>
          <a:prstGeom prst="rect">
            <a:avLst/>
          </a:prstGeom>
          <a:noFill/>
          <a:ln/>
        </p:spPr>
        <p:txBody>
          <a:bodyPr wrap="square" lIns="0" tIns="0" rIns="0" bIns="0" rtlCol="0" anchor="ctr"/>
          <a:lstStyle/>
          <a:p>
            <a:pPr algn="ctr" indent="0" marL="0">
              <a:buNone/>
            </a:pPr>
            <a:r>
              <a:rPr lang="en-US" sz="1200" b="1" dirty="0">
                <a:solidFill>
                  <a:srgbClr val="0B1F3A"/>
                </a:solidFill>
                <a:latin typeface="Calibri" pitchFamily="34" charset="0"/>
                <a:ea typeface="Calibri" pitchFamily="34" charset="-122"/>
                <a:cs typeface="Calibri" pitchFamily="34" charset="-120"/>
              </a:rPr>
              <a:t>≈</a:t>
            </a:r>
            <a:endParaRPr lang="en-US" sz="1200" dirty="0"/>
          </a:p>
        </p:txBody>
      </p:sp>
      <p:sp>
        <p:nvSpPr>
          <p:cNvPr id="16" name="Text 13"/>
          <p:cNvSpPr txBox="1"/>
          <p:nvPr/>
        </p:nvSpPr>
        <p:spPr>
          <a:xfrm>
            <a:off x="877824" y="3739896"/>
            <a:ext cx="3493008" cy="896112"/>
          </a:xfrm>
          <a:prstGeom prst="rect">
            <a:avLst/>
          </a:prstGeom>
          <a:noFill/>
          <a:ln/>
        </p:spPr>
        <p:txBody>
          <a:bodyPr wrap="square" lIns="0" tIns="0" rIns="0" bIns="0" rtlCol="0" anchor="t"/>
          <a:lstStyle/>
          <a:p>
            <a:pPr indent="0" marL="0">
              <a:buNone/>
            </a:pPr>
            <a:r>
              <a:rPr lang="en-US" sz="1050" b="1" dirty="0">
                <a:solidFill>
                  <a:srgbClr val="0B1F3A"/>
                </a:solidFill>
                <a:latin typeface="Calibri" pitchFamily="34" charset="0"/>
                <a:ea typeface="Calibri" pitchFamily="34" charset="-122"/>
                <a:cs typeface="Calibri" pitchFamily="34" charset="-120"/>
              </a:rPr>
              <a:t>Think of it like this  </a:t>
            </a:r>
            <a:pPr indent="0" marL="0">
              <a:buNone/>
            </a:pPr>
            <a:r>
              <a:rPr lang="en-US" sz="1050" dirty="0">
                <a:solidFill>
                  <a:srgbClr val="14213D"/>
                </a:solidFill>
                <a:latin typeface="Calibri" pitchFamily="34" charset="0"/>
                <a:ea typeface="Calibri" pitchFamily="34" charset="-122"/>
                <a:cs typeface="Calibri" pitchFamily="34" charset="-120"/>
              </a:rPr>
              <a:t>A bathroom scale whose last digit will not settle. It may display grams, but if that digit dances over five values, you do not have gram resolution.</a:t>
            </a:r>
            <a:endParaRPr lang="en-US" sz="1050" dirty="0"/>
          </a:p>
        </p:txBody>
      </p:sp>
      <p:sp>
        <p:nvSpPr>
          <p:cNvPr id="17" name="Shape 14"/>
          <p:cNvSpPr/>
          <p:nvPr/>
        </p:nvSpPr>
        <p:spPr>
          <a:xfrm>
            <a:off x="4663440" y="3675888"/>
            <a:ext cx="4023360" cy="1024128"/>
          </a:xfrm>
          <a:prstGeom prst="roundRect">
            <a:avLst>
              <a:gd name="adj" fmla="val 7143"/>
            </a:avLst>
          </a:prstGeom>
          <a:solidFill>
            <a:srgbClr val="FFFFFF"/>
          </a:solidFill>
          <a:ln w="12700">
            <a:solidFill>
              <a:srgbClr val="0B1F3A"/>
            </a:solidFill>
            <a:prstDash val="solid"/>
          </a:ln>
        </p:spPr>
      </p:sp>
      <p:sp>
        <p:nvSpPr>
          <p:cNvPr id="18" name="Shape 15"/>
          <p:cNvSpPr/>
          <p:nvPr/>
        </p:nvSpPr>
        <p:spPr>
          <a:xfrm>
            <a:off x="4773168" y="3566160"/>
            <a:ext cx="914400" cy="219456"/>
          </a:xfrm>
          <a:prstGeom prst="roundRect">
            <a:avLst>
              <a:gd name="adj" fmla="val 25000"/>
            </a:avLst>
          </a:prstGeom>
          <a:solidFill>
            <a:srgbClr val="0B1F3A"/>
          </a:solidFill>
          <a:ln w="12700">
            <a:solidFill>
              <a:srgbClr val="0B1F3A"/>
            </a:solidFill>
            <a:prstDash val="solid"/>
          </a:ln>
        </p:spPr>
      </p:sp>
      <p:sp>
        <p:nvSpPr>
          <p:cNvPr id="19" name="Text 16"/>
          <p:cNvSpPr txBox="1"/>
          <p:nvPr/>
        </p:nvSpPr>
        <p:spPr>
          <a:xfrm>
            <a:off x="4773168" y="3566160"/>
            <a:ext cx="914400" cy="219456"/>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EXAMPLE</a:t>
            </a:r>
            <a:endParaRPr lang="en-US" sz="850" dirty="0"/>
          </a:p>
        </p:txBody>
      </p:sp>
      <p:sp>
        <p:nvSpPr>
          <p:cNvPr id="20" name="Text 17"/>
          <p:cNvSpPr txBox="1"/>
          <p:nvPr/>
        </p:nvSpPr>
        <p:spPr>
          <a:xfrm>
            <a:off x="4791456" y="3813048"/>
            <a:ext cx="3803904" cy="841248"/>
          </a:xfrm>
          <a:prstGeom prst="rect">
            <a:avLst/>
          </a:prstGeom>
          <a:noFill/>
          <a:ln/>
        </p:spPr>
        <p:txBody>
          <a:bodyPr wrap="square" lIns="0" tIns="0" rIns="0" bIns="0" rtlCol="0" anchor="t"/>
          <a:lstStyle/>
          <a:p>
            <a:pPr indent="0" marL="0">
              <a:spcAft>
                <a:spcPts val="100"/>
              </a:spcAft>
              <a:buNone/>
            </a:pPr>
            <a:r>
              <a:rPr lang="en-US" sz="900" b="1" dirty="0">
                <a:solidFill>
                  <a:srgbClr val="0B1F3A"/>
                </a:solidFill>
                <a:latin typeface="Calibri" pitchFamily="34" charset="0"/>
                <a:ea typeface="Calibri" pitchFamily="34" charset="-122"/>
                <a:cs typeface="Calibri" pitchFamily="34" charset="-120"/>
              </a:rPr>
              <a:t>A 24-bit delta-sigma part</a:t>
            </a:r>
            <a:endParaRPr lang="en-US" sz="900" dirty="0"/>
          </a:p>
          <a:p>
            <a:pPr marL="114300" indent="-114300">
              <a:spcAft>
                <a:spcPts val="100"/>
              </a:spcAft>
              <a:buSzPct val="100000"/>
              <a:buChar char="•"/>
            </a:pPr>
            <a:r>
              <a:rPr lang="en-US" sz="900" dirty="0">
                <a:solidFill>
                  <a:srgbClr val="14213D"/>
                </a:solidFill>
                <a:latin typeface="Cambria" pitchFamily="34" charset="0"/>
                <a:ea typeface="Cambria" pitchFamily="34" charset="-122"/>
                <a:cs typeface="Cambria" pitchFamily="34" charset="-120"/>
              </a:rPr>
              <a:t>Input-referred noise: 12 LSB rms</a:t>
            </a:r>
            <a:endParaRPr lang="en-US" sz="900" dirty="0"/>
          </a:p>
          <a:p>
            <a:pPr marL="114300" indent="-114300">
              <a:spcAft>
                <a:spcPts val="100"/>
              </a:spcAft>
              <a:buSzPct val="100000"/>
              <a:buChar char="•"/>
            </a:pPr>
            <a:r>
              <a:rPr lang="en-US" sz="900" dirty="0">
                <a:solidFill>
                  <a:srgbClr val="14213D"/>
                </a:solidFill>
                <a:latin typeface="Cambria" pitchFamily="34" charset="0"/>
                <a:ea typeface="Cambria" pitchFamily="34" charset="-122"/>
                <a:cs typeface="Cambria" pitchFamily="34" charset="-120"/>
              </a:rPr>
              <a:t>Noise-free bits = log₂(16 777 216 / 79) = 17.7</a:t>
            </a:r>
            <a:endParaRPr lang="en-US" sz="900" dirty="0"/>
          </a:p>
          <a:p>
            <a:pPr marL="114300" indent="-114300">
              <a:spcAft>
                <a:spcPts val="100"/>
              </a:spcAft>
              <a:buSzPct val="100000"/>
              <a:buChar char="•"/>
            </a:pPr>
            <a:r>
              <a:rPr lang="en-US" sz="900" dirty="0">
                <a:solidFill>
                  <a:srgbClr val="14213D"/>
                </a:solidFill>
                <a:latin typeface="Cambria" pitchFamily="34" charset="0"/>
                <a:ea typeface="Cambria" pitchFamily="34" charset="-122"/>
                <a:cs typeface="Cambria" pitchFamily="34" charset="-120"/>
              </a:rPr>
              <a:t>The other 6 bits are real outputs, but they only ever show noise</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4709160" cy="640080"/>
          </a:xfrm>
          <a:prstGeom prst="rect">
            <a:avLst/>
          </a:prstGeom>
          <a:noFill/>
          <a:ln/>
        </p:spPr>
        <p:txBody>
          <a:bodyPr wrap="square" lIns="0" tIns="0" rIns="0" bIns="0" rtlCol="0" anchor="ctr"/>
          <a:lstStyle/>
          <a:p>
            <a:pPr indent="0" marL="0">
              <a:buNone/>
            </a:pPr>
            <a:r>
              <a:rPr lang="en-US" sz="1800" b="1" dirty="0">
                <a:solidFill>
                  <a:srgbClr val="0B1F3A"/>
                </a:solidFill>
                <a:latin typeface="Cambria" pitchFamily="34" charset="0"/>
                <a:ea typeface="Cambria" pitchFamily="34" charset="-122"/>
                <a:cs typeface="Cambria" pitchFamily="34" charset="-120"/>
              </a:rPr>
              <a:t>THD and the individual harmonics</a:t>
            </a:r>
            <a:endParaRPr lang="en-US" sz="1800" dirty="0"/>
          </a:p>
        </p:txBody>
      </p:sp>
      <p:sp>
        <p:nvSpPr>
          <p:cNvPr id="3" name="Text 1"/>
          <p:cNvSpPr txBox="1"/>
          <p:nvPr/>
        </p:nvSpPr>
        <p:spPr>
          <a:xfrm>
            <a:off x="457200" y="4796028"/>
            <a:ext cx="4572000" cy="228600"/>
          </a:xfrm>
          <a:prstGeom prst="rect">
            <a:avLst/>
          </a:prstGeom>
          <a:noFill/>
          <a:ln/>
        </p:spPr>
        <p:txBody>
          <a:bodyPr wrap="square" lIns="0" tIns="0" rIns="0" bIns="0" rtlCol="0" anchor="ctr"/>
          <a:lstStyle/>
          <a:p>
            <a:pPr indent="0" marL="0">
              <a:buNone/>
            </a:pPr>
            <a:r>
              <a:rPr lang="en-US" sz="900" dirty="0">
                <a:solidFill>
                  <a:srgbClr val="5B6B7F"/>
                </a:solidFill>
                <a:latin typeface="Calibri" pitchFamily="34" charset="0"/>
                <a:ea typeface="Calibri" pitchFamily="34" charset="-122"/>
                <a:cs typeface="Calibri" pitchFamily="34" charset="-120"/>
              </a:rPr>
              <a:t>Part 3 · Dynamic performance (AC)</a:t>
            </a:r>
            <a:endParaRPr lang="en-US" sz="900" dirty="0"/>
          </a:p>
        </p:txBody>
      </p:sp>
      <p:sp>
        <p:nvSpPr>
          <p:cNvPr id="4" name="Text 2"/>
          <p:cNvSpPr txBox="1"/>
          <p:nvPr/>
        </p:nvSpPr>
        <p:spPr>
          <a:xfrm>
            <a:off x="7772400" y="4796028"/>
            <a:ext cx="914400" cy="228600"/>
          </a:xfrm>
          <a:prstGeom prst="rect">
            <a:avLst/>
          </a:prstGeom>
          <a:noFill/>
          <a:ln/>
        </p:spPr>
        <p:txBody>
          <a:bodyPr wrap="square" lIns="0" tIns="0" rIns="0" bIns="0" rtlCol="0" anchor="ctr"/>
          <a:lstStyle/>
          <a:p>
            <a:pPr algn="r" indent="0" marL="0">
              <a:buNone/>
            </a:pPr>
            <a:r>
              <a:rPr lang="en-US" sz="900" dirty="0">
                <a:solidFill>
                  <a:srgbClr val="5B6B7F"/>
                </a:solidFill>
                <a:latin typeface="Calibri" pitchFamily="34" charset="0"/>
                <a:ea typeface="Calibri" pitchFamily="34" charset="-122"/>
                <a:cs typeface="Calibri" pitchFamily="34" charset="-120"/>
              </a:rPr>
              <a:t>25</a:t>
            </a:r>
            <a:endParaRPr lang="en-US" sz="900" dirty="0"/>
          </a:p>
        </p:txBody>
      </p:sp>
      <p:sp>
        <p:nvSpPr>
          <p:cNvPr id="5" name="Shape 3"/>
          <p:cNvSpPr/>
          <p:nvPr/>
        </p:nvSpPr>
        <p:spPr>
          <a:xfrm>
            <a:off x="5394960" y="384048"/>
            <a:ext cx="3291840" cy="384048"/>
          </a:xfrm>
          <a:prstGeom prst="roundRect">
            <a:avLst>
              <a:gd name="adj" fmla="val 19048"/>
            </a:avLst>
          </a:prstGeom>
          <a:solidFill>
            <a:srgbClr val="EEF3F8"/>
          </a:solidFill>
          <a:ln w="12700">
            <a:solidFill>
              <a:srgbClr val="EEF3F8"/>
            </a:solidFill>
            <a:prstDash val="solid"/>
          </a:ln>
        </p:spPr>
      </p:sp>
      <p:sp>
        <p:nvSpPr>
          <p:cNvPr id="6" name="Text 4"/>
          <p:cNvSpPr txBox="1"/>
          <p:nvPr/>
        </p:nvSpPr>
        <p:spPr>
          <a:xfrm>
            <a:off x="5394960" y="384048"/>
            <a:ext cx="3291840" cy="384048"/>
          </a:xfrm>
          <a:prstGeom prst="rect">
            <a:avLst/>
          </a:prstGeom>
          <a:noFill/>
          <a:ln/>
        </p:spPr>
        <p:txBody>
          <a:bodyPr wrap="square" lIns="0" tIns="0" rIns="0" bIns="0" rtlCol="0" anchor="ctr"/>
          <a:lstStyle/>
          <a:p>
            <a:pPr algn="ctr" indent="0" marL="0">
              <a:buNone/>
            </a:pPr>
            <a:r>
              <a:rPr lang="en-US" sz="1200" b="1" dirty="0">
                <a:solidFill>
                  <a:srgbClr val="0B1F3A"/>
                </a:solidFill>
                <a:latin typeface="Cambria" pitchFamily="34" charset="0"/>
                <a:ea typeface="Cambria" pitchFamily="34" charset="-122"/>
                <a:cs typeface="Cambria" pitchFamily="34" charset="-120"/>
              </a:rPr>
              <a:t>THD, HD2, HD3   ·   dBc or %</a:t>
            </a:r>
            <a:endParaRPr lang="en-US" sz="1200" dirty="0"/>
          </a:p>
        </p:txBody>
      </p:sp>
      <p:sp>
        <p:nvSpPr>
          <p:cNvPr id="7" name="Text 5"/>
          <p:cNvSpPr txBox="1"/>
          <p:nvPr/>
        </p:nvSpPr>
        <p:spPr>
          <a:xfrm>
            <a:off x="457200" y="1042416"/>
            <a:ext cx="4023360" cy="1207008"/>
          </a:xfrm>
          <a:prstGeom prst="rect">
            <a:avLst/>
          </a:prstGeom>
          <a:noFill/>
          <a:ln/>
        </p:spPr>
        <p:txBody>
          <a:bodyPr wrap="square" lIns="0" tIns="0" rIns="0" bIns="0" rtlCol="0" anchor="t"/>
          <a:lstStyle/>
          <a:p>
            <a:pPr indent="0" marL="0">
              <a:buNone/>
            </a:pPr>
            <a:r>
              <a:rPr lang="en-US" sz="1150" dirty="0">
                <a:solidFill>
                  <a:srgbClr val="14213D"/>
                </a:solidFill>
                <a:latin typeface="Calibri" pitchFamily="34" charset="0"/>
                <a:ea typeface="Calibri" pitchFamily="34" charset="-122"/>
                <a:cs typeface="Calibri" pitchFamily="34" charset="-120"/>
              </a:rPr>
              <a:t>A perfect converter fed one pure tone returns one pure tone. A real one bends the signal slightly, and the bend creates copies at exact multiples of the input frequency. THD adds up all those copies; HD2 and HD3 name the two that usually dominate.</a:t>
            </a:r>
            <a:endParaRPr lang="en-US" sz="1150" dirty="0"/>
          </a:p>
        </p:txBody>
      </p:sp>
      <p:sp>
        <p:nvSpPr>
          <p:cNvPr id="8" name="Shape 6"/>
          <p:cNvSpPr/>
          <p:nvPr/>
        </p:nvSpPr>
        <p:spPr>
          <a:xfrm>
            <a:off x="457200" y="2304288"/>
            <a:ext cx="4023360" cy="868680"/>
          </a:xfrm>
          <a:prstGeom prst="roundRect">
            <a:avLst>
              <a:gd name="adj" fmla="val 8421"/>
            </a:avLst>
          </a:prstGeom>
          <a:solidFill>
            <a:srgbClr val="EEF3F8"/>
          </a:solidFill>
          <a:ln w="12700">
            <a:solidFill>
              <a:srgbClr val="EEF3F8"/>
            </a:solidFill>
            <a:prstDash val="solid"/>
          </a:ln>
        </p:spPr>
      </p:sp>
      <p:sp>
        <p:nvSpPr>
          <p:cNvPr id="9" name="Text 7"/>
          <p:cNvSpPr txBox="1"/>
          <p:nvPr/>
        </p:nvSpPr>
        <p:spPr>
          <a:xfrm>
            <a:off x="594360" y="2304288"/>
            <a:ext cx="3749040" cy="612648"/>
          </a:xfrm>
          <a:prstGeom prst="rect">
            <a:avLst/>
          </a:prstGeom>
          <a:noFill/>
          <a:ln/>
        </p:spPr>
        <p:txBody>
          <a:bodyPr wrap="square" lIns="0" tIns="0" rIns="0" bIns="0" rtlCol="0" anchor="ctr"/>
          <a:lstStyle/>
          <a:p>
            <a:pPr algn="ctr" indent="0" marL="0">
              <a:buNone/>
            </a:pPr>
            <a:r>
              <a:rPr lang="en-US" sz="1200" dirty="0">
                <a:solidFill>
                  <a:srgbClr val="0B1F3A"/>
                </a:solidFill>
                <a:latin typeface="Cambria" pitchFamily="34" charset="0"/>
                <a:ea typeface="Cambria" pitchFamily="34" charset="-122"/>
                <a:cs typeface="Cambria" pitchFamily="34" charset="-120"/>
              </a:rPr>
              <a:t>THD = 10 log₁₀( (P₂ + P₃ + … + P₉) / P₁ )</a:t>
            </a:r>
            <a:endParaRPr lang="en-US" sz="1200" dirty="0"/>
          </a:p>
        </p:txBody>
      </p:sp>
      <p:sp>
        <p:nvSpPr>
          <p:cNvPr id="10" name="Text 8"/>
          <p:cNvSpPr txBox="1"/>
          <p:nvPr/>
        </p:nvSpPr>
        <p:spPr>
          <a:xfrm>
            <a:off x="594360" y="2871216"/>
            <a:ext cx="3749040" cy="256032"/>
          </a:xfrm>
          <a:prstGeom prst="rect">
            <a:avLst/>
          </a:prstGeom>
          <a:noFill/>
          <a:ln/>
        </p:spPr>
        <p:txBody>
          <a:bodyPr wrap="square" lIns="0" tIns="0" rIns="0" bIns="0" rtlCol="0" anchor="t"/>
          <a:lstStyle/>
          <a:p>
            <a:pPr algn="ctr" indent="0" marL="0">
              <a:buNone/>
            </a:pPr>
            <a:r>
              <a:rPr lang="en-US" sz="1000" dirty="0">
                <a:solidFill>
                  <a:srgbClr val="5B6B7F"/>
                </a:solidFill>
                <a:latin typeface="Calibri" pitchFamily="34" charset="0"/>
                <a:ea typeface="Calibri" pitchFamily="34" charset="-122"/>
                <a:cs typeface="Calibri" pitchFamily="34" charset="-120"/>
              </a:rPr>
              <a:t>Quoted in dBc: decibels relative to the carrier</a:t>
            </a:r>
            <a:endParaRPr lang="en-US" sz="1000" dirty="0"/>
          </a:p>
        </p:txBody>
      </p:sp>
      <p:graphicFrame>
        <p:nvGraphicFramePr>
          <p:cNvPr id="11" name="Chart 0" descr=""/>
          <p:cNvGraphicFramePr/>
          <p:nvPr/>
        </p:nvGraphicFramePr>
        <p:xfrm>
          <a:off x="4663440" y="1042416"/>
          <a:ext cx="4023360" cy="2084832"/>
        </p:xfrm>
        <a:graphic xmlns:a="http://schemas.openxmlformats.org/drawingml/2006/main">
          <a:graphicData uri="http://schemas.openxmlformats.org/drawingml/2006/chart">
            <c:chart xmlns:c="http://schemas.openxmlformats.org/drawingml/2006/chart" r:id="rId1"/>
          </a:graphicData>
        </a:graphic>
      </p:graphicFrame>
      <p:sp>
        <p:nvSpPr>
          <p:cNvPr id="12" name="Text 9"/>
          <p:cNvSpPr txBox="1"/>
          <p:nvPr/>
        </p:nvSpPr>
        <p:spPr>
          <a:xfrm>
            <a:off x="4663440" y="3200400"/>
            <a:ext cx="4023360" cy="347472"/>
          </a:xfrm>
          <a:prstGeom prst="rect">
            <a:avLst/>
          </a:prstGeom>
          <a:noFill/>
          <a:ln/>
        </p:spPr>
        <p:txBody>
          <a:bodyPr wrap="square" lIns="0" tIns="0" rIns="0" bIns="0" rtlCol="0" anchor="ctr"/>
          <a:lstStyle/>
          <a:p>
            <a:pPr algn="ctr" indent="0" marL="0">
              <a:buNone/>
            </a:pPr>
            <a:r>
              <a:rPr lang="en-US" sz="1000" i="1" dirty="0">
                <a:solidFill>
                  <a:srgbClr val="5B6B7F"/>
                </a:solidFill>
                <a:latin typeface="Calibri" pitchFamily="34" charset="0"/>
                <a:ea typeface="Calibri" pitchFamily="34" charset="-122"/>
                <a:cs typeface="Calibri" pitchFamily="34" charset="-120"/>
              </a:rPr>
              <a:t>Harmonics fold. A harmonic above f_s/2 comes back inside the band at a frequency that looks like a real signal, which is why a distortion problem often…</a:t>
            </a:r>
            <a:endParaRPr lang="en-US" sz="1000" dirty="0"/>
          </a:p>
        </p:txBody>
      </p:sp>
      <p:sp>
        <p:nvSpPr>
          <p:cNvPr id="13" name="Shape 10"/>
          <p:cNvSpPr/>
          <p:nvPr/>
        </p:nvSpPr>
        <p:spPr>
          <a:xfrm>
            <a:off x="457200" y="3675888"/>
            <a:ext cx="4023360" cy="1024128"/>
          </a:xfrm>
          <a:prstGeom prst="roundRect">
            <a:avLst>
              <a:gd name="adj" fmla="val 7143"/>
            </a:avLst>
          </a:prstGeom>
          <a:solidFill>
            <a:srgbClr val="E4F7F4"/>
          </a:solidFill>
          <a:ln w="12700">
            <a:solidFill>
              <a:srgbClr val="E4F7F4"/>
            </a:solidFill>
            <a:prstDash val="solid"/>
          </a:ln>
        </p:spPr>
      </p:sp>
      <p:sp>
        <p:nvSpPr>
          <p:cNvPr id="14" name="Shape 11"/>
          <p:cNvSpPr/>
          <p:nvPr/>
        </p:nvSpPr>
        <p:spPr>
          <a:xfrm>
            <a:off x="566928" y="3776472"/>
            <a:ext cx="237744" cy="237744"/>
          </a:xfrm>
          <a:prstGeom prst="ellipse">
            <a:avLst/>
          </a:prstGeom>
          <a:solidFill>
            <a:srgbClr val="2EC4B6"/>
          </a:solidFill>
          <a:ln w="12700">
            <a:solidFill>
              <a:srgbClr val="2EC4B6"/>
            </a:solidFill>
            <a:prstDash val="solid"/>
          </a:ln>
        </p:spPr>
      </p:sp>
      <p:sp>
        <p:nvSpPr>
          <p:cNvPr id="15" name="Text 12"/>
          <p:cNvSpPr txBox="1"/>
          <p:nvPr/>
        </p:nvSpPr>
        <p:spPr>
          <a:xfrm>
            <a:off x="566928" y="3776472"/>
            <a:ext cx="237744" cy="237744"/>
          </a:xfrm>
          <a:prstGeom prst="rect">
            <a:avLst/>
          </a:prstGeom>
          <a:noFill/>
          <a:ln/>
        </p:spPr>
        <p:txBody>
          <a:bodyPr wrap="square" lIns="0" tIns="0" rIns="0" bIns="0" rtlCol="0" anchor="ctr"/>
          <a:lstStyle/>
          <a:p>
            <a:pPr algn="ctr" indent="0" marL="0">
              <a:buNone/>
            </a:pPr>
            <a:r>
              <a:rPr lang="en-US" sz="1200" b="1" dirty="0">
                <a:solidFill>
                  <a:srgbClr val="0B1F3A"/>
                </a:solidFill>
                <a:latin typeface="Calibri" pitchFamily="34" charset="0"/>
                <a:ea typeface="Calibri" pitchFamily="34" charset="-122"/>
                <a:cs typeface="Calibri" pitchFamily="34" charset="-120"/>
              </a:rPr>
              <a:t>≈</a:t>
            </a:r>
            <a:endParaRPr lang="en-US" sz="1200" dirty="0"/>
          </a:p>
        </p:txBody>
      </p:sp>
      <p:sp>
        <p:nvSpPr>
          <p:cNvPr id="16" name="Text 13"/>
          <p:cNvSpPr txBox="1"/>
          <p:nvPr/>
        </p:nvSpPr>
        <p:spPr>
          <a:xfrm>
            <a:off x="877824" y="3739896"/>
            <a:ext cx="3493008" cy="896112"/>
          </a:xfrm>
          <a:prstGeom prst="rect">
            <a:avLst/>
          </a:prstGeom>
          <a:noFill/>
          <a:ln/>
        </p:spPr>
        <p:txBody>
          <a:bodyPr wrap="square" lIns="0" tIns="0" rIns="0" bIns="0" rtlCol="0" anchor="t"/>
          <a:lstStyle/>
          <a:p>
            <a:pPr indent="0" marL="0">
              <a:buNone/>
            </a:pPr>
            <a:r>
              <a:rPr lang="en-US" sz="1050" b="1" dirty="0">
                <a:solidFill>
                  <a:srgbClr val="0B1F3A"/>
                </a:solidFill>
                <a:latin typeface="Calibri" pitchFamily="34" charset="0"/>
                <a:ea typeface="Calibri" pitchFamily="34" charset="-122"/>
                <a:cs typeface="Calibri" pitchFamily="34" charset="-120"/>
              </a:rPr>
              <a:t>Think of it like this  </a:t>
            </a:r>
            <a:pPr indent="0" marL="0">
              <a:buNone/>
            </a:pPr>
            <a:r>
              <a:rPr lang="en-US" sz="1050" dirty="0">
                <a:solidFill>
                  <a:srgbClr val="14213D"/>
                </a:solidFill>
                <a:latin typeface="Calibri" pitchFamily="34" charset="0"/>
                <a:ea typeface="Calibri" pitchFamily="34" charset="-122"/>
                <a:cs typeface="Calibri" pitchFamily="34" charset="-120"/>
              </a:rPr>
              <a:t>A slightly buzzy loudspeaker. Play one clean note and you also hear faint notes an octave and an octave-and-a-fifth above it, which the recording never contained.</a:t>
            </a:r>
            <a:endParaRPr lang="en-US" sz="1050" dirty="0"/>
          </a:p>
        </p:txBody>
      </p:sp>
      <p:sp>
        <p:nvSpPr>
          <p:cNvPr id="17" name="Shape 14"/>
          <p:cNvSpPr/>
          <p:nvPr/>
        </p:nvSpPr>
        <p:spPr>
          <a:xfrm>
            <a:off x="4663440" y="3675888"/>
            <a:ext cx="4023360" cy="1024128"/>
          </a:xfrm>
          <a:prstGeom prst="roundRect">
            <a:avLst>
              <a:gd name="adj" fmla="val 7143"/>
            </a:avLst>
          </a:prstGeom>
          <a:solidFill>
            <a:srgbClr val="FFFFFF"/>
          </a:solidFill>
          <a:ln w="12700">
            <a:solidFill>
              <a:srgbClr val="0B1F3A"/>
            </a:solidFill>
            <a:prstDash val="solid"/>
          </a:ln>
        </p:spPr>
      </p:sp>
      <p:sp>
        <p:nvSpPr>
          <p:cNvPr id="18" name="Shape 15"/>
          <p:cNvSpPr/>
          <p:nvPr/>
        </p:nvSpPr>
        <p:spPr>
          <a:xfrm>
            <a:off x="4773168" y="3566160"/>
            <a:ext cx="914400" cy="219456"/>
          </a:xfrm>
          <a:prstGeom prst="roundRect">
            <a:avLst>
              <a:gd name="adj" fmla="val 25000"/>
            </a:avLst>
          </a:prstGeom>
          <a:solidFill>
            <a:srgbClr val="0B1F3A"/>
          </a:solidFill>
          <a:ln w="12700">
            <a:solidFill>
              <a:srgbClr val="0B1F3A"/>
            </a:solidFill>
            <a:prstDash val="solid"/>
          </a:ln>
        </p:spPr>
      </p:sp>
      <p:sp>
        <p:nvSpPr>
          <p:cNvPr id="19" name="Text 16"/>
          <p:cNvSpPr txBox="1"/>
          <p:nvPr/>
        </p:nvSpPr>
        <p:spPr>
          <a:xfrm>
            <a:off x="4773168" y="3566160"/>
            <a:ext cx="914400" cy="219456"/>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EXAMPLE</a:t>
            </a:r>
            <a:endParaRPr lang="en-US" sz="850" dirty="0"/>
          </a:p>
        </p:txBody>
      </p:sp>
      <p:sp>
        <p:nvSpPr>
          <p:cNvPr id="20" name="Text 17"/>
          <p:cNvSpPr txBox="1"/>
          <p:nvPr/>
        </p:nvSpPr>
        <p:spPr>
          <a:xfrm>
            <a:off x="4791456" y="3813048"/>
            <a:ext cx="3803904" cy="841248"/>
          </a:xfrm>
          <a:prstGeom prst="rect">
            <a:avLst/>
          </a:prstGeom>
          <a:noFill/>
          <a:ln/>
        </p:spPr>
        <p:txBody>
          <a:bodyPr wrap="square" lIns="0" tIns="0" rIns="0" bIns="0" rtlCol="0" anchor="t"/>
          <a:lstStyle/>
          <a:p>
            <a:pPr indent="0" marL="0">
              <a:spcAft>
                <a:spcPts val="100"/>
              </a:spcAft>
              <a:buNone/>
            </a:pPr>
            <a:r>
              <a:rPr lang="en-US" sz="1000" b="1" dirty="0">
                <a:solidFill>
                  <a:srgbClr val="0B1F3A"/>
                </a:solidFill>
                <a:latin typeface="Calibri" pitchFamily="34" charset="0"/>
                <a:ea typeface="Calibri" pitchFamily="34" charset="-122"/>
                <a:cs typeface="Calibri" pitchFamily="34" charset="-120"/>
              </a:rPr>
              <a:t>Reading a spectrum</a:t>
            </a:r>
            <a:endParaRPr lang="en-US" sz="1000" dirty="0"/>
          </a:p>
          <a:p>
            <a:pPr marL="114300" indent="-114300">
              <a:spcAft>
                <a:spcPts val="100"/>
              </a:spcAft>
              <a:buSzPct val="100000"/>
              <a:buChar char="•"/>
            </a:pPr>
            <a:r>
              <a:rPr lang="en-US" sz="1000" dirty="0">
                <a:solidFill>
                  <a:srgbClr val="14213D"/>
                </a:solidFill>
                <a:latin typeface="Cambria" pitchFamily="34" charset="0"/>
                <a:ea typeface="Cambria" pitchFamily="34" charset="-122"/>
                <a:cs typeface="Cambria" pitchFamily="34" charset="-120"/>
              </a:rPr>
              <a:t>Tone at 10 MHz, 0 dBFS. HD2 appears at 20 MHz, −72 dBc</a:t>
            </a:r>
            <a:endParaRPr lang="en-US" sz="1000" dirty="0"/>
          </a:p>
          <a:p>
            <a:pPr marL="114300" indent="-114300">
              <a:spcAft>
                <a:spcPts val="100"/>
              </a:spcAft>
              <a:buSzPct val="100000"/>
              <a:buChar char="•"/>
            </a:pPr>
            <a:r>
              <a:rPr lang="en-US" sz="1000" dirty="0">
                <a:solidFill>
                  <a:srgbClr val="14213D"/>
                </a:solidFill>
                <a:latin typeface="Cambria" pitchFamily="34" charset="0"/>
                <a:ea typeface="Cambria" pitchFamily="34" charset="-122"/>
                <a:cs typeface="Cambria" pitchFamily="34" charset="-120"/>
              </a:rPr>
              <a:t>HD3 at 30 MHz, −78 dBc</a:t>
            </a:r>
            <a:endParaRPr lang="en-US" sz="1000" dirty="0"/>
          </a:p>
          <a:p>
            <a:pPr marL="114300" indent="-114300">
              <a:spcAft>
                <a:spcPts val="100"/>
              </a:spcAft>
              <a:buSzPct val="100000"/>
              <a:buChar char="•"/>
            </a:pPr>
            <a:r>
              <a:rPr lang="en-US" sz="1000" dirty="0">
                <a:solidFill>
                  <a:srgbClr val="14213D"/>
                </a:solidFill>
                <a:latin typeface="Cambria" pitchFamily="34" charset="0"/>
                <a:ea typeface="Cambria" pitchFamily="34" charset="-122"/>
                <a:cs typeface="Cambria" pitchFamily="34" charset="-120"/>
              </a:rPr>
              <a:t>THD = 10 log₁₀(10⁻⁷·² + 10⁻⁷·⁸) = −70.9 dBc</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5166360" cy="640080"/>
          </a:xfrm>
          <a:prstGeom prst="rect">
            <a:avLst/>
          </a:prstGeom>
          <a:noFill/>
          <a:ln/>
        </p:spPr>
        <p:txBody>
          <a:bodyPr wrap="square" lIns="0" tIns="0" rIns="0" bIns="0" rtlCol="0" anchor="ctr"/>
          <a:lstStyle/>
          <a:p>
            <a:pPr indent="0" marL="0">
              <a:buNone/>
            </a:pPr>
            <a:r>
              <a:rPr lang="en-US" sz="1800" b="1" dirty="0">
                <a:solidFill>
                  <a:srgbClr val="0B1F3A"/>
                </a:solidFill>
                <a:latin typeface="Cambria" pitchFamily="34" charset="0"/>
                <a:ea typeface="Cambria" pitchFamily="34" charset="-122"/>
                <a:cs typeface="Cambria" pitchFamily="34" charset="-120"/>
              </a:rPr>
              <a:t>SINAD — signal to noise and distortion</a:t>
            </a:r>
            <a:endParaRPr lang="en-US" sz="1800" dirty="0"/>
          </a:p>
        </p:txBody>
      </p:sp>
      <p:sp>
        <p:nvSpPr>
          <p:cNvPr id="3" name="Text 1"/>
          <p:cNvSpPr txBox="1"/>
          <p:nvPr/>
        </p:nvSpPr>
        <p:spPr>
          <a:xfrm>
            <a:off x="457200" y="4796028"/>
            <a:ext cx="4572000" cy="228600"/>
          </a:xfrm>
          <a:prstGeom prst="rect">
            <a:avLst/>
          </a:prstGeom>
          <a:noFill/>
          <a:ln/>
        </p:spPr>
        <p:txBody>
          <a:bodyPr wrap="square" lIns="0" tIns="0" rIns="0" bIns="0" rtlCol="0" anchor="ctr"/>
          <a:lstStyle/>
          <a:p>
            <a:pPr indent="0" marL="0">
              <a:buNone/>
            </a:pPr>
            <a:r>
              <a:rPr lang="en-US" sz="900" dirty="0">
                <a:solidFill>
                  <a:srgbClr val="5B6B7F"/>
                </a:solidFill>
                <a:latin typeface="Calibri" pitchFamily="34" charset="0"/>
                <a:ea typeface="Calibri" pitchFamily="34" charset="-122"/>
                <a:cs typeface="Calibri" pitchFamily="34" charset="-120"/>
              </a:rPr>
              <a:t>Part 3 · Dynamic performance (AC)</a:t>
            </a:r>
            <a:endParaRPr lang="en-US" sz="900" dirty="0"/>
          </a:p>
        </p:txBody>
      </p:sp>
      <p:sp>
        <p:nvSpPr>
          <p:cNvPr id="4" name="Text 2"/>
          <p:cNvSpPr txBox="1"/>
          <p:nvPr/>
        </p:nvSpPr>
        <p:spPr>
          <a:xfrm>
            <a:off x="7772400" y="4796028"/>
            <a:ext cx="914400" cy="228600"/>
          </a:xfrm>
          <a:prstGeom prst="rect">
            <a:avLst/>
          </a:prstGeom>
          <a:noFill/>
          <a:ln/>
        </p:spPr>
        <p:txBody>
          <a:bodyPr wrap="square" lIns="0" tIns="0" rIns="0" bIns="0" rtlCol="0" anchor="ctr"/>
          <a:lstStyle/>
          <a:p>
            <a:pPr algn="r" indent="0" marL="0">
              <a:buNone/>
            </a:pPr>
            <a:r>
              <a:rPr lang="en-US" sz="900" dirty="0">
                <a:solidFill>
                  <a:srgbClr val="5B6B7F"/>
                </a:solidFill>
                <a:latin typeface="Calibri" pitchFamily="34" charset="0"/>
                <a:ea typeface="Calibri" pitchFamily="34" charset="-122"/>
                <a:cs typeface="Calibri" pitchFamily="34" charset="-120"/>
              </a:rPr>
              <a:t>26</a:t>
            </a:r>
            <a:endParaRPr lang="en-US" sz="900" dirty="0"/>
          </a:p>
        </p:txBody>
      </p:sp>
      <p:sp>
        <p:nvSpPr>
          <p:cNvPr id="5" name="Shape 3"/>
          <p:cNvSpPr/>
          <p:nvPr/>
        </p:nvSpPr>
        <p:spPr>
          <a:xfrm>
            <a:off x="5852160" y="384048"/>
            <a:ext cx="2834640" cy="384048"/>
          </a:xfrm>
          <a:prstGeom prst="roundRect">
            <a:avLst>
              <a:gd name="adj" fmla="val 19048"/>
            </a:avLst>
          </a:prstGeom>
          <a:solidFill>
            <a:srgbClr val="EEF3F8"/>
          </a:solidFill>
          <a:ln w="12700">
            <a:solidFill>
              <a:srgbClr val="EEF3F8"/>
            </a:solidFill>
            <a:prstDash val="solid"/>
          </a:ln>
        </p:spPr>
      </p:sp>
      <p:sp>
        <p:nvSpPr>
          <p:cNvPr id="6" name="Text 4"/>
          <p:cNvSpPr txBox="1"/>
          <p:nvPr/>
        </p:nvSpPr>
        <p:spPr>
          <a:xfrm>
            <a:off x="5852160" y="384048"/>
            <a:ext cx="2834640" cy="384048"/>
          </a:xfrm>
          <a:prstGeom prst="rect">
            <a:avLst/>
          </a:prstGeom>
          <a:noFill/>
          <a:ln/>
        </p:spPr>
        <p:txBody>
          <a:bodyPr wrap="square" lIns="0" tIns="0" rIns="0" bIns="0" rtlCol="0" anchor="ctr"/>
          <a:lstStyle/>
          <a:p>
            <a:pPr algn="ctr" indent="0" marL="0">
              <a:buNone/>
            </a:pPr>
            <a:r>
              <a:rPr lang="en-US" sz="1200" b="1" dirty="0">
                <a:solidFill>
                  <a:srgbClr val="0B1F3A"/>
                </a:solidFill>
                <a:latin typeface="Cambria" pitchFamily="34" charset="0"/>
                <a:ea typeface="Cambria" pitchFamily="34" charset="-122"/>
                <a:cs typeface="Cambria" pitchFamily="34" charset="-120"/>
              </a:rPr>
              <a:t>SINAD, SNDR   ·   dB</a:t>
            </a:r>
            <a:endParaRPr lang="en-US" sz="1200" dirty="0"/>
          </a:p>
        </p:txBody>
      </p:sp>
      <p:sp>
        <p:nvSpPr>
          <p:cNvPr id="7" name="Text 5"/>
          <p:cNvSpPr txBox="1"/>
          <p:nvPr/>
        </p:nvSpPr>
        <p:spPr>
          <a:xfrm>
            <a:off x="457200" y="1042416"/>
            <a:ext cx="4023360" cy="1005840"/>
          </a:xfrm>
          <a:prstGeom prst="rect">
            <a:avLst/>
          </a:prstGeom>
          <a:noFill/>
          <a:ln/>
        </p:spPr>
        <p:txBody>
          <a:bodyPr wrap="square" lIns="0" tIns="0" rIns="0" bIns="0" rtlCol="0" anchor="t"/>
          <a:lstStyle/>
          <a:p>
            <a:pPr indent="0" marL="0">
              <a:buNone/>
            </a:pPr>
            <a:r>
              <a:rPr lang="en-US" sz="1150" dirty="0">
                <a:solidFill>
                  <a:srgbClr val="14213D"/>
                </a:solidFill>
                <a:latin typeface="Calibri" pitchFamily="34" charset="0"/>
                <a:ea typeface="Calibri" pitchFamily="34" charset="-122"/>
                <a:cs typeface="Calibri" pitchFamily="34" charset="-120"/>
              </a:rPr>
              <a:t>The honest one. SNR ignores harmonics, THD ignores noise; SINAD counts everything that is not the wanted tone. It is the number ENOB is calculated from.</a:t>
            </a:r>
            <a:endParaRPr lang="en-US" sz="1150" dirty="0"/>
          </a:p>
        </p:txBody>
      </p:sp>
      <p:sp>
        <p:nvSpPr>
          <p:cNvPr id="8" name="Shape 6"/>
          <p:cNvSpPr/>
          <p:nvPr/>
        </p:nvSpPr>
        <p:spPr>
          <a:xfrm>
            <a:off x="457200" y="2103120"/>
            <a:ext cx="4023360" cy="868680"/>
          </a:xfrm>
          <a:prstGeom prst="roundRect">
            <a:avLst>
              <a:gd name="adj" fmla="val 8421"/>
            </a:avLst>
          </a:prstGeom>
          <a:solidFill>
            <a:srgbClr val="EEF3F8"/>
          </a:solidFill>
          <a:ln w="12700">
            <a:solidFill>
              <a:srgbClr val="EEF3F8"/>
            </a:solidFill>
            <a:prstDash val="solid"/>
          </a:ln>
        </p:spPr>
      </p:sp>
      <p:sp>
        <p:nvSpPr>
          <p:cNvPr id="9" name="Text 7"/>
          <p:cNvSpPr txBox="1"/>
          <p:nvPr/>
        </p:nvSpPr>
        <p:spPr>
          <a:xfrm>
            <a:off x="594360" y="2103120"/>
            <a:ext cx="3749040" cy="612648"/>
          </a:xfrm>
          <a:prstGeom prst="rect">
            <a:avLst/>
          </a:prstGeom>
          <a:noFill/>
          <a:ln/>
        </p:spPr>
        <p:txBody>
          <a:bodyPr wrap="square" lIns="0" tIns="0" rIns="0" bIns="0" rtlCol="0" anchor="ctr"/>
          <a:lstStyle/>
          <a:p>
            <a:pPr algn="ctr" indent="0" marL="0">
              <a:buNone/>
            </a:pPr>
            <a:r>
              <a:rPr lang="en-US" sz="1000" dirty="0">
                <a:solidFill>
                  <a:srgbClr val="0B1F3A"/>
                </a:solidFill>
                <a:latin typeface="Cambria" pitchFamily="34" charset="0"/>
                <a:ea typeface="Cambria" pitchFamily="34" charset="-122"/>
                <a:cs typeface="Cambria" pitchFamily="34" charset="-120"/>
              </a:rPr>
              <a:t>SINAD = 10 log₁₀( P_signal / (P_noise + P_distortion) )</a:t>
            </a:r>
            <a:endParaRPr lang="en-US" sz="1000" dirty="0"/>
          </a:p>
        </p:txBody>
      </p:sp>
      <p:sp>
        <p:nvSpPr>
          <p:cNvPr id="10" name="Text 8"/>
          <p:cNvSpPr txBox="1"/>
          <p:nvPr/>
        </p:nvSpPr>
        <p:spPr>
          <a:xfrm>
            <a:off x="594360" y="2670048"/>
            <a:ext cx="3749040" cy="256032"/>
          </a:xfrm>
          <a:prstGeom prst="rect">
            <a:avLst/>
          </a:prstGeom>
          <a:noFill/>
          <a:ln/>
        </p:spPr>
        <p:txBody>
          <a:bodyPr wrap="square" lIns="0" tIns="0" rIns="0" bIns="0" rtlCol="0" anchor="t"/>
          <a:lstStyle/>
          <a:p>
            <a:pPr algn="ctr" indent="0" marL="0">
              <a:buNone/>
            </a:pPr>
            <a:r>
              <a:rPr lang="en-US" sz="1000" dirty="0">
                <a:solidFill>
                  <a:srgbClr val="5B6B7F"/>
                </a:solidFill>
                <a:latin typeface="Calibri" pitchFamily="34" charset="0"/>
                <a:ea typeface="Calibri" pitchFamily="34" charset="-122"/>
                <a:cs typeface="Calibri" pitchFamily="34" charset="-120"/>
              </a:rPr>
              <a:t>Always the smallest of the three ratios</a:t>
            </a:r>
            <a:endParaRPr lang="en-US" sz="1000" dirty="0"/>
          </a:p>
        </p:txBody>
      </p:sp>
      <p:graphicFrame>
        <p:nvGraphicFramePr>
          <p:cNvPr id="11" name="Chart 0" descr=""/>
          <p:cNvGraphicFramePr/>
          <p:nvPr/>
        </p:nvGraphicFramePr>
        <p:xfrm>
          <a:off x="4663440" y="1042416"/>
          <a:ext cx="4023360" cy="2084832"/>
        </p:xfrm>
        <a:graphic xmlns:a="http://schemas.openxmlformats.org/drawingml/2006/main">
          <a:graphicData uri="http://schemas.openxmlformats.org/drawingml/2006/chart">
            <c:chart xmlns:c="http://schemas.openxmlformats.org/drawingml/2006/chart" r:id="rId1"/>
          </a:graphicData>
        </a:graphic>
      </p:graphicFrame>
      <p:sp>
        <p:nvSpPr>
          <p:cNvPr id="12" name="Text 9"/>
          <p:cNvSpPr txBox="1"/>
          <p:nvPr/>
        </p:nvSpPr>
        <p:spPr>
          <a:xfrm>
            <a:off x="4663440" y="3200400"/>
            <a:ext cx="4023360" cy="347472"/>
          </a:xfrm>
          <a:prstGeom prst="rect">
            <a:avLst/>
          </a:prstGeom>
          <a:noFill/>
          <a:ln/>
        </p:spPr>
        <p:txBody>
          <a:bodyPr wrap="square" lIns="0" tIns="0" rIns="0" bIns="0" rtlCol="0" anchor="ctr"/>
          <a:lstStyle/>
          <a:p>
            <a:pPr algn="ctr" indent="0" marL="0">
              <a:buNone/>
            </a:pPr>
            <a:r>
              <a:rPr lang="en-US" sz="1000" i="1" dirty="0">
                <a:solidFill>
                  <a:srgbClr val="5B6B7F"/>
                </a:solidFill>
                <a:latin typeface="Calibri" pitchFamily="34" charset="0"/>
                <a:ea typeface="Calibri" pitchFamily="34" charset="-122"/>
                <a:cs typeface="Calibri" pitchFamily="34" charset="-120"/>
              </a:rPr>
              <a:t>When a datasheet quotes SNR and SINAD close together, the part is noise-limited. When SINAD is far below SNR, it is distortion-limited — and the fix is…</a:t>
            </a:r>
            <a:endParaRPr lang="en-US" sz="1000" dirty="0"/>
          </a:p>
        </p:txBody>
      </p:sp>
      <p:sp>
        <p:nvSpPr>
          <p:cNvPr id="13" name="Shape 10"/>
          <p:cNvSpPr/>
          <p:nvPr/>
        </p:nvSpPr>
        <p:spPr>
          <a:xfrm>
            <a:off x="457200" y="3675888"/>
            <a:ext cx="4023360" cy="1024128"/>
          </a:xfrm>
          <a:prstGeom prst="roundRect">
            <a:avLst>
              <a:gd name="adj" fmla="val 7143"/>
            </a:avLst>
          </a:prstGeom>
          <a:solidFill>
            <a:srgbClr val="E4F7F4"/>
          </a:solidFill>
          <a:ln w="12700">
            <a:solidFill>
              <a:srgbClr val="E4F7F4"/>
            </a:solidFill>
            <a:prstDash val="solid"/>
          </a:ln>
        </p:spPr>
      </p:sp>
      <p:sp>
        <p:nvSpPr>
          <p:cNvPr id="14" name="Shape 11"/>
          <p:cNvSpPr/>
          <p:nvPr/>
        </p:nvSpPr>
        <p:spPr>
          <a:xfrm>
            <a:off x="566928" y="3776472"/>
            <a:ext cx="237744" cy="237744"/>
          </a:xfrm>
          <a:prstGeom prst="ellipse">
            <a:avLst/>
          </a:prstGeom>
          <a:solidFill>
            <a:srgbClr val="2EC4B6"/>
          </a:solidFill>
          <a:ln w="12700">
            <a:solidFill>
              <a:srgbClr val="2EC4B6"/>
            </a:solidFill>
            <a:prstDash val="solid"/>
          </a:ln>
        </p:spPr>
      </p:sp>
      <p:sp>
        <p:nvSpPr>
          <p:cNvPr id="15" name="Text 12"/>
          <p:cNvSpPr txBox="1"/>
          <p:nvPr/>
        </p:nvSpPr>
        <p:spPr>
          <a:xfrm>
            <a:off x="566928" y="3776472"/>
            <a:ext cx="237744" cy="237744"/>
          </a:xfrm>
          <a:prstGeom prst="rect">
            <a:avLst/>
          </a:prstGeom>
          <a:noFill/>
          <a:ln/>
        </p:spPr>
        <p:txBody>
          <a:bodyPr wrap="square" lIns="0" tIns="0" rIns="0" bIns="0" rtlCol="0" anchor="ctr"/>
          <a:lstStyle/>
          <a:p>
            <a:pPr algn="ctr" indent="0" marL="0">
              <a:buNone/>
            </a:pPr>
            <a:r>
              <a:rPr lang="en-US" sz="1200" b="1" dirty="0">
                <a:solidFill>
                  <a:srgbClr val="0B1F3A"/>
                </a:solidFill>
                <a:latin typeface="Calibri" pitchFamily="34" charset="0"/>
                <a:ea typeface="Calibri" pitchFamily="34" charset="-122"/>
                <a:cs typeface="Calibri" pitchFamily="34" charset="-120"/>
              </a:rPr>
              <a:t>≈</a:t>
            </a:r>
            <a:endParaRPr lang="en-US" sz="1200" dirty="0"/>
          </a:p>
        </p:txBody>
      </p:sp>
      <p:sp>
        <p:nvSpPr>
          <p:cNvPr id="16" name="Text 13"/>
          <p:cNvSpPr txBox="1"/>
          <p:nvPr/>
        </p:nvSpPr>
        <p:spPr>
          <a:xfrm>
            <a:off x="877824" y="3739896"/>
            <a:ext cx="3493008" cy="896112"/>
          </a:xfrm>
          <a:prstGeom prst="rect">
            <a:avLst/>
          </a:prstGeom>
          <a:noFill/>
          <a:ln/>
        </p:spPr>
        <p:txBody>
          <a:bodyPr wrap="square" lIns="0" tIns="0" rIns="0" bIns="0" rtlCol="0" anchor="t"/>
          <a:lstStyle/>
          <a:p>
            <a:pPr indent="0" marL="0">
              <a:buNone/>
            </a:pPr>
            <a:r>
              <a:rPr lang="en-US" sz="1050" b="1" dirty="0">
                <a:solidFill>
                  <a:srgbClr val="0B1F3A"/>
                </a:solidFill>
                <a:latin typeface="Calibri" pitchFamily="34" charset="0"/>
                <a:ea typeface="Calibri" pitchFamily="34" charset="-122"/>
                <a:cs typeface="Calibri" pitchFamily="34" charset="-120"/>
              </a:rPr>
              <a:t>Think of it like this  </a:t>
            </a:r>
            <a:pPr indent="0" marL="0">
              <a:buNone/>
            </a:pPr>
            <a:r>
              <a:rPr lang="en-US" sz="1050" dirty="0">
                <a:solidFill>
                  <a:srgbClr val="14213D"/>
                </a:solidFill>
                <a:latin typeface="Calibri" pitchFamily="34" charset="0"/>
                <a:ea typeface="Calibri" pitchFamily="34" charset="-122"/>
                <a:cs typeface="Calibri" pitchFamily="34" charset="-120"/>
              </a:rPr>
              <a:t>Judging a phone call by how much of it you actually understood, rather than measuring the hiss and the crackle separately.</a:t>
            </a:r>
            <a:endParaRPr lang="en-US" sz="1050" dirty="0"/>
          </a:p>
        </p:txBody>
      </p:sp>
      <p:sp>
        <p:nvSpPr>
          <p:cNvPr id="17" name="Shape 14"/>
          <p:cNvSpPr/>
          <p:nvPr/>
        </p:nvSpPr>
        <p:spPr>
          <a:xfrm>
            <a:off x="4663440" y="3675888"/>
            <a:ext cx="4023360" cy="1024128"/>
          </a:xfrm>
          <a:prstGeom prst="roundRect">
            <a:avLst>
              <a:gd name="adj" fmla="val 7143"/>
            </a:avLst>
          </a:prstGeom>
          <a:solidFill>
            <a:srgbClr val="FFFFFF"/>
          </a:solidFill>
          <a:ln w="12700">
            <a:solidFill>
              <a:srgbClr val="0B1F3A"/>
            </a:solidFill>
            <a:prstDash val="solid"/>
          </a:ln>
        </p:spPr>
      </p:sp>
      <p:sp>
        <p:nvSpPr>
          <p:cNvPr id="18" name="Shape 15"/>
          <p:cNvSpPr/>
          <p:nvPr/>
        </p:nvSpPr>
        <p:spPr>
          <a:xfrm>
            <a:off x="4773168" y="3566160"/>
            <a:ext cx="914400" cy="219456"/>
          </a:xfrm>
          <a:prstGeom prst="roundRect">
            <a:avLst>
              <a:gd name="adj" fmla="val 25000"/>
            </a:avLst>
          </a:prstGeom>
          <a:solidFill>
            <a:srgbClr val="0B1F3A"/>
          </a:solidFill>
          <a:ln w="12700">
            <a:solidFill>
              <a:srgbClr val="0B1F3A"/>
            </a:solidFill>
            <a:prstDash val="solid"/>
          </a:ln>
        </p:spPr>
      </p:sp>
      <p:sp>
        <p:nvSpPr>
          <p:cNvPr id="19" name="Text 16"/>
          <p:cNvSpPr txBox="1"/>
          <p:nvPr/>
        </p:nvSpPr>
        <p:spPr>
          <a:xfrm>
            <a:off x="4773168" y="3566160"/>
            <a:ext cx="914400" cy="219456"/>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EXAMPLE</a:t>
            </a:r>
            <a:endParaRPr lang="en-US" sz="850" dirty="0"/>
          </a:p>
        </p:txBody>
      </p:sp>
      <p:sp>
        <p:nvSpPr>
          <p:cNvPr id="20" name="Text 17"/>
          <p:cNvSpPr txBox="1"/>
          <p:nvPr/>
        </p:nvSpPr>
        <p:spPr>
          <a:xfrm>
            <a:off x="4791456" y="3813048"/>
            <a:ext cx="3803904" cy="841248"/>
          </a:xfrm>
          <a:prstGeom prst="rect">
            <a:avLst/>
          </a:prstGeom>
          <a:noFill/>
          <a:ln/>
        </p:spPr>
        <p:txBody>
          <a:bodyPr wrap="square" lIns="0" tIns="0" rIns="0" bIns="0" rtlCol="0" anchor="t"/>
          <a:lstStyle/>
          <a:p>
            <a:pPr indent="0" marL="0">
              <a:spcAft>
                <a:spcPts val="100"/>
              </a:spcAft>
              <a:buNone/>
            </a:pPr>
            <a:r>
              <a:rPr lang="en-US" sz="900" b="1" dirty="0">
                <a:solidFill>
                  <a:srgbClr val="0B1F3A"/>
                </a:solidFill>
                <a:latin typeface="Calibri" pitchFamily="34" charset="0"/>
                <a:ea typeface="Calibri" pitchFamily="34" charset="-122"/>
                <a:cs typeface="Calibri" pitchFamily="34" charset="-120"/>
              </a:rPr>
              <a:t>Combining the two</a:t>
            </a:r>
            <a:endParaRPr lang="en-US" sz="900" dirty="0"/>
          </a:p>
          <a:p>
            <a:pPr marL="114300" indent="-114300">
              <a:spcAft>
                <a:spcPts val="100"/>
              </a:spcAft>
              <a:buSzPct val="100000"/>
              <a:buChar char="•"/>
            </a:pPr>
            <a:r>
              <a:rPr lang="en-US" sz="900" dirty="0">
                <a:solidFill>
                  <a:srgbClr val="14213D"/>
                </a:solidFill>
                <a:latin typeface="Cambria" pitchFamily="34" charset="0"/>
                <a:ea typeface="Cambria" pitchFamily="34" charset="-122"/>
                <a:cs typeface="Cambria" pitchFamily="34" charset="-120"/>
              </a:rPr>
              <a:t>SNR 72 dB, THD −76 dBc</a:t>
            </a:r>
            <a:endParaRPr lang="en-US" sz="900" dirty="0"/>
          </a:p>
          <a:p>
            <a:pPr marL="114300" indent="-114300">
              <a:spcAft>
                <a:spcPts val="100"/>
              </a:spcAft>
              <a:buSzPct val="100000"/>
              <a:buChar char="•"/>
            </a:pPr>
            <a:r>
              <a:rPr lang="en-US" sz="900" dirty="0">
                <a:solidFill>
                  <a:srgbClr val="14213D"/>
                </a:solidFill>
                <a:latin typeface="Cambria" pitchFamily="34" charset="0"/>
                <a:ea typeface="Cambria" pitchFamily="34" charset="-122"/>
                <a:cs typeface="Cambria" pitchFamily="34" charset="-120"/>
              </a:rPr>
              <a:t>SINAD = −10 log₁₀(10⁻⁷·² + 10⁻⁷·⁶) = 70.5 dB</a:t>
            </a:r>
            <a:endParaRPr lang="en-US" sz="900" dirty="0"/>
          </a:p>
          <a:p>
            <a:pPr marL="114300" indent="-114300">
              <a:spcAft>
                <a:spcPts val="100"/>
              </a:spcAft>
              <a:buSzPct val="100000"/>
              <a:buChar char="•"/>
            </a:pPr>
            <a:r>
              <a:rPr lang="en-US" sz="900" dirty="0">
                <a:solidFill>
                  <a:srgbClr val="14213D"/>
                </a:solidFill>
                <a:latin typeface="Cambria" pitchFamily="34" charset="0"/>
                <a:ea typeface="Cambria" pitchFamily="34" charset="-122"/>
                <a:cs typeface="Cambria" pitchFamily="34" charset="-120"/>
              </a:rPr>
              <a:t>The worse of the two dominates: fixing distortion alone would gain only 1.5 dB</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5760720" cy="640080"/>
          </a:xfrm>
          <a:prstGeom prst="rect">
            <a:avLst/>
          </a:prstGeom>
          <a:noFill/>
          <a:ln/>
        </p:spPr>
        <p:txBody>
          <a:bodyPr wrap="square" lIns="0" tIns="0" rIns="0" bIns="0" rtlCol="0" anchor="ctr"/>
          <a:lstStyle/>
          <a:p>
            <a:pPr indent="0" marL="0">
              <a:buNone/>
            </a:pPr>
            <a:r>
              <a:rPr lang="en-US" sz="2000" b="1" dirty="0">
                <a:solidFill>
                  <a:srgbClr val="0B1F3A"/>
                </a:solidFill>
                <a:latin typeface="Cambria" pitchFamily="34" charset="0"/>
                <a:ea typeface="Cambria" pitchFamily="34" charset="-122"/>
                <a:cs typeface="Cambria" pitchFamily="34" charset="-120"/>
              </a:rPr>
              <a:t>ENOB — effective number of bits</a:t>
            </a:r>
            <a:endParaRPr lang="en-US" sz="2000" dirty="0"/>
          </a:p>
        </p:txBody>
      </p:sp>
      <p:sp>
        <p:nvSpPr>
          <p:cNvPr id="3" name="Text 1"/>
          <p:cNvSpPr txBox="1"/>
          <p:nvPr/>
        </p:nvSpPr>
        <p:spPr>
          <a:xfrm>
            <a:off x="457200" y="4796028"/>
            <a:ext cx="4572000" cy="228600"/>
          </a:xfrm>
          <a:prstGeom prst="rect">
            <a:avLst/>
          </a:prstGeom>
          <a:noFill/>
          <a:ln/>
        </p:spPr>
        <p:txBody>
          <a:bodyPr wrap="square" lIns="0" tIns="0" rIns="0" bIns="0" rtlCol="0" anchor="ctr"/>
          <a:lstStyle/>
          <a:p>
            <a:pPr indent="0" marL="0">
              <a:buNone/>
            </a:pPr>
            <a:r>
              <a:rPr lang="en-US" sz="900" dirty="0">
                <a:solidFill>
                  <a:srgbClr val="5B6B7F"/>
                </a:solidFill>
                <a:latin typeface="Calibri" pitchFamily="34" charset="0"/>
                <a:ea typeface="Calibri" pitchFamily="34" charset="-122"/>
                <a:cs typeface="Calibri" pitchFamily="34" charset="-120"/>
              </a:rPr>
              <a:t>Part 3 · Dynamic performance (AC)</a:t>
            </a:r>
            <a:endParaRPr lang="en-US" sz="900" dirty="0"/>
          </a:p>
        </p:txBody>
      </p:sp>
      <p:sp>
        <p:nvSpPr>
          <p:cNvPr id="4" name="Text 2"/>
          <p:cNvSpPr txBox="1"/>
          <p:nvPr/>
        </p:nvSpPr>
        <p:spPr>
          <a:xfrm>
            <a:off x="7772400" y="4796028"/>
            <a:ext cx="914400" cy="228600"/>
          </a:xfrm>
          <a:prstGeom prst="rect">
            <a:avLst/>
          </a:prstGeom>
          <a:noFill/>
          <a:ln/>
        </p:spPr>
        <p:txBody>
          <a:bodyPr wrap="square" lIns="0" tIns="0" rIns="0" bIns="0" rtlCol="0" anchor="ctr"/>
          <a:lstStyle/>
          <a:p>
            <a:pPr algn="r" indent="0" marL="0">
              <a:buNone/>
            </a:pPr>
            <a:r>
              <a:rPr lang="en-US" sz="900" dirty="0">
                <a:solidFill>
                  <a:srgbClr val="5B6B7F"/>
                </a:solidFill>
                <a:latin typeface="Calibri" pitchFamily="34" charset="0"/>
                <a:ea typeface="Calibri" pitchFamily="34" charset="-122"/>
                <a:cs typeface="Calibri" pitchFamily="34" charset="-120"/>
              </a:rPr>
              <a:t>27</a:t>
            </a:r>
            <a:endParaRPr lang="en-US" sz="900" dirty="0"/>
          </a:p>
        </p:txBody>
      </p:sp>
      <p:sp>
        <p:nvSpPr>
          <p:cNvPr id="5" name="Shape 3"/>
          <p:cNvSpPr/>
          <p:nvPr/>
        </p:nvSpPr>
        <p:spPr>
          <a:xfrm>
            <a:off x="6446520" y="384048"/>
            <a:ext cx="2240280" cy="384048"/>
          </a:xfrm>
          <a:prstGeom prst="roundRect">
            <a:avLst>
              <a:gd name="adj" fmla="val 19048"/>
            </a:avLst>
          </a:prstGeom>
          <a:solidFill>
            <a:srgbClr val="EEF3F8"/>
          </a:solidFill>
          <a:ln w="12700">
            <a:solidFill>
              <a:srgbClr val="EEF3F8"/>
            </a:solidFill>
            <a:prstDash val="solid"/>
          </a:ln>
        </p:spPr>
      </p:sp>
      <p:sp>
        <p:nvSpPr>
          <p:cNvPr id="6" name="Text 4"/>
          <p:cNvSpPr txBox="1"/>
          <p:nvPr/>
        </p:nvSpPr>
        <p:spPr>
          <a:xfrm>
            <a:off x="6446520" y="384048"/>
            <a:ext cx="2240280" cy="384048"/>
          </a:xfrm>
          <a:prstGeom prst="rect">
            <a:avLst/>
          </a:prstGeom>
          <a:noFill/>
          <a:ln/>
        </p:spPr>
        <p:txBody>
          <a:bodyPr wrap="square" lIns="0" tIns="0" rIns="0" bIns="0" rtlCol="0" anchor="ctr"/>
          <a:lstStyle/>
          <a:p>
            <a:pPr algn="ctr" indent="0" marL="0">
              <a:buNone/>
            </a:pPr>
            <a:r>
              <a:rPr lang="en-US" sz="1200" b="1" dirty="0">
                <a:solidFill>
                  <a:srgbClr val="0B1F3A"/>
                </a:solidFill>
                <a:latin typeface="Cambria" pitchFamily="34" charset="0"/>
                <a:ea typeface="Cambria" pitchFamily="34" charset="-122"/>
                <a:cs typeface="Cambria" pitchFamily="34" charset="-120"/>
              </a:rPr>
              <a:t>ENOB   ·   bits</a:t>
            </a:r>
            <a:endParaRPr lang="en-US" sz="1200" dirty="0"/>
          </a:p>
        </p:txBody>
      </p:sp>
      <p:sp>
        <p:nvSpPr>
          <p:cNvPr id="7" name="Text 5"/>
          <p:cNvSpPr txBox="1"/>
          <p:nvPr/>
        </p:nvSpPr>
        <p:spPr>
          <a:xfrm>
            <a:off x="457200" y="1042416"/>
            <a:ext cx="4023360" cy="1005840"/>
          </a:xfrm>
          <a:prstGeom prst="rect">
            <a:avLst/>
          </a:prstGeom>
          <a:noFill/>
          <a:ln/>
        </p:spPr>
        <p:txBody>
          <a:bodyPr wrap="square" lIns="0" tIns="0" rIns="0" bIns="0" rtlCol="0" anchor="t"/>
          <a:lstStyle/>
          <a:p>
            <a:pPr indent="0" marL="0">
              <a:buNone/>
            </a:pPr>
            <a:r>
              <a:rPr lang="en-US" sz="1150" dirty="0">
                <a:solidFill>
                  <a:srgbClr val="14213D"/>
                </a:solidFill>
                <a:latin typeface="Calibri" pitchFamily="34" charset="0"/>
                <a:ea typeface="Calibri" pitchFamily="34" charset="-122"/>
                <a:cs typeface="Calibri" pitchFamily="34" charset="-120"/>
              </a:rPr>
              <a:t>The resolution you actually got, obtained by running the ideal-SNR formula backwards on the measured SINAD. It converts a decibel figure into the only unit people intuitively understand: bits.</a:t>
            </a:r>
            <a:endParaRPr lang="en-US" sz="1150" dirty="0"/>
          </a:p>
        </p:txBody>
      </p:sp>
      <p:sp>
        <p:nvSpPr>
          <p:cNvPr id="8" name="Shape 6"/>
          <p:cNvSpPr/>
          <p:nvPr/>
        </p:nvSpPr>
        <p:spPr>
          <a:xfrm>
            <a:off x="457200" y="2103120"/>
            <a:ext cx="4023360" cy="685800"/>
          </a:xfrm>
          <a:prstGeom prst="roundRect">
            <a:avLst>
              <a:gd name="adj" fmla="val 10667"/>
            </a:avLst>
          </a:prstGeom>
          <a:solidFill>
            <a:srgbClr val="EEF3F8"/>
          </a:solidFill>
          <a:ln w="12700">
            <a:solidFill>
              <a:srgbClr val="EEF3F8"/>
            </a:solidFill>
            <a:prstDash val="solid"/>
          </a:ln>
        </p:spPr>
      </p:sp>
      <p:sp>
        <p:nvSpPr>
          <p:cNvPr id="9" name="Text 7"/>
          <p:cNvSpPr txBox="1"/>
          <p:nvPr/>
        </p:nvSpPr>
        <p:spPr>
          <a:xfrm>
            <a:off x="594360" y="2103120"/>
            <a:ext cx="3749040" cy="429768"/>
          </a:xfrm>
          <a:prstGeom prst="rect">
            <a:avLst/>
          </a:prstGeom>
          <a:noFill/>
          <a:ln/>
        </p:spPr>
        <p:txBody>
          <a:bodyPr wrap="square" lIns="0" tIns="0" rIns="0" bIns="0" rtlCol="0" anchor="ctr"/>
          <a:lstStyle/>
          <a:p>
            <a:pPr algn="ctr" indent="0" marL="0">
              <a:buNone/>
            </a:pPr>
            <a:r>
              <a:rPr lang="en-US" sz="1500" dirty="0">
                <a:solidFill>
                  <a:srgbClr val="0B1F3A"/>
                </a:solidFill>
                <a:latin typeface="Cambria" pitchFamily="34" charset="0"/>
                <a:ea typeface="Cambria" pitchFamily="34" charset="-122"/>
                <a:cs typeface="Cambria" pitchFamily="34" charset="-120"/>
              </a:rPr>
              <a:t>ENOB = ( SINAD − 1.76 ) / 6.02</a:t>
            </a:r>
            <a:endParaRPr lang="en-US" sz="1500" dirty="0"/>
          </a:p>
        </p:txBody>
      </p:sp>
      <p:sp>
        <p:nvSpPr>
          <p:cNvPr id="10" name="Text 8"/>
          <p:cNvSpPr txBox="1"/>
          <p:nvPr/>
        </p:nvSpPr>
        <p:spPr>
          <a:xfrm>
            <a:off x="594360" y="2487168"/>
            <a:ext cx="3749040" cy="256032"/>
          </a:xfrm>
          <a:prstGeom prst="rect">
            <a:avLst/>
          </a:prstGeom>
          <a:noFill/>
          <a:ln/>
        </p:spPr>
        <p:txBody>
          <a:bodyPr wrap="square" lIns="0" tIns="0" rIns="0" bIns="0" rtlCol="0" anchor="t"/>
          <a:lstStyle/>
          <a:p>
            <a:pPr algn="ctr" indent="0" marL="0">
              <a:buNone/>
            </a:pPr>
            <a:r>
              <a:rPr lang="en-US" sz="1000" dirty="0">
                <a:solidFill>
                  <a:srgbClr val="5B6B7F"/>
                </a:solidFill>
                <a:latin typeface="Calibri" pitchFamily="34" charset="0"/>
                <a:ea typeface="Calibri" pitchFamily="34" charset="-122"/>
                <a:cs typeface="Calibri" pitchFamily="34" charset="-120"/>
              </a:rPr>
              <a:t>For a full-scale input</a:t>
            </a:r>
            <a:endParaRPr lang="en-US" sz="1000" dirty="0"/>
          </a:p>
        </p:txBody>
      </p:sp>
      <p:sp>
        <p:nvSpPr>
          <p:cNvPr id="11" name="Shape 9"/>
          <p:cNvSpPr/>
          <p:nvPr/>
        </p:nvSpPr>
        <p:spPr>
          <a:xfrm>
            <a:off x="457200" y="2862072"/>
            <a:ext cx="4023360" cy="685800"/>
          </a:xfrm>
          <a:prstGeom prst="roundRect">
            <a:avLst>
              <a:gd name="adj" fmla="val 10667"/>
            </a:avLst>
          </a:prstGeom>
          <a:solidFill>
            <a:srgbClr val="EEF3F8"/>
          </a:solidFill>
          <a:ln w="12700">
            <a:solidFill>
              <a:srgbClr val="EEF3F8"/>
            </a:solidFill>
            <a:prstDash val="solid"/>
          </a:ln>
        </p:spPr>
      </p:sp>
      <p:sp>
        <p:nvSpPr>
          <p:cNvPr id="12" name="Text 10"/>
          <p:cNvSpPr txBox="1"/>
          <p:nvPr/>
        </p:nvSpPr>
        <p:spPr>
          <a:xfrm>
            <a:off x="594360" y="2862072"/>
            <a:ext cx="3749040" cy="429768"/>
          </a:xfrm>
          <a:prstGeom prst="rect">
            <a:avLst/>
          </a:prstGeom>
          <a:noFill/>
          <a:ln/>
        </p:spPr>
        <p:txBody>
          <a:bodyPr wrap="square" lIns="0" tIns="0" rIns="0" bIns="0" rtlCol="0" anchor="ctr"/>
          <a:lstStyle/>
          <a:p>
            <a:pPr algn="ctr" indent="0" marL="0">
              <a:buNone/>
            </a:pPr>
            <a:r>
              <a:rPr lang="en-US" sz="1200" dirty="0">
                <a:solidFill>
                  <a:srgbClr val="0B1F3A"/>
                </a:solidFill>
                <a:latin typeface="Cambria" pitchFamily="34" charset="0"/>
                <a:ea typeface="Cambria" pitchFamily="34" charset="-122"/>
                <a:cs typeface="Cambria" pitchFamily="34" charset="-120"/>
              </a:rPr>
              <a:t>ENOB = ( SINAD − 1.76 + back-off ) / 6.02</a:t>
            </a:r>
            <a:endParaRPr lang="en-US" sz="1200" dirty="0"/>
          </a:p>
        </p:txBody>
      </p:sp>
      <p:sp>
        <p:nvSpPr>
          <p:cNvPr id="13" name="Text 11"/>
          <p:cNvSpPr txBox="1"/>
          <p:nvPr/>
        </p:nvSpPr>
        <p:spPr>
          <a:xfrm>
            <a:off x="594360" y="3246120"/>
            <a:ext cx="3749040" cy="256032"/>
          </a:xfrm>
          <a:prstGeom prst="rect">
            <a:avLst/>
          </a:prstGeom>
          <a:noFill/>
          <a:ln/>
        </p:spPr>
        <p:txBody>
          <a:bodyPr wrap="square" lIns="0" tIns="0" rIns="0" bIns="0" rtlCol="0" anchor="t"/>
          <a:lstStyle/>
          <a:p>
            <a:pPr algn="ctr" indent="0" marL="0">
              <a:buNone/>
            </a:pPr>
            <a:r>
              <a:rPr lang="en-US" sz="1000" dirty="0">
                <a:solidFill>
                  <a:srgbClr val="5B6B7F"/>
                </a:solidFill>
                <a:latin typeface="Calibri" pitchFamily="34" charset="0"/>
                <a:ea typeface="Calibri" pitchFamily="34" charset="-122"/>
                <a:cs typeface="Calibri" pitchFamily="34" charset="-120"/>
              </a:rPr>
              <a:t>Add the dB you backed off, or you will under-report the part</a:t>
            </a:r>
            <a:endParaRPr lang="en-US" sz="1000" dirty="0"/>
          </a:p>
        </p:txBody>
      </p:sp>
      <p:graphicFrame>
        <p:nvGraphicFramePr>
          <p:cNvPr id="14" name="Chart 0" descr=""/>
          <p:cNvGraphicFramePr/>
          <p:nvPr/>
        </p:nvGraphicFramePr>
        <p:xfrm>
          <a:off x="4663440" y="1042416"/>
          <a:ext cx="4023360" cy="2084832"/>
        </p:xfrm>
        <a:graphic xmlns:a="http://schemas.openxmlformats.org/drawingml/2006/main">
          <a:graphicData uri="http://schemas.openxmlformats.org/drawingml/2006/chart">
            <c:chart xmlns:c="http://schemas.openxmlformats.org/drawingml/2006/chart" r:id="rId1"/>
          </a:graphicData>
        </a:graphic>
      </p:graphicFrame>
      <p:sp>
        <p:nvSpPr>
          <p:cNvPr id="15" name="Text 12"/>
          <p:cNvSpPr txBox="1"/>
          <p:nvPr/>
        </p:nvSpPr>
        <p:spPr>
          <a:xfrm>
            <a:off x="4663440" y="3200400"/>
            <a:ext cx="4023360" cy="347472"/>
          </a:xfrm>
          <a:prstGeom prst="rect">
            <a:avLst/>
          </a:prstGeom>
          <a:noFill/>
          <a:ln/>
        </p:spPr>
        <p:txBody>
          <a:bodyPr wrap="square" lIns="0" tIns="0" rIns="0" bIns="0" rtlCol="0" anchor="ctr"/>
          <a:lstStyle/>
          <a:p>
            <a:pPr algn="ctr" indent="0" marL="0">
              <a:buNone/>
            </a:pPr>
            <a:r>
              <a:rPr lang="en-US" sz="1000" i="1" dirty="0">
                <a:solidFill>
                  <a:srgbClr val="5B6B7F"/>
                </a:solidFill>
                <a:latin typeface="Calibri" pitchFamily="34" charset="0"/>
                <a:ea typeface="Calibri" pitchFamily="34" charset="-122"/>
                <a:cs typeface="Calibri" pitchFamily="34" charset="-120"/>
              </a:rPr>
              <a:t>ENOB always falls as input frequency rises. A single ENOB number is meaningless without the frequency it was measured at.</a:t>
            </a:r>
            <a:endParaRPr lang="en-US" sz="1000" dirty="0"/>
          </a:p>
        </p:txBody>
      </p:sp>
      <p:sp>
        <p:nvSpPr>
          <p:cNvPr id="16" name="Shape 13"/>
          <p:cNvSpPr/>
          <p:nvPr/>
        </p:nvSpPr>
        <p:spPr>
          <a:xfrm>
            <a:off x="457200" y="3675888"/>
            <a:ext cx="4023360" cy="1024128"/>
          </a:xfrm>
          <a:prstGeom prst="roundRect">
            <a:avLst>
              <a:gd name="adj" fmla="val 7143"/>
            </a:avLst>
          </a:prstGeom>
          <a:solidFill>
            <a:srgbClr val="E4F7F4"/>
          </a:solidFill>
          <a:ln w="12700">
            <a:solidFill>
              <a:srgbClr val="E4F7F4"/>
            </a:solidFill>
            <a:prstDash val="solid"/>
          </a:ln>
        </p:spPr>
      </p:sp>
      <p:sp>
        <p:nvSpPr>
          <p:cNvPr id="17" name="Shape 14"/>
          <p:cNvSpPr/>
          <p:nvPr/>
        </p:nvSpPr>
        <p:spPr>
          <a:xfrm>
            <a:off x="566928" y="3776472"/>
            <a:ext cx="237744" cy="237744"/>
          </a:xfrm>
          <a:prstGeom prst="ellipse">
            <a:avLst/>
          </a:prstGeom>
          <a:solidFill>
            <a:srgbClr val="2EC4B6"/>
          </a:solidFill>
          <a:ln w="12700">
            <a:solidFill>
              <a:srgbClr val="2EC4B6"/>
            </a:solidFill>
            <a:prstDash val="solid"/>
          </a:ln>
        </p:spPr>
      </p:sp>
      <p:sp>
        <p:nvSpPr>
          <p:cNvPr id="18" name="Text 15"/>
          <p:cNvSpPr txBox="1"/>
          <p:nvPr/>
        </p:nvSpPr>
        <p:spPr>
          <a:xfrm>
            <a:off x="566928" y="3776472"/>
            <a:ext cx="237744" cy="237744"/>
          </a:xfrm>
          <a:prstGeom prst="rect">
            <a:avLst/>
          </a:prstGeom>
          <a:noFill/>
          <a:ln/>
        </p:spPr>
        <p:txBody>
          <a:bodyPr wrap="square" lIns="0" tIns="0" rIns="0" bIns="0" rtlCol="0" anchor="ctr"/>
          <a:lstStyle/>
          <a:p>
            <a:pPr algn="ctr" indent="0" marL="0">
              <a:buNone/>
            </a:pPr>
            <a:r>
              <a:rPr lang="en-US" sz="1200" b="1" dirty="0">
                <a:solidFill>
                  <a:srgbClr val="0B1F3A"/>
                </a:solidFill>
                <a:latin typeface="Calibri" pitchFamily="34" charset="0"/>
                <a:ea typeface="Calibri" pitchFamily="34" charset="-122"/>
                <a:cs typeface="Calibri" pitchFamily="34" charset="-120"/>
              </a:rPr>
              <a:t>≈</a:t>
            </a:r>
            <a:endParaRPr lang="en-US" sz="1200" dirty="0"/>
          </a:p>
        </p:txBody>
      </p:sp>
      <p:sp>
        <p:nvSpPr>
          <p:cNvPr id="19" name="Text 16"/>
          <p:cNvSpPr txBox="1"/>
          <p:nvPr/>
        </p:nvSpPr>
        <p:spPr>
          <a:xfrm>
            <a:off x="877824" y="3739896"/>
            <a:ext cx="3493008" cy="896112"/>
          </a:xfrm>
          <a:prstGeom prst="rect">
            <a:avLst/>
          </a:prstGeom>
          <a:noFill/>
          <a:ln/>
        </p:spPr>
        <p:txBody>
          <a:bodyPr wrap="square" lIns="0" tIns="0" rIns="0" bIns="0" rtlCol="0" anchor="t"/>
          <a:lstStyle/>
          <a:p>
            <a:pPr indent="0" marL="0">
              <a:buNone/>
            </a:pPr>
            <a:r>
              <a:rPr lang="en-US" sz="1050" b="1" dirty="0">
                <a:solidFill>
                  <a:srgbClr val="0B1F3A"/>
                </a:solidFill>
                <a:latin typeface="Calibri" pitchFamily="34" charset="0"/>
                <a:ea typeface="Calibri" pitchFamily="34" charset="-122"/>
                <a:cs typeface="Calibri" pitchFamily="34" charset="-120"/>
              </a:rPr>
              <a:t>Think of it like this  </a:t>
            </a:r>
            <a:pPr indent="0" marL="0">
              <a:buNone/>
            </a:pPr>
            <a:r>
              <a:rPr lang="en-US" sz="1050" dirty="0">
                <a:solidFill>
                  <a:srgbClr val="14213D"/>
                </a:solidFill>
                <a:latin typeface="Calibri" pitchFamily="34" charset="0"/>
                <a:ea typeface="Calibri" pitchFamily="34" charset="-122"/>
                <a:cs typeface="Calibri" pitchFamily="34" charset="-120"/>
              </a:rPr>
              <a:t>A car’s advertised top speed against the speed it reaches on a real road with a real load. ENOB is the road figure.</a:t>
            </a:r>
            <a:endParaRPr lang="en-US" sz="1050" dirty="0"/>
          </a:p>
        </p:txBody>
      </p:sp>
      <p:sp>
        <p:nvSpPr>
          <p:cNvPr id="20" name="Shape 17"/>
          <p:cNvSpPr/>
          <p:nvPr/>
        </p:nvSpPr>
        <p:spPr>
          <a:xfrm>
            <a:off x="4663440" y="3675888"/>
            <a:ext cx="4023360" cy="1024128"/>
          </a:xfrm>
          <a:prstGeom prst="roundRect">
            <a:avLst>
              <a:gd name="adj" fmla="val 7143"/>
            </a:avLst>
          </a:prstGeom>
          <a:solidFill>
            <a:srgbClr val="FFFFFF"/>
          </a:solidFill>
          <a:ln w="12700">
            <a:solidFill>
              <a:srgbClr val="0B1F3A"/>
            </a:solidFill>
            <a:prstDash val="solid"/>
          </a:ln>
        </p:spPr>
      </p:sp>
      <p:sp>
        <p:nvSpPr>
          <p:cNvPr id="21" name="Shape 18"/>
          <p:cNvSpPr/>
          <p:nvPr/>
        </p:nvSpPr>
        <p:spPr>
          <a:xfrm>
            <a:off x="4773168" y="3566160"/>
            <a:ext cx="914400" cy="219456"/>
          </a:xfrm>
          <a:prstGeom prst="roundRect">
            <a:avLst>
              <a:gd name="adj" fmla="val 25000"/>
            </a:avLst>
          </a:prstGeom>
          <a:solidFill>
            <a:srgbClr val="0B1F3A"/>
          </a:solidFill>
          <a:ln w="12700">
            <a:solidFill>
              <a:srgbClr val="0B1F3A"/>
            </a:solidFill>
            <a:prstDash val="solid"/>
          </a:ln>
        </p:spPr>
      </p:sp>
      <p:sp>
        <p:nvSpPr>
          <p:cNvPr id="22" name="Text 19"/>
          <p:cNvSpPr txBox="1"/>
          <p:nvPr/>
        </p:nvSpPr>
        <p:spPr>
          <a:xfrm>
            <a:off x="4773168" y="3566160"/>
            <a:ext cx="914400" cy="219456"/>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EXAMPLE</a:t>
            </a:r>
            <a:endParaRPr lang="en-US" sz="850" dirty="0"/>
          </a:p>
        </p:txBody>
      </p:sp>
      <p:sp>
        <p:nvSpPr>
          <p:cNvPr id="23" name="Text 20"/>
          <p:cNvSpPr txBox="1"/>
          <p:nvPr/>
        </p:nvSpPr>
        <p:spPr>
          <a:xfrm>
            <a:off x="4791456" y="3813048"/>
            <a:ext cx="3803904" cy="841248"/>
          </a:xfrm>
          <a:prstGeom prst="rect">
            <a:avLst/>
          </a:prstGeom>
          <a:noFill/>
          <a:ln/>
        </p:spPr>
        <p:txBody>
          <a:bodyPr wrap="square" lIns="0" tIns="0" rIns="0" bIns="0" rtlCol="0" anchor="t"/>
          <a:lstStyle/>
          <a:p>
            <a:pPr indent="0" marL="0">
              <a:spcAft>
                <a:spcPts val="100"/>
              </a:spcAft>
              <a:buNone/>
            </a:pPr>
            <a:r>
              <a:rPr lang="en-US" sz="900" b="1" dirty="0">
                <a:solidFill>
                  <a:srgbClr val="0B1F3A"/>
                </a:solidFill>
                <a:latin typeface="Calibri" pitchFamily="34" charset="0"/>
                <a:ea typeface="Calibri" pitchFamily="34" charset="-122"/>
                <a:cs typeface="Calibri" pitchFamily="34" charset="-120"/>
              </a:rPr>
              <a:t>A "14-bit" converter at 70 MHz input</a:t>
            </a:r>
            <a:endParaRPr lang="en-US" sz="900" dirty="0"/>
          </a:p>
          <a:p>
            <a:pPr marL="114300" indent="-114300">
              <a:spcAft>
                <a:spcPts val="100"/>
              </a:spcAft>
              <a:buSzPct val="100000"/>
              <a:buChar char="•"/>
            </a:pPr>
            <a:r>
              <a:rPr lang="en-US" sz="900" dirty="0">
                <a:solidFill>
                  <a:srgbClr val="14213D"/>
                </a:solidFill>
                <a:latin typeface="Cambria" pitchFamily="34" charset="0"/>
                <a:ea typeface="Cambria" pitchFamily="34" charset="-122"/>
                <a:cs typeface="Cambria" pitchFamily="34" charset="-120"/>
              </a:rPr>
              <a:t>Measured SINAD: 68 dB, driven 1 dB below full scale</a:t>
            </a:r>
            <a:endParaRPr lang="en-US" sz="900" dirty="0"/>
          </a:p>
          <a:p>
            <a:pPr marL="114300" indent="-114300">
              <a:spcAft>
                <a:spcPts val="100"/>
              </a:spcAft>
              <a:buSzPct val="100000"/>
              <a:buChar char="•"/>
            </a:pPr>
            <a:r>
              <a:rPr lang="en-US" sz="900" dirty="0">
                <a:solidFill>
                  <a:srgbClr val="14213D"/>
                </a:solidFill>
                <a:latin typeface="Cambria" pitchFamily="34" charset="0"/>
                <a:ea typeface="Cambria" pitchFamily="34" charset="-122"/>
                <a:cs typeface="Cambria" pitchFamily="34" charset="-120"/>
              </a:rPr>
              <a:t>ENOB = (68 − 1.76 + 1) / 6.02 = 11.2 bits</a:t>
            </a:r>
            <a:endParaRPr lang="en-US" sz="900" dirty="0"/>
          </a:p>
          <a:p>
            <a:pPr marL="114300" indent="-114300">
              <a:spcAft>
                <a:spcPts val="100"/>
              </a:spcAft>
              <a:buSzPct val="100000"/>
              <a:buChar char="•"/>
            </a:pPr>
            <a:r>
              <a:rPr lang="en-US" sz="900" dirty="0">
                <a:solidFill>
                  <a:srgbClr val="14213D"/>
                </a:solidFill>
                <a:latin typeface="Cambria" pitchFamily="34" charset="0"/>
                <a:ea typeface="Cambria" pitchFamily="34" charset="-122"/>
                <a:cs typeface="Cambria" pitchFamily="34" charset="-120"/>
              </a:rPr>
              <a:t>Nearly three bits of the fourteen are not there at this frequency</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4928616" cy="640080"/>
          </a:xfrm>
          <a:prstGeom prst="rect">
            <a:avLst/>
          </a:prstGeom>
          <a:noFill/>
          <a:ln/>
        </p:spPr>
        <p:txBody>
          <a:bodyPr wrap="square" lIns="0" tIns="0" rIns="0" bIns="0" rtlCol="0" anchor="ctr"/>
          <a:lstStyle/>
          <a:p>
            <a:pPr indent="0" marL="0">
              <a:buNone/>
            </a:pPr>
            <a:r>
              <a:rPr lang="en-US" sz="1800" b="1" dirty="0">
                <a:solidFill>
                  <a:srgbClr val="0B1F3A"/>
                </a:solidFill>
                <a:latin typeface="Cambria" pitchFamily="34" charset="0"/>
                <a:ea typeface="Cambria" pitchFamily="34" charset="-122"/>
                <a:cs typeface="Cambria" pitchFamily="34" charset="-120"/>
              </a:rPr>
              <a:t>SFDR — spurious-free dynamic range</a:t>
            </a:r>
            <a:endParaRPr lang="en-US" sz="1800" dirty="0"/>
          </a:p>
        </p:txBody>
      </p:sp>
      <p:sp>
        <p:nvSpPr>
          <p:cNvPr id="3" name="Text 1"/>
          <p:cNvSpPr txBox="1"/>
          <p:nvPr/>
        </p:nvSpPr>
        <p:spPr>
          <a:xfrm>
            <a:off x="457200" y="4796028"/>
            <a:ext cx="4572000" cy="228600"/>
          </a:xfrm>
          <a:prstGeom prst="rect">
            <a:avLst/>
          </a:prstGeom>
          <a:noFill/>
          <a:ln/>
        </p:spPr>
        <p:txBody>
          <a:bodyPr wrap="square" lIns="0" tIns="0" rIns="0" bIns="0" rtlCol="0" anchor="ctr"/>
          <a:lstStyle/>
          <a:p>
            <a:pPr indent="0" marL="0">
              <a:buNone/>
            </a:pPr>
            <a:r>
              <a:rPr lang="en-US" sz="900" dirty="0">
                <a:solidFill>
                  <a:srgbClr val="5B6B7F"/>
                </a:solidFill>
                <a:latin typeface="Calibri" pitchFamily="34" charset="0"/>
                <a:ea typeface="Calibri" pitchFamily="34" charset="-122"/>
                <a:cs typeface="Calibri" pitchFamily="34" charset="-120"/>
              </a:rPr>
              <a:t>Part 3 · Dynamic performance (AC)</a:t>
            </a:r>
            <a:endParaRPr lang="en-US" sz="900" dirty="0"/>
          </a:p>
        </p:txBody>
      </p:sp>
      <p:sp>
        <p:nvSpPr>
          <p:cNvPr id="4" name="Text 2"/>
          <p:cNvSpPr txBox="1"/>
          <p:nvPr/>
        </p:nvSpPr>
        <p:spPr>
          <a:xfrm>
            <a:off x="7772400" y="4796028"/>
            <a:ext cx="914400" cy="228600"/>
          </a:xfrm>
          <a:prstGeom prst="rect">
            <a:avLst/>
          </a:prstGeom>
          <a:noFill/>
          <a:ln/>
        </p:spPr>
        <p:txBody>
          <a:bodyPr wrap="square" lIns="0" tIns="0" rIns="0" bIns="0" rtlCol="0" anchor="ctr"/>
          <a:lstStyle/>
          <a:p>
            <a:pPr algn="r" indent="0" marL="0">
              <a:buNone/>
            </a:pPr>
            <a:r>
              <a:rPr lang="en-US" sz="900" dirty="0">
                <a:solidFill>
                  <a:srgbClr val="5B6B7F"/>
                </a:solidFill>
                <a:latin typeface="Calibri" pitchFamily="34" charset="0"/>
                <a:ea typeface="Calibri" pitchFamily="34" charset="-122"/>
                <a:cs typeface="Calibri" pitchFamily="34" charset="-120"/>
              </a:rPr>
              <a:t>28</a:t>
            </a:r>
            <a:endParaRPr lang="en-US" sz="900" dirty="0"/>
          </a:p>
        </p:txBody>
      </p:sp>
      <p:sp>
        <p:nvSpPr>
          <p:cNvPr id="5" name="Shape 3"/>
          <p:cNvSpPr/>
          <p:nvPr/>
        </p:nvSpPr>
        <p:spPr>
          <a:xfrm>
            <a:off x="5614416" y="384048"/>
            <a:ext cx="3072384" cy="384048"/>
          </a:xfrm>
          <a:prstGeom prst="roundRect">
            <a:avLst>
              <a:gd name="adj" fmla="val 19048"/>
            </a:avLst>
          </a:prstGeom>
          <a:solidFill>
            <a:srgbClr val="EEF3F8"/>
          </a:solidFill>
          <a:ln w="12700">
            <a:solidFill>
              <a:srgbClr val="EEF3F8"/>
            </a:solidFill>
            <a:prstDash val="solid"/>
          </a:ln>
        </p:spPr>
      </p:sp>
      <p:sp>
        <p:nvSpPr>
          <p:cNvPr id="6" name="Text 4"/>
          <p:cNvSpPr txBox="1"/>
          <p:nvPr/>
        </p:nvSpPr>
        <p:spPr>
          <a:xfrm>
            <a:off x="5614416" y="384048"/>
            <a:ext cx="3072384" cy="384048"/>
          </a:xfrm>
          <a:prstGeom prst="rect">
            <a:avLst/>
          </a:prstGeom>
          <a:noFill/>
          <a:ln/>
        </p:spPr>
        <p:txBody>
          <a:bodyPr wrap="square" lIns="0" tIns="0" rIns="0" bIns="0" rtlCol="0" anchor="ctr"/>
          <a:lstStyle/>
          <a:p>
            <a:pPr algn="ctr" indent="0" marL="0">
              <a:buNone/>
            </a:pPr>
            <a:r>
              <a:rPr lang="en-US" sz="1200" b="1" dirty="0">
                <a:solidFill>
                  <a:srgbClr val="0B1F3A"/>
                </a:solidFill>
                <a:latin typeface="Cambria" pitchFamily="34" charset="0"/>
                <a:ea typeface="Cambria" pitchFamily="34" charset="-122"/>
                <a:cs typeface="Cambria" pitchFamily="34" charset="-120"/>
              </a:rPr>
              <a:t>SFDR   ·   dBc or dBFS</a:t>
            </a:r>
            <a:endParaRPr lang="en-US" sz="1200" dirty="0"/>
          </a:p>
        </p:txBody>
      </p:sp>
      <p:sp>
        <p:nvSpPr>
          <p:cNvPr id="7" name="Text 5"/>
          <p:cNvSpPr txBox="1"/>
          <p:nvPr/>
        </p:nvSpPr>
        <p:spPr>
          <a:xfrm>
            <a:off x="457200" y="1042416"/>
            <a:ext cx="4023360" cy="1005840"/>
          </a:xfrm>
          <a:prstGeom prst="rect">
            <a:avLst/>
          </a:prstGeom>
          <a:noFill/>
          <a:ln/>
        </p:spPr>
        <p:txBody>
          <a:bodyPr wrap="square" lIns="0" tIns="0" rIns="0" bIns="0" rtlCol="0" anchor="t"/>
          <a:lstStyle/>
          <a:p>
            <a:pPr indent="0" marL="0">
              <a:buNone/>
            </a:pPr>
            <a:r>
              <a:rPr lang="en-US" sz="1150" dirty="0">
                <a:solidFill>
                  <a:srgbClr val="14213D"/>
                </a:solidFill>
                <a:latin typeface="Calibri" pitchFamily="34" charset="0"/>
                <a:ea typeface="Calibri" pitchFamily="34" charset="-122"/>
                <a:cs typeface="Calibri" pitchFamily="34" charset="-120"/>
              </a:rPr>
              <a:t>The gap between the wanted tone and the single largest unwanted spike anywhere in the spectrum, whether or not it is a harmonic. It answers one question exactly: how small a signal can I still find while a big one is present?</a:t>
            </a:r>
            <a:endParaRPr lang="en-US" sz="1150" dirty="0"/>
          </a:p>
        </p:txBody>
      </p:sp>
      <p:sp>
        <p:nvSpPr>
          <p:cNvPr id="8" name="Shape 6"/>
          <p:cNvSpPr/>
          <p:nvPr/>
        </p:nvSpPr>
        <p:spPr>
          <a:xfrm>
            <a:off x="457200" y="2103120"/>
            <a:ext cx="4023360" cy="868680"/>
          </a:xfrm>
          <a:prstGeom prst="roundRect">
            <a:avLst>
              <a:gd name="adj" fmla="val 8421"/>
            </a:avLst>
          </a:prstGeom>
          <a:solidFill>
            <a:srgbClr val="EEF3F8"/>
          </a:solidFill>
          <a:ln w="12700">
            <a:solidFill>
              <a:srgbClr val="EEF3F8"/>
            </a:solidFill>
            <a:prstDash val="solid"/>
          </a:ln>
        </p:spPr>
      </p:sp>
      <p:sp>
        <p:nvSpPr>
          <p:cNvPr id="9" name="Text 7"/>
          <p:cNvSpPr txBox="1"/>
          <p:nvPr/>
        </p:nvSpPr>
        <p:spPr>
          <a:xfrm>
            <a:off x="594360" y="2103120"/>
            <a:ext cx="3749040" cy="612648"/>
          </a:xfrm>
          <a:prstGeom prst="rect">
            <a:avLst/>
          </a:prstGeom>
          <a:noFill/>
          <a:ln/>
        </p:spPr>
        <p:txBody>
          <a:bodyPr wrap="square" lIns="0" tIns="0" rIns="0" bIns="0" rtlCol="0" anchor="ctr"/>
          <a:lstStyle/>
          <a:p>
            <a:pPr algn="ctr" indent="0" marL="0">
              <a:buNone/>
            </a:pPr>
            <a:r>
              <a:rPr lang="en-US" sz="1100" dirty="0">
                <a:solidFill>
                  <a:srgbClr val="0B1F3A"/>
                </a:solidFill>
                <a:latin typeface="Cambria" pitchFamily="34" charset="0"/>
                <a:ea typeface="Cambria" pitchFamily="34" charset="-122"/>
                <a:cs typeface="Cambria" pitchFamily="34" charset="-120"/>
              </a:rPr>
              <a:t>SFDR = 10 log₁₀( P_signal / P_largest spur )</a:t>
            </a:r>
            <a:endParaRPr lang="en-US" sz="1100" dirty="0"/>
          </a:p>
        </p:txBody>
      </p:sp>
      <p:sp>
        <p:nvSpPr>
          <p:cNvPr id="10" name="Text 8"/>
          <p:cNvSpPr txBox="1"/>
          <p:nvPr/>
        </p:nvSpPr>
        <p:spPr>
          <a:xfrm>
            <a:off x="594360" y="2670048"/>
            <a:ext cx="3749040" cy="256032"/>
          </a:xfrm>
          <a:prstGeom prst="rect">
            <a:avLst/>
          </a:prstGeom>
          <a:noFill/>
          <a:ln/>
        </p:spPr>
        <p:txBody>
          <a:bodyPr wrap="square" lIns="0" tIns="0" rIns="0" bIns="0" rtlCol="0" anchor="t"/>
          <a:lstStyle/>
          <a:p>
            <a:pPr algn="ctr" indent="0" marL="0">
              <a:buNone/>
            </a:pPr>
            <a:r>
              <a:rPr lang="en-US" sz="1000" dirty="0">
                <a:solidFill>
                  <a:srgbClr val="5B6B7F"/>
                </a:solidFill>
                <a:latin typeface="Calibri" pitchFamily="34" charset="0"/>
                <a:ea typeface="Calibri" pitchFamily="34" charset="-122"/>
                <a:cs typeface="Calibri" pitchFamily="34" charset="-120"/>
              </a:rPr>
              <a:t>dBc relative to the carrier, or dBFS relative to full scale</a:t>
            </a:r>
            <a:endParaRPr lang="en-US" sz="1000" dirty="0"/>
          </a:p>
        </p:txBody>
      </p:sp>
      <p:graphicFrame>
        <p:nvGraphicFramePr>
          <p:cNvPr id="11" name="Chart 0" descr=""/>
          <p:cNvGraphicFramePr/>
          <p:nvPr/>
        </p:nvGraphicFramePr>
        <p:xfrm>
          <a:off x="4663440" y="1042416"/>
          <a:ext cx="4023360" cy="2084832"/>
        </p:xfrm>
        <a:graphic xmlns:a="http://schemas.openxmlformats.org/drawingml/2006/main">
          <a:graphicData uri="http://schemas.openxmlformats.org/drawingml/2006/chart">
            <c:chart xmlns:c="http://schemas.openxmlformats.org/drawingml/2006/chart" r:id="rId1"/>
          </a:graphicData>
        </a:graphic>
      </p:graphicFrame>
      <p:sp>
        <p:nvSpPr>
          <p:cNvPr id="12" name="Text 9"/>
          <p:cNvSpPr txBox="1"/>
          <p:nvPr/>
        </p:nvSpPr>
        <p:spPr>
          <a:xfrm>
            <a:off x="4663440" y="3200400"/>
            <a:ext cx="4023360" cy="347472"/>
          </a:xfrm>
          <a:prstGeom prst="rect">
            <a:avLst/>
          </a:prstGeom>
          <a:noFill/>
          <a:ln/>
        </p:spPr>
        <p:txBody>
          <a:bodyPr wrap="square" lIns="0" tIns="0" rIns="0" bIns="0" rtlCol="0" anchor="ctr"/>
          <a:lstStyle/>
          <a:p>
            <a:pPr algn="ctr" indent="0" marL="0">
              <a:buNone/>
            </a:pPr>
            <a:r>
              <a:rPr lang="en-US" sz="1000" i="1" dirty="0">
                <a:solidFill>
                  <a:srgbClr val="5B6B7F"/>
                </a:solidFill>
                <a:latin typeface="Calibri" pitchFamily="34" charset="0"/>
                <a:ea typeface="Calibri" pitchFamily="34" charset="-122"/>
                <a:cs typeface="Calibri" pitchFamily="34" charset="-120"/>
              </a:rPr>
              <a:t>SFDR is the number radio engineers care about most, and it is often limited by INL rather than by noise. Averaging improves the noise floor but never…</a:t>
            </a:r>
            <a:endParaRPr lang="en-US" sz="1000" dirty="0"/>
          </a:p>
        </p:txBody>
      </p:sp>
      <p:sp>
        <p:nvSpPr>
          <p:cNvPr id="13" name="Shape 10"/>
          <p:cNvSpPr/>
          <p:nvPr/>
        </p:nvSpPr>
        <p:spPr>
          <a:xfrm>
            <a:off x="457200" y="3675888"/>
            <a:ext cx="4023360" cy="1024128"/>
          </a:xfrm>
          <a:prstGeom prst="roundRect">
            <a:avLst>
              <a:gd name="adj" fmla="val 7143"/>
            </a:avLst>
          </a:prstGeom>
          <a:solidFill>
            <a:srgbClr val="E4F7F4"/>
          </a:solidFill>
          <a:ln w="12700">
            <a:solidFill>
              <a:srgbClr val="E4F7F4"/>
            </a:solidFill>
            <a:prstDash val="solid"/>
          </a:ln>
        </p:spPr>
      </p:sp>
      <p:sp>
        <p:nvSpPr>
          <p:cNvPr id="14" name="Shape 11"/>
          <p:cNvSpPr/>
          <p:nvPr/>
        </p:nvSpPr>
        <p:spPr>
          <a:xfrm>
            <a:off x="566928" y="3776472"/>
            <a:ext cx="237744" cy="237744"/>
          </a:xfrm>
          <a:prstGeom prst="ellipse">
            <a:avLst/>
          </a:prstGeom>
          <a:solidFill>
            <a:srgbClr val="2EC4B6"/>
          </a:solidFill>
          <a:ln w="12700">
            <a:solidFill>
              <a:srgbClr val="2EC4B6"/>
            </a:solidFill>
            <a:prstDash val="solid"/>
          </a:ln>
        </p:spPr>
      </p:sp>
      <p:sp>
        <p:nvSpPr>
          <p:cNvPr id="15" name="Text 12"/>
          <p:cNvSpPr txBox="1"/>
          <p:nvPr/>
        </p:nvSpPr>
        <p:spPr>
          <a:xfrm>
            <a:off x="566928" y="3776472"/>
            <a:ext cx="237744" cy="237744"/>
          </a:xfrm>
          <a:prstGeom prst="rect">
            <a:avLst/>
          </a:prstGeom>
          <a:noFill/>
          <a:ln/>
        </p:spPr>
        <p:txBody>
          <a:bodyPr wrap="square" lIns="0" tIns="0" rIns="0" bIns="0" rtlCol="0" anchor="ctr"/>
          <a:lstStyle/>
          <a:p>
            <a:pPr algn="ctr" indent="0" marL="0">
              <a:buNone/>
            </a:pPr>
            <a:r>
              <a:rPr lang="en-US" sz="1200" b="1" dirty="0">
                <a:solidFill>
                  <a:srgbClr val="0B1F3A"/>
                </a:solidFill>
                <a:latin typeface="Calibri" pitchFamily="34" charset="0"/>
                <a:ea typeface="Calibri" pitchFamily="34" charset="-122"/>
                <a:cs typeface="Calibri" pitchFamily="34" charset="-120"/>
              </a:rPr>
              <a:t>≈</a:t>
            </a:r>
            <a:endParaRPr lang="en-US" sz="1200" dirty="0"/>
          </a:p>
        </p:txBody>
      </p:sp>
      <p:sp>
        <p:nvSpPr>
          <p:cNvPr id="16" name="Text 13"/>
          <p:cNvSpPr txBox="1"/>
          <p:nvPr/>
        </p:nvSpPr>
        <p:spPr>
          <a:xfrm>
            <a:off x="877824" y="3739896"/>
            <a:ext cx="3493008" cy="896112"/>
          </a:xfrm>
          <a:prstGeom prst="rect">
            <a:avLst/>
          </a:prstGeom>
          <a:noFill/>
          <a:ln/>
        </p:spPr>
        <p:txBody>
          <a:bodyPr wrap="square" lIns="0" tIns="0" rIns="0" bIns="0" rtlCol="0" anchor="t"/>
          <a:lstStyle/>
          <a:p>
            <a:pPr indent="0" marL="0">
              <a:buNone/>
            </a:pPr>
            <a:r>
              <a:rPr lang="en-US" sz="1050" b="1" dirty="0">
                <a:solidFill>
                  <a:srgbClr val="0B1F3A"/>
                </a:solidFill>
                <a:latin typeface="Calibri" pitchFamily="34" charset="0"/>
                <a:ea typeface="Calibri" pitchFamily="34" charset="-122"/>
                <a:cs typeface="Calibri" pitchFamily="34" charset="-120"/>
              </a:rPr>
              <a:t>Think of it like this  </a:t>
            </a:r>
            <a:pPr indent="0" marL="0">
              <a:buNone/>
            </a:pPr>
            <a:r>
              <a:rPr lang="en-US" sz="1050" dirty="0">
                <a:solidFill>
                  <a:srgbClr val="14213D"/>
                </a:solidFill>
                <a:latin typeface="Calibri" pitchFamily="34" charset="0"/>
                <a:ea typeface="Calibri" pitchFamily="34" charset="-122"/>
                <a:cs typeface="Calibri" pitchFamily="34" charset="-120"/>
              </a:rPr>
              <a:t>Trying to hear a whisper at a party while someone shouts. SFDR is how much quieter than the shout a whisper can be and still be picked out.</a:t>
            </a:r>
            <a:endParaRPr lang="en-US" sz="1050" dirty="0"/>
          </a:p>
        </p:txBody>
      </p:sp>
      <p:sp>
        <p:nvSpPr>
          <p:cNvPr id="17" name="Shape 14"/>
          <p:cNvSpPr/>
          <p:nvPr/>
        </p:nvSpPr>
        <p:spPr>
          <a:xfrm>
            <a:off x="4663440" y="3675888"/>
            <a:ext cx="4023360" cy="1024128"/>
          </a:xfrm>
          <a:prstGeom prst="roundRect">
            <a:avLst>
              <a:gd name="adj" fmla="val 7143"/>
            </a:avLst>
          </a:prstGeom>
          <a:solidFill>
            <a:srgbClr val="FFFFFF"/>
          </a:solidFill>
          <a:ln w="12700">
            <a:solidFill>
              <a:srgbClr val="0B1F3A"/>
            </a:solidFill>
            <a:prstDash val="solid"/>
          </a:ln>
        </p:spPr>
      </p:sp>
      <p:sp>
        <p:nvSpPr>
          <p:cNvPr id="18" name="Shape 15"/>
          <p:cNvSpPr/>
          <p:nvPr/>
        </p:nvSpPr>
        <p:spPr>
          <a:xfrm>
            <a:off x="4773168" y="3566160"/>
            <a:ext cx="914400" cy="219456"/>
          </a:xfrm>
          <a:prstGeom prst="roundRect">
            <a:avLst>
              <a:gd name="adj" fmla="val 25000"/>
            </a:avLst>
          </a:prstGeom>
          <a:solidFill>
            <a:srgbClr val="0B1F3A"/>
          </a:solidFill>
          <a:ln w="12700">
            <a:solidFill>
              <a:srgbClr val="0B1F3A"/>
            </a:solidFill>
            <a:prstDash val="solid"/>
          </a:ln>
        </p:spPr>
      </p:sp>
      <p:sp>
        <p:nvSpPr>
          <p:cNvPr id="19" name="Text 16"/>
          <p:cNvSpPr txBox="1"/>
          <p:nvPr/>
        </p:nvSpPr>
        <p:spPr>
          <a:xfrm>
            <a:off x="4773168" y="3566160"/>
            <a:ext cx="914400" cy="219456"/>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EXAMPLE</a:t>
            </a:r>
            <a:endParaRPr lang="en-US" sz="850" dirty="0"/>
          </a:p>
        </p:txBody>
      </p:sp>
      <p:sp>
        <p:nvSpPr>
          <p:cNvPr id="20" name="Text 17"/>
          <p:cNvSpPr txBox="1"/>
          <p:nvPr/>
        </p:nvSpPr>
        <p:spPr>
          <a:xfrm>
            <a:off x="4791456" y="3813048"/>
            <a:ext cx="3803904" cy="841248"/>
          </a:xfrm>
          <a:prstGeom prst="rect">
            <a:avLst/>
          </a:prstGeom>
          <a:noFill/>
          <a:ln/>
        </p:spPr>
        <p:txBody>
          <a:bodyPr wrap="square" lIns="0" tIns="0" rIns="0" bIns="0" rtlCol="0" anchor="t"/>
          <a:lstStyle/>
          <a:p>
            <a:pPr indent="0" marL="0">
              <a:spcAft>
                <a:spcPts val="100"/>
              </a:spcAft>
              <a:buNone/>
            </a:pPr>
            <a:r>
              <a:rPr lang="en-US" sz="900" b="1" dirty="0">
                <a:solidFill>
                  <a:srgbClr val="0B1F3A"/>
                </a:solidFill>
                <a:latin typeface="Calibri" pitchFamily="34" charset="0"/>
                <a:ea typeface="Calibri" pitchFamily="34" charset="-122"/>
                <a:cs typeface="Calibri" pitchFamily="34" charset="-120"/>
              </a:rPr>
              <a:t>Why a radio receiver lives on SFDR</a:t>
            </a:r>
            <a:endParaRPr lang="en-US" sz="900" dirty="0"/>
          </a:p>
          <a:p>
            <a:pPr marL="114300" indent="-114300">
              <a:spcAft>
                <a:spcPts val="100"/>
              </a:spcAft>
              <a:buSzPct val="100000"/>
              <a:buChar char="•"/>
            </a:pPr>
            <a:r>
              <a:rPr lang="en-US" sz="900" dirty="0">
                <a:solidFill>
                  <a:srgbClr val="14213D"/>
                </a:solidFill>
                <a:latin typeface="Cambria" pitchFamily="34" charset="0"/>
                <a:ea typeface="Cambria" pitchFamily="34" charset="-122"/>
                <a:cs typeface="Cambria" pitchFamily="34" charset="-120"/>
              </a:rPr>
              <a:t>Wanted channel at −90 dBFS, a strong neighbour at −10 dBFS</a:t>
            </a:r>
            <a:endParaRPr lang="en-US" sz="900" dirty="0"/>
          </a:p>
          <a:p>
            <a:pPr marL="114300" indent="-114300">
              <a:spcAft>
                <a:spcPts val="100"/>
              </a:spcAft>
              <a:buSzPct val="100000"/>
              <a:buChar char="•"/>
            </a:pPr>
            <a:r>
              <a:rPr lang="en-US" sz="900" dirty="0">
                <a:solidFill>
                  <a:srgbClr val="14213D"/>
                </a:solidFill>
                <a:latin typeface="Cambria" pitchFamily="34" charset="0"/>
                <a:ea typeface="Cambria" pitchFamily="34" charset="-122"/>
                <a:cs typeface="Cambria" pitchFamily="34" charset="-120"/>
              </a:rPr>
              <a:t>You need 80 dB of SFDR just to see the wanted channel at all</a:t>
            </a:r>
            <a:endParaRPr lang="en-US" sz="900" dirty="0"/>
          </a:p>
          <a:p>
            <a:pPr marL="114300" indent="-114300">
              <a:spcAft>
                <a:spcPts val="100"/>
              </a:spcAft>
              <a:buSzPct val="100000"/>
              <a:buChar char="•"/>
            </a:pPr>
            <a:r>
              <a:rPr lang="en-US" sz="900" dirty="0">
                <a:solidFill>
                  <a:srgbClr val="14213D"/>
                </a:solidFill>
                <a:latin typeface="Cambria" pitchFamily="34" charset="0"/>
                <a:ea typeface="Cambria" pitchFamily="34" charset="-122"/>
                <a:cs typeface="Cambria" pitchFamily="34" charset="-120"/>
              </a:rPr>
              <a:t>A spur at −70 dBc from the strong signal would completely mask it</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4709160" cy="640080"/>
          </a:xfrm>
          <a:prstGeom prst="rect">
            <a:avLst/>
          </a:prstGeom>
          <a:noFill/>
          <a:ln/>
        </p:spPr>
        <p:txBody>
          <a:bodyPr wrap="square" lIns="0" tIns="0" rIns="0" bIns="0" rtlCol="0" anchor="ctr"/>
          <a:lstStyle/>
          <a:p>
            <a:pPr indent="0" marL="0">
              <a:buNone/>
            </a:pPr>
            <a:r>
              <a:rPr lang="en-US" sz="2000" b="1" dirty="0">
                <a:solidFill>
                  <a:srgbClr val="0B1F3A"/>
                </a:solidFill>
                <a:latin typeface="Cambria" pitchFamily="34" charset="0"/>
                <a:ea typeface="Cambria" pitchFamily="34" charset="-122"/>
                <a:cs typeface="Cambria" pitchFamily="34" charset="-120"/>
              </a:rPr>
              <a:t>Intermodulation distortion</a:t>
            </a:r>
            <a:endParaRPr lang="en-US" sz="2000" dirty="0"/>
          </a:p>
        </p:txBody>
      </p:sp>
      <p:sp>
        <p:nvSpPr>
          <p:cNvPr id="3" name="Text 1"/>
          <p:cNvSpPr txBox="1"/>
          <p:nvPr/>
        </p:nvSpPr>
        <p:spPr>
          <a:xfrm>
            <a:off x="457200" y="4796028"/>
            <a:ext cx="4572000" cy="228600"/>
          </a:xfrm>
          <a:prstGeom prst="rect">
            <a:avLst/>
          </a:prstGeom>
          <a:noFill/>
          <a:ln/>
        </p:spPr>
        <p:txBody>
          <a:bodyPr wrap="square" lIns="0" tIns="0" rIns="0" bIns="0" rtlCol="0" anchor="ctr"/>
          <a:lstStyle/>
          <a:p>
            <a:pPr indent="0" marL="0">
              <a:buNone/>
            </a:pPr>
            <a:r>
              <a:rPr lang="en-US" sz="900" dirty="0">
                <a:solidFill>
                  <a:srgbClr val="5B6B7F"/>
                </a:solidFill>
                <a:latin typeface="Calibri" pitchFamily="34" charset="0"/>
                <a:ea typeface="Calibri" pitchFamily="34" charset="-122"/>
                <a:cs typeface="Calibri" pitchFamily="34" charset="-120"/>
              </a:rPr>
              <a:t>Part 3 · Dynamic performance (AC)</a:t>
            </a:r>
            <a:endParaRPr lang="en-US" sz="900" dirty="0"/>
          </a:p>
        </p:txBody>
      </p:sp>
      <p:sp>
        <p:nvSpPr>
          <p:cNvPr id="4" name="Text 2"/>
          <p:cNvSpPr txBox="1"/>
          <p:nvPr/>
        </p:nvSpPr>
        <p:spPr>
          <a:xfrm>
            <a:off x="7772400" y="4796028"/>
            <a:ext cx="914400" cy="228600"/>
          </a:xfrm>
          <a:prstGeom prst="rect">
            <a:avLst/>
          </a:prstGeom>
          <a:noFill/>
          <a:ln/>
        </p:spPr>
        <p:txBody>
          <a:bodyPr wrap="square" lIns="0" tIns="0" rIns="0" bIns="0" rtlCol="0" anchor="ctr"/>
          <a:lstStyle/>
          <a:p>
            <a:pPr algn="r" indent="0" marL="0">
              <a:buNone/>
            </a:pPr>
            <a:r>
              <a:rPr lang="en-US" sz="900" dirty="0">
                <a:solidFill>
                  <a:srgbClr val="5B6B7F"/>
                </a:solidFill>
                <a:latin typeface="Calibri" pitchFamily="34" charset="0"/>
                <a:ea typeface="Calibri" pitchFamily="34" charset="-122"/>
                <a:cs typeface="Calibri" pitchFamily="34" charset="-120"/>
              </a:rPr>
              <a:t>29</a:t>
            </a:r>
            <a:endParaRPr lang="en-US" sz="900" dirty="0"/>
          </a:p>
        </p:txBody>
      </p:sp>
      <p:sp>
        <p:nvSpPr>
          <p:cNvPr id="5" name="Shape 3"/>
          <p:cNvSpPr/>
          <p:nvPr/>
        </p:nvSpPr>
        <p:spPr>
          <a:xfrm>
            <a:off x="5394960" y="384048"/>
            <a:ext cx="3291840" cy="384048"/>
          </a:xfrm>
          <a:prstGeom prst="roundRect">
            <a:avLst>
              <a:gd name="adj" fmla="val 19048"/>
            </a:avLst>
          </a:prstGeom>
          <a:solidFill>
            <a:srgbClr val="EEF3F8"/>
          </a:solidFill>
          <a:ln w="12700">
            <a:solidFill>
              <a:srgbClr val="EEF3F8"/>
            </a:solidFill>
            <a:prstDash val="solid"/>
          </a:ln>
        </p:spPr>
      </p:sp>
      <p:sp>
        <p:nvSpPr>
          <p:cNvPr id="6" name="Text 4"/>
          <p:cNvSpPr txBox="1"/>
          <p:nvPr/>
        </p:nvSpPr>
        <p:spPr>
          <a:xfrm>
            <a:off x="5394960" y="384048"/>
            <a:ext cx="3291840" cy="384048"/>
          </a:xfrm>
          <a:prstGeom prst="rect">
            <a:avLst/>
          </a:prstGeom>
          <a:noFill/>
          <a:ln/>
        </p:spPr>
        <p:txBody>
          <a:bodyPr wrap="square" lIns="0" tIns="0" rIns="0" bIns="0" rtlCol="0" anchor="ctr"/>
          <a:lstStyle/>
          <a:p>
            <a:pPr algn="ctr" indent="0" marL="0">
              <a:buNone/>
            </a:pPr>
            <a:r>
              <a:rPr lang="en-US" sz="1200" b="1" dirty="0">
                <a:solidFill>
                  <a:srgbClr val="0B1F3A"/>
                </a:solidFill>
                <a:latin typeface="Cambria" pitchFamily="34" charset="0"/>
                <a:ea typeface="Cambria" pitchFamily="34" charset="-122"/>
                <a:cs typeface="Cambria" pitchFamily="34" charset="-120"/>
              </a:rPr>
              <a:t>IMD2, IMD3, IP3   ·   dBc</a:t>
            </a:r>
            <a:endParaRPr lang="en-US" sz="1200" dirty="0"/>
          </a:p>
        </p:txBody>
      </p:sp>
      <p:sp>
        <p:nvSpPr>
          <p:cNvPr id="7" name="Text 5"/>
          <p:cNvSpPr txBox="1"/>
          <p:nvPr/>
        </p:nvSpPr>
        <p:spPr>
          <a:xfrm>
            <a:off x="457200" y="1042416"/>
            <a:ext cx="4023360" cy="1207008"/>
          </a:xfrm>
          <a:prstGeom prst="rect">
            <a:avLst/>
          </a:prstGeom>
          <a:noFill/>
          <a:ln/>
        </p:spPr>
        <p:txBody>
          <a:bodyPr wrap="square" lIns="0" tIns="0" rIns="0" bIns="0" rtlCol="0" anchor="t"/>
          <a:lstStyle/>
          <a:p>
            <a:pPr indent="0" marL="0">
              <a:buNone/>
            </a:pPr>
            <a:r>
              <a:rPr lang="en-US" sz="1150" dirty="0">
                <a:solidFill>
                  <a:srgbClr val="14213D"/>
                </a:solidFill>
                <a:latin typeface="Calibri" pitchFamily="34" charset="0"/>
                <a:ea typeface="Calibri" pitchFamily="34" charset="-122"/>
                <a:cs typeface="Calibri" pitchFamily="34" charset="-120"/>
              </a:rPr>
              <a:t>Feed two tones instead of one and the nonlinearity mixes them together, producing sums and differences. The third-order products at 2f₁−f₂ and 2f₂−f₁ are the dangerous ones because they land right next to the originals, where no filter can remove them.</a:t>
            </a:r>
            <a:endParaRPr lang="en-US" sz="1150" dirty="0"/>
          </a:p>
        </p:txBody>
      </p:sp>
      <p:sp>
        <p:nvSpPr>
          <p:cNvPr id="8" name="Shape 6"/>
          <p:cNvSpPr/>
          <p:nvPr/>
        </p:nvSpPr>
        <p:spPr>
          <a:xfrm>
            <a:off x="457200" y="2304288"/>
            <a:ext cx="4023360" cy="868680"/>
          </a:xfrm>
          <a:prstGeom prst="roundRect">
            <a:avLst>
              <a:gd name="adj" fmla="val 8421"/>
            </a:avLst>
          </a:prstGeom>
          <a:solidFill>
            <a:srgbClr val="EEF3F8"/>
          </a:solidFill>
          <a:ln w="12700">
            <a:solidFill>
              <a:srgbClr val="EEF3F8"/>
            </a:solidFill>
            <a:prstDash val="solid"/>
          </a:ln>
        </p:spPr>
      </p:sp>
      <p:sp>
        <p:nvSpPr>
          <p:cNvPr id="9" name="Text 7"/>
          <p:cNvSpPr txBox="1"/>
          <p:nvPr/>
        </p:nvSpPr>
        <p:spPr>
          <a:xfrm>
            <a:off x="594360" y="2304288"/>
            <a:ext cx="3749040" cy="612648"/>
          </a:xfrm>
          <a:prstGeom prst="rect">
            <a:avLst/>
          </a:prstGeom>
          <a:noFill/>
          <a:ln/>
        </p:spPr>
        <p:txBody>
          <a:bodyPr wrap="square" lIns="0" tIns="0" rIns="0" bIns="0" rtlCol="0" anchor="ctr"/>
          <a:lstStyle/>
          <a:p>
            <a:pPr algn="ctr" indent="0" marL="0">
              <a:buNone/>
            </a:pPr>
            <a:r>
              <a:rPr lang="en-US" sz="1500" dirty="0">
                <a:solidFill>
                  <a:srgbClr val="0B1F3A"/>
                </a:solidFill>
                <a:latin typeface="Cambria" pitchFamily="34" charset="0"/>
                <a:ea typeface="Cambria" pitchFamily="34" charset="-122"/>
                <a:cs typeface="Cambria" pitchFamily="34" charset="-120"/>
              </a:rPr>
              <a:t>second order: f₂ ± f₁</a:t>
            </a:r>
            <a:endParaRPr lang="en-US" sz="1500" dirty="0"/>
          </a:p>
        </p:txBody>
      </p:sp>
      <p:sp>
        <p:nvSpPr>
          <p:cNvPr id="10" name="Text 8"/>
          <p:cNvSpPr txBox="1"/>
          <p:nvPr/>
        </p:nvSpPr>
        <p:spPr>
          <a:xfrm>
            <a:off x="594360" y="2871216"/>
            <a:ext cx="3749040" cy="256032"/>
          </a:xfrm>
          <a:prstGeom prst="rect">
            <a:avLst/>
          </a:prstGeom>
          <a:noFill/>
          <a:ln/>
        </p:spPr>
        <p:txBody>
          <a:bodyPr wrap="square" lIns="0" tIns="0" rIns="0" bIns="0" rtlCol="0" anchor="t"/>
          <a:lstStyle/>
          <a:p>
            <a:pPr algn="ctr" indent="0" marL="0">
              <a:buNone/>
            </a:pPr>
            <a:r>
              <a:rPr lang="en-US" sz="1000" dirty="0">
                <a:solidFill>
                  <a:srgbClr val="5B6B7F"/>
                </a:solidFill>
                <a:latin typeface="Calibri" pitchFamily="34" charset="0"/>
                <a:ea typeface="Calibri" pitchFamily="34" charset="-122"/>
                <a:cs typeface="Calibri" pitchFamily="34" charset="-120"/>
              </a:rPr>
              <a:t>Usually far away and filterable</a:t>
            </a:r>
            <a:endParaRPr lang="en-US" sz="1000" dirty="0"/>
          </a:p>
        </p:txBody>
      </p:sp>
      <p:graphicFrame>
        <p:nvGraphicFramePr>
          <p:cNvPr id="11" name="Chart 0" descr=""/>
          <p:cNvGraphicFramePr/>
          <p:nvPr/>
        </p:nvGraphicFramePr>
        <p:xfrm>
          <a:off x="4663440" y="1042416"/>
          <a:ext cx="4023360" cy="2084832"/>
        </p:xfrm>
        <a:graphic xmlns:a="http://schemas.openxmlformats.org/drawingml/2006/main">
          <a:graphicData uri="http://schemas.openxmlformats.org/drawingml/2006/chart">
            <c:chart xmlns:c="http://schemas.openxmlformats.org/drawingml/2006/chart" r:id="rId1"/>
          </a:graphicData>
        </a:graphic>
      </p:graphicFrame>
      <p:sp>
        <p:nvSpPr>
          <p:cNvPr id="12" name="Text 9"/>
          <p:cNvSpPr txBox="1"/>
          <p:nvPr/>
        </p:nvSpPr>
        <p:spPr>
          <a:xfrm>
            <a:off x="4663440" y="3200400"/>
            <a:ext cx="4023360" cy="347472"/>
          </a:xfrm>
          <a:prstGeom prst="rect">
            <a:avLst/>
          </a:prstGeom>
          <a:noFill/>
          <a:ln/>
        </p:spPr>
        <p:txBody>
          <a:bodyPr wrap="square" lIns="0" tIns="0" rIns="0" bIns="0" rtlCol="0" anchor="ctr"/>
          <a:lstStyle/>
          <a:p>
            <a:pPr algn="ctr" indent="0" marL="0">
              <a:buNone/>
            </a:pPr>
            <a:r>
              <a:rPr lang="en-US" sz="1000" i="1" dirty="0">
                <a:solidFill>
                  <a:srgbClr val="5B6B7F"/>
                </a:solidFill>
                <a:latin typeface="Calibri" pitchFamily="34" charset="0"/>
                <a:ea typeface="Calibri" pitchFamily="34" charset="-122"/>
                <a:cs typeface="Calibri" pitchFamily="34" charset="-120"/>
              </a:rPr>
              <a:t>Single-tone THD can look excellent while two-tone IMD is poor. Any receiver that must handle more than one signal at once should be specified on IMD,…</a:t>
            </a:r>
            <a:endParaRPr lang="en-US" sz="1000" dirty="0"/>
          </a:p>
        </p:txBody>
      </p:sp>
      <p:sp>
        <p:nvSpPr>
          <p:cNvPr id="13" name="Shape 10"/>
          <p:cNvSpPr/>
          <p:nvPr/>
        </p:nvSpPr>
        <p:spPr>
          <a:xfrm>
            <a:off x="457200" y="3675888"/>
            <a:ext cx="4023360" cy="1024128"/>
          </a:xfrm>
          <a:prstGeom prst="roundRect">
            <a:avLst>
              <a:gd name="adj" fmla="val 7143"/>
            </a:avLst>
          </a:prstGeom>
          <a:solidFill>
            <a:srgbClr val="E4F7F4"/>
          </a:solidFill>
          <a:ln w="12700">
            <a:solidFill>
              <a:srgbClr val="E4F7F4"/>
            </a:solidFill>
            <a:prstDash val="solid"/>
          </a:ln>
        </p:spPr>
      </p:sp>
      <p:sp>
        <p:nvSpPr>
          <p:cNvPr id="14" name="Shape 11"/>
          <p:cNvSpPr/>
          <p:nvPr/>
        </p:nvSpPr>
        <p:spPr>
          <a:xfrm>
            <a:off x="566928" y="3776472"/>
            <a:ext cx="237744" cy="237744"/>
          </a:xfrm>
          <a:prstGeom prst="ellipse">
            <a:avLst/>
          </a:prstGeom>
          <a:solidFill>
            <a:srgbClr val="2EC4B6"/>
          </a:solidFill>
          <a:ln w="12700">
            <a:solidFill>
              <a:srgbClr val="2EC4B6"/>
            </a:solidFill>
            <a:prstDash val="solid"/>
          </a:ln>
        </p:spPr>
      </p:sp>
      <p:sp>
        <p:nvSpPr>
          <p:cNvPr id="15" name="Text 12"/>
          <p:cNvSpPr txBox="1"/>
          <p:nvPr/>
        </p:nvSpPr>
        <p:spPr>
          <a:xfrm>
            <a:off x="566928" y="3776472"/>
            <a:ext cx="237744" cy="237744"/>
          </a:xfrm>
          <a:prstGeom prst="rect">
            <a:avLst/>
          </a:prstGeom>
          <a:noFill/>
          <a:ln/>
        </p:spPr>
        <p:txBody>
          <a:bodyPr wrap="square" lIns="0" tIns="0" rIns="0" bIns="0" rtlCol="0" anchor="ctr"/>
          <a:lstStyle/>
          <a:p>
            <a:pPr algn="ctr" indent="0" marL="0">
              <a:buNone/>
            </a:pPr>
            <a:r>
              <a:rPr lang="en-US" sz="1200" b="1" dirty="0">
                <a:solidFill>
                  <a:srgbClr val="0B1F3A"/>
                </a:solidFill>
                <a:latin typeface="Calibri" pitchFamily="34" charset="0"/>
                <a:ea typeface="Calibri" pitchFamily="34" charset="-122"/>
                <a:cs typeface="Calibri" pitchFamily="34" charset="-120"/>
              </a:rPr>
              <a:t>≈</a:t>
            </a:r>
            <a:endParaRPr lang="en-US" sz="1200" dirty="0"/>
          </a:p>
        </p:txBody>
      </p:sp>
      <p:sp>
        <p:nvSpPr>
          <p:cNvPr id="16" name="Text 13"/>
          <p:cNvSpPr txBox="1"/>
          <p:nvPr/>
        </p:nvSpPr>
        <p:spPr>
          <a:xfrm>
            <a:off x="877824" y="3739896"/>
            <a:ext cx="3493008" cy="896112"/>
          </a:xfrm>
          <a:prstGeom prst="rect">
            <a:avLst/>
          </a:prstGeom>
          <a:noFill/>
          <a:ln/>
        </p:spPr>
        <p:txBody>
          <a:bodyPr wrap="square" lIns="0" tIns="0" rIns="0" bIns="0" rtlCol="0" anchor="t"/>
          <a:lstStyle/>
          <a:p>
            <a:pPr indent="0" marL="0">
              <a:buNone/>
            </a:pPr>
            <a:r>
              <a:rPr lang="en-US" sz="1050" b="1" dirty="0">
                <a:solidFill>
                  <a:srgbClr val="0B1F3A"/>
                </a:solidFill>
                <a:latin typeface="Calibri" pitchFamily="34" charset="0"/>
                <a:ea typeface="Calibri" pitchFamily="34" charset="-122"/>
                <a:cs typeface="Calibri" pitchFamily="34" charset="-120"/>
              </a:rPr>
              <a:t>Think of it like this  </a:t>
            </a:r>
            <a:pPr indent="0" marL="0">
              <a:buNone/>
            </a:pPr>
            <a:r>
              <a:rPr lang="en-US" sz="1050" dirty="0">
                <a:solidFill>
                  <a:srgbClr val="14213D"/>
                </a:solidFill>
                <a:latin typeface="Calibri" pitchFamily="34" charset="0"/>
                <a:ea typeface="Calibri" pitchFamily="34" charset="-122"/>
                <a:cs typeface="Calibri" pitchFamily="34" charset="-120"/>
              </a:rPr>
              <a:t>Two singers slightly out of tune producing an audible beat note that neither of them is singing.</a:t>
            </a:r>
            <a:endParaRPr lang="en-US" sz="1050" dirty="0"/>
          </a:p>
        </p:txBody>
      </p:sp>
      <p:sp>
        <p:nvSpPr>
          <p:cNvPr id="17" name="Shape 14"/>
          <p:cNvSpPr/>
          <p:nvPr/>
        </p:nvSpPr>
        <p:spPr>
          <a:xfrm>
            <a:off x="4663440" y="3675888"/>
            <a:ext cx="4023360" cy="1024128"/>
          </a:xfrm>
          <a:prstGeom prst="roundRect">
            <a:avLst>
              <a:gd name="adj" fmla="val 7143"/>
            </a:avLst>
          </a:prstGeom>
          <a:solidFill>
            <a:srgbClr val="FFFFFF"/>
          </a:solidFill>
          <a:ln w="12700">
            <a:solidFill>
              <a:srgbClr val="0B1F3A"/>
            </a:solidFill>
            <a:prstDash val="solid"/>
          </a:ln>
        </p:spPr>
      </p:sp>
      <p:sp>
        <p:nvSpPr>
          <p:cNvPr id="18" name="Shape 15"/>
          <p:cNvSpPr/>
          <p:nvPr/>
        </p:nvSpPr>
        <p:spPr>
          <a:xfrm>
            <a:off x="4773168" y="3566160"/>
            <a:ext cx="914400" cy="219456"/>
          </a:xfrm>
          <a:prstGeom prst="roundRect">
            <a:avLst>
              <a:gd name="adj" fmla="val 25000"/>
            </a:avLst>
          </a:prstGeom>
          <a:solidFill>
            <a:srgbClr val="0B1F3A"/>
          </a:solidFill>
          <a:ln w="12700">
            <a:solidFill>
              <a:srgbClr val="0B1F3A"/>
            </a:solidFill>
            <a:prstDash val="solid"/>
          </a:ln>
        </p:spPr>
      </p:sp>
      <p:sp>
        <p:nvSpPr>
          <p:cNvPr id="19" name="Text 16"/>
          <p:cNvSpPr txBox="1"/>
          <p:nvPr/>
        </p:nvSpPr>
        <p:spPr>
          <a:xfrm>
            <a:off x="4773168" y="3566160"/>
            <a:ext cx="914400" cy="219456"/>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EXAMPLE</a:t>
            </a:r>
            <a:endParaRPr lang="en-US" sz="850" dirty="0"/>
          </a:p>
        </p:txBody>
      </p:sp>
      <p:sp>
        <p:nvSpPr>
          <p:cNvPr id="20" name="Text 17"/>
          <p:cNvSpPr txBox="1"/>
          <p:nvPr/>
        </p:nvSpPr>
        <p:spPr>
          <a:xfrm>
            <a:off x="4791456" y="3813048"/>
            <a:ext cx="3803904" cy="841248"/>
          </a:xfrm>
          <a:prstGeom prst="rect">
            <a:avLst/>
          </a:prstGeom>
          <a:noFill/>
          <a:ln/>
        </p:spPr>
        <p:txBody>
          <a:bodyPr wrap="square" lIns="0" tIns="0" rIns="0" bIns="0" rtlCol="0" anchor="t"/>
          <a:lstStyle/>
          <a:p>
            <a:pPr indent="0" marL="0">
              <a:spcAft>
                <a:spcPts val="100"/>
              </a:spcAft>
              <a:buNone/>
            </a:pPr>
            <a:r>
              <a:rPr lang="en-US" sz="900" b="1" dirty="0">
                <a:solidFill>
                  <a:srgbClr val="0B1F3A"/>
                </a:solidFill>
                <a:latin typeface="Calibri" pitchFamily="34" charset="0"/>
                <a:ea typeface="Calibri" pitchFamily="34" charset="-122"/>
                <a:cs typeface="Calibri" pitchFamily="34" charset="-120"/>
              </a:rPr>
              <a:t>Two carriers 1 MHz apart</a:t>
            </a:r>
            <a:endParaRPr lang="en-US" sz="900" dirty="0"/>
          </a:p>
          <a:p>
            <a:pPr marL="114300" indent="-114300">
              <a:spcAft>
                <a:spcPts val="100"/>
              </a:spcAft>
              <a:buSzPct val="100000"/>
              <a:buChar char="•"/>
            </a:pPr>
            <a:r>
              <a:rPr lang="en-US" sz="900" dirty="0">
                <a:solidFill>
                  <a:srgbClr val="14213D"/>
                </a:solidFill>
                <a:latin typeface="Cambria" pitchFamily="34" charset="0"/>
                <a:ea typeface="Cambria" pitchFamily="34" charset="-122"/>
                <a:cs typeface="Cambria" pitchFamily="34" charset="-120"/>
              </a:rPr>
              <a:t>Tones at 10.0 and 11.0 MHz</a:t>
            </a:r>
            <a:endParaRPr lang="en-US" sz="900" dirty="0"/>
          </a:p>
          <a:p>
            <a:pPr marL="114300" indent="-114300">
              <a:spcAft>
                <a:spcPts val="100"/>
              </a:spcAft>
              <a:buSzPct val="100000"/>
              <a:buChar char="•"/>
            </a:pPr>
            <a:r>
              <a:rPr lang="en-US" sz="900" dirty="0">
                <a:solidFill>
                  <a:srgbClr val="14213D"/>
                </a:solidFill>
                <a:latin typeface="Cambria" pitchFamily="34" charset="0"/>
                <a:ea typeface="Cambria" pitchFamily="34" charset="-122"/>
                <a:cs typeface="Cambria" pitchFamily="34" charset="-120"/>
              </a:rPr>
              <a:t>Third-order products at 9.0 and 12.0 MHz — inside the same channel</a:t>
            </a:r>
            <a:endParaRPr lang="en-US" sz="900" dirty="0"/>
          </a:p>
          <a:p>
            <a:pPr marL="114300" indent="-114300">
              <a:spcAft>
                <a:spcPts val="100"/>
              </a:spcAft>
              <a:buSzPct val="100000"/>
              <a:buChar char="•"/>
            </a:pPr>
            <a:r>
              <a:rPr lang="en-US" sz="900" dirty="0">
                <a:solidFill>
                  <a:srgbClr val="14213D"/>
                </a:solidFill>
                <a:latin typeface="Cambria" pitchFamily="34" charset="0"/>
                <a:ea typeface="Cambria" pitchFamily="34" charset="-122"/>
                <a:cs typeface="Cambria" pitchFamily="34" charset="-120"/>
              </a:rPr>
              <a:t>At −75 dBc they set the floor for any weak signal nearby</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64008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FFT noise floor and processing gain</a:t>
            </a:r>
            <a:endParaRPr lang="en-US" sz="2400" dirty="0"/>
          </a:p>
        </p:txBody>
      </p:sp>
      <p:sp>
        <p:nvSpPr>
          <p:cNvPr id="3" name="Text 1"/>
          <p:cNvSpPr txBox="1"/>
          <p:nvPr/>
        </p:nvSpPr>
        <p:spPr>
          <a:xfrm>
            <a:off x="457200" y="4796028"/>
            <a:ext cx="4572000" cy="228600"/>
          </a:xfrm>
          <a:prstGeom prst="rect">
            <a:avLst/>
          </a:prstGeom>
          <a:noFill/>
          <a:ln/>
        </p:spPr>
        <p:txBody>
          <a:bodyPr wrap="square" lIns="0" tIns="0" rIns="0" bIns="0" rtlCol="0" anchor="ctr"/>
          <a:lstStyle/>
          <a:p>
            <a:pPr indent="0" marL="0">
              <a:buNone/>
            </a:pPr>
            <a:r>
              <a:rPr lang="en-US" sz="900" dirty="0">
                <a:solidFill>
                  <a:srgbClr val="5B6B7F"/>
                </a:solidFill>
                <a:latin typeface="Calibri" pitchFamily="34" charset="0"/>
                <a:ea typeface="Calibri" pitchFamily="34" charset="-122"/>
                <a:cs typeface="Calibri" pitchFamily="34" charset="-120"/>
              </a:rPr>
              <a:t>Part 3 · Dynamic performance (AC)</a:t>
            </a:r>
            <a:endParaRPr lang="en-US" sz="900" dirty="0"/>
          </a:p>
        </p:txBody>
      </p:sp>
      <p:sp>
        <p:nvSpPr>
          <p:cNvPr id="4" name="Text 2"/>
          <p:cNvSpPr txBox="1"/>
          <p:nvPr/>
        </p:nvSpPr>
        <p:spPr>
          <a:xfrm>
            <a:off x="7772400" y="4796028"/>
            <a:ext cx="914400" cy="228600"/>
          </a:xfrm>
          <a:prstGeom prst="rect">
            <a:avLst/>
          </a:prstGeom>
          <a:noFill/>
          <a:ln/>
        </p:spPr>
        <p:txBody>
          <a:bodyPr wrap="square" lIns="0" tIns="0" rIns="0" bIns="0" rtlCol="0" anchor="ctr"/>
          <a:lstStyle/>
          <a:p>
            <a:pPr algn="r" indent="0" marL="0">
              <a:buNone/>
            </a:pPr>
            <a:r>
              <a:rPr lang="en-US" sz="900" dirty="0">
                <a:solidFill>
                  <a:srgbClr val="5B6B7F"/>
                </a:solidFill>
                <a:latin typeface="Calibri" pitchFamily="34" charset="0"/>
                <a:ea typeface="Calibri" pitchFamily="34" charset="-122"/>
                <a:cs typeface="Calibri" pitchFamily="34" charset="-120"/>
              </a:rPr>
              <a:t>30</a:t>
            </a:r>
            <a:endParaRPr lang="en-US" sz="900" dirty="0"/>
          </a:p>
        </p:txBody>
      </p:sp>
      <p:sp>
        <p:nvSpPr>
          <p:cNvPr id="5" name="Text 3"/>
          <p:cNvSpPr txBox="1"/>
          <p:nvPr/>
        </p:nvSpPr>
        <p:spPr>
          <a:xfrm>
            <a:off x="457200" y="1042416"/>
            <a:ext cx="4023360" cy="1207008"/>
          </a:xfrm>
          <a:prstGeom prst="rect">
            <a:avLst/>
          </a:prstGeom>
          <a:noFill/>
          <a:ln/>
        </p:spPr>
        <p:txBody>
          <a:bodyPr wrap="square" lIns="0" tIns="0" rIns="0" bIns="0" rtlCol="0" anchor="t"/>
          <a:lstStyle/>
          <a:p>
            <a:pPr indent="0" marL="0">
              <a:buNone/>
            </a:pPr>
            <a:r>
              <a:rPr lang="en-US" sz="1150" dirty="0">
                <a:solidFill>
                  <a:srgbClr val="14213D"/>
                </a:solidFill>
                <a:latin typeface="Calibri" pitchFamily="34" charset="0"/>
                <a:ea typeface="Calibri" pitchFamily="34" charset="-122"/>
                <a:cs typeface="Calibri" pitchFamily="34" charset="-120"/>
              </a:rPr>
              <a:t>The noise floor you see on an FFT plot is not the converter’s SNR. The total noise is spread across N/2 bins, so each bin holds only a fraction of it. Taking a longer transform pushes the visible floor down without the converter improving at all.</a:t>
            </a:r>
            <a:endParaRPr lang="en-US" sz="1150" dirty="0"/>
          </a:p>
        </p:txBody>
      </p:sp>
      <p:sp>
        <p:nvSpPr>
          <p:cNvPr id="6" name="Shape 4"/>
          <p:cNvSpPr/>
          <p:nvPr/>
        </p:nvSpPr>
        <p:spPr>
          <a:xfrm>
            <a:off x="457200" y="2304288"/>
            <a:ext cx="4023360" cy="868680"/>
          </a:xfrm>
          <a:prstGeom prst="roundRect">
            <a:avLst>
              <a:gd name="adj" fmla="val 8421"/>
            </a:avLst>
          </a:prstGeom>
          <a:solidFill>
            <a:srgbClr val="EEF3F8"/>
          </a:solidFill>
          <a:ln w="12700">
            <a:solidFill>
              <a:srgbClr val="EEF3F8"/>
            </a:solidFill>
            <a:prstDash val="solid"/>
          </a:ln>
        </p:spPr>
      </p:sp>
      <p:sp>
        <p:nvSpPr>
          <p:cNvPr id="7" name="Text 5"/>
          <p:cNvSpPr txBox="1"/>
          <p:nvPr/>
        </p:nvSpPr>
        <p:spPr>
          <a:xfrm>
            <a:off x="594360" y="2304288"/>
            <a:ext cx="3749040" cy="612648"/>
          </a:xfrm>
          <a:prstGeom prst="rect">
            <a:avLst/>
          </a:prstGeom>
          <a:noFill/>
          <a:ln/>
        </p:spPr>
        <p:txBody>
          <a:bodyPr wrap="square" lIns="0" tIns="0" rIns="0" bIns="0" rtlCol="0" anchor="ctr"/>
          <a:lstStyle/>
          <a:p>
            <a:pPr algn="ctr" indent="0" marL="0">
              <a:buNone/>
            </a:pPr>
            <a:r>
              <a:rPr lang="en-US" sz="1500" dirty="0">
                <a:solidFill>
                  <a:srgbClr val="0B1F3A"/>
                </a:solidFill>
                <a:latin typeface="Cambria" pitchFamily="34" charset="0"/>
                <a:ea typeface="Cambria" pitchFamily="34" charset="-122"/>
                <a:cs typeface="Cambria" pitchFamily="34" charset="-120"/>
              </a:rPr>
              <a:t>floor = −SNR − 10 log₁₀( N/2 )</a:t>
            </a:r>
            <a:endParaRPr lang="en-US" sz="1500" dirty="0"/>
          </a:p>
        </p:txBody>
      </p:sp>
      <p:sp>
        <p:nvSpPr>
          <p:cNvPr id="8" name="Text 6"/>
          <p:cNvSpPr txBox="1"/>
          <p:nvPr/>
        </p:nvSpPr>
        <p:spPr>
          <a:xfrm>
            <a:off x="594360" y="2871216"/>
            <a:ext cx="3749040" cy="256032"/>
          </a:xfrm>
          <a:prstGeom prst="rect">
            <a:avLst/>
          </a:prstGeom>
          <a:noFill/>
          <a:ln/>
        </p:spPr>
        <p:txBody>
          <a:bodyPr wrap="square" lIns="0" tIns="0" rIns="0" bIns="0" rtlCol="0" anchor="t"/>
          <a:lstStyle/>
          <a:p>
            <a:pPr algn="ctr" indent="0" marL="0">
              <a:buNone/>
            </a:pPr>
            <a:r>
              <a:rPr lang="en-US" sz="1000" dirty="0">
                <a:solidFill>
                  <a:srgbClr val="5B6B7F"/>
                </a:solidFill>
                <a:latin typeface="Calibri" pitchFamily="34" charset="0"/>
                <a:ea typeface="Calibri" pitchFamily="34" charset="-122"/>
                <a:cs typeface="Calibri" pitchFamily="34" charset="-120"/>
              </a:rPr>
              <a:t>Per-bin level, in dBFS</a:t>
            </a:r>
            <a:endParaRPr lang="en-US" sz="1000" dirty="0"/>
          </a:p>
        </p:txBody>
      </p:sp>
      <p:graphicFrame>
        <p:nvGraphicFramePr>
          <p:cNvPr id="9" name="Chart 0" descr=""/>
          <p:cNvGraphicFramePr/>
          <p:nvPr/>
        </p:nvGraphicFramePr>
        <p:xfrm>
          <a:off x="4663440" y="1042416"/>
          <a:ext cx="4023360" cy="2084832"/>
        </p:xfrm>
        <a:graphic xmlns:a="http://schemas.openxmlformats.org/drawingml/2006/main">
          <a:graphicData uri="http://schemas.openxmlformats.org/drawingml/2006/chart">
            <c:chart xmlns:c="http://schemas.openxmlformats.org/drawingml/2006/chart" r:id="rId1"/>
          </a:graphicData>
        </a:graphic>
      </p:graphicFrame>
      <p:sp>
        <p:nvSpPr>
          <p:cNvPr id="10" name="Text 7"/>
          <p:cNvSpPr txBox="1"/>
          <p:nvPr/>
        </p:nvSpPr>
        <p:spPr>
          <a:xfrm>
            <a:off x="4663440" y="3200400"/>
            <a:ext cx="4023360" cy="347472"/>
          </a:xfrm>
          <a:prstGeom prst="rect">
            <a:avLst/>
          </a:prstGeom>
          <a:noFill/>
          <a:ln/>
        </p:spPr>
        <p:txBody>
          <a:bodyPr wrap="square" lIns="0" tIns="0" rIns="0" bIns="0" rtlCol="0" anchor="ctr"/>
          <a:lstStyle/>
          <a:p>
            <a:pPr algn="ctr" indent="0" marL="0">
              <a:buNone/>
            </a:pPr>
            <a:r>
              <a:rPr lang="en-US" sz="1000" i="1" dirty="0">
                <a:solidFill>
                  <a:srgbClr val="5B6B7F"/>
                </a:solidFill>
                <a:latin typeface="Calibri" pitchFamily="34" charset="0"/>
                <a:ea typeface="Calibri" pitchFamily="34" charset="-122"/>
                <a:cs typeface="Calibri" pitchFamily="34" charset="-120"/>
              </a:rPr>
              <a:t>Never compare noise floors from FFTs of different lengths. This is the most common way ADC plots are made to look better than they are.</a:t>
            </a:r>
            <a:endParaRPr lang="en-US" sz="1000" dirty="0"/>
          </a:p>
        </p:txBody>
      </p:sp>
      <p:sp>
        <p:nvSpPr>
          <p:cNvPr id="11" name="Shape 8"/>
          <p:cNvSpPr/>
          <p:nvPr/>
        </p:nvSpPr>
        <p:spPr>
          <a:xfrm>
            <a:off x="457200" y="3675888"/>
            <a:ext cx="4023360" cy="1024128"/>
          </a:xfrm>
          <a:prstGeom prst="roundRect">
            <a:avLst>
              <a:gd name="adj" fmla="val 7143"/>
            </a:avLst>
          </a:prstGeom>
          <a:solidFill>
            <a:srgbClr val="E4F7F4"/>
          </a:solidFill>
          <a:ln w="12700">
            <a:solidFill>
              <a:srgbClr val="E4F7F4"/>
            </a:solidFill>
            <a:prstDash val="solid"/>
          </a:ln>
        </p:spPr>
      </p:sp>
      <p:sp>
        <p:nvSpPr>
          <p:cNvPr id="12" name="Shape 9"/>
          <p:cNvSpPr/>
          <p:nvPr/>
        </p:nvSpPr>
        <p:spPr>
          <a:xfrm>
            <a:off x="566928" y="3776472"/>
            <a:ext cx="237744" cy="237744"/>
          </a:xfrm>
          <a:prstGeom prst="ellipse">
            <a:avLst/>
          </a:prstGeom>
          <a:solidFill>
            <a:srgbClr val="2EC4B6"/>
          </a:solidFill>
          <a:ln w="12700">
            <a:solidFill>
              <a:srgbClr val="2EC4B6"/>
            </a:solidFill>
            <a:prstDash val="solid"/>
          </a:ln>
        </p:spPr>
      </p:sp>
      <p:sp>
        <p:nvSpPr>
          <p:cNvPr id="13" name="Text 10"/>
          <p:cNvSpPr txBox="1"/>
          <p:nvPr/>
        </p:nvSpPr>
        <p:spPr>
          <a:xfrm>
            <a:off x="566928" y="3776472"/>
            <a:ext cx="237744" cy="237744"/>
          </a:xfrm>
          <a:prstGeom prst="rect">
            <a:avLst/>
          </a:prstGeom>
          <a:noFill/>
          <a:ln/>
        </p:spPr>
        <p:txBody>
          <a:bodyPr wrap="square" lIns="0" tIns="0" rIns="0" bIns="0" rtlCol="0" anchor="ctr"/>
          <a:lstStyle/>
          <a:p>
            <a:pPr algn="ctr" indent="0" marL="0">
              <a:buNone/>
            </a:pPr>
            <a:r>
              <a:rPr lang="en-US" sz="1200" b="1" dirty="0">
                <a:solidFill>
                  <a:srgbClr val="0B1F3A"/>
                </a:solidFill>
                <a:latin typeface="Calibri" pitchFamily="34" charset="0"/>
                <a:ea typeface="Calibri" pitchFamily="34" charset="-122"/>
                <a:cs typeface="Calibri" pitchFamily="34" charset="-120"/>
              </a:rPr>
              <a:t>≈</a:t>
            </a:r>
            <a:endParaRPr lang="en-US" sz="1200" dirty="0"/>
          </a:p>
        </p:txBody>
      </p:sp>
      <p:sp>
        <p:nvSpPr>
          <p:cNvPr id="14" name="Text 11"/>
          <p:cNvSpPr txBox="1"/>
          <p:nvPr/>
        </p:nvSpPr>
        <p:spPr>
          <a:xfrm>
            <a:off x="877824" y="3739896"/>
            <a:ext cx="3493008" cy="896112"/>
          </a:xfrm>
          <a:prstGeom prst="rect">
            <a:avLst/>
          </a:prstGeom>
          <a:noFill/>
          <a:ln/>
        </p:spPr>
        <p:txBody>
          <a:bodyPr wrap="square" lIns="0" tIns="0" rIns="0" bIns="0" rtlCol="0" anchor="t"/>
          <a:lstStyle/>
          <a:p>
            <a:pPr indent="0" marL="0">
              <a:buNone/>
            </a:pPr>
            <a:r>
              <a:rPr lang="en-US" sz="1050" b="1" dirty="0">
                <a:solidFill>
                  <a:srgbClr val="0B1F3A"/>
                </a:solidFill>
                <a:latin typeface="Calibri" pitchFamily="34" charset="0"/>
                <a:ea typeface="Calibri" pitchFamily="34" charset="-122"/>
                <a:cs typeface="Calibri" pitchFamily="34" charset="-120"/>
              </a:rPr>
              <a:t>Think of it like this  </a:t>
            </a:r>
            <a:pPr indent="0" marL="0">
              <a:buNone/>
            </a:pPr>
            <a:r>
              <a:rPr lang="en-US" sz="1050" dirty="0">
                <a:solidFill>
                  <a:srgbClr val="14213D"/>
                </a:solidFill>
                <a:latin typeface="Calibri" pitchFamily="34" charset="0"/>
                <a:ea typeface="Calibri" pitchFamily="34" charset="-122"/>
                <a:cs typeface="Calibri" pitchFamily="34" charset="-120"/>
              </a:rPr>
              <a:t>Spreading a fixed amount of butter over more and more slices of bread. There is no more butter; each slice just gets less.</a:t>
            </a:r>
            <a:endParaRPr lang="en-US" sz="1050" dirty="0"/>
          </a:p>
        </p:txBody>
      </p:sp>
      <p:sp>
        <p:nvSpPr>
          <p:cNvPr id="15" name="Shape 12"/>
          <p:cNvSpPr/>
          <p:nvPr/>
        </p:nvSpPr>
        <p:spPr>
          <a:xfrm>
            <a:off x="4663440" y="3675888"/>
            <a:ext cx="4023360" cy="1024128"/>
          </a:xfrm>
          <a:prstGeom prst="roundRect">
            <a:avLst>
              <a:gd name="adj" fmla="val 7143"/>
            </a:avLst>
          </a:prstGeom>
          <a:solidFill>
            <a:srgbClr val="FFFFFF"/>
          </a:solidFill>
          <a:ln w="12700">
            <a:solidFill>
              <a:srgbClr val="0B1F3A"/>
            </a:solidFill>
            <a:prstDash val="solid"/>
          </a:ln>
        </p:spPr>
      </p:sp>
      <p:sp>
        <p:nvSpPr>
          <p:cNvPr id="16" name="Shape 13"/>
          <p:cNvSpPr/>
          <p:nvPr/>
        </p:nvSpPr>
        <p:spPr>
          <a:xfrm>
            <a:off x="4773168" y="3566160"/>
            <a:ext cx="914400" cy="219456"/>
          </a:xfrm>
          <a:prstGeom prst="roundRect">
            <a:avLst>
              <a:gd name="adj" fmla="val 25000"/>
            </a:avLst>
          </a:prstGeom>
          <a:solidFill>
            <a:srgbClr val="0B1F3A"/>
          </a:solidFill>
          <a:ln w="12700">
            <a:solidFill>
              <a:srgbClr val="0B1F3A"/>
            </a:solidFill>
            <a:prstDash val="solid"/>
          </a:ln>
        </p:spPr>
      </p:sp>
      <p:sp>
        <p:nvSpPr>
          <p:cNvPr id="17" name="Text 14"/>
          <p:cNvSpPr txBox="1"/>
          <p:nvPr/>
        </p:nvSpPr>
        <p:spPr>
          <a:xfrm>
            <a:off x="4773168" y="3566160"/>
            <a:ext cx="914400" cy="219456"/>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EXAMPLE</a:t>
            </a:r>
            <a:endParaRPr lang="en-US" sz="850" dirty="0"/>
          </a:p>
        </p:txBody>
      </p:sp>
      <p:sp>
        <p:nvSpPr>
          <p:cNvPr id="18" name="Text 15"/>
          <p:cNvSpPr txBox="1"/>
          <p:nvPr/>
        </p:nvSpPr>
        <p:spPr>
          <a:xfrm>
            <a:off x="4791456" y="3813048"/>
            <a:ext cx="3803904" cy="841248"/>
          </a:xfrm>
          <a:prstGeom prst="rect">
            <a:avLst/>
          </a:prstGeom>
          <a:noFill/>
          <a:ln/>
        </p:spPr>
        <p:txBody>
          <a:bodyPr wrap="square" lIns="0" tIns="0" rIns="0" bIns="0" rtlCol="0" anchor="t"/>
          <a:lstStyle/>
          <a:p>
            <a:pPr indent="0" marL="0">
              <a:spcAft>
                <a:spcPts val="100"/>
              </a:spcAft>
              <a:buNone/>
            </a:pPr>
            <a:r>
              <a:rPr lang="en-US" sz="900" b="1" dirty="0">
                <a:solidFill>
                  <a:srgbClr val="0B1F3A"/>
                </a:solidFill>
                <a:latin typeface="Calibri" pitchFamily="34" charset="0"/>
                <a:ea typeface="Calibri" pitchFamily="34" charset="-122"/>
                <a:cs typeface="Calibri" pitchFamily="34" charset="-120"/>
              </a:rPr>
              <a:t>12-bit part, 4096-point FFT</a:t>
            </a:r>
            <a:endParaRPr lang="en-US" sz="900" dirty="0"/>
          </a:p>
          <a:p>
            <a:pPr marL="114300" indent="-114300">
              <a:spcAft>
                <a:spcPts val="100"/>
              </a:spcAft>
              <a:buSzPct val="100000"/>
              <a:buChar char="•"/>
            </a:pPr>
            <a:r>
              <a:rPr lang="en-US" sz="900" dirty="0">
                <a:solidFill>
                  <a:srgbClr val="14213D"/>
                </a:solidFill>
                <a:latin typeface="Cambria" pitchFamily="34" charset="0"/>
                <a:ea typeface="Cambria" pitchFamily="34" charset="-122"/>
                <a:cs typeface="Cambria" pitchFamily="34" charset="-120"/>
              </a:rPr>
              <a:t>SNR 74 dB, processing gain 10 log₁₀(2048) = 33 dB</a:t>
            </a:r>
            <a:endParaRPr lang="en-US" sz="900" dirty="0"/>
          </a:p>
          <a:p>
            <a:pPr marL="114300" indent="-114300">
              <a:spcAft>
                <a:spcPts val="100"/>
              </a:spcAft>
              <a:buSzPct val="100000"/>
              <a:buChar char="•"/>
            </a:pPr>
            <a:r>
              <a:rPr lang="en-US" sz="900" dirty="0">
                <a:solidFill>
                  <a:srgbClr val="14213D"/>
                </a:solidFill>
                <a:latin typeface="Cambria" pitchFamily="34" charset="0"/>
                <a:ea typeface="Cambria" pitchFamily="34" charset="-122"/>
                <a:cs typeface="Cambria" pitchFamily="34" charset="-120"/>
              </a:rPr>
              <a:t>Visible floor: −107 dBFS</a:t>
            </a:r>
            <a:endParaRPr lang="en-US" sz="900" dirty="0"/>
          </a:p>
          <a:p>
            <a:pPr marL="114300" indent="-114300">
              <a:spcAft>
                <a:spcPts val="100"/>
              </a:spcAft>
              <a:buSzPct val="100000"/>
              <a:buChar char="•"/>
            </a:pPr>
            <a:r>
              <a:rPr lang="en-US" sz="900" dirty="0">
                <a:solidFill>
                  <a:srgbClr val="14213D"/>
                </a:solidFill>
                <a:latin typeface="Cambria" pitchFamily="34" charset="0"/>
                <a:ea typeface="Cambria" pitchFamily="34" charset="-122"/>
                <a:cs typeface="Cambria" pitchFamily="34" charset="-120"/>
              </a:rPr>
              <a:t>Change to a 256-point FFT and the same converter shows −95 dBFS</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6236208" cy="640080"/>
          </a:xfrm>
          <a:prstGeom prst="rect">
            <a:avLst/>
          </a:prstGeom>
          <a:noFill/>
          <a:ln/>
        </p:spPr>
        <p:txBody>
          <a:bodyPr wrap="square" lIns="0" tIns="0" rIns="0" bIns="0" rtlCol="0" anchor="ctr"/>
          <a:lstStyle/>
          <a:p>
            <a:pPr indent="0" marL="0">
              <a:buNone/>
            </a:pPr>
            <a:r>
              <a:rPr lang="en-US" sz="2800" b="1" dirty="0">
                <a:solidFill>
                  <a:srgbClr val="0B1F3A"/>
                </a:solidFill>
                <a:latin typeface="Cambria" pitchFamily="34" charset="0"/>
                <a:ea typeface="Cambria" pitchFamily="34" charset="-122"/>
                <a:cs typeface="Cambria" pitchFamily="34" charset="-120"/>
              </a:rPr>
              <a:t>Dynamic range</a:t>
            </a:r>
            <a:endParaRPr lang="en-US" sz="2800" dirty="0"/>
          </a:p>
        </p:txBody>
      </p:sp>
      <p:sp>
        <p:nvSpPr>
          <p:cNvPr id="3" name="Text 1"/>
          <p:cNvSpPr txBox="1"/>
          <p:nvPr/>
        </p:nvSpPr>
        <p:spPr>
          <a:xfrm>
            <a:off x="457200" y="4796028"/>
            <a:ext cx="4572000" cy="228600"/>
          </a:xfrm>
          <a:prstGeom prst="rect">
            <a:avLst/>
          </a:prstGeom>
          <a:noFill/>
          <a:ln/>
        </p:spPr>
        <p:txBody>
          <a:bodyPr wrap="square" lIns="0" tIns="0" rIns="0" bIns="0" rtlCol="0" anchor="ctr"/>
          <a:lstStyle/>
          <a:p>
            <a:pPr indent="0" marL="0">
              <a:buNone/>
            </a:pPr>
            <a:r>
              <a:rPr lang="en-US" sz="900" dirty="0">
                <a:solidFill>
                  <a:srgbClr val="5B6B7F"/>
                </a:solidFill>
                <a:latin typeface="Calibri" pitchFamily="34" charset="0"/>
                <a:ea typeface="Calibri" pitchFamily="34" charset="-122"/>
                <a:cs typeface="Calibri" pitchFamily="34" charset="-120"/>
              </a:rPr>
              <a:t>Part 3 · Dynamic performance (AC)</a:t>
            </a:r>
            <a:endParaRPr lang="en-US" sz="900" dirty="0"/>
          </a:p>
        </p:txBody>
      </p:sp>
      <p:sp>
        <p:nvSpPr>
          <p:cNvPr id="4" name="Text 2"/>
          <p:cNvSpPr txBox="1"/>
          <p:nvPr/>
        </p:nvSpPr>
        <p:spPr>
          <a:xfrm>
            <a:off x="7772400" y="4796028"/>
            <a:ext cx="914400" cy="228600"/>
          </a:xfrm>
          <a:prstGeom prst="rect">
            <a:avLst/>
          </a:prstGeom>
          <a:noFill/>
          <a:ln/>
        </p:spPr>
        <p:txBody>
          <a:bodyPr wrap="square" lIns="0" tIns="0" rIns="0" bIns="0" rtlCol="0" anchor="ctr"/>
          <a:lstStyle/>
          <a:p>
            <a:pPr algn="r" indent="0" marL="0">
              <a:buNone/>
            </a:pPr>
            <a:r>
              <a:rPr lang="en-US" sz="900" dirty="0">
                <a:solidFill>
                  <a:srgbClr val="5B6B7F"/>
                </a:solidFill>
                <a:latin typeface="Calibri" pitchFamily="34" charset="0"/>
                <a:ea typeface="Calibri" pitchFamily="34" charset="-122"/>
                <a:cs typeface="Calibri" pitchFamily="34" charset="-120"/>
              </a:rPr>
              <a:t>31</a:t>
            </a:r>
            <a:endParaRPr lang="en-US" sz="900" dirty="0"/>
          </a:p>
        </p:txBody>
      </p:sp>
      <p:sp>
        <p:nvSpPr>
          <p:cNvPr id="5" name="Shape 3"/>
          <p:cNvSpPr/>
          <p:nvPr/>
        </p:nvSpPr>
        <p:spPr>
          <a:xfrm>
            <a:off x="6922008" y="384048"/>
            <a:ext cx="1764792" cy="384048"/>
          </a:xfrm>
          <a:prstGeom prst="roundRect">
            <a:avLst>
              <a:gd name="adj" fmla="val 19048"/>
            </a:avLst>
          </a:prstGeom>
          <a:solidFill>
            <a:srgbClr val="EEF3F8"/>
          </a:solidFill>
          <a:ln w="12700">
            <a:solidFill>
              <a:srgbClr val="EEF3F8"/>
            </a:solidFill>
            <a:prstDash val="solid"/>
          </a:ln>
        </p:spPr>
      </p:sp>
      <p:sp>
        <p:nvSpPr>
          <p:cNvPr id="6" name="Text 4"/>
          <p:cNvSpPr txBox="1"/>
          <p:nvPr/>
        </p:nvSpPr>
        <p:spPr>
          <a:xfrm>
            <a:off x="6922008" y="384048"/>
            <a:ext cx="1764792" cy="384048"/>
          </a:xfrm>
          <a:prstGeom prst="rect">
            <a:avLst/>
          </a:prstGeom>
          <a:noFill/>
          <a:ln/>
        </p:spPr>
        <p:txBody>
          <a:bodyPr wrap="square" lIns="0" tIns="0" rIns="0" bIns="0" rtlCol="0" anchor="ctr"/>
          <a:lstStyle/>
          <a:p>
            <a:pPr algn="ctr" indent="0" marL="0">
              <a:buNone/>
            </a:pPr>
            <a:r>
              <a:rPr lang="en-US" sz="1200" b="1" dirty="0">
                <a:solidFill>
                  <a:srgbClr val="0B1F3A"/>
                </a:solidFill>
                <a:latin typeface="Cambria" pitchFamily="34" charset="0"/>
                <a:ea typeface="Cambria" pitchFamily="34" charset="-122"/>
                <a:cs typeface="Cambria" pitchFamily="34" charset="-120"/>
              </a:rPr>
              <a:t>DR   ·   dB</a:t>
            </a:r>
            <a:endParaRPr lang="en-US" sz="1200" dirty="0"/>
          </a:p>
        </p:txBody>
      </p:sp>
      <p:sp>
        <p:nvSpPr>
          <p:cNvPr id="7" name="Text 5"/>
          <p:cNvSpPr txBox="1"/>
          <p:nvPr/>
        </p:nvSpPr>
        <p:spPr>
          <a:xfrm>
            <a:off x="457200" y="1042416"/>
            <a:ext cx="4023360" cy="1005840"/>
          </a:xfrm>
          <a:prstGeom prst="rect">
            <a:avLst/>
          </a:prstGeom>
          <a:noFill/>
          <a:ln/>
        </p:spPr>
        <p:txBody>
          <a:bodyPr wrap="square" lIns="0" tIns="0" rIns="0" bIns="0" rtlCol="0" anchor="t"/>
          <a:lstStyle/>
          <a:p>
            <a:pPr indent="0" marL="0">
              <a:buNone/>
            </a:pPr>
            <a:r>
              <a:rPr lang="en-US" sz="1150" dirty="0">
                <a:solidFill>
                  <a:srgbClr val="14213D"/>
                </a:solidFill>
                <a:latin typeface="Calibri" pitchFamily="34" charset="0"/>
                <a:ea typeface="Calibri" pitchFamily="34" charset="-122"/>
                <a:cs typeface="Calibri" pitchFamily="34" charset="-120"/>
              </a:rPr>
              <a:t>The span between the largest signal the converter can take without clipping and the smallest it can still distinguish from noise. It is what decides whether you need an automatic gain control in front of it.</a:t>
            </a:r>
            <a:endParaRPr lang="en-US" sz="1150" dirty="0"/>
          </a:p>
        </p:txBody>
      </p:sp>
      <p:sp>
        <p:nvSpPr>
          <p:cNvPr id="8" name="Shape 6"/>
          <p:cNvSpPr/>
          <p:nvPr/>
        </p:nvSpPr>
        <p:spPr>
          <a:xfrm>
            <a:off x="457200" y="2103120"/>
            <a:ext cx="4023360" cy="868680"/>
          </a:xfrm>
          <a:prstGeom prst="roundRect">
            <a:avLst>
              <a:gd name="adj" fmla="val 8421"/>
            </a:avLst>
          </a:prstGeom>
          <a:solidFill>
            <a:srgbClr val="EEF3F8"/>
          </a:solidFill>
          <a:ln w="12700">
            <a:solidFill>
              <a:srgbClr val="EEF3F8"/>
            </a:solidFill>
            <a:prstDash val="solid"/>
          </a:ln>
        </p:spPr>
      </p:sp>
      <p:sp>
        <p:nvSpPr>
          <p:cNvPr id="9" name="Text 7"/>
          <p:cNvSpPr txBox="1"/>
          <p:nvPr/>
        </p:nvSpPr>
        <p:spPr>
          <a:xfrm>
            <a:off x="594360" y="2103120"/>
            <a:ext cx="3749040" cy="612648"/>
          </a:xfrm>
          <a:prstGeom prst="rect">
            <a:avLst/>
          </a:prstGeom>
          <a:noFill/>
          <a:ln/>
        </p:spPr>
        <p:txBody>
          <a:bodyPr wrap="square" lIns="0" tIns="0" rIns="0" bIns="0" rtlCol="0" anchor="ctr"/>
          <a:lstStyle/>
          <a:p>
            <a:pPr algn="ctr" indent="0" marL="0">
              <a:buNone/>
            </a:pPr>
            <a:r>
              <a:rPr lang="en-US" sz="1400" dirty="0">
                <a:solidFill>
                  <a:srgbClr val="0B1F3A"/>
                </a:solidFill>
                <a:latin typeface="Cambria" pitchFamily="34" charset="0"/>
                <a:ea typeface="Cambria" pitchFamily="34" charset="-122"/>
                <a:cs typeface="Cambria" pitchFamily="34" charset="-120"/>
              </a:rPr>
              <a:t>DR = 20 log₁₀( largest / smallest )</a:t>
            </a:r>
            <a:endParaRPr lang="en-US" sz="1400" dirty="0"/>
          </a:p>
        </p:txBody>
      </p:sp>
      <p:sp>
        <p:nvSpPr>
          <p:cNvPr id="10" name="Text 8"/>
          <p:cNvSpPr txBox="1"/>
          <p:nvPr/>
        </p:nvSpPr>
        <p:spPr>
          <a:xfrm>
            <a:off x="594360" y="2670048"/>
            <a:ext cx="3749040" cy="256032"/>
          </a:xfrm>
          <a:prstGeom prst="rect">
            <a:avLst/>
          </a:prstGeom>
          <a:noFill/>
          <a:ln/>
        </p:spPr>
        <p:txBody>
          <a:bodyPr wrap="square" lIns="0" tIns="0" rIns="0" bIns="0" rtlCol="0" anchor="t"/>
          <a:lstStyle/>
          <a:p>
            <a:pPr algn="ctr" indent="0" marL="0">
              <a:buNone/>
            </a:pPr>
            <a:r>
              <a:rPr lang="en-US" sz="1000" dirty="0">
                <a:solidFill>
                  <a:srgbClr val="5B6B7F"/>
                </a:solidFill>
                <a:latin typeface="Calibri" pitchFamily="34" charset="0"/>
                <a:ea typeface="Calibri" pitchFamily="34" charset="-122"/>
                <a:cs typeface="Calibri" pitchFamily="34" charset="-120"/>
              </a:rPr>
              <a:t>For a converter with no oversampling, DR ≈ SNR</a:t>
            </a:r>
            <a:endParaRPr lang="en-US" sz="1000" dirty="0"/>
          </a:p>
        </p:txBody>
      </p:sp>
      <p:graphicFrame>
        <p:nvGraphicFramePr>
          <p:cNvPr id="11" name="Chart 0" descr=""/>
          <p:cNvGraphicFramePr/>
          <p:nvPr/>
        </p:nvGraphicFramePr>
        <p:xfrm>
          <a:off x="4663440" y="1042416"/>
          <a:ext cx="4023360" cy="2084832"/>
        </p:xfrm>
        <a:graphic xmlns:a="http://schemas.openxmlformats.org/drawingml/2006/main">
          <a:graphicData uri="http://schemas.openxmlformats.org/drawingml/2006/chart">
            <c:chart xmlns:c="http://schemas.openxmlformats.org/drawingml/2006/chart" r:id="rId1"/>
          </a:graphicData>
        </a:graphic>
      </p:graphicFrame>
      <p:sp>
        <p:nvSpPr>
          <p:cNvPr id="12" name="Text 9"/>
          <p:cNvSpPr txBox="1"/>
          <p:nvPr/>
        </p:nvSpPr>
        <p:spPr>
          <a:xfrm>
            <a:off x="4663440" y="3200400"/>
            <a:ext cx="4023360" cy="347472"/>
          </a:xfrm>
          <a:prstGeom prst="rect">
            <a:avLst/>
          </a:prstGeom>
          <a:noFill/>
          <a:ln/>
        </p:spPr>
        <p:txBody>
          <a:bodyPr wrap="square" lIns="0" tIns="0" rIns="0" bIns="0" rtlCol="0" anchor="ctr"/>
          <a:lstStyle/>
          <a:p>
            <a:pPr algn="ctr" indent="0" marL="0">
              <a:buNone/>
            </a:pPr>
            <a:r>
              <a:rPr lang="en-US" sz="1000" i="1" dirty="0">
                <a:solidFill>
                  <a:srgbClr val="5B6B7F"/>
                </a:solidFill>
                <a:latin typeface="Calibri" pitchFamily="34" charset="0"/>
                <a:ea typeface="Calibri" pitchFamily="34" charset="-122"/>
                <a:cs typeface="Calibri" pitchFamily="34" charset="-120"/>
              </a:rPr>
              <a:t>Oversampling buys dynamic range that resolution alone does not: every doubling of the sample rate adds 3 dB, and a noise-shaping loop adds far more.</a:t>
            </a:r>
            <a:endParaRPr lang="en-US" sz="1000" dirty="0"/>
          </a:p>
        </p:txBody>
      </p:sp>
      <p:sp>
        <p:nvSpPr>
          <p:cNvPr id="13" name="Shape 10"/>
          <p:cNvSpPr/>
          <p:nvPr/>
        </p:nvSpPr>
        <p:spPr>
          <a:xfrm>
            <a:off x="457200" y="3675888"/>
            <a:ext cx="4023360" cy="1024128"/>
          </a:xfrm>
          <a:prstGeom prst="roundRect">
            <a:avLst>
              <a:gd name="adj" fmla="val 7143"/>
            </a:avLst>
          </a:prstGeom>
          <a:solidFill>
            <a:srgbClr val="E4F7F4"/>
          </a:solidFill>
          <a:ln w="12700">
            <a:solidFill>
              <a:srgbClr val="E4F7F4"/>
            </a:solidFill>
            <a:prstDash val="solid"/>
          </a:ln>
        </p:spPr>
      </p:sp>
      <p:sp>
        <p:nvSpPr>
          <p:cNvPr id="14" name="Shape 11"/>
          <p:cNvSpPr/>
          <p:nvPr/>
        </p:nvSpPr>
        <p:spPr>
          <a:xfrm>
            <a:off x="566928" y="3776472"/>
            <a:ext cx="237744" cy="237744"/>
          </a:xfrm>
          <a:prstGeom prst="ellipse">
            <a:avLst/>
          </a:prstGeom>
          <a:solidFill>
            <a:srgbClr val="2EC4B6"/>
          </a:solidFill>
          <a:ln w="12700">
            <a:solidFill>
              <a:srgbClr val="2EC4B6"/>
            </a:solidFill>
            <a:prstDash val="solid"/>
          </a:ln>
        </p:spPr>
      </p:sp>
      <p:sp>
        <p:nvSpPr>
          <p:cNvPr id="15" name="Text 12"/>
          <p:cNvSpPr txBox="1"/>
          <p:nvPr/>
        </p:nvSpPr>
        <p:spPr>
          <a:xfrm>
            <a:off x="566928" y="3776472"/>
            <a:ext cx="237744" cy="237744"/>
          </a:xfrm>
          <a:prstGeom prst="rect">
            <a:avLst/>
          </a:prstGeom>
          <a:noFill/>
          <a:ln/>
        </p:spPr>
        <p:txBody>
          <a:bodyPr wrap="square" lIns="0" tIns="0" rIns="0" bIns="0" rtlCol="0" anchor="ctr"/>
          <a:lstStyle/>
          <a:p>
            <a:pPr algn="ctr" indent="0" marL="0">
              <a:buNone/>
            </a:pPr>
            <a:r>
              <a:rPr lang="en-US" sz="1200" b="1" dirty="0">
                <a:solidFill>
                  <a:srgbClr val="0B1F3A"/>
                </a:solidFill>
                <a:latin typeface="Calibri" pitchFamily="34" charset="0"/>
                <a:ea typeface="Calibri" pitchFamily="34" charset="-122"/>
                <a:cs typeface="Calibri" pitchFamily="34" charset="-120"/>
              </a:rPr>
              <a:t>≈</a:t>
            </a:r>
            <a:endParaRPr lang="en-US" sz="1200" dirty="0"/>
          </a:p>
        </p:txBody>
      </p:sp>
      <p:sp>
        <p:nvSpPr>
          <p:cNvPr id="16" name="Text 13"/>
          <p:cNvSpPr txBox="1"/>
          <p:nvPr/>
        </p:nvSpPr>
        <p:spPr>
          <a:xfrm>
            <a:off x="877824" y="3739896"/>
            <a:ext cx="3493008" cy="896112"/>
          </a:xfrm>
          <a:prstGeom prst="rect">
            <a:avLst/>
          </a:prstGeom>
          <a:noFill/>
          <a:ln/>
        </p:spPr>
        <p:txBody>
          <a:bodyPr wrap="square" lIns="0" tIns="0" rIns="0" bIns="0" rtlCol="0" anchor="t"/>
          <a:lstStyle/>
          <a:p>
            <a:pPr indent="0" marL="0">
              <a:buNone/>
            </a:pPr>
            <a:r>
              <a:rPr lang="en-US" sz="1050" b="1" dirty="0">
                <a:solidFill>
                  <a:srgbClr val="0B1F3A"/>
                </a:solidFill>
                <a:latin typeface="Calibri" pitchFamily="34" charset="0"/>
                <a:ea typeface="Calibri" pitchFamily="34" charset="-122"/>
                <a:cs typeface="Calibri" pitchFamily="34" charset="-120"/>
              </a:rPr>
              <a:t>Think of it like this  </a:t>
            </a:r>
            <a:pPr indent="0" marL="0">
              <a:buNone/>
            </a:pPr>
            <a:r>
              <a:rPr lang="en-US" sz="1050" dirty="0">
                <a:solidFill>
                  <a:srgbClr val="14213D"/>
                </a:solidFill>
                <a:latin typeface="Calibri" pitchFamily="34" charset="0"/>
                <a:ea typeface="Calibri" pitchFamily="34" charset="-122"/>
                <a:cs typeface="Calibri" pitchFamily="34" charset="-120"/>
              </a:rPr>
              <a:t>A camera photographing a room with a bright window. Dynamic range is whether you can see detail in the sunlit street and in the shadowy corner in one shot.</a:t>
            </a:r>
            <a:endParaRPr lang="en-US" sz="1050" dirty="0"/>
          </a:p>
        </p:txBody>
      </p:sp>
      <p:sp>
        <p:nvSpPr>
          <p:cNvPr id="17" name="Shape 14"/>
          <p:cNvSpPr/>
          <p:nvPr/>
        </p:nvSpPr>
        <p:spPr>
          <a:xfrm>
            <a:off x="4663440" y="3675888"/>
            <a:ext cx="4023360" cy="1024128"/>
          </a:xfrm>
          <a:prstGeom prst="roundRect">
            <a:avLst>
              <a:gd name="adj" fmla="val 7143"/>
            </a:avLst>
          </a:prstGeom>
          <a:solidFill>
            <a:srgbClr val="FFFFFF"/>
          </a:solidFill>
          <a:ln w="12700">
            <a:solidFill>
              <a:srgbClr val="0B1F3A"/>
            </a:solidFill>
            <a:prstDash val="solid"/>
          </a:ln>
        </p:spPr>
      </p:sp>
      <p:sp>
        <p:nvSpPr>
          <p:cNvPr id="18" name="Shape 15"/>
          <p:cNvSpPr/>
          <p:nvPr/>
        </p:nvSpPr>
        <p:spPr>
          <a:xfrm>
            <a:off x="4773168" y="3566160"/>
            <a:ext cx="914400" cy="219456"/>
          </a:xfrm>
          <a:prstGeom prst="roundRect">
            <a:avLst>
              <a:gd name="adj" fmla="val 25000"/>
            </a:avLst>
          </a:prstGeom>
          <a:solidFill>
            <a:srgbClr val="0B1F3A"/>
          </a:solidFill>
          <a:ln w="12700">
            <a:solidFill>
              <a:srgbClr val="0B1F3A"/>
            </a:solidFill>
            <a:prstDash val="solid"/>
          </a:ln>
        </p:spPr>
      </p:sp>
      <p:sp>
        <p:nvSpPr>
          <p:cNvPr id="19" name="Text 16"/>
          <p:cNvSpPr txBox="1"/>
          <p:nvPr/>
        </p:nvSpPr>
        <p:spPr>
          <a:xfrm>
            <a:off x="4773168" y="3566160"/>
            <a:ext cx="914400" cy="219456"/>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EXAMPLE</a:t>
            </a:r>
            <a:endParaRPr lang="en-US" sz="850" dirty="0"/>
          </a:p>
        </p:txBody>
      </p:sp>
      <p:sp>
        <p:nvSpPr>
          <p:cNvPr id="20" name="Text 17"/>
          <p:cNvSpPr txBox="1"/>
          <p:nvPr/>
        </p:nvSpPr>
        <p:spPr>
          <a:xfrm>
            <a:off x="4791456" y="3813048"/>
            <a:ext cx="3803904" cy="841248"/>
          </a:xfrm>
          <a:prstGeom prst="rect">
            <a:avLst/>
          </a:prstGeom>
          <a:noFill/>
          <a:ln/>
        </p:spPr>
        <p:txBody>
          <a:bodyPr wrap="square" lIns="0" tIns="0" rIns="0" bIns="0" rtlCol="0" anchor="t"/>
          <a:lstStyle/>
          <a:p>
            <a:pPr indent="0" marL="0">
              <a:spcAft>
                <a:spcPts val="100"/>
              </a:spcAft>
              <a:buNone/>
            </a:pPr>
            <a:r>
              <a:rPr lang="en-US" sz="900" b="1" dirty="0">
                <a:solidFill>
                  <a:srgbClr val="0B1F3A"/>
                </a:solidFill>
                <a:latin typeface="Calibri" pitchFamily="34" charset="0"/>
                <a:ea typeface="Calibri" pitchFamily="34" charset="-122"/>
                <a:cs typeface="Calibri" pitchFamily="34" charset="-120"/>
              </a:rPr>
              <a:t>Wi-Fi receiver</a:t>
            </a:r>
            <a:endParaRPr lang="en-US" sz="900" dirty="0"/>
          </a:p>
          <a:p>
            <a:pPr marL="114300" indent="-114300">
              <a:spcAft>
                <a:spcPts val="100"/>
              </a:spcAft>
              <a:buSzPct val="100000"/>
              <a:buChar char="•"/>
            </a:pPr>
            <a:r>
              <a:rPr lang="en-US" sz="900" dirty="0">
                <a:solidFill>
                  <a:srgbClr val="14213D"/>
                </a:solidFill>
                <a:latin typeface="Cambria" pitchFamily="34" charset="0"/>
                <a:ea typeface="Cambria" pitchFamily="34" charset="-122"/>
                <a:cs typeface="Cambria" pitchFamily="34" charset="-120"/>
              </a:rPr>
              <a:t>Strongest signal at the ADC: −10 dBFS. Weakest wanted: −80 dBFS</a:t>
            </a:r>
            <a:endParaRPr lang="en-US" sz="900" dirty="0"/>
          </a:p>
          <a:p>
            <a:pPr marL="114300" indent="-114300">
              <a:spcAft>
                <a:spcPts val="100"/>
              </a:spcAft>
              <a:buSzPct val="100000"/>
              <a:buChar char="•"/>
            </a:pPr>
            <a:r>
              <a:rPr lang="en-US" sz="900" dirty="0">
                <a:solidFill>
                  <a:srgbClr val="14213D"/>
                </a:solidFill>
                <a:latin typeface="Cambria" pitchFamily="34" charset="0"/>
                <a:ea typeface="Cambria" pitchFamily="34" charset="-122"/>
                <a:cs typeface="Cambria" pitchFamily="34" charset="-120"/>
              </a:rPr>
              <a:t>Needs 70 dB of usable range, so a 12-bit part with 74 dB SNR just fits</a:t>
            </a:r>
            <a:endParaRPr lang="en-US" sz="900" dirty="0"/>
          </a:p>
          <a:p>
            <a:pPr marL="114300" indent="-114300">
              <a:spcAft>
                <a:spcPts val="100"/>
              </a:spcAft>
              <a:buSzPct val="100000"/>
              <a:buChar char="•"/>
            </a:pPr>
            <a:r>
              <a:rPr lang="en-US" sz="900" dirty="0">
                <a:solidFill>
                  <a:srgbClr val="14213D"/>
                </a:solidFill>
                <a:latin typeface="Cambria" pitchFamily="34" charset="0"/>
                <a:ea typeface="Cambria" pitchFamily="34" charset="-122"/>
                <a:cs typeface="Cambria" pitchFamily="34" charset="-120"/>
              </a:rPr>
              <a:t>Add a 20 dB fade margin and you need 14 bits, or an AGC</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B1F3A"/>
        </a:solidFill>
      </p:bgPr>
    </p:bg>
    <p:spTree>
      <p:nvGrpSpPr>
        <p:cNvPr id="1" name=""/>
        <p:cNvGrpSpPr/>
        <p:nvPr/>
      </p:nvGrpSpPr>
      <p:grpSpPr>
        <a:xfrm>
          <a:off x="0" y="0"/>
          <a:ext cx="0" cy="0"/>
          <a:chOff x="0" y="0"/>
          <a:chExt cx="0" cy="0"/>
        </a:xfrm>
      </p:grpSpPr>
      <p:sp>
        <p:nvSpPr>
          <p:cNvPr id="2" name="Text 0"/>
          <p:cNvSpPr txBox="1"/>
          <p:nvPr/>
        </p:nvSpPr>
        <p:spPr>
          <a:xfrm>
            <a:off x="457200" y="411480"/>
            <a:ext cx="822960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Recap · dynamic performance</a:t>
            </a:r>
            <a:endParaRPr lang="en-US" sz="3000" dirty="0"/>
          </a:p>
        </p:txBody>
      </p:sp>
      <p:sp>
        <p:nvSpPr>
          <p:cNvPr id="3" name="Shape 1"/>
          <p:cNvSpPr/>
          <p:nvPr/>
        </p:nvSpPr>
        <p:spPr>
          <a:xfrm>
            <a:off x="457200" y="1271016"/>
            <a:ext cx="274320" cy="274320"/>
          </a:xfrm>
          <a:prstGeom prst="ellipse">
            <a:avLst/>
          </a:prstGeom>
          <a:solidFill>
            <a:srgbClr val="2EC4B6"/>
          </a:solidFill>
          <a:ln w="12700">
            <a:solidFill>
              <a:srgbClr val="2EC4B6"/>
            </a:solidFill>
            <a:prstDash val="solid"/>
          </a:ln>
        </p:spPr>
      </p:sp>
      <p:sp>
        <p:nvSpPr>
          <p:cNvPr id="4" name="Text 2"/>
          <p:cNvSpPr txBox="1"/>
          <p:nvPr/>
        </p:nvSpPr>
        <p:spPr>
          <a:xfrm>
            <a:off x="457200" y="1271016"/>
            <a:ext cx="274320" cy="274320"/>
          </a:xfrm>
          <a:prstGeom prst="rect">
            <a:avLst/>
          </a:prstGeom>
          <a:noFill/>
          <a:ln/>
        </p:spPr>
        <p:txBody>
          <a:bodyPr wrap="square" lIns="0" tIns="0" rIns="0" bIns="0" rtlCol="0" anchor="ctr"/>
          <a:lstStyle/>
          <a:p>
            <a:pPr algn="ctr" indent="0" marL="0">
              <a:buNone/>
            </a:pPr>
            <a:r>
              <a:rPr lang="en-US" sz="1200" b="1" dirty="0">
                <a:solidFill>
                  <a:srgbClr val="0B1F3A"/>
                </a:solidFill>
              </a:rPr>
              <a:t>✓</a:t>
            </a:r>
            <a:endParaRPr lang="en-US" sz="1200" dirty="0"/>
          </a:p>
        </p:txBody>
      </p:sp>
      <p:sp>
        <p:nvSpPr>
          <p:cNvPr id="5" name="Text 3"/>
          <p:cNvSpPr txBox="1"/>
          <p:nvPr/>
        </p:nvSpPr>
        <p:spPr>
          <a:xfrm>
            <a:off x="868680" y="1188720"/>
            <a:ext cx="7818120" cy="566928"/>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SNR: tone above the noise, harmonics excluded. Ideal is 6.02 N + 1.76 dB</a:t>
            </a:r>
            <a:endParaRPr lang="en-US" sz="1450" dirty="0"/>
          </a:p>
        </p:txBody>
      </p:sp>
      <p:sp>
        <p:nvSpPr>
          <p:cNvPr id="6" name="Shape 4"/>
          <p:cNvSpPr/>
          <p:nvPr/>
        </p:nvSpPr>
        <p:spPr>
          <a:xfrm>
            <a:off x="457200" y="1837944"/>
            <a:ext cx="274320" cy="274320"/>
          </a:xfrm>
          <a:prstGeom prst="ellipse">
            <a:avLst/>
          </a:prstGeom>
          <a:solidFill>
            <a:srgbClr val="2EC4B6"/>
          </a:solidFill>
          <a:ln w="12700">
            <a:solidFill>
              <a:srgbClr val="2EC4B6"/>
            </a:solidFill>
            <a:prstDash val="solid"/>
          </a:ln>
        </p:spPr>
      </p:sp>
      <p:sp>
        <p:nvSpPr>
          <p:cNvPr id="7" name="Text 5"/>
          <p:cNvSpPr txBox="1"/>
          <p:nvPr/>
        </p:nvSpPr>
        <p:spPr>
          <a:xfrm>
            <a:off x="457200" y="1837944"/>
            <a:ext cx="274320" cy="274320"/>
          </a:xfrm>
          <a:prstGeom prst="rect">
            <a:avLst/>
          </a:prstGeom>
          <a:noFill/>
          <a:ln/>
        </p:spPr>
        <p:txBody>
          <a:bodyPr wrap="square" lIns="0" tIns="0" rIns="0" bIns="0" rtlCol="0" anchor="ctr"/>
          <a:lstStyle/>
          <a:p>
            <a:pPr algn="ctr" indent="0" marL="0">
              <a:buNone/>
            </a:pPr>
            <a:r>
              <a:rPr lang="en-US" sz="1200" b="1" dirty="0">
                <a:solidFill>
                  <a:srgbClr val="0B1F3A"/>
                </a:solidFill>
              </a:rPr>
              <a:t>✓</a:t>
            </a:r>
            <a:endParaRPr lang="en-US" sz="1200" dirty="0"/>
          </a:p>
        </p:txBody>
      </p:sp>
      <p:sp>
        <p:nvSpPr>
          <p:cNvPr id="8" name="Text 6"/>
          <p:cNvSpPr txBox="1"/>
          <p:nvPr/>
        </p:nvSpPr>
        <p:spPr>
          <a:xfrm>
            <a:off x="868680" y="1755648"/>
            <a:ext cx="7818120" cy="566928"/>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THD: all the harmonics added up; HD2 and HD3 usually dominate</a:t>
            </a:r>
            <a:endParaRPr lang="en-US" sz="1450" dirty="0"/>
          </a:p>
        </p:txBody>
      </p:sp>
      <p:sp>
        <p:nvSpPr>
          <p:cNvPr id="9" name="Shape 7"/>
          <p:cNvSpPr/>
          <p:nvPr/>
        </p:nvSpPr>
        <p:spPr>
          <a:xfrm>
            <a:off x="457200" y="2404872"/>
            <a:ext cx="274320" cy="274320"/>
          </a:xfrm>
          <a:prstGeom prst="ellipse">
            <a:avLst/>
          </a:prstGeom>
          <a:solidFill>
            <a:srgbClr val="2EC4B6"/>
          </a:solidFill>
          <a:ln w="12700">
            <a:solidFill>
              <a:srgbClr val="2EC4B6"/>
            </a:solidFill>
            <a:prstDash val="solid"/>
          </a:ln>
        </p:spPr>
      </p:sp>
      <p:sp>
        <p:nvSpPr>
          <p:cNvPr id="10" name="Text 8"/>
          <p:cNvSpPr txBox="1"/>
          <p:nvPr/>
        </p:nvSpPr>
        <p:spPr>
          <a:xfrm>
            <a:off x="457200" y="2404872"/>
            <a:ext cx="274320" cy="274320"/>
          </a:xfrm>
          <a:prstGeom prst="rect">
            <a:avLst/>
          </a:prstGeom>
          <a:noFill/>
          <a:ln/>
        </p:spPr>
        <p:txBody>
          <a:bodyPr wrap="square" lIns="0" tIns="0" rIns="0" bIns="0" rtlCol="0" anchor="ctr"/>
          <a:lstStyle/>
          <a:p>
            <a:pPr algn="ctr" indent="0" marL="0">
              <a:buNone/>
            </a:pPr>
            <a:r>
              <a:rPr lang="en-US" sz="1200" b="1" dirty="0">
                <a:solidFill>
                  <a:srgbClr val="0B1F3A"/>
                </a:solidFill>
              </a:rPr>
              <a:t>✓</a:t>
            </a:r>
            <a:endParaRPr lang="en-US" sz="1200" dirty="0"/>
          </a:p>
        </p:txBody>
      </p:sp>
      <p:sp>
        <p:nvSpPr>
          <p:cNvPr id="11" name="Text 9"/>
          <p:cNvSpPr txBox="1"/>
          <p:nvPr/>
        </p:nvSpPr>
        <p:spPr>
          <a:xfrm>
            <a:off x="868680" y="2322576"/>
            <a:ext cx="7818120" cy="566928"/>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SINAD counts noise and distortion together — it is the honest one</a:t>
            </a:r>
            <a:endParaRPr lang="en-US" sz="1450" dirty="0"/>
          </a:p>
        </p:txBody>
      </p:sp>
      <p:sp>
        <p:nvSpPr>
          <p:cNvPr id="12" name="Shape 10"/>
          <p:cNvSpPr/>
          <p:nvPr/>
        </p:nvSpPr>
        <p:spPr>
          <a:xfrm>
            <a:off x="457200" y="2971800"/>
            <a:ext cx="274320" cy="274320"/>
          </a:xfrm>
          <a:prstGeom prst="ellipse">
            <a:avLst/>
          </a:prstGeom>
          <a:solidFill>
            <a:srgbClr val="2EC4B6"/>
          </a:solidFill>
          <a:ln w="12700">
            <a:solidFill>
              <a:srgbClr val="2EC4B6"/>
            </a:solidFill>
            <a:prstDash val="solid"/>
          </a:ln>
        </p:spPr>
      </p:sp>
      <p:sp>
        <p:nvSpPr>
          <p:cNvPr id="13" name="Text 11"/>
          <p:cNvSpPr txBox="1"/>
          <p:nvPr/>
        </p:nvSpPr>
        <p:spPr>
          <a:xfrm>
            <a:off x="457200" y="2971800"/>
            <a:ext cx="274320" cy="274320"/>
          </a:xfrm>
          <a:prstGeom prst="rect">
            <a:avLst/>
          </a:prstGeom>
          <a:noFill/>
          <a:ln/>
        </p:spPr>
        <p:txBody>
          <a:bodyPr wrap="square" lIns="0" tIns="0" rIns="0" bIns="0" rtlCol="0" anchor="ctr"/>
          <a:lstStyle/>
          <a:p>
            <a:pPr algn="ctr" indent="0" marL="0">
              <a:buNone/>
            </a:pPr>
            <a:r>
              <a:rPr lang="en-US" sz="1200" b="1" dirty="0">
                <a:solidFill>
                  <a:srgbClr val="0B1F3A"/>
                </a:solidFill>
              </a:rPr>
              <a:t>✓</a:t>
            </a:r>
            <a:endParaRPr lang="en-US" sz="1200" dirty="0"/>
          </a:p>
        </p:txBody>
      </p:sp>
      <p:sp>
        <p:nvSpPr>
          <p:cNvPr id="14" name="Text 12"/>
          <p:cNvSpPr txBox="1"/>
          <p:nvPr/>
        </p:nvSpPr>
        <p:spPr>
          <a:xfrm>
            <a:off x="868680" y="2889504"/>
            <a:ext cx="7818120" cy="566928"/>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ENOB = (SINAD − 1.76 + back-off) / 6.02, and it always falls with input frequency</a:t>
            </a:r>
            <a:endParaRPr lang="en-US" sz="1450" dirty="0"/>
          </a:p>
        </p:txBody>
      </p:sp>
      <p:sp>
        <p:nvSpPr>
          <p:cNvPr id="15" name="Shape 13"/>
          <p:cNvSpPr/>
          <p:nvPr/>
        </p:nvSpPr>
        <p:spPr>
          <a:xfrm>
            <a:off x="457200" y="3538728"/>
            <a:ext cx="274320" cy="274320"/>
          </a:xfrm>
          <a:prstGeom prst="ellipse">
            <a:avLst/>
          </a:prstGeom>
          <a:solidFill>
            <a:srgbClr val="2EC4B6"/>
          </a:solidFill>
          <a:ln w="12700">
            <a:solidFill>
              <a:srgbClr val="2EC4B6"/>
            </a:solidFill>
            <a:prstDash val="solid"/>
          </a:ln>
        </p:spPr>
      </p:sp>
      <p:sp>
        <p:nvSpPr>
          <p:cNvPr id="16" name="Text 14"/>
          <p:cNvSpPr txBox="1"/>
          <p:nvPr/>
        </p:nvSpPr>
        <p:spPr>
          <a:xfrm>
            <a:off x="457200" y="3538728"/>
            <a:ext cx="274320" cy="274320"/>
          </a:xfrm>
          <a:prstGeom prst="rect">
            <a:avLst/>
          </a:prstGeom>
          <a:noFill/>
          <a:ln/>
        </p:spPr>
        <p:txBody>
          <a:bodyPr wrap="square" lIns="0" tIns="0" rIns="0" bIns="0" rtlCol="0" anchor="ctr"/>
          <a:lstStyle/>
          <a:p>
            <a:pPr algn="ctr" indent="0" marL="0">
              <a:buNone/>
            </a:pPr>
            <a:r>
              <a:rPr lang="en-US" sz="1200" b="1" dirty="0">
                <a:solidFill>
                  <a:srgbClr val="0B1F3A"/>
                </a:solidFill>
              </a:rPr>
              <a:t>✓</a:t>
            </a:r>
            <a:endParaRPr lang="en-US" sz="1200" dirty="0"/>
          </a:p>
        </p:txBody>
      </p:sp>
      <p:sp>
        <p:nvSpPr>
          <p:cNvPr id="17" name="Text 15"/>
          <p:cNvSpPr txBox="1"/>
          <p:nvPr/>
        </p:nvSpPr>
        <p:spPr>
          <a:xfrm>
            <a:off x="868680" y="3456432"/>
            <a:ext cx="7818120" cy="566928"/>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SFDR is the biggest single spur: the number that decides if you can see a weak signal beside a strong one</a:t>
            </a:r>
            <a:endParaRPr lang="en-US" sz="1450" dirty="0"/>
          </a:p>
        </p:txBody>
      </p:sp>
      <p:sp>
        <p:nvSpPr>
          <p:cNvPr id="18" name="Shape 16"/>
          <p:cNvSpPr/>
          <p:nvPr/>
        </p:nvSpPr>
        <p:spPr>
          <a:xfrm>
            <a:off x="457200" y="4105656"/>
            <a:ext cx="274320" cy="274320"/>
          </a:xfrm>
          <a:prstGeom prst="ellipse">
            <a:avLst/>
          </a:prstGeom>
          <a:solidFill>
            <a:srgbClr val="2EC4B6"/>
          </a:solidFill>
          <a:ln w="12700">
            <a:solidFill>
              <a:srgbClr val="2EC4B6"/>
            </a:solidFill>
            <a:prstDash val="solid"/>
          </a:ln>
        </p:spPr>
      </p:sp>
      <p:sp>
        <p:nvSpPr>
          <p:cNvPr id="19" name="Text 17"/>
          <p:cNvSpPr txBox="1"/>
          <p:nvPr/>
        </p:nvSpPr>
        <p:spPr>
          <a:xfrm>
            <a:off x="457200" y="4105656"/>
            <a:ext cx="274320" cy="274320"/>
          </a:xfrm>
          <a:prstGeom prst="rect">
            <a:avLst/>
          </a:prstGeom>
          <a:noFill/>
          <a:ln/>
        </p:spPr>
        <p:txBody>
          <a:bodyPr wrap="square" lIns="0" tIns="0" rIns="0" bIns="0" rtlCol="0" anchor="ctr"/>
          <a:lstStyle/>
          <a:p>
            <a:pPr algn="ctr" indent="0" marL="0">
              <a:buNone/>
            </a:pPr>
            <a:r>
              <a:rPr lang="en-US" sz="1200" b="1" dirty="0">
                <a:solidFill>
                  <a:srgbClr val="0B1F3A"/>
                </a:solidFill>
              </a:rPr>
              <a:t>✓</a:t>
            </a:r>
            <a:endParaRPr lang="en-US" sz="1200" dirty="0"/>
          </a:p>
        </p:txBody>
      </p:sp>
      <p:sp>
        <p:nvSpPr>
          <p:cNvPr id="20" name="Text 18"/>
          <p:cNvSpPr txBox="1"/>
          <p:nvPr/>
        </p:nvSpPr>
        <p:spPr>
          <a:xfrm>
            <a:off x="868680" y="4023360"/>
            <a:ext cx="7818120" cy="566928"/>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The FFT floor is not the SNR — subtract the processing gain of 10 log₁₀(N/2)</a:t>
            </a:r>
            <a:endParaRPr lang="en-US" sz="1450" dirty="0"/>
          </a:p>
        </p:txBody>
      </p:sp>
      <p:sp>
        <p:nvSpPr>
          <p:cNvPr id="21" name="Text 19"/>
          <p:cNvSpPr txBox="1"/>
          <p:nvPr/>
        </p:nvSpPr>
        <p:spPr>
          <a:xfrm>
            <a:off x="7772400" y="4796028"/>
            <a:ext cx="914400" cy="228600"/>
          </a:xfrm>
          <a:prstGeom prst="rect">
            <a:avLst/>
          </a:prstGeom>
          <a:noFill/>
          <a:ln/>
        </p:spPr>
        <p:txBody>
          <a:bodyPr wrap="square" lIns="0" tIns="0" rIns="0" bIns="0" rtlCol="0" anchor="ctr"/>
          <a:lstStyle/>
          <a:p>
            <a:pPr algn="r" indent="0" marL="0">
              <a:buNone/>
            </a:pPr>
            <a:r>
              <a:rPr lang="en-US" sz="900" dirty="0">
                <a:solidFill>
                  <a:srgbClr val="8FA3BF"/>
                </a:solidFill>
                <a:latin typeface="Calibri" pitchFamily="34" charset="0"/>
                <a:ea typeface="Calibri" pitchFamily="34" charset="-122"/>
                <a:cs typeface="Calibri" pitchFamily="34" charset="-120"/>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B1F3A"/>
        </a:solidFill>
      </p:bgPr>
    </p:bg>
    <p:spTree>
      <p:nvGrpSpPr>
        <p:cNvPr id="1" name=""/>
        <p:cNvGrpSpPr/>
        <p:nvPr/>
      </p:nvGrpSpPr>
      <p:grpSpPr>
        <a:xfrm>
          <a:off x="0" y="0"/>
          <a:ext cx="0" cy="0"/>
          <a:chOff x="0" y="0"/>
          <a:chExt cx="0" cy="0"/>
        </a:xfrm>
      </p:grpSpPr>
      <p:sp>
        <p:nvSpPr>
          <p:cNvPr id="2" name="Text 0"/>
          <p:cNvSpPr txBox="1"/>
          <p:nvPr/>
        </p:nvSpPr>
        <p:spPr>
          <a:xfrm>
            <a:off x="457200" y="1234440"/>
            <a:ext cx="5486400" cy="365760"/>
          </a:xfrm>
          <a:prstGeom prst="rect">
            <a:avLst/>
          </a:prstGeom>
          <a:noFill/>
          <a:ln/>
        </p:spPr>
        <p:txBody>
          <a:bodyPr wrap="square" lIns="0" tIns="0" rIns="0" bIns="0" rtlCol="0" anchor="ctr"/>
          <a:lstStyle/>
          <a:p>
            <a:pPr indent="0" marL="0">
              <a:buNone/>
            </a:pPr>
            <a:r>
              <a:rPr lang="en-US" sz="1400" b="1" dirty="0">
                <a:solidFill>
                  <a:srgbClr val="2EC4B6"/>
                </a:solidFill>
                <a:latin typeface="Calibri" pitchFamily="34" charset="0"/>
                <a:ea typeface="Calibri" pitchFamily="34" charset="-122"/>
                <a:cs typeface="Calibri" pitchFamily="34" charset="-120"/>
              </a:rPr>
              <a:t>Part 4</a:t>
            </a:r>
            <a:endParaRPr lang="en-US" sz="1400" dirty="0"/>
          </a:p>
        </p:txBody>
      </p:sp>
      <p:sp>
        <p:nvSpPr>
          <p:cNvPr id="3" name="Text 1"/>
          <p:cNvSpPr txBox="1"/>
          <p:nvPr/>
        </p:nvSpPr>
        <p:spPr>
          <a:xfrm>
            <a:off x="457200" y="1600200"/>
            <a:ext cx="8229600" cy="9144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Speed and timing</a:t>
            </a:r>
            <a:endParaRPr lang="en-US" sz="3800" dirty="0"/>
          </a:p>
        </p:txBody>
      </p:sp>
      <p:sp>
        <p:nvSpPr>
          <p:cNvPr id="4" name="Text 2"/>
          <p:cNvSpPr txBox="1"/>
          <p:nvPr/>
        </p:nvSpPr>
        <p:spPr>
          <a:xfrm>
            <a:off x="457200" y="2560320"/>
            <a:ext cx="8229600" cy="457200"/>
          </a:xfrm>
          <a:prstGeom prst="rect">
            <a:avLst/>
          </a:prstGeom>
          <a:noFill/>
          <a:ln/>
        </p:spPr>
        <p:txBody>
          <a:bodyPr wrap="square" lIns="0" tIns="0" rIns="0" bIns="0" rtlCol="0" anchor="ctr"/>
          <a:lstStyle/>
          <a:p>
            <a:pPr indent="0" marL="0">
              <a:buNone/>
            </a:pPr>
            <a:r>
              <a:rPr lang="en-US" sz="1600" dirty="0">
                <a:solidFill>
                  <a:srgbClr val="D7DEE8"/>
                </a:solidFill>
                <a:latin typeface="Calibri" pitchFamily="34" charset="0"/>
                <a:ea typeface="Calibri" pitchFamily="34" charset="-122"/>
                <a:cs typeface="Calibri" pitchFamily="34" charset="-120"/>
              </a:rPr>
              <a:t>The clock, and everything that has to finish before the next tick</a:t>
            </a:r>
            <a:endParaRPr lang="en-US" sz="1600" dirty="0"/>
          </a:p>
        </p:txBody>
      </p:sp>
      <p:sp>
        <p:nvSpPr>
          <p:cNvPr id="5" name="Text 3"/>
          <p:cNvSpPr txBox="1"/>
          <p:nvPr/>
        </p:nvSpPr>
        <p:spPr>
          <a:xfrm>
            <a:off x="457200" y="3063240"/>
            <a:ext cx="3657600" cy="274320"/>
          </a:xfrm>
          <a:prstGeom prst="rect">
            <a:avLst/>
          </a:prstGeom>
          <a:noFill/>
          <a:ln/>
        </p:spPr>
        <p:txBody>
          <a:bodyPr wrap="square" lIns="0" tIns="0" rIns="0" bIns="0" rtlCol="0" anchor="ctr"/>
          <a:lstStyle/>
          <a:p>
            <a:pPr indent="0" marL="0">
              <a:buNone/>
            </a:pPr>
            <a:r>
              <a:rPr lang="en-US" sz="1100" dirty="0">
                <a:solidFill>
                  <a:srgbClr val="B8C4D6"/>
                </a:solidFill>
                <a:latin typeface="Calibri" pitchFamily="34" charset="0"/>
                <a:ea typeface="Calibri" pitchFamily="34" charset="-122"/>
                <a:cs typeface="Calibri" pitchFamily="34" charset="-120"/>
              </a:rPr>
              <a:t>14 minutes</a:t>
            </a:r>
            <a:endParaRPr lang="en-US" sz="1100" dirty="0"/>
          </a:p>
        </p:txBody>
      </p:sp>
      <p:sp>
        <p:nvSpPr>
          <p:cNvPr id="6" name="Text 4"/>
          <p:cNvSpPr txBox="1"/>
          <p:nvPr/>
        </p:nvSpPr>
        <p:spPr>
          <a:xfrm>
            <a:off x="7772400" y="4796028"/>
            <a:ext cx="914400" cy="228600"/>
          </a:xfrm>
          <a:prstGeom prst="rect">
            <a:avLst/>
          </a:prstGeom>
          <a:noFill/>
          <a:ln/>
        </p:spPr>
        <p:txBody>
          <a:bodyPr wrap="square" lIns="0" tIns="0" rIns="0" bIns="0" rtlCol="0" anchor="ctr"/>
          <a:lstStyle/>
          <a:p>
            <a:pPr algn="r" indent="0" marL="0">
              <a:buNone/>
            </a:pPr>
            <a:r>
              <a:rPr lang="en-US" sz="900" dirty="0">
                <a:solidFill>
                  <a:srgbClr val="8FA3BF"/>
                </a:solidFill>
                <a:latin typeface="Calibri" pitchFamily="34" charset="0"/>
                <a:ea typeface="Calibri" pitchFamily="34" charset="-122"/>
                <a:cs typeface="Calibri" pitchFamily="34" charset="-120"/>
              </a:rPr>
              <a:t>33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5998464" cy="64008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Sampling rate and throughput</a:t>
            </a:r>
            <a:endParaRPr lang="en-US" sz="2400" dirty="0"/>
          </a:p>
        </p:txBody>
      </p:sp>
      <p:sp>
        <p:nvSpPr>
          <p:cNvPr id="3" name="Text 1"/>
          <p:cNvSpPr txBox="1"/>
          <p:nvPr/>
        </p:nvSpPr>
        <p:spPr>
          <a:xfrm>
            <a:off x="457200" y="4796028"/>
            <a:ext cx="4572000" cy="228600"/>
          </a:xfrm>
          <a:prstGeom prst="rect">
            <a:avLst/>
          </a:prstGeom>
          <a:noFill/>
          <a:ln/>
        </p:spPr>
        <p:txBody>
          <a:bodyPr wrap="square" lIns="0" tIns="0" rIns="0" bIns="0" rtlCol="0" anchor="ctr"/>
          <a:lstStyle/>
          <a:p>
            <a:pPr indent="0" marL="0">
              <a:buNone/>
            </a:pPr>
            <a:r>
              <a:rPr lang="en-US" sz="900" dirty="0">
                <a:solidFill>
                  <a:srgbClr val="5B6B7F"/>
                </a:solidFill>
                <a:latin typeface="Calibri" pitchFamily="34" charset="0"/>
                <a:ea typeface="Calibri" pitchFamily="34" charset="-122"/>
                <a:cs typeface="Calibri" pitchFamily="34" charset="-120"/>
              </a:rPr>
              <a:t>Part 4 · Speed and timing</a:t>
            </a:r>
            <a:endParaRPr lang="en-US" sz="900" dirty="0"/>
          </a:p>
        </p:txBody>
      </p:sp>
      <p:sp>
        <p:nvSpPr>
          <p:cNvPr id="4" name="Text 2"/>
          <p:cNvSpPr txBox="1"/>
          <p:nvPr/>
        </p:nvSpPr>
        <p:spPr>
          <a:xfrm>
            <a:off x="7772400" y="4796028"/>
            <a:ext cx="914400" cy="228600"/>
          </a:xfrm>
          <a:prstGeom prst="rect">
            <a:avLst/>
          </a:prstGeom>
          <a:noFill/>
          <a:ln/>
        </p:spPr>
        <p:txBody>
          <a:bodyPr wrap="square" lIns="0" tIns="0" rIns="0" bIns="0" rtlCol="0" anchor="ctr"/>
          <a:lstStyle/>
          <a:p>
            <a:pPr algn="r" indent="0" marL="0">
              <a:buNone/>
            </a:pPr>
            <a:r>
              <a:rPr lang="en-US" sz="900" dirty="0">
                <a:solidFill>
                  <a:srgbClr val="5B6B7F"/>
                </a:solidFill>
                <a:latin typeface="Calibri" pitchFamily="34" charset="0"/>
                <a:ea typeface="Calibri" pitchFamily="34" charset="-122"/>
                <a:cs typeface="Calibri" pitchFamily="34" charset="-120"/>
              </a:rPr>
              <a:t>34</a:t>
            </a:r>
            <a:endParaRPr lang="en-US" sz="900" dirty="0"/>
          </a:p>
        </p:txBody>
      </p:sp>
      <p:sp>
        <p:nvSpPr>
          <p:cNvPr id="5" name="Shape 3"/>
          <p:cNvSpPr/>
          <p:nvPr/>
        </p:nvSpPr>
        <p:spPr>
          <a:xfrm>
            <a:off x="6684264" y="384048"/>
            <a:ext cx="2002536" cy="384048"/>
          </a:xfrm>
          <a:prstGeom prst="roundRect">
            <a:avLst>
              <a:gd name="adj" fmla="val 19048"/>
            </a:avLst>
          </a:prstGeom>
          <a:solidFill>
            <a:srgbClr val="EEF3F8"/>
          </a:solidFill>
          <a:ln w="12700">
            <a:solidFill>
              <a:srgbClr val="EEF3F8"/>
            </a:solidFill>
            <a:prstDash val="solid"/>
          </a:ln>
        </p:spPr>
      </p:sp>
      <p:sp>
        <p:nvSpPr>
          <p:cNvPr id="6" name="Text 4"/>
          <p:cNvSpPr txBox="1"/>
          <p:nvPr/>
        </p:nvSpPr>
        <p:spPr>
          <a:xfrm>
            <a:off x="6684264" y="384048"/>
            <a:ext cx="2002536" cy="384048"/>
          </a:xfrm>
          <a:prstGeom prst="rect">
            <a:avLst/>
          </a:prstGeom>
          <a:noFill/>
          <a:ln/>
        </p:spPr>
        <p:txBody>
          <a:bodyPr wrap="square" lIns="0" tIns="0" rIns="0" bIns="0" rtlCol="0" anchor="ctr"/>
          <a:lstStyle/>
          <a:p>
            <a:pPr algn="ctr" indent="0" marL="0">
              <a:buNone/>
            </a:pPr>
            <a:r>
              <a:rPr lang="en-US" sz="1200" b="1" dirty="0">
                <a:solidFill>
                  <a:srgbClr val="0B1F3A"/>
                </a:solidFill>
                <a:latin typeface="Cambria" pitchFamily="34" charset="0"/>
                <a:ea typeface="Cambria" pitchFamily="34" charset="-122"/>
                <a:cs typeface="Cambria" pitchFamily="34" charset="-120"/>
              </a:rPr>
              <a:t>f_s   ·   SPS</a:t>
            </a:r>
            <a:endParaRPr lang="en-US" sz="1200" dirty="0"/>
          </a:p>
        </p:txBody>
      </p:sp>
      <p:sp>
        <p:nvSpPr>
          <p:cNvPr id="7" name="Text 5"/>
          <p:cNvSpPr txBox="1"/>
          <p:nvPr/>
        </p:nvSpPr>
        <p:spPr>
          <a:xfrm>
            <a:off x="457200" y="1042416"/>
            <a:ext cx="4023360" cy="1005840"/>
          </a:xfrm>
          <a:prstGeom prst="rect">
            <a:avLst/>
          </a:prstGeom>
          <a:noFill/>
          <a:ln/>
        </p:spPr>
        <p:txBody>
          <a:bodyPr wrap="square" lIns="0" tIns="0" rIns="0" bIns="0" rtlCol="0" anchor="t"/>
          <a:lstStyle/>
          <a:p>
            <a:pPr indent="0" marL="0">
              <a:buNone/>
            </a:pPr>
            <a:r>
              <a:rPr lang="en-US" sz="1150" dirty="0">
                <a:solidFill>
                  <a:srgbClr val="14213D"/>
                </a:solidFill>
                <a:latin typeface="Calibri" pitchFamily="34" charset="0"/>
                <a:ea typeface="Calibri" pitchFamily="34" charset="-122"/>
                <a:cs typeface="Calibri" pitchFamily="34" charset="-120"/>
              </a:rPr>
              <a:t>How many complete conversions the ADC delivers per second. Nyquist sets the floor: you must sample faster than twice the highest frequency present, or fast signals come back disguised as slow ones and no processing can undo it.</a:t>
            </a:r>
            <a:endParaRPr lang="en-US" sz="1150" dirty="0"/>
          </a:p>
        </p:txBody>
      </p:sp>
      <p:sp>
        <p:nvSpPr>
          <p:cNvPr id="8" name="Shape 6"/>
          <p:cNvSpPr/>
          <p:nvPr/>
        </p:nvSpPr>
        <p:spPr>
          <a:xfrm>
            <a:off x="457200" y="2103120"/>
            <a:ext cx="4023360" cy="685800"/>
          </a:xfrm>
          <a:prstGeom prst="roundRect">
            <a:avLst>
              <a:gd name="adj" fmla="val 10667"/>
            </a:avLst>
          </a:prstGeom>
          <a:solidFill>
            <a:srgbClr val="EEF3F8"/>
          </a:solidFill>
          <a:ln w="12700">
            <a:solidFill>
              <a:srgbClr val="EEF3F8"/>
            </a:solidFill>
            <a:prstDash val="solid"/>
          </a:ln>
        </p:spPr>
      </p:sp>
      <p:sp>
        <p:nvSpPr>
          <p:cNvPr id="9" name="Text 7"/>
          <p:cNvSpPr txBox="1"/>
          <p:nvPr/>
        </p:nvSpPr>
        <p:spPr>
          <a:xfrm>
            <a:off x="594360" y="2103120"/>
            <a:ext cx="3749040" cy="429768"/>
          </a:xfrm>
          <a:prstGeom prst="rect">
            <a:avLst/>
          </a:prstGeom>
          <a:noFill/>
          <a:ln/>
        </p:spPr>
        <p:txBody>
          <a:bodyPr wrap="square" lIns="0" tIns="0" rIns="0" bIns="0" rtlCol="0" anchor="ctr"/>
          <a:lstStyle/>
          <a:p>
            <a:pPr algn="ctr" indent="0" marL="0">
              <a:buNone/>
            </a:pPr>
            <a:r>
              <a:rPr lang="en-US" sz="1500" dirty="0">
                <a:solidFill>
                  <a:srgbClr val="0B1F3A"/>
                </a:solidFill>
                <a:latin typeface="Cambria" pitchFamily="34" charset="0"/>
                <a:ea typeface="Cambria" pitchFamily="34" charset="-122"/>
                <a:cs typeface="Cambria" pitchFamily="34" charset="-120"/>
              </a:rPr>
              <a:t>f_s &gt; 2 × f_max</a:t>
            </a:r>
            <a:endParaRPr lang="en-US" sz="1500" dirty="0"/>
          </a:p>
        </p:txBody>
      </p:sp>
      <p:sp>
        <p:nvSpPr>
          <p:cNvPr id="10" name="Text 8"/>
          <p:cNvSpPr txBox="1"/>
          <p:nvPr/>
        </p:nvSpPr>
        <p:spPr>
          <a:xfrm>
            <a:off x="594360" y="2487168"/>
            <a:ext cx="3749040" cy="256032"/>
          </a:xfrm>
          <a:prstGeom prst="rect">
            <a:avLst/>
          </a:prstGeom>
          <a:noFill/>
          <a:ln/>
        </p:spPr>
        <p:txBody>
          <a:bodyPr wrap="square" lIns="0" tIns="0" rIns="0" bIns="0" rtlCol="0" anchor="t"/>
          <a:lstStyle/>
          <a:p>
            <a:pPr algn="ctr" indent="0" marL="0">
              <a:buNone/>
            </a:pPr>
            <a:r>
              <a:rPr lang="en-US" sz="1000" dirty="0">
                <a:solidFill>
                  <a:srgbClr val="5B6B7F"/>
                </a:solidFill>
                <a:latin typeface="Calibri" pitchFamily="34" charset="0"/>
                <a:ea typeface="Calibri" pitchFamily="34" charset="-122"/>
                <a:cs typeface="Calibri" pitchFamily="34" charset="-120"/>
              </a:rPr>
              <a:t>Nyquist. In practice 2.2 to 2.5×, to leave the anti-alias filter room</a:t>
            </a:r>
            <a:endParaRPr lang="en-US" sz="1000" dirty="0"/>
          </a:p>
        </p:txBody>
      </p:sp>
      <p:sp>
        <p:nvSpPr>
          <p:cNvPr id="11" name="Shape 9"/>
          <p:cNvSpPr/>
          <p:nvPr/>
        </p:nvSpPr>
        <p:spPr>
          <a:xfrm>
            <a:off x="457200" y="2862072"/>
            <a:ext cx="4023360" cy="685800"/>
          </a:xfrm>
          <a:prstGeom prst="roundRect">
            <a:avLst>
              <a:gd name="adj" fmla="val 10667"/>
            </a:avLst>
          </a:prstGeom>
          <a:solidFill>
            <a:srgbClr val="EEF3F8"/>
          </a:solidFill>
          <a:ln w="12700">
            <a:solidFill>
              <a:srgbClr val="EEF3F8"/>
            </a:solidFill>
            <a:prstDash val="solid"/>
          </a:ln>
        </p:spPr>
      </p:sp>
      <p:sp>
        <p:nvSpPr>
          <p:cNvPr id="12" name="Text 10"/>
          <p:cNvSpPr txBox="1"/>
          <p:nvPr/>
        </p:nvSpPr>
        <p:spPr>
          <a:xfrm>
            <a:off x="594360" y="2862072"/>
            <a:ext cx="3749040" cy="429768"/>
          </a:xfrm>
          <a:prstGeom prst="rect">
            <a:avLst/>
          </a:prstGeom>
          <a:noFill/>
          <a:ln/>
        </p:spPr>
        <p:txBody>
          <a:bodyPr wrap="square" lIns="0" tIns="0" rIns="0" bIns="0" rtlCol="0" anchor="ctr"/>
          <a:lstStyle/>
          <a:p>
            <a:pPr algn="ctr" indent="0" marL="0">
              <a:buNone/>
            </a:pPr>
            <a:r>
              <a:rPr lang="en-US" sz="1500" dirty="0">
                <a:solidFill>
                  <a:srgbClr val="0B1F3A"/>
                </a:solidFill>
                <a:latin typeface="Cambria" pitchFamily="34" charset="0"/>
                <a:ea typeface="Cambria" pitchFamily="34" charset="-122"/>
                <a:cs typeface="Cambria" pitchFamily="34" charset="-120"/>
              </a:rPr>
              <a:t>f_alias = | f − k f_s |</a:t>
            </a:r>
            <a:endParaRPr lang="en-US" sz="1500" dirty="0"/>
          </a:p>
        </p:txBody>
      </p:sp>
      <p:sp>
        <p:nvSpPr>
          <p:cNvPr id="13" name="Text 11"/>
          <p:cNvSpPr txBox="1"/>
          <p:nvPr/>
        </p:nvSpPr>
        <p:spPr>
          <a:xfrm>
            <a:off x="594360" y="3246120"/>
            <a:ext cx="3749040" cy="256032"/>
          </a:xfrm>
          <a:prstGeom prst="rect">
            <a:avLst/>
          </a:prstGeom>
          <a:noFill/>
          <a:ln/>
        </p:spPr>
        <p:txBody>
          <a:bodyPr wrap="square" lIns="0" tIns="0" rIns="0" bIns="0" rtlCol="0" anchor="t"/>
          <a:lstStyle/>
          <a:p>
            <a:pPr algn="ctr" indent="0" marL="0">
              <a:buNone/>
            </a:pPr>
            <a:r>
              <a:rPr lang="en-US" sz="1000" dirty="0">
                <a:solidFill>
                  <a:srgbClr val="5B6B7F"/>
                </a:solidFill>
                <a:latin typeface="Calibri" pitchFamily="34" charset="0"/>
                <a:ea typeface="Calibri" pitchFamily="34" charset="-122"/>
                <a:cs typeface="Calibri" pitchFamily="34" charset="-120"/>
              </a:rPr>
              <a:t>Where a too-fast tone reappears</a:t>
            </a:r>
            <a:endParaRPr lang="en-US" sz="1000" dirty="0"/>
          </a:p>
        </p:txBody>
      </p:sp>
      <p:graphicFrame>
        <p:nvGraphicFramePr>
          <p:cNvPr id="14" name="Chart 0" descr=""/>
          <p:cNvGraphicFramePr/>
          <p:nvPr/>
        </p:nvGraphicFramePr>
        <p:xfrm>
          <a:off x="4663440" y="1042416"/>
          <a:ext cx="4023360" cy="2084832"/>
        </p:xfrm>
        <a:graphic xmlns:a="http://schemas.openxmlformats.org/drawingml/2006/main">
          <a:graphicData uri="http://schemas.openxmlformats.org/drawingml/2006/chart">
            <c:chart xmlns:c="http://schemas.openxmlformats.org/drawingml/2006/chart" r:id="rId1"/>
          </a:graphicData>
        </a:graphic>
      </p:graphicFrame>
      <p:sp>
        <p:nvSpPr>
          <p:cNvPr id="15" name="Text 12"/>
          <p:cNvSpPr txBox="1"/>
          <p:nvPr/>
        </p:nvSpPr>
        <p:spPr>
          <a:xfrm>
            <a:off x="4663440" y="3200400"/>
            <a:ext cx="4023360" cy="347472"/>
          </a:xfrm>
          <a:prstGeom prst="rect">
            <a:avLst/>
          </a:prstGeom>
          <a:noFill/>
          <a:ln/>
        </p:spPr>
        <p:txBody>
          <a:bodyPr wrap="square" lIns="0" tIns="0" rIns="0" bIns="0" rtlCol="0" anchor="ctr"/>
          <a:lstStyle/>
          <a:p>
            <a:pPr algn="ctr" indent="0" marL="0">
              <a:buNone/>
            </a:pPr>
            <a:r>
              <a:rPr lang="en-US" sz="1000" i="1" dirty="0">
                <a:solidFill>
                  <a:srgbClr val="5B6B7F"/>
                </a:solidFill>
                <a:latin typeface="Calibri" pitchFamily="34" charset="0"/>
                <a:ea typeface="Calibri" pitchFamily="34" charset="-122"/>
                <a:cs typeface="Calibri" pitchFamily="34" charset="-120"/>
              </a:rPr>
              <a:t>Multiplexed converters share one core between channels, so the per-channel rate is the throughput divided by the channel count. Check which number the…</a:t>
            </a:r>
            <a:endParaRPr lang="en-US" sz="1000" dirty="0"/>
          </a:p>
        </p:txBody>
      </p:sp>
      <p:sp>
        <p:nvSpPr>
          <p:cNvPr id="16" name="Shape 13"/>
          <p:cNvSpPr/>
          <p:nvPr/>
        </p:nvSpPr>
        <p:spPr>
          <a:xfrm>
            <a:off x="457200" y="3675888"/>
            <a:ext cx="4023360" cy="1024128"/>
          </a:xfrm>
          <a:prstGeom prst="roundRect">
            <a:avLst>
              <a:gd name="adj" fmla="val 7143"/>
            </a:avLst>
          </a:prstGeom>
          <a:solidFill>
            <a:srgbClr val="E4F7F4"/>
          </a:solidFill>
          <a:ln w="12700">
            <a:solidFill>
              <a:srgbClr val="E4F7F4"/>
            </a:solidFill>
            <a:prstDash val="solid"/>
          </a:ln>
        </p:spPr>
      </p:sp>
      <p:sp>
        <p:nvSpPr>
          <p:cNvPr id="17" name="Shape 14"/>
          <p:cNvSpPr/>
          <p:nvPr/>
        </p:nvSpPr>
        <p:spPr>
          <a:xfrm>
            <a:off x="566928" y="3776472"/>
            <a:ext cx="237744" cy="237744"/>
          </a:xfrm>
          <a:prstGeom prst="ellipse">
            <a:avLst/>
          </a:prstGeom>
          <a:solidFill>
            <a:srgbClr val="2EC4B6"/>
          </a:solidFill>
          <a:ln w="12700">
            <a:solidFill>
              <a:srgbClr val="2EC4B6"/>
            </a:solidFill>
            <a:prstDash val="solid"/>
          </a:ln>
        </p:spPr>
      </p:sp>
      <p:sp>
        <p:nvSpPr>
          <p:cNvPr id="18" name="Text 15"/>
          <p:cNvSpPr txBox="1"/>
          <p:nvPr/>
        </p:nvSpPr>
        <p:spPr>
          <a:xfrm>
            <a:off x="566928" y="3776472"/>
            <a:ext cx="237744" cy="237744"/>
          </a:xfrm>
          <a:prstGeom prst="rect">
            <a:avLst/>
          </a:prstGeom>
          <a:noFill/>
          <a:ln/>
        </p:spPr>
        <p:txBody>
          <a:bodyPr wrap="square" lIns="0" tIns="0" rIns="0" bIns="0" rtlCol="0" anchor="ctr"/>
          <a:lstStyle/>
          <a:p>
            <a:pPr algn="ctr" indent="0" marL="0">
              <a:buNone/>
            </a:pPr>
            <a:r>
              <a:rPr lang="en-US" sz="1200" b="1" dirty="0">
                <a:solidFill>
                  <a:srgbClr val="0B1F3A"/>
                </a:solidFill>
                <a:latin typeface="Calibri" pitchFamily="34" charset="0"/>
                <a:ea typeface="Calibri" pitchFamily="34" charset="-122"/>
                <a:cs typeface="Calibri" pitchFamily="34" charset="-120"/>
              </a:rPr>
              <a:t>≈</a:t>
            </a:r>
            <a:endParaRPr lang="en-US" sz="1200" dirty="0"/>
          </a:p>
        </p:txBody>
      </p:sp>
      <p:sp>
        <p:nvSpPr>
          <p:cNvPr id="19" name="Text 16"/>
          <p:cNvSpPr txBox="1"/>
          <p:nvPr/>
        </p:nvSpPr>
        <p:spPr>
          <a:xfrm>
            <a:off x="877824" y="3739896"/>
            <a:ext cx="3493008" cy="896112"/>
          </a:xfrm>
          <a:prstGeom prst="rect">
            <a:avLst/>
          </a:prstGeom>
          <a:noFill/>
          <a:ln/>
        </p:spPr>
        <p:txBody>
          <a:bodyPr wrap="square" lIns="0" tIns="0" rIns="0" bIns="0" rtlCol="0" anchor="t"/>
          <a:lstStyle/>
          <a:p>
            <a:pPr indent="0" marL="0">
              <a:buNone/>
            </a:pPr>
            <a:r>
              <a:rPr lang="en-US" sz="1050" b="1" dirty="0">
                <a:solidFill>
                  <a:srgbClr val="0B1F3A"/>
                </a:solidFill>
                <a:latin typeface="Calibri" pitchFamily="34" charset="0"/>
                <a:ea typeface="Calibri" pitchFamily="34" charset="-122"/>
                <a:cs typeface="Calibri" pitchFamily="34" charset="-120"/>
              </a:rPr>
              <a:t>Think of it like this  </a:t>
            </a:r>
            <a:pPr indent="0" marL="0">
              <a:buNone/>
            </a:pPr>
            <a:r>
              <a:rPr lang="en-US" sz="1050" dirty="0">
                <a:solidFill>
                  <a:srgbClr val="14213D"/>
                </a:solidFill>
                <a:latin typeface="Calibri" pitchFamily="34" charset="0"/>
                <a:ea typeface="Calibri" pitchFamily="34" charset="-122"/>
                <a:cs typeface="Calibri" pitchFamily="34" charset="-120"/>
              </a:rPr>
              <a:t>A film camera at 24 frames a second. Spokes on a wheel spinning faster than that appear to turn backwards, and the footage cannot be repaired afterwards.</a:t>
            </a:r>
            <a:endParaRPr lang="en-US" sz="1050" dirty="0"/>
          </a:p>
        </p:txBody>
      </p:sp>
      <p:sp>
        <p:nvSpPr>
          <p:cNvPr id="20" name="Shape 17"/>
          <p:cNvSpPr/>
          <p:nvPr/>
        </p:nvSpPr>
        <p:spPr>
          <a:xfrm>
            <a:off x="4663440" y="3675888"/>
            <a:ext cx="4023360" cy="1024128"/>
          </a:xfrm>
          <a:prstGeom prst="roundRect">
            <a:avLst>
              <a:gd name="adj" fmla="val 7143"/>
            </a:avLst>
          </a:prstGeom>
          <a:solidFill>
            <a:srgbClr val="FFFFFF"/>
          </a:solidFill>
          <a:ln w="12700">
            <a:solidFill>
              <a:srgbClr val="0B1F3A"/>
            </a:solidFill>
            <a:prstDash val="solid"/>
          </a:ln>
        </p:spPr>
      </p:sp>
      <p:sp>
        <p:nvSpPr>
          <p:cNvPr id="21" name="Shape 18"/>
          <p:cNvSpPr/>
          <p:nvPr/>
        </p:nvSpPr>
        <p:spPr>
          <a:xfrm>
            <a:off x="4773168" y="3566160"/>
            <a:ext cx="914400" cy="219456"/>
          </a:xfrm>
          <a:prstGeom prst="roundRect">
            <a:avLst>
              <a:gd name="adj" fmla="val 25000"/>
            </a:avLst>
          </a:prstGeom>
          <a:solidFill>
            <a:srgbClr val="0B1F3A"/>
          </a:solidFill>
          <a:ln w="12700">
            <a:solidFill>
              <a:srgbClr val="0B1F3A"/>
            </a:solidFill>
            <a:prstDash val="solid"/>
          </a:ln>
        </p:spPr>
      </p:sp>
      <p:sp>
        <p:nvSpPr>
          <p:cNvPr id="22" name="Text 19"/>
          <p:cNvSpPr txBox="1"/>
          <p:nvPr/>
        </p:nvSpPr>
        <p:spPr>
          <a:xfrm>
            <a:off x="4773168" y="3566160"/>
            <a:ext cx="914400" cy="219456"/>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EXAMPLE</a:t>
            </a:r>
            <a:endParaRPr lang="en-US" sz="850" dirty="0"/>
          </a:p>
        </p:txBody>
      </p:sp>
      <p:sp>
        <p:nvSpPr>
          <p:cNvPr id="23" name="Text 20"/>
          <p:cNvSpPr txBox="1"/>
          <p:nvPr/>
        </p:nvSpPr>
        <p:spPr>
          <a:xfrm>
            <a:off x="4791456" y="3813048"/>
            <a:ext cx="3803904" cy="841248"/>
          </a:xfrm>
          <a:prstGeom prst="rect">
            <a:avLst/>
          </a:prstGeom>
          <a:noFill/>
          <a:ln/>
        </p:spPr>
        <p:txBody>
          <a:bodyPr wrap="square" lIns="0" tIns="0" rIns="0" bIns="0" rtlCol="0" anchor="t"/>
          <a:lstStyle/>
          <a:p>
            <a:pPr indent="0" marL="0">
              <a:spcAft>
                <a:spcPts val="100"/>
              </a:spcAft>
              <a:buNone/>
            </a:pPr>
            <a:r>
              <a:rPr lang="en-US" sz="900" b="1" dirty="0">
                <a:solidFill>
                  <a:srgbClr val="0B1F3A"/>
                </a:solidFill>
                <a:latin typeface="Calibri" pitchFamily="34" charset="0"/>
                <a:ea typeface="Calibri" pitchFamily="34" charset="-122"/>
                <a:cs typeface="Calibri" pitchFamily="34" charset="-120"/>
              </a:rPr>
              <a:t>A 60 MHz tone at 100 MSPS</a:t>
            </a:r>
            <a:endParaRPr lang="en-US" sz="900" dirty="0"/>
          </a:p>
          <a:p>
            <a:pPr marL="114300" indent="-114300">
              <a:spcAft>
                <a:spcPts val="100"/>
              </a:spcAft>
              <a:buSzPct val="100000"/>
              <a:buChar char="•"/>
            </a:pPr>
            <a:r>
              <a:rPr lang="en-US" sz="900" dirty="0">
                <a:solidFill>
                  <a:srgbClr val="14213D"/>
                </a:solidFill>
                <a:latin typeface="Cambria" pitchFamily="34" charset="0"/>
                <a:ea typeface="Cambria" pitchFamily="34" charset="-122"/>
                <a:cs typeface="Cambria" pitchFamily="34" charset="-120"/>
              </a:rPr>
              <a:t>Nyquist limit: 50 MHz</a:t>
            </a:r>
            <a:endParaRPr lang="en-US" sz="900" dirty="0"/>
          </a:p>
          <a:p>
            <a:pPr marL="114300" indent="-114300">
              <a:spcAft>
                <a:spcPts val="100"/>
              </a:spcAft>
              <a:buSzPct val="100000"/>
              <a:buChar char="•"/>
            </a:pPr>
            <a:r>
              <a:rPr lang="en-US" sz="900" dirty="0">
                <a:solidFill>
                  <a:srgbClr val="14213D"/>
                </a:solidFill>
                <a:latin typeface="Cambria" pitchFamily="34" charset="0"/>
                <a:ea typeface="Cambria" pitchFamily="34" charset="-122"/>
                <a:cs typeface="Cambria" pitchFamily="34" charset="-120"/>
              </a:rPr>
              <a:t>The tone appears at |60 − 100| = 40 MHz</a:t>
            </a:r>
            <a:endParaRPr lang="en-US" sz="900" dirty="0"/>
          </a:p>
          <a:p>
            <a:pPr marL="114300" indent="-114300">
              <a:spcAft>
                <a:spcPts val="100"/>
              </a:spcAft>
              <a:buSzPct val="100000"/>
              <a:buChar char="•"/>
            </a:pPr>
            <a:r>
              <a:rPr lang="en-US" sz="900" dirty="0">
                <a:solidFill>
                  <a:srgbClr val="14213D"/>
                </a:solidFill>
                <a:latin typeface="Cambria" pitchFamily="34" charset="0"/>
                <a:ea typeface="Cambria" pitchFamily="34" charset="-122"/>
                <a:cs typeface="Cambria" pitchFamily="34" charset="-120"/>
              </a:rPr>
              <a:t>It looks exactly like a genuine 40 MHz signal — nothing marks it as fake</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4709160" cy="640080"/>
          </a:xfrm>
          <a:prstGeom prst="rect">
            <a:avLst/>
          </a:prstGeom>
          <a:noFill/>
          <a:ln/>
        </p:spPr>
        <p:txBody>
          <a:bodyPr wrap="square" lIns="0" tIns="0" rIns="0" bIns="0" rtlCol="0" anchor="ctr"/>
          <a:lstStyle/>
          <a:p>
            <a:pPr indent="0" marL="0">
              <a:buNone/>
            </a:pPr>
            <a:r>
              <a:rPr lang="en-US" sz="1800" b="1" dirty="0">
                <a:solidFill>
                  <a:srgbClr val="0B1F3A"/>
                </a:solidFill>
                <a:latin typeface="Cambria" pitchFamily="34" charset="0"/>
                <a:ea typeface="Cambria" pitchFamily="34" charset="-122"/>
                <a:cs typeface="Cambria" pitchFamily="34" charset="-120"/>
              </a:rPr>
              <a:t>Conversion time and latency</a:t>
            </a:r>
            <a:endParaRPr lang="en-US" sz="1800" dirty="0"/>
          </a:p>
        </p:txBody>
      </p:sp>
      <p:sp>
        <p:nvSpPr>
          <p:cNvPr id="3" name="Text 1"/>
          <p:cNvSpPr txBox="1"/>
          <p:nvPr/>
        </p:nvSpPr>
        <p:spPr>
          <a:xfrm>
            <a:off x="457200" y="4796028"/>
            <a:ext cx="4572000" cy="228600"/>
          </a:xfrm>
          <a:prstGeom prst="rect">
            <a:avLst/>
          </a:prstGeom>
          <a:noFill/>
          <a:ln/>
        </p:spPr>
        <p:txBody>
          <a:bodyPr wrap="square" lIns="0" tIns="0" rIns="0" bIns="0" rtlCol="0" anchor="ctr"/>
          <a:lstStyle/>
          <a:p>
            <a:pPr indent="0" marL="0">
              <a:buNone/>
            </a:pPr>
            <a:r>
              <a:rPr lang="en-US" sz="900" dirty="0">
                <a:solidFill>
                  <a:srgbClr val="5B6B7F"/>
                </a:solidFill>
                <a:latin typeface="Calibri" pitchFamily="34" charset="0"/>
                <a:ea typeface="Calibri" pitchFamily="34" charset="-122"/>
                <a:cs typeface="Calibri" pitchFamily="34" charset="-120"/>
              </a:rPr>
              <a:t>Part 4 · Speed and timing</a:t>
            </a:r>
            <a:endParaRPr lang="en-US" sz="900" dirty="0"/>
          </a:p>
        </p:txBody>
      </p:sp>
      <p:sp>
        <p:nvSpPr>
          <p:cNvPr id="4" name="Text 2"/>
          <p:cNvSpPr txBox="1"/>
          <p:nvPr/>
        </p:nvSpPr>
        <p:spPr>
          <a:xfrm>
            <a:off x="7772400" y="4796028"/>
            <a:ext cx="914400" cy="228600"/>
          </a:xfrm>
          <a:prstGeom prst="rect">
            <a:avLst/>
          </a:prstGeom>
          <a:noFill/>
          <a:ln/>
        </p:spPr>
        <p:txBody>
          <a:bodyPr wrap="square" lIns="0" tIns="0" rIns="0" bIns="0" rtlCol="0" anchor="ctr"/>
          <a:lstStyle/>
          <a:p>
            <a:pPr algn="r" indent="0" marL="0">
              <a:buNone/>
            </a:pPr>
            <a:r>
              <a:rPr lang="en-US" sz="900" dirty="0">
                <a:solidFill>
                  <a:srgbClr val="5B6B7F"/>
                </a:solidFill>
                <a:latin typeface="Calibri" pitchFamily="34" charset="0"/>
                <a:ea typeface="Calibri" pitchFamily="34" charset="-122"/>
                <a:cs typeface="Calibri" pitchFamily="34" charset="-120"/>
              </a:rPr>
              <a:t>35</a:t>
            </a:r>
            <a:endParaRPr lang="en-US" sz="900" dirty="0"/>
          </a:p>
        </p:txBody>
      </p:sp>
      <p:sp>
        <p:nvSpPr>
          <p:cNvPr id="5" name="Shape 3"/>
          <p:cNvSpPr/>
          <p:nvPr/>
        </p:nvSpPr>
        <p:spPr>
          <a:xfrm>
            <a:off x="5394960" y="384048"/>
            <a:ext cx="3291840" cy="384048"/>
          </a:xfrm>
          <a:prstGeom prst="roundRect">
            <a:avLst>
              <a:gd name="adj" fmla="val 19048"/>
            </a:avLst>
          </a:prstGeom>
          <a:solidFill>
            <a:srgbClr val="EEF3F8"/>
          </a:solidFill>
          <a:ln w="12700">
            <a:solidFill>
              <a:srgbClr val="EEF3F8"/>
            </a:solidFill>
            <a:prstDash val="solid"/>
          </a:ln>
        </p:spPr>
      </p:sp>
      <p:sp>
        <p:nvSpPr>
          <p:cNvPr id="6" name="Text 4"/>
          <p:cNvSpPr txBox="1"/>
          <p:nvPr/>
        </p:nvSpPr>
        <p:spPr>
          <a:xfrm>
            <a:off x="5394960" y="384048"/>
            <a:ext cx="3291840" cy="384048"/>
          </a:xfrm>
          <a:prstGeom prst="rect">
            <a:avLst/>
          </a:prstGeom>
          <a:noFill/>
          <a:ln/>
        </p:spPr>
        <p:txBody>
          <a:bodyPr wrap="square" lIns="0" tIns="0" rIns="0" bIns="0" rtlCol="0" anchor="ctr"/>
          <a:lstStyle/>
          <a:p>
            <a:pPr algn="ctr" indent="0" marL="0">
              <a:buNone/>
            </a:pPr>
            <a:r>
              <a:rPr lang="en-US" sz="1200" b="1" dirty="0">
                <a:solidFill>
                  <a:srgbClr val="0B1F3A"/>
                </a:solidFill>
                <a:latin typeface="Cambria" pitchFamily="34" charset="0"/>
                <a:ea typeface="Cambria" pitchFamily="34" charset="-122"/>
                <a:cs typeface="Cambria" pitchFamily="34" charset="-120"/>
              </a:rPr>
              <a:t>t_conv, latency   ·   s, cycles</a:t>
            </a:r>
            <a:endParaRPr lang="en-US" sz="1200" dirty="0"/>
          </a:p>
        </p:txBody>
      </p:sp>
      <p:sp>
        <p:nvSpPr>
          <p:cNvPr id="7" name="Text 5"/>
          <p:cNvSpPr txBox="1"/>
          <p:nvPr/>
        </p:nvSpPr>
        <p:spPr>
          <a:xfrm>
            <a:off x="457200" y="1042416"/>
            <a:ext cx="4023360" cy="1207008"/>
          </a:xfrm>
          <a:prstGeom prst="rect">
            <a:avLst/>
          </a:prstGeom>
          <a:noFill/>
          <a:ln/>
        </p:spPr>
        <p:txBody>
          <a:bodyPr wrap="square" lIns="0" tIns="0" rIns="0" bIns="0" rtlCol="0" anchor="t"/>
          <a:lstStyle/>
          <a:p>
            <a:pPr indent="0" marL="0">
              <a:buNone/>
            </a:pPr>
            <a:r>
              <a:rPr lang="en-US" sz="1150" dirty="0">
                <a:solidFill>
                  <a:srgbClr val="14213D"/>
                </a:solidFill>
                <a:latin typeface="Calibri" pitchFamily="34" charset="0"/>
                <a:ea typeface="Calibri" pitchFamily="34" charset="-122"/>
                <a:cs typeface="Calibri" pitchFamily="34" charset="-120"/>
              </a:rPr>
              <a:t>Two different things that are easy to confuse. Conversion time is how long one measurement takes. Latency is how long you wait before that particular sample appears at the output — in a pipeline converter, several samples are in flight at once.</a:t>
            </a:r>
            <a:endParaRPr lang="en-US" sz="1150" dirty="0"/>
          </a:p>
        </p:txBody>
      </p:sp>
      <p:sp>
        <p:nvSpPr>
          <p:cNvPr id="8" name="Shape 6"/>
          <p:cNvSpPr/>
          <p:nvPr/>
        </p:nvSpPr>
        <p:spPr>
          <a:xfrm>
            <a:off x="457200" y="2304288"/>
            <a:ext cx="4023360" cy="868680"/>
          </a:xfrm>
          <a:prstGeom prst="roundRect">
            <a:avLst>
              <a:gd name="adj" fmla="val 8421"/>
            </a:avLst>
          </a:prstGeom>
          <a:solidFill>
            <a:srgbClr val="EEF3F8"/>
          </a:solidFill>
          <a:ln w="12700">
            <a:solidFill>
              <a:srgbClr val="EEF3F8"/>
            </a:solidFill>
            <a:prstDash val="solid"/>
          </a:ln>
        </p:spPr>
      </p:sp>
      <p:sp>
        <p:nvSpPr>
          <p:cNvPr id="9" name="Text 7"/>
          <p:cNvSpPr txBox="1"/>
          <p:nvPr/>
        </p:nvSpPr>
        <p:spPr>
          <a:xfrm>
            <a:off x="594360" y="2304288"/>
            <a:ext cx="3749040" cy="612648"/>
          </a:xfrm>
          <a:prstGeom prst="rect">
            <a:avLst/>
          </a:prstGeom>
          <a:noFill/>
          <a:ln/>
        </p:spPr>
        <p:txBody>
          <a:bodyPr wrap="square" lIns="0" tIns="0" rIns="0" bIns="0" rtlCol="0" anchor="ctr"/>
          <a:lstStyle/>
          <a:p>
            <a:pPr algn="ctr" indent="0" marL="0">
              <a:buNone/>
            </a:pPr>
            <a:r>
              <a:rPr lang="en-US" sz="1000" dirty="0">
                <a:solidFill>
                  <a:srgbClr val="0B1F3A"/>
                </a:solidFill>
                <a:latin typeface="Cambria" pitchFamily="34" charset="0"/>
                <a:ea typeface="Cambria" pitchFamily="34" charset="-122"/>
                <a:cs typeface="Cambria" pitchFamily="34" charset="-120"/>
              </a:rPr>
              <a:t>throughput = 1 / t_conv, but latency may be many cycles</a:t>
            </a:r>
            <a:endParaRPr lang="en-US" sz="1000" dirty="0"/>
          </a:p>
        </p:txBody>
      </p:sp>
      <p:sp>
        <p:nvSpPr>
          <p:cNvPr id="10" name="Text 8"/>
          <p:cNvSpPr txBox="1"/>
          <p:nvPr/>
        </p:nvSpPr>
        <p:spPr>
          <a:xfrm>
            <a:off x="594360" y="2871216"/>
            <a:ext cx="3749040" cy="256032"/>
          </a:xfrm>
          <a:prstGeom prst="rect">
            <a:avLst/>
          </a:prstGeom>
          <a:noFill/>
          <a:ln/>
        </p:spPr>
        <p:txBody>
          <a:bodyPr wrap="square" lIns="0" tIns="0" rIns="0" bIns="0" rtlCol="0" anchor="t"/>
          <a:lstStyle/>
          <a:p>
            <a:pPr algn="ctr" indent="0" marL="0">
              <a:buNone/>
            </a:pPr>
            <a:r>
              <a:rPr lang="en-US" sz="1000" dirty="0">
                <a:solidFill>
                  <a:srgbClr val="5B6B7F"/>
                </a:solidFill>
                <a:latin typeface="Calibri" pitchFamily="34" charset="0"/>
                <a:ea typeface="Calibri" pitchFamily="34" charset="-122"/>
                <a:cs typeface="Calibri" pitchFamily="34" charset="-120"/>
              </a:rPr>
              <a:t>A pipeline delivers a sample every cycle, each one several cycles old</a:t>
            </a:r>
            <a:endParaRPr lang="en-US" sz="10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4663440" y="1042416"/>
          <a:ext cx="4023360" cy="914400"/>
        </p:xfrm>
        <a:graphic>
          <a:graphicData uri="http://schemas.openxmlformats.org/drawingml/2006/table">
            <a:tbl>
              <a:tblPr/>
              <a:tblGrid>
                <a:gridCol w="1371600"/>
                <a:gridCol w="1371600"/>
                <a:gridCol w="1280160"/>
              </a:tblGrid>
              <a:tr h="329184">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Architecture</a:t>
                      </a:r>
                      <a:endParaRPr lang="en-US" sz="105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0B1F3A"/>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Result rate</a:t>
                      </a:r>
                      <a:endParaRPr lang="en-US" sz="105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0B1F3A"/>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Latency</a:t>
                      </a:r>
                      <a:endParaRPr lang="en-US" sz="105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0B1F3A"/>
                    </a:solidFill>
                  </a:tcPr>
                </a:tc>
              </a:tr>
              <a:tr h="329184">
                <a:tc>
                  <a:txBody>
                    <a:bodyPr/>
                    <a:lstStyle/>
                    <a:p>
                      <a:pPr indent="0" marL="0">
                        <a:buNone/>
                      </a:pPr>
                      <a:r>
                        <a:rPr lang="en-US" sz="1050" dirty="0">
                          <a:solidFill>
                            <a:srgbClr val="14213D"/>
                          </a:solidFill>
                          <a:latin typeface="Calibri" pitchFamily="34" charset="0"/>
                          <a:ea typeface="Calibri" pitchFamily="34" charset="-122"/>
                          <a:cs typeface="Calibri" pitchFamily="34" charset="-120"/>
                        </a:rPr>
                        <a:t>SAR</a:t>
                      </a:r>
                      <a:endParaRPr lang="en-US" sz="105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EEF3F8"/>
                    </a:solidFill>
                  </a:tcPr>
                </a:tc>
                <a:tc>
                  <a:txBody>
                    <a:bodyPr/>
                    <a:lstStyle/>
                    <a:p>
                      <a:pPr indent="0" marL="0">
                        <a:buNone/>
                      </a:pPr>
                      <a:r>
                        <a:rPr lang="en-US" sz="1050" dirty="0">
                          <a:solidFill>
                            <a:srgbClr val="14213D"/>
                          </a:solidFill>
                          <a:latin typeface="Calibri" pitchFamily="34" charset="0"/>
                          <a:ea typeface="Calibri" pitchFamily="34" charset="-122"/>
                          <a:cs typeface="Calibri" pitchFamily="34" charset="-120"/>
                        </a:rPr>
                        <a:t>one per N clocks</a:t>
                      </a:r>
                      <a:endParaRPr lang="en-US" sz="105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EEF3F8"/>
                    </a:solidFill>
                  </a:tcPr>
                </a:tc>
                <a:tc>
                  <a:txBody>
                    <a:bodyPr/>
                    <a:lstStyle/>
                    <a:p>
                      <a:pPr indent="0" marL="0">
                        <a:buNone/>
                      </a:pPr>
                      <a:r>
                        <a:rPr lang="en-US" sz="1050" dirty="0">
                          <a:solidFill>
                            <a:srgbClr val="14213D"/>
                          </a:solidFill>
                          <a:latin typeface="Calibri" pitchFamily="34" charset="0"/>
                          <a:ea typeface="Calibri" pitchFamily="34" charset="-122"/>
                          <a:cs typeface="Calibri" pitchFamily="34" charset="-120"/>
                        </a:rPr>
                        <a:t>none</a:t>
                      </a:r>
                      <a:endParaRPr lang="en-US" sz="105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EEF3F8"/>
                    </a:solidFill>
                  </a:tcPr>
                </a:tc>
              </a:tr>
              <a:tr h="329184">
                <a:tc>
                  <a:txBody>
                    <a:bodyPr/>
                    <a:lstStyle/>
                    <a:p>
                      <a:pPr indent="0" marL="0">
                        <a:buNone/>
                      </a:pPr>
                      <a:r>
                        <a:rPr lang="en-US" sz="1050" dirty="0">
                          <a:solidFill>
                            <a:srgbClr val="14213D"/>
                          </a:solidFill>
                          <a:latin typeface="Calibri" pitchFamily="34" charset="0"/>
                          <a:ea typeface="Calibri" pitchFamily="34" charset="-122"/>
                          <a:cs typeface="Calibri" pitchFamily="34" charset="-120"/>
                        </a:rPr>
                        <a:t>Pipeline</a:t>
                      </a:r>
                      <a:endParaRPr lang="en-US" sz="105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FFFFF"/>
                    </a:solidFill>
                  </a:tcPr>
                </a:tc>
                <a:tc>
                  <a:txBody>
                    <a:bodyPr/>
                    <a:lstStyle/>
                    <a:p>
                      <a:pPr indent="0" marL="0">
                        <a:buNone/>
                      </a:pPr>
                      <a:r>
                        <a:rPr lang="en-US" sz="1050" dirty="0">
                          <a:solidFill>
                            <a:srgbClr val="14213D"/>
                          </a:solidFill>
                          <a:latin typeface="Calibri" pitchFamily="34" charset="0"/>
                          <a:ea typeface="Calibri" pitchFamily="34" charset="-122"/>
                          <a:cs typeface="Calibri" pitchFamily="34" charset="-120"/>
                        </a:rPr>
                        <a:t>one per clock</a:t>
                      </a:r>
                      <a:endParaRPr lang="en-US" sz="105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FFFFF"/>
                    </a:solidFill>
                  </a:tcPr>
                </a:tc>
                <a:tc>
                  <a:txBody>
                    <a:bodyPr/>
                    <a:lstStyle/>
                    <a:p>
                      <a:pPr indent="0" marL="0">
                        <a:buNone/>
                      </a:pPr>
                      <a:r>
                        <a:rPr lang="en-US" sz="1050" dirty="0">
                          <a:solidFill>
                            <a:srgbClr val="14213D"/>
                          </a:solidFill>
                          <a:latin typeface="Calibri" pitchFamily="34" charset="0"/>
                          <a:ea typeface="Calibri" pitchFamily="34" charset="-122"/>
                          <a:cs typeface="Calibri" pitchFamily="34" charset="-120"/>
                        </a:rPr>
                        <a:t>8 – 16 clocks</a:t>
                      </a:r>
                      <a:endParaRPr lang="en-US" sz="105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FFFFF"/>
                    </a:solidFill>
                  </a:tcPr>
                </a:tc>
              </a:tr>
              <a:tr h="329184">
                <a:tc>
                  <a:txBody>
                    <a:bodyPr/>
                    <a:lstStyle/>
                    <a:p>
                      <a:pPr indent="0" marL="0">
                        <a:buNone/>
                      </a:pPr>
                      <a:r>
                        <a:rPr lang="en-US" sz="1050" dirty="0">
                          <a:solidFill>
                            <a:srgbClr val="14213D"/>
                          </a:solidFill>
                          <a:latin typeface="Calibri" pitchFamily="34" charset="0"/>
                          <a:ea typeface="Calibri" pitchFamily="34" charset="-122"/>
                          <a:cs typeface="Calibri" pitchFamily="34" charset="-120"/>
                        </a:rPr>
                        <a:t>Flash</a:t>
                      </a:r>
                      <a:endParaRPr lang="en-US" sz="105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EEF3F8"/>
                    </a:solidFill>
                  </a:tcPr>
                </a:tc>
                <a:tc>
                  <a:txBody>
                    <a:bodyPr/>
                    <a:lstStyle/>
                    <a:p>
                      <a:pPr indent="0" marL="0">
                        <a:buNone/>
                      </a:pPr>
                      <a:r>
                        <a:rPr lang="en-US" sz="1050" dirty="0">
                          <a:solidFill>
                            <a:srgbClr val="14213D"/>
                          </a:solidFill>
                          <a:latin typeface="Calibri" pitchFamily="34" charset="0"/>
                          <a:ea typeface="Calibri" pitchFamily="34" charset="-122"/>
                          <a:cs typeface="Calibri" pitchFamily="34" charset="-120"/>
                        </a:rPr>
                        <a:t>one per clock</a:t>
                      </a:r>
                      <a:endParaRPr lang="en-US" sz="105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EEF3F8"/>
                    </a:solidFill>
                  </a:tcPr>
                </a:tc>
                <a:tc>
                  <a:txBody>
                    <a:bodyPr/>
                    <a:lstStyle/>
                    <a:p>
                      <a:pPr indent="0" marL="0">
                        <a:buNone/>
                      </a:pPr>
                      <a:r>
                        <a:rPr lang="en-US" sz="1050" dirty="0">
                          <a:solidFill>
                            <a:srgbClr val="14213D"/>
                          </a:solidFill>
                          <a:latin typeface="Calibri" pitchFamily="34" charset="0"/>
                          <a:ea typeface="Calibri" pitchFamily="34" charset="-122"/>
                          <a:cs typeface="Calibri" pitchFamily="34" charset="-120"/>
                        </a:rPr>
                        <a:t>1 clock</a:t>
                      </a:r>
                      <a:endParaRPr lang="en-US" sz="105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EEF3F8"/>
                    </a:solidFill>
                  </a:tcPr>
                </a:tc>
              </a:tr>
              <a:tr h="329184">
                <a:tc>
                  <a:txBody>
                    <a:bodyPr/>
                    <a:lstStyle/>
                    <a:p>
                      <a:pPr indent="0" marL="0">
                        <a:buNone/>
                      </a:pPr>
                      <a:r>
                        <a:rPr lang="en-US" sz="1050" dirty="0">
                          <a:solidFill>
                            <a:srgbClr val="14213D"/>
                          </a:solidFill>
                          <a:latin typeface="Calibri" pitchFamily="34" charset="0"/>
                          <a:ea typeface="Calibri" pitchFamily="34" charset="-122"/>
                          <a:cs typeface="Calibri" pitchFamily="34" charset="-120"/>
                        </a:rPr>
                        <a:t>Delta-sigma</a:t>
                      </a:r>
                      <a:endParaRPr lang="en-US" sz="105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FFFFF"/>
                    </a:solidFill>
                  </a:tcPr>
                </a:tc>
                <a:tc>
                  <a:txBody>
                    <a:bodyPr/>
                    <a:lstStyle/>
                    <a:p>
                      <a:pPr indent="0" marL="0">
                        <a:buNone/>
                      </a:pPr>
                      <a:r>
                        <a:rPr lang="en-US" sz="1050" dirty="0">
                          <a:solidFill>
                            <a:srgbClr val="14213D"/>
                          </a:solidFill>
                          <a:latin typeface="Calibri" pitchFamily="34" charset="0"/>
                          <a:ea typeface="Calibri" pitchFamily="34" charset="-122"/>
                          <a:cs typeface="Calibri" pitchFamily="34" charset="-120"/>
                        </a:rPr>
                        <a:t>one per OSR clocks</a:t>
                      </a:r>
                      <a:endParaRPr lang="en-US" sz="105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FFFFF"/>
                    </a:solidFill>
                  </a:tcPr>
                </a:tc>
                <a:tc>
                  <a:txBody>
                    <a:bodyPr/>
                    <a:lstStyle/>
                    <a:p>
                      <a:pPr indent="0" marL="0">
                        <a:buNone/>
                      </a:pPr>
                      <a:r>
                        <a:rPr lang="en-US" sz="1050" dirty="0">
                          <a:solidFill>
                            <a:srgbClr val="14213D"/>
                          </a:solidFill>
                          <a:latin typeface="Calibri" pitchFamily="34" charset="0"/>
                          <a:ea typeface="Calibri" pitchFamily="34" charset="-122"/>
                          <a:cs typeface="Calibri" pitchFamily="34" charset="-120"/>
                        </a:rPr>
                        <a:t>hundreds of clocks</a:t>
                      </a:r>
                      <a:endParaRPr lang="en-US" sz="105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FFFFF"/>
                    </a:solidFill>
                  </a:tcPr>
                </a:tc>
              </a:tr>
            </a:tbl>
          </a:graphicData>
        </a:graphic>
      </p:graphicFrame>
      <p:sp>
        <p:nvSpPr>
          <p:cNvPr id="12" name="Text 9"/>
          <p:cNvSpPr txBox="1"/>
          <p:nvPr/>
        </p:nvSpPr>
        <p:spPr>
          <a:xfrm>
            <a:off x="4663440" y="3200400"/>
            <a:ext cx="4023360" cy="347472"/>
          </a:xfrm>
          <a:prstGeom prst="rect">
            <a:avLst/>
          </a:prstGeom>
          <a:noFill/>
          <a:ln/>
        </p:spPr>
        <p:txBody>
          <a:bodyPr wrap="square" lIns="0" tIns="0" rIns="0" bIns="0" rtlCol="0" anchor="ctr"/>
          <a:lstStyle/>
          <a:p>
            <a:pPr algn="ctr" indent="0" marL="0">
              <a:buNone/>
            </a:pPr>
            <a:r>
              <a:rPr lang="en-US" sz="1000" i="1" dirty="0">
                <a:solidFill>
                  <a:srgbClr val="5B6B7F"/>
                </a:solidFill>
                <a:latin typeface="Calibri" pitchFamily="34" charset="0"/>
                <a:ea typeface="Calibri" pitchFamily="34" charset="-122"/>
                <a:cs typeface="Calibri" pitchFamily="34" charset="-120"/>
              </a:rPr>
              <a:t>Latency is irrelevant for spectrum analysis and fatal in a fast control loop, where it becomes phase lag and eats your stability margin.</a:t>
            </a:r>
            <a:endParaRPr lang="en-US" sz="1000" dirty="0"/>
          </a:p>
        </p:txBody>
      </p:sp>
      <p:sp>
        <p:nvSpPr>
          <p:cNvPr id="13" name="Shape 10"/>
          <p:cNvSpPr/>
          <p:nvPr/>
        </p:nvSpPr>
        <p:spPr>
          <a:xfrm>
            <a:off x="457200" y="3675888"/>
            <a:ext cx="4023360" cy="1024128"/>
          </a:xfrm>
          <a:prstGeom prst="roundRect">
            <a:avLst>
              <a:gd name="adj" fmla="val 7143"/>
            </a:avLst>
          </a:prstGeom>
          <a:solidFill>
            <a:srgbClr val="E4F7F4"/>
          </a:solidFill>
          <a:ln w="12700">
            <a:solidFill>
              <a:srgbClr val="E4F7F4"/>
            </a:solidFill>
            <a:prstDash val="solid"/>
          </a:ln>
        </p:spPr>
      </p:sp>
      <p:sp>
        <p:nvSpPr>
          <p:cNvPr id="14" name="Shape 11"/>
          <p:cNvSpPr/>
          <p:nvPr/>
        </p:nvSpPr>
        <p:spPr>
          <a:xfrm>
            <a:off x="566928" y="3776472"/>
            <a:ext cx="237744" cy="237744"/>
          </a:xfrm>
          <a:prstGeom prst="ellipse">
            <a:avLst/>
          </a:prstGeom>
          <a:solidFill>
            <a:srgbClr val="2EC4B6"/>
          </a:solidFill>
          <a:ln w="12700">
            <a:solidFill>
              <a:srgbClr val="2EC4B6"/>
            </a:solidFill>
            <a:prstDash val="solid"/>
          </a:ln>
        </p:spPr>
      </p:sp>
      <p:sp>
        <p:nvSpPr>
          <p:cNvPr id="15" name="Text 12"/>
          <p:cNvSpPr txBox="1"/>
          <p:nvPr/>
        </p:nvSpPr>
        <p:spPr>
          <a:xfrm>
            <a:off x="566928" y="3776472"/>
            <a:ext cx="237744" cy="237744"/>
          </a:xfrm>
          <a:prstGeom prst="rect">
            <a:avLst/>
          </a:prstGeom>
          <a:noFill/>
          <a:ln/>
        </p:spPr>
        <p:txBody>
          <a:bodyPr wrap="square" lIns="0" tIns="0" rIns="0" bIns="0" rtlCol="0" anchor="ctr"/>
          <a:lstStyle/>
          <a:p>
            <a:pPr algn="ctr" indent="0" marL="0">
              <a:buNone/>
            </a:pPr>
            <a:r>
              <a:rPr lang="en-US" sz="1200" b="1" dirty="0">
                <a:solidFill>
                  <a:srgbClr val="0B1F3A"/>
                </a:solidFill>
                <a:latin typeface="Calibri" pitchFamily="34" charset="0"/>
                <a:ea typeface="Calibri" pitchFamily="34" charset="-122"/>
                <a:cs typeface="Calibri" pitchFamily="34" charset="-120"/>
              </a:rPr>
              <a:t>≈</a:t>
            </a:r>
            <a:endParaRPr lang="en-US" sz="1200" dirty="0"/>
          </a:p>
        </p:txBody>
      </p:sp>
      <p:sp>
        <p:nvSpPr>
          <p:cNvPr id="16" name="Text 13"/>
          <p:cNvSpPr txBox="1"/>
          <p:nvPr/>
        </p:nvSpPr>
        <p:spPr>
          <a:xfrm>
            <a:off x="877824" y="3739896"/>
            <a:ext cx="3493008" cy="896112"/>
          </a:xfrm>
          <a:prstGeom prst="rect">
            <a:avLst/>
          </a:prstGeom>
          <a:noFill/>
          <a:ln/>
        </p:spPr>
        <p:txBody>
          <a:bodyPr wrap="square" lIns="0" tIns="0" rIns="0" bIns="0" rtlCol="0" anchor="t"/>
          <a:lstStyle/>
          <a:p>
            <a:pPr indent="0" marL="0">
              <a:buNone/>
            </a:pPr>
            <a:r>
              <a:rPr lang="en-US" sz="1050" b="1" dirty="0">
                <a:solidFill>
                  <a:srgbClr val="0B1F3A"/>
                </a:solidFill>
                <a:latin typeface="Calibri" pitchFamily="34" charset="0"/>
                <a:ea typeface="Calibri" pitchFamily="34" charset="-122"/>
                <a:cs typeface="Calibri" pitchFamily="34" charset="-120"/>
              </a:rPr>
              <a:t>Think of it like this  </a:t>
            </a:r>
            <a:pPr indent="0" marL="0">
              <a:buNone/>
            </a:pPr>
            <a:r>
              <a:rPr lang="en-US" sz="1050" dirty="0">
                <a:solidFill>
                  <a:srgbClr val="14213D"/>
                </a:solidFill>
                <a:latin typeface="Calibri" pitchFamily="34" charset="0"/>
                <a:ea typeface="Calibri" pitchFamily="34" charset="-122"/>
                <a:cs typeface="Calibri" pitchFamily="34" charset="-120"/>
              </a:rPr>
              <a:t>A car factory rolls out one car a minute, but any individual car spent eight hours on the line. Throughput and latency are not the same measurement.</a:t>
            </a:r>
            <a:endParaRPr lang="en-US" sz="1050" dirty="0"/>
          </a:p>
        </p:txBody>
      </p:sp>
      <p:sp>
        <p:nvSpPr>
          <p:cNvPr id="17" name="Shape 14"/>
          <p:cNvSpPr/>
          <p:nvPr/>
        </p:nvSpPr>
        <p:spPr>
          <a:xfrm>
            <a:off x="4663440" y="3675888"/>
            <a:ext cx="4023360" cy="1024128"/>
          </a:xfrm>
          <a:prstGeom prst="roundRect">
            <a:avLst>
              <a:gd name="adj" fmla="val 7143"/>
            </a:avLst>
          </a:prstGeom>
          <a:solidFill>
            <a:srgbClr val="FFFFFF"/>
          </a:solidFill>
          <a:ln w="12700">
            <a:solidFill>
              <a:srgbClr val="0B1F3A"/>
            </a:solidFill>
            <a:prstDash val="solid"/>
          </a:ln>
        </p:spPr>
      </p:sp>
      <p:sp>
        <p:nvSpPr>
          <p:cNvPr id="18" name="Shape 15"/>
          <p:cNvSpPr/>
          <p:nvPr/>
        </p:nvSpPr>
        <p:spPr>
          <a:xfrm>
            <a:off x="4773168" y="3566160"/>
            <a:ext cx="914400" cy="219456"/>
          </a:xfrm>
          <a:prstGeom prst="roundRect">
            <a:avLst>
              <a:gd name="adj" fmla="val 25000"/>
            </a:avLst>
          </a:prstGeom>
          <a:solidFill>
            <a:srgbClr val="0B1F3A"/>
          </a:solidFill>
          <a:ln w="12700">
            <a:solidFill>
              <a:srgbClr val="0B1F3A"/>
            </a:solidFill>
            <a:prstDash val="solid"/>
          </a:ln>
        </p:spPr>
      </p:sp>
      <p:sp>
        <p:nvSpPr>
          <p:cNvPr id="19" name="Text 16"/>
          <p:cNvSpPr txBox="1"/>
          <p:nvPr/>
        </p:nvSpPr>
        <p:spPr>
          <a:xfrm>
            <a:off x="4773168" y="3566160"/>
            <a:ext cx="914400" cy="219456"/>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EXAMPLE</a:t>
            </a:r>
            <a:endParaRPr lang="en-US" sz="850" dirty="0"/>
          </a:p>
        </p:txBody>
      </p:sp>
      <p:sp>
        <p:nvSpPr>
          <p:cNvPr id="20" name="Text 17"/>
          <p:cNvSpPr txBox="1"/>
          <p:nvPr/>
        </p:nvSpPr>
        <p:spPr>
          <a:xfrm>
            <a:off x="4791456" y="3813048"/>
            <a:ext cx="3803904" cy="841248"/>
          </a:xfrm>
          <a:prstGeom prst="rect">
            <a:avLst/>
          </a:prstGeom>
          <a:noFill/>
          <a:ln/>
        </p:spPr>
        <p:txBody>
          <a:bodyPr wrap="square" lIns="0" tIns="0" rIns="0" bIns="0" rtlCol="0" anchor="t"/>
          <a:lstStyle/>
          <a:p>
            <a:pPr indent="0" marL="0">
              <a:spcAft>
                <a:spcPts val="100"/>
              </a:spcAft>
              <a:buNone/>
            </a:pPr>
            <a:r>
              <a:rPr lang="en-US" sz="900" b="1" dirty="0">
                <a:solidFill>
                  <a:srgbClr val="0B1F3A"/>
                </a:solidFill>
                <a:latin typeface="Calibri" pitchFamily="34" charset="0"/>
                <a:ea typeface="Calibri" pitchFamily="34" charset="-122"/>
                <a:cs typeface="Calibri" pitchFamily="34" charset="-120"/>
              </a:rPr>
              <a:t>Architecture decides latency</a:t>
            </a:r>
            <a:endParaRPr lang="en-US" sz="900" dirty="0"/>
          </a:p>
          <a:p>
            <a:pPr marL="114300" indent="-114300">
              <a:spcAft>
                <a:spcPts val="100"/>
              </a:spcAft>
              <a:buSzPct val="100000"/>
              <a:buChar char="•"/>
            </a:pPr>
            <a:r>
              <a:rPr lang="en-US" sz="900" dirty="0">
                <a:solidFill>
                  <a:srgbClr val="14213D"/>
                </a:solidFill>
                <a:latin typeface="Cambria" pitchFamily="34" charset="0"/>
                <a:ea typeface="Cambria" pitchFamily="34" charset="-122"/>
                <a:cs typeface="Cambria" pitchFamily="34" charset="-120"/>
              </a:rPr>
              <a:t>SAR: N clock cycles, result available immediately after — latency ≈ 0</a:t>
            </a:r>
            <a:endParaRPr lang="en-US" sz="900" dirty="0"/>
          </a:p>
          <a:p>
            <a:pPr marL="114300" indent="-114300">
              <a:spcAft>
                <a:spcPts val="100"/>
              </a:spcAft>
              <a:buSzPct val="100000"/>
              <a:buChar char="•"/>
            </a:pPr>
            <a:r>
              <a:rPr lang="en-US" sz="900" dirty="0">
                <a:solidFill>
                  <a:srgbClr val="14213D"/>
                </a:solidFill>
                <a:latin typeface="Cambria" pitchFamily="34" charset="0"/>
                <a:ea typeface="Cambria" pitchFamily="34" charset="-122"/>
                <a:cs typeface="Cambria" pitchFamily="34" charset="-120"/>
              </a:rPr>
              <a:t>Pipeline: one result per clock, but 8 to 16 cycles behind the input</a:t>
            </a:r>
            <a:endParaRPr lang="en-US" sz="900" dirty="0"/>
          </a:p>
          <a:p>
            <a:pPr marL="114300" indent="-114300">
              <a:spcAft>
                <a:spcPts val="100"/>
              </a:spcAft>
              <a:buSzPct val="100000"/>
              <a:buChar char="•"/>
            </a:pPr>
            <a:r>
              <a:rPr lang="en-US" sz="900" dirty="0">
                <a:solidFill>
                  <a:srgbClr val="14213D"/>
                </a:solidFill>
                <a:latin typeface="Cambria" pitchFamily="34" charset="0"/>
                <a:ea typeface="Cambria" pitchFamily="34" charset="-122"/>
                <a:cs typeface="Cambria" pitchFamily="34" charset="-120"/>
              </a:rPr>
              <a:t>Delta-sigma: hundreds of cycles, because of the decimation filter</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6117336" cy="640080"/>
          </a:xfrm>
          <a:prstGeom prst="rect">
            <a:avLst/>
          </a:prstGeom>
          <a:noFill/>
          <a:ln/>
        </p:spPr>
        <p:txBody>
          <a:bodyPr wrap="square" lIns="0" tIns="0" rIns="0" bIns="0" rtlCol="0" anchor="ctr"/>
          <a:lstStyle/>
          <a:p>
            <a:pPr indent="0" marL="0">
              <a:buNone/>
            </a:pPr>
            <a:r>
              <a:rPr lang="en-US" sz="2800" b="1" dirty="0">
                <a:solidFill>
                  <a:srgbClr val="0B1F3A"/>
                </a:solidFill>
                <a:latin typeface="Cambria" pitchFamily="34" charset="0"/>
                <a:ea typeface="Cambria" pitchFamily="34" charset="-122"/>
                <a:cs typeface="Cambria" pitchFamily="34" charset="-120"/>
              </a:rPr>
              <a:t>Aperture delay</a:t>
            </a:r>
            <a:endParaRPr lang="en-US" sz="2800" dirty="0"/>
          </a:p>
        </p:txBody>
      </p:sp>
      <p:sp>
        <p:nvSpPr>
          <p:cNvPr id="3" name="Text 1"/>
          <p:cNvSpPr txBox="1"/>
          <p:nvPr/>
        </p:nvSpPr>
        <p:spPr>
          <a:xfrm>
            <a:off x="457200" y="4796028"/>
            <a:ext cx="4572000" cy="228600"/>
          </a:xfrm>
          <a:prstGeom prst="rect">
            <a:avLst/>
          </a:prstGeom>
          <a:noFill/>
          <a:ln/>
        </p:spPr>
        <p:txBody>
          <a:bodyPr wrap="square" lIns="0" tIns="0" rIns="0" bIns="0" rtlCol="0" anchor="ctr"/>
          <a:lstStyle/>
          <a:p>
            <a:pPr indent="0" marL="0">
              <a:buNone/>
            </a:pPr>
            <a:r>
              <a:rPr lang="en-US" sz="900" dirty="0">
                <a:solidFill>
                  <a:srgbClr val="5B6B7F"/>
                </a:solidFill>
                <a:latin typeface="Calibri" pitchFamily="34" charset="0"/>
                <a:ea typeface="Calibri" pitchFamily="34" charset="-122"/>
                <a:cs typeface="Calibri" pitchFamily="34" charset="-120"/>
              </a:rPr>
              <a:t>Part 4 · Speed and timing</a:t>
            </a:r>
            <a:endParaRPr lang="en-US" sz="900" dirty="0"/>
          </a:p>
        </p:txBody>
      </p:sp>
      <p:sp>
        <p:nvSpPr>
          <p:cNvPr id="4" name="Text 2"/>
          <p:cNvSpPr txBox="1"/>
          <p:nvPr/>
        </p:nvSpPr>
        <p:spPr>
          <a:xfrm>
            <a:off x="7772400" y="4796028"/>
            <a:ext cx="914400" cy="228600"/>
          </a:xfrm>
          <a:prstGeom prst="rect">
            <a:avLst/>
          </a:prstGeom>
          <a:noFill/>
          <a:ln/>
        </p:spPr>
        <p:txBody>
          <a:bodyPr wrap="square" lIns="0" tIns="0" rIns="0" bIns="0" rtlCol="0" anchor="ctr"/>
          <a:lstStyle/>
          <a:p>
            <a:pPr algn="r" indent="0" marL="0">
              <a:buNone/>
            </a:pPr>
            <a:r>
              <a:rPr lang="en-US" sz="900" dirty="0">
                <a:solidFill>
                  <a:srgbClr val="5B6B7F"/>
                </a:solidFill>
                <a:latin typeface="Calibri" pitchFamily="34" charset="0"/>
                <a:ea typeface="Calibri" pitchFamily="34" charset="-122"/>
                <a:cs typeface="Calibri" pitchFamily="34" charset="-120"/>
              </a:rPr>
              <a:t>36</a:t>
            </a:r>
            <a:endParaRPr lang="en-US" sz="900" dirty="0"/>
          </a:p>
        </p:txBody>
      </p:sp>
      <p:sp>
        <p:nvSpPr>
          <p:cNvPr id="5" name="Shape 3"/>
          <p:cNvSpPr/>
          <p:nvPr/>
        </p:nvSpPr>
        <p:spPr>
          <a:xfrm>
            <a:off x="6803136" y="384048"/>
            <a:ext cx="1883664" cy="384048"/>
          </a:xfrm>
          <a:prstGeom prst="roundRect">
            <a:avLst>
              <a:gd name="adj" fmla="val 19048"/>
            </a:avLst>
          </a:prstGeom>
          <a:solidFill>
            <a:srgbClr val="EEF3F8"/>
          </a:solidFill>
          <a:ln w="12700">
            <a:solidFill>
              <a:srgbClr val="EEF3F8"/>
            </a:solidFill>
            <a:prstDash val="solid"/>
          </a:ln>
        </p:spPr>
      </p:sp>
      <p:sp>
        <p:nvSpPr>
          <p:cNvPr id="6" name="Text 4"/>
          <p:cNvSpPr txBox="1"/>
          <p:nvPr/>
        </p:nvSpPr>
        <p:spPr>
          <a:xfrm>
            <a:off x="6803136" y="384048"/>
            <a:ext cx="1883664" cy="384048"/>
          </a:xfrm>
          <a:prstGeom prst="rect">
            <a:avLst/>
          </a:prstGeom>
          <a:noFill/>
          <a:ln/>
        </p:spPr>
        <p:txBody>
          <a:bodyPr wrap="square" lIns="0" tIns="0" rIns="0" bIns="0" rtlCol="0" anchor="ctr"/>
          <a:lstStyle/>
          <a:p>
            <a:pPr algn="ctr" indent="0" marL="0">
              <a:buNone/>
            </a:pPr>
            <a:r>
              <a:rPr lang="en-US" sz="1200" b="1" dirty="0">
                <a:solidFill>
                  <a:srgbClr val="0B1F3A"/>
                </a:solidFill>
                <a:latin typeface="Cambria" pitchFamily="34" charset="0"/>
                <a:ea typeface="Cambria" pitchFamily="34" charset="-122"/>
                <a:cs typeface="Cambria" pitchFamily="34" charset="-120"/>
              </a:rPr>
              <a:t>t_AD   ·   s</a:t>
            </a:r>
            <a:endParaRPr lang="en-US" sz="1200" dirty="0"/>
          </a:p>
        </p:txBody>
      </p:sp>
      <p:sp>
        <p:nvSpPr>
          <p:cNvPr id="7" name="Text 5"/>
          <p:cNvSpPr txBox="1"/>
          <p:nvPr/>
        </p:nvSpPr>
        <p:spPr>
          <a:xfrm>
            <a:off x="457200" y="1042416"/>
            <a:ext cx="4023360" cy="1005840"/>
          </a:xfrm>
          <a:prstGeom prst="rect">
            <a:avLst/>
          </a:prstGeom>
          <a:noFill/>
          <a:ln/>
        </p:spPr>
        <p:txBody>
          <a:bodyPr wrap="square" lIns="0" tIns="0" rIns="0" bIns="0" rtlCol="0" anchor="t"/>
          <a:lstStyle/>
          <a:p>
            <a:pPr indent="0" marL="0">
              <a:buNone/>
            </a:pPr>
            <a:r>
              <a:rPr lang="en-US" sz="1150" dirty="0">
                <a:solidFill>
                  <a:srgbClr val="14213D"/>
                </a:solidFill>
                <a:latin typeface="Calibri" pitchFamily="34" charset="0"/>
                <a:ea typeface="Calibri" pitchFamily="34" charset="-122"/>
                <a:cs typeface="Calibri" pitchFamily="34" charset="-120"/>
              </a:rPr>
              <a:t>The fixed gap between the clock edge arriving and the sampling switch actually opening. Because it is fixed and repeatable, it is harmless in a single converter — it just shifts the time axis slightly.</a:t>
            </a:r>
            <a:endParaRPr lang="en-US" sz="1150" dirty="0"/>
          </a:p>
        </p:txBody>
      </p:sp>
      <p:sp>
        <p:nvSpPr>
          <p:cNvPr id="8" name="Shape 6"/>
          <p:cNvSpPr/>
          <p:nvPr/>
        </p:nvSpPr>
        <p:spPr>
          <a:xfrm>
            <a:off x="457200" y="2103120"/>
            <a:ext cx="4023360" cy="868680"/>
          </a:xfrm>
          <a:prstGeom prst="roundRect">
            <a:avLst>
              <a:gd name="adj" fmla="val 8421"/>
            </a:avLst>
          </a:prstGeom>
          <a:solidFill>
            <a:srgbClr val="EEF3F8"/>
          </a:solidFill>
          <a:ln w="12700">
            <a:solidFill>
              <a:srgbClr val="EEF3F8"/>
            </a:solidFill>
            <a:prstDash val="solid"/>
          </a:ln>
        </p:spPr>
      </p:sp>
      <p:sp>
        <p:nvSpPr>
          <p:cNvPr id="9" name="Text 7"/>
          <p:cNvSpPr txBox="1"/>
          <p:nvPr/>
        </p:nvSpPr>
        <p:spPr>
          <a:xfrm>
            <a:off x="594360" y="2103120"/>
            <a:ext cx="3749040" cy="612648"/>
          </a:xfrm>
          <a:prstGeom prst="rect">
            <a:avLst/>
          </a:prstGeom>
          <a:noFill/>
          <a:ln/>
        </p:spPr>
        <p:txBody>
          <a:bodyPr wrap="square" lIns="0" tIns="0" rIns="0" bIns="0" rtlCol="0" anchor="ctr"/>
          <a:lstStyle/>
          <a:p>
            <a:pPr algn="ctr" indent="0" marL="0">
              <a:buNone/>
            </a:pPr>
            <a:r>
              <a:rPr lang="en-US" sz="1500" dirty="0">
                <a:solidFill>
                  <a:srgbClr val="0B1F3A"/>
                </a:solidFill>
                <a:latin typeface="Cambria" pitchFamily="34" charset="0"/>
                <a:ea typeface="Cambria" pitchFamily="34" charset="-122"/>
                <a:cs typeface="Cambria" pitchFamily="34" charset="-120"/>
              </a:rPr>
              <a:t>sample instant = clock edge + t_AD</a:t>
            </a:r>
            <a:endParaRPr lang="en-US" sz="1500" dirty="0"/>
          </a:p>
        </p:txBody>
      </p:sp>
      <p:sp>
        <p:nvSpPr>
          <p:cNvPr id="10" name="Text 8"/>
          <p:cNvSpPr txBox="1"/>
          <p:nvPr/>
        </p:nvSpPr>
        <p:spPr>
          <a:xfrm>
            <a:off x="594360" y="2670048"/>
            <a:ext cx="3749040" cy="256032"/>
          </a:xfrm>
          <a:prstGeom prst="rect">
            <a:avLst/>
          </a:prstGeom>
          <a:noFill/>
          <a:ln/>
        </p:spPr>
        <p:txBody>
          <a:bodyPr wrap="square" lIns="0" tIns="0" rIns="0" bIns="0" rtlCol="0" anchor="t"/>
          <a:lstStyle/>
          <a:p>
            <a:pPr algn="ctr" indent="0" marL="0">
              <a:buNone/>
            </a:pPr>
            <a:r>
              <a:rPr lang="en-US" sz="1000" dirty="0">
                <a:solidFill>
                  <a:srgbClr val="5B6B7F"/>
                </a:solidFill>
                <a:latin typeface="Calibri" pitchFamily="34" charset="0"/>
                <a:ea typeface="Calibri" pitchFamily="34" charset="-122"/>
                <a:cs typeface="Calibri" pitchFamily="34" charset="-120"/>
              </a:rPr>
              <a:t>Constant, and therefore calibratable</a:t>
            </a:r>
            <a:endParaRPr lang="en-US" sz="1000" dirty="0"/>
          </a:p>
        </p:txBody>
      </p:sp>
      <p:graphicFrame>
        <p:nvGraphicFramePr>
          <p:cNvPr id="11" name="Chart 0" descr=""/>
          <p:cNvGraphicFramePr/>
          <p:nvPr/>
        </p:nvGraphicFramePr>
        <p:xfrm>
          <a:off x="4663440" y="1042416"/>
          <a:ext cx="4023360" cy="2084832"/>
        </p:xfrm>
        <a:graphic xmlns:a="http://schemas.openxmlformats.org/drawingml/2006/main">
          <a:graphicData uri="http://schemas.openxmlformats.org/drawingml/2006/chart">
            <c:chart xmlns:c="http://schemas.openxmlformats.org/drawingml/2006/chart" r:id="rId1"/>
          </a:graphicData>
        </a:graphic>
      </p:graphicFrame>
      <p:sp>
        <p:nvSpPr>
          <p:cNvPr id="12" name="Text 9"/>
          <p:cNvSpPr txBox="1"/>
          <p:nvPr/>
        </p:nvSpPr>
        <p:spPr>
          <a:xfrm>
            <a:off x="4663440" y="3200400"/>
            <a:ext cx="4023360" cy="347472"/>
          </a:xfrm>
          <a:prstGeom prst="rect">
            <a:avLst/>
          </a:prstGeom>
          <a:noFill/>
          <a:ln/>
        </p:spPr>
        <p:txBody>
          <a:bodyPr wrap="square" lIns="0" tIns="0" rIns="0" bIns="0" rtlCol="0" anchor="ctr"/>
          <a:lstStyle/>
          <a:p>
            <a:pPr algn="ctr" indent="0" marL="0">
              <a:buNone/>
            </a:pPr>
            <a:r>
              <a:rPr lang="en-US" sz="1000" i="1" dirty="0">
                <a:solidFill>
                  <a:srgbClr val="5B6B7F"/>
                </a:solidFill>
                <a:latin typeface="Calibri" pitchFamily="34" charset="0"/>
                <a:ea typeface="Calibri" pitchFamily="34" charset="-122"/>
                <a:cs typeface="Calibri" pitchFamily="34" charset="-120"/>
              </a:rPr>
              <a:t>Fixed delay is fine. Mismatch between channels is not — it is the main reason interleaved converters need calibration.</a:t>
            </a:r>
            <a:endParaRPr lang="en-US" sz="1000" dirty="0"/>
          </a:p>
        </p:txBody>
      </p:sp>
      <p:sp>
        <p:nvSpPr>
          <p:cNvPr id="13" name="Shape 10"/>
          <p:cNvSpPr/>
          <p:nvPr/>
        </p:nvSpPr>
        <p:spPr>
          <a:xfrm>
            <a:off x="457200" y="3675888"/>
            <a:ext cx="4023360" cy="1024128"/>
          </a:xfrm>
          <a:prstGeom prst="roundRect">
            <a:avLst>
              <a:gd name="adj" fmla="val 7143"/>
            </a:avLst>
          </a:prstGeom>
          <a:solidFill>
            <a:srgbClr val="E4F7F4"/>
          </a:solidFill>
          <a:ln w="12700">
            <a:solidFill>
              <a:srgbClr val="E4F7F4"/>
            </a:solidFill>
            <a:prstDash val="solid"/>
          </a:ln>
        </p:spPr>
      </p:sp>
      <p:sp>
        <p:nvSpPr>
          <p:cNvPr id="14" name="Shape 11"/>
          <p:cNvSpPr/>
          <p:nvPr/>
        </p:nvSpPr>
        <p:spPr>
          <a:xfrm>
            <a:off x="566928" y="3776472"/>
            <a:ext cx="237744" cy="237744"/>
          </a:xfrm>
          <a:prstGeom prst="ellipse">
            <a:avLst/>
          </a:prstGeom>
          <a:solidFill>
            <a:srgbClr val="2EC4B6"/>
          </a:solidFill>
          <a:ln w="12700">
            <a:solidFill>
              <a:srgbClr val="2EC4B6"/>
            </a:solidFill>
            <a:prstDash val="solid"/>
          </a:ln>
        </p:spPr>
      </p:sp>
      <p:sp>
        <p:nvSpPr>
          <p:cNvPr id="15" name="Text 12"/>
          <p:cNvSpPr txBox="1"/>
          <p:nvPr/>
        </p:nvSpPr>
        <p:spPr>
          <a:xfrm>
            <a:off x="566928" y="3776472"/>
            <a:ext cx="237744" cy="237744"/>
          </a:xfrm>
          <a:prstGeom prst="rect">
            <a:avLst/>
          </a:prstGeom>
          <a:noFill/>
          <a:ln/>
        </p:spPr>
        <p:txBody>
          <a:bodyPr wrap="square" lIns="0" tIns="0" rIns="0" bIns="0" rtlCol="0" anchor="ctr"/>
          <a:lstStyle/>
          <a:p>
            <a:pPr algn="ctr" indent="0" marL="0">
              <a:buNone/>
            </a:pPr>
            <a:r>
              <a:rPr lang="en-US" sz="1200" b="1" dirty="0">
                <a:solidFill>
                  <a:srgbClr val="0B1F3A"/>
                </a:solidFill>
                <a:latin typeface="Calibri" pitchFamily="34" charset="0"/>
                <a:ea typeface="Calibri" pitchFamily="34" charset="-122"/>
                <a:cs typeface="Calibri" pitchFamily="34" charset="-120"/>
              </a:rPr>
              <a:t>≈</a:t>
            </a:r>
            <a:endParaRPr lang="en-US" sz="1200" dirty="0"/>
          </a:p>
        </p:txBody>
      </p:sp>
      <p:sp>
        <p:nvSpPr>
          <p:cNvPr id="16" name="Text 13"/>
          <p:cNvSpPr txBox="1"/>
          <p:nvPr/>
        </p:nvSpPr>
        <p:spPr>
          <a:xfrm>
            <a:off x="877824" y="3739896"/>
            <a:ext cx="3493008" cy="896112"/>
          </a:xfrm>
          <a:prstGeom prst="rect">
            <a:avLst/>
          </a:prstGeom>
          <a:noFill/>
          <a:ln/>
        </p:spPr>
        <p:txBody>
          <a:bodyPr wrap="square" lIns="0" tIns="0" rIns="0" bIns="0" rtlCol="0" anchor="t"/>
          <a:lstStyle/>
          <a:p>
            <a:pPr indent="0" marL="0">
              <a:buNone/>
            </a:pPr>
            <a:r>
              <a:rPr lang="en-US" sz="1050" b="1" dirty="0">
                <a:solidFill>
                  <a:srgbClr val="0B1F3A"/>
                </a:solidFill>
                <a:latin typeface="Calibri" pitchFamily="34" charset="0"/>
                <a:ea typeface="Calibri" pitchFamily="34" charset="-122"/>
                <a:cs typeface="Calibri" pitchFamily="34" charset="-120"/>
              </a:rPr>
              <a:t>Think of it like this  </a:t>
            </a:r>
            <a:pPr indent="0" marL="0">
              <a:buNone/>
            </a:pPr>
            <a:r>
              <a:rPr lang="en-US" sz="1050" dirty="0">
                <a:solidFill>
                  <a:srgbClr val="14213D"/>
                </a:solidFill>
                <a:latin typeface="Calibri" pitchFamily="34" charset="0"/>
                <a:ea typeface="Calibri" pitchFamily="34" charset="-122"/>
                <a:cs typeface="Calibri" pitchFamily="34" charset="-120"/>
              </a:rPr>
              <a:t>A camera with a shutter that always fires exactly 20 ms after you press the button. Predictable, so you simply press 20 ms early.</a:t>
            </a:r>
            <a:endParaRPr lang="en-US" sz="1050" dirty="0"/>
          </a:p>
        </p:txBody>
      </p:sp>
      <p:sp>
        <p:nvSpPr>
          <p:cNvPr id="17" name="Shape 14"/>
          <p:cNvSpPr/>
          <p:nvPr/>
        </p:nvSpPr>
        <p:spPr>
          <a:xfrm>
            <a:off x="4663440" y="3675888"/>
            <a:ext cx="4023360" cy="1024128"/>
          </a:xfrm>
          <a:prstGeom prst="roundRect">
            <a:avLst>
              <a:gd name="adj" fmla="val 7143"/>
            </a:avLst>
          </a:prstGeom>
          <a:solidFill>
            <a:srgbClr val="FFFFFF"/>
          </a:solidFill>
          <a:ln w="12700">
            <a:solidFill>
              <a:srgbClr val="0B1F3A"/>
            </a:solidFill>
            <a:prstDash val="solid"/>
          </a:ln>
        </p:spPr>
      </p:sp>
      <p:sp>
        <p:nvSpPr>
          <p:cNvPr id="18" name="Shape 15"/>
          <p:cNvSpPr/>
          <p:nvPr/>
        </p:nvSpPr>
        <p:spPr>
          <a:xfrm>
            <a:off x="4773168" y="3566160"/>
            <a:ext cx="914400" cy="219456"/>
          </a:xfrm>
          <a:prstGeom prst="roundRect">
            <a:avLst>
              <a:gd name="adj" fmla="val 25000"/>
            </a:avLst>
          </a:prstGeom>
          <a:solidFill>
            <a:srgbClr val="0B1F3A"/>
          </a:solidFill>
          <a:ln w="12700">
            <a:solidFill>
              <a:srgbClr val="0B1F3A"/>
            </a:solidFill>
            <a:prstDash val="solid"/>
          </a:ln>
        </p:spPr>
      </p:sp>
      <p:sp>
        <p:nvSpPr>
          <p:cNvPr id="19" name="Text 16"/>
          <p:cNvSpPr txBox="1"/>
          <p:nvPr/>
        </p:nvSpPr>
        <p:spPr>
          <a:xfrm>
            <a:off x="4773168" y="3566160"/>
            <a:ext cx="914400" cy="219456"/>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EXAMPLE</a:t>
            </a:r>
            <a:endParaRPr lang="en-US" sz="850" dirty="0"/>
          </a:p>
        </p:txBody>
      </p:sp>
      <p:sp>
        <p:nvSpPr>
          <p:cNvPr id="20" name="Text 17"/>
          <p:cNvSpPr txBox="1"/>
          <p:nvPr/>
        </p:nvSpPr>
        <p:spPr>
          <a:xfrm>
            <a:off x="4791456" y="3813048"/>
            <a:ext cx="3803904" cy="841248"/>
          </a:xfrm>
          <a:prstGeom prst="rect">
            <a:avLst/>
          </a:prstGeom>
          <a:noFill/>
          <a:ln/>
        </p:spPr>
        <p:txBody>
          <a:bodyPr wrap="square" lIns="0" tIns="0" rIns="0" bIns="0" rtlCol="0" anchor="t"/>
          <a:lstStyle/>
          <a:p>
            <a:pPr indent="0" marL="0">
              <a:spcAft>
                <a:spcPts val="100"/>
              </a:spcAft>
              <a:buNone/>
            </a:pPr>
            <a:r>
              <a:rPr lang="en-US" sz="900" b="1" dirty="0">
                <a:solidFill>
                  <a:srgbClr val="0B1F3A"/>
                </a:solidFill>
                <a:latin typeface="Calibri" pitchFamily="34" charset="0"/>
                <a:ea typeface="Calibri" pitchFamily="34" charset="-122"/>
                <a:cs typeface="Calibri" pitchFamily="34" charset="-120"/>
              </a:rPr>
              <a:t>When it does matter</a:t>
            </a:r>
            <a:endParaRPr lang="en-US" sz="900" dirty="0"/>
          </a:p>
          <a:p>
            <a:pPr marL="114300" indent="-114300">
              <a:spcAft>
                <a:spcPts val="100"/>
              </a:spcAft>
              <a:buSzPct val="100000"/>
              <a:buChar char="•"/>
            </a:pPr>
            <a:r>
              <a:rPr lang="en-US" sz="900" dirty="0">
                <a:solidFill>
                  <a:srgbClr val="14213D"/>
                </a:solidFill>
                <a:latin typeface="Cambria" pitchFamily="34" charset="0"/>
                <a:ea typeface="Cambria" pitchFamily="34" charset="-122"/>
                <a:cs typeface="Cambria" pitchFamily="34" charset="-120"/>
              </a:rPr>
              <a:t>Two ADCs interleaved to double the rate must sample exactly half a period apart</a:t>
            </a:r>
            <a:endParaRPr lang="en-US" sz="900" dirty="0"/>
          </a:p>
          <a:p>
            <a:pPr marL="114300" indent="-114300">
              <a:spcAft>
                <a:spcPts val="100"/>
              </a:spcAft>
              <a:buSzPct val="100000"/>
              <a:buChar char="•"/>
            </a:pPr>
            <a:r>
              <a:rPr lang="en-US" sz="900" dirty="0">
                <a:solidFill>
                  <a:srgbClr val="14213D"/>
                </a:solidFill>
                <a:latin typeface="Cambria" pitchFamily="34" charset="0"/>
                <a:ea typeface="Cambria" pitchFamily="34" charset="-122"/>
                <a:cs typeface="Cambria" pitchFamily="34" charset="-120"/>
              </a:rPr>
              <a:t>A 200 ps aperture-delay mismatch at 500 MSPS is a 10 % timing error</a:t>
            </a:r>
            <a:endParaRPr lang="en-US" sz="900" dirty="0"/>
          </a:p>
          <a:p>
            <a:pPr marL="114300" indent="-114300">
              <a:spcAft>
                <a:spcPts val="100"/>
              </a:spcAft>
              <a:buSzPct val="100000"/>
              <a:buChar char="•"/>
            </a:pPr>
            <a:r>
              <a:rPr lang="en-US" sz="900" dirty="0">
                <a:solidFill>
                  <a:srgbClr val="14213D"/>
                </a:solidFill>
                <a:latin typeface="Cambria" pitchFamily="34" charset="0"/>
                <a:ea typeface="Cambria" pitchFamily="34" charset="-122"/>
                <a:cs typeface="Cambria" pitchFamily="34" charset="-120"/>
              </a:rPr>
              <a:t>The result is an interleaving spur at f_s/2 − f_in</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5760720" cy="640080"/>
          </a:xfrm>
          <a:prstGeom prst="rect">
            <a:avLst/>
          </a:prstGeom>
          <a:noFill/>
          <a:ln/>
        </p:spPr>
        <p:txBody>
          <a:bodyPr wrap="square" lIns="0" tIns="0" rIns="0" bIns="0" rtlCol="0" anchor="ctr"/>
          <a:lstStyle/>
          <a:p>
            <a:pPr indent="0" marL="0">
              <a:buNone/>
            </a:pPr>
            <a:r>
              <a:rPr lang="en-US" sz="2800" b="1" dirty="0">
                <a:solidFill>
                  <a:srgbClr val="0B1F3A"/>
                </a:solidFill>
                <a:latin typeface="Cambria" pitchFamily="34" charset="0"/>
                <a:ea typeface="Cambria" pitchFamily="34" charset="-122"/>
                <a:cs typeface="Cambria" pitchFamily="34" charset="-120"/>
              </a:rPr>
              <a:t>Aperture jitter</a:t>
            </a:r>
            <a:endParaRPr lang="en-US" sz="2800" dirty="0"/>
          </a:p>
        </p:txBody>
      </p:sp>
      <p:sp>
        <p:nvSpPr>
          <p:cNvPr id="3" name="Text 1"/>
          <p:cNvSpPr txBox="1"/>
          <p:nvPr/>
        </p:nvSpPr>
        <p:spPr>
          <a:xfrm>
            <a:off x="457200" y="4796028"/>
            <a:ext cx="4572000" cy="228600"/>
          </a:xfrm>
          <a:prstGeom prst="rect">
            <a:avLst/>
          </a:prstGeom>
          <a:noFill/>
          <a:ln/>
        </p:spPr>
        <p:txBody>
          <a:bodyPr wrap="square" lIns="0" tIns="0" rIns="0" bIns="0" rtlCol="0" anchor="ctr"/>
          <a:lstStyle/>
          <a:p>
            <a:pPr indent="0" marL="0">
              <a:buNone/>
            </a:pPr>
            <a:r>
              <a:rPr lang="en-US" sz="900" dirty="0">
                <a:solidFill>
                  <a:srgbClr val="5B6B7F"/>
                </a:solidFill>
                <a:latin typeface="Calibri" pitchFamily="34" charset="0"/>
                <a:ea typeface="Calibri" pitchFamily="34" charset="-122"/>
                <a:cs typeface="Calibri" pitchFamily="34" charset="-120"/>
              </a:rPr>
              <a:t>Part 4 · Speed and timing</a:t>
            </a:r>
            <a:endParaRPr lang="en-US" sz="900" dirty="0"/>
          </a:p>
        </p:txBody>
      </p:sp>
      <p:sp>
        <p:nvSpPr>
          <p:cNvPr id="4" name="Text 2"/>
          <p:cNvSpPr txBox="1"/>
          <p:nvPr/>
        </p:nvSpPr>
        <p:spPr>
          <a:xfrm>
            <a:off x="7772400" y="4796028"/>
            <a:ext cx="914400" cy="228600"/>
          </a:xfrm>
          <a:prstGeom prst="rect">
            <a:avLst/>
          </a:prstGeom>
          <a:noFill/>
          <a:ln/>
        </p:spPr>
        <p:txBody>
          <a:bodyPr wrap="square" lIns="0" tIns="0" rIns="0" bIns="0" rtlCol="0" anchor="ctr"/>
          <a:lstStyle/>
          <a:p>
            <a:pPr algn="r" indent="0" marL="0">
              <a:buNone/>
            </a:pPr>
            <a:r>
              <a:rPr lang="en-US" sz="900" dirty="0">
                <a:solidFill>
                  <a:srgbClr val="5B6B7F"/>
                </a:solidFill>
                <a:latin typeface="Calibri" pitchFamily="34" charset="0"/>
                <a:ea typeface="Calibri" pitchFamily="34" charset="-122"/>
                <a:cs typeface="Calibri" pitchFamily="34" charset="-120"/>
              </a:rPr>
              <a:t>37</a:t>
            </a:r>
            <a:endParaRPr lang="en-US" sz="900" dirty="0"/>
          </a:p>
        </p:txBody>
      </p:sp>
      <p:sp>
        <p:nvSpPr>
          <p:cNvPr id="5" name="Shape 3"/>
          <p:cNvSpPr/>
          <p:nvPr/>
        </p:nvSpPr>
        <p:spPr>
          <a:xfrm>
            <a:off x="6446520" y="384048"/>
            <a:ext cx="2240280" cy="384048"/>
          </a:xfrm>
          <a:prstGeom prst="roundRect">
            <a:avLst>
              <a:gd name="adj" fmla="val 19048"/>
            </a:avLst>
          </a:prstGeom>
          <a:solidFill>
            <a:srgbClr val="EEF3F8"/>
          </a:solidFill>
          <a:ln w="12700">
            <a:solidFill>
              <a:srgbClr val="EEF3F8"/>
            </a:solidFill>
            <a:prstDash val="solid"/>
          </a:ln>
        </p:spPr>
      </p:sp>
      <p:sp>
        <p:nvSpPr>
          <p:cNvPr id="6" name="Text 4"/>
          <p:cNvSpPr txBox="1"/>
          <p:nvPr/>
        </p:nvSpPr>
        <p:spPr>
          <a:xfrm>
            <a:off x="6446520" y="384048"/>
            <a:ext cx="2240280" cy="384048"/>
          </a:xfrm>
          <a:prstGeom prst="rect">
            <a:avLst/>
          </a:prstGeom>
          <a:noFill/>
          <a:ln/>
        </p:spPr>
        <p:txBody>
          <a:bodyPr wrap="square" lIns="0" tIns="0" rIns="0" bIns="0" rtlCol="0" anchor="ctr"/>
          <a:lstStyle/>
          <a:p>
            <a:pPr algn="ctr" indent="0" marL="0">
              <a:buNone/>
            </a:pPr>
            <a:r>
              <a:rPr lang="en-US" sz="1200" b="1" dirty="0">
                <a:solidFill>
                  <a:srgbClr val="0B1F3A"/>
                </a:solidFill>
                <a:latin typeface="Cambria" pitchFamily="34" charset="0"/>
                <a:ea typeface="Cambria" pitchFamily="34" charset="-122"/>
                <a:cs typeface="Cambria" pitchFamily="34" charset="-120"/>
              </a:rPr>
              <a:t>t_j   ·   s rms</a:t>
            </a:r>
            <a:endParaRPr lang="en-US" sz="1200" dirty="0"/>
          </a:p>
        </p:txBody>
      </p:sp>
      <p:sp>
        <p:nvSpPr>
          <p:cNvPr id="7" name="Text 5"/>
          <p:cNvSpPr txBox="1"/>
          <p:nvPr/>
        </p:nvSpPr>
        <p:spPr>
          <a:xfrm>
            <a:off x="457200" y="1042416"/>
            <a:ext cx="4023360" cy="1207008"/>
          </a:xfrm>
          <a:prstGeom prst="rect">
            <a:avLst/>
          </a:prstGeom>
          <a:noFill/>
          <a:ln/>
        </p:spPr>
        <p:txBody>
          <a:bodyPr wrap="square" lIns="0" tIns="0" rIns="0" bIns="0" rtlCol="0" anchor="t"/>
          <a:lstStyle/>
          <a:p>
            <a:pPr indent="0" marL="0">
              <a:buNone/>
            </a:pPr>
            <a:r>
              <a:rPr lang="en-US" sz="1150" dirty="0">
                <a:solidFill>
                  <a:srgbClr val="14213D"/>
                </a:solidFill>
                <a:latin typeface="Calibri" pitchFamily="34" charset="0"/>
                <a:ea typeface="Calibri" pitchFamily="34" charset="-122"/>
                <a:cs typeface="Calibri" pitchFamily="34" charset="-120"/>
              </a:rPr>
              <a:t>The random, cycle-to-cycle variation in when the switch opens. A fast-moving input travels a long way during that uncertainty, so the frozen value is wrong. Above a certain input frequency, jitter — not resolution — sets your accuracy.</a:t>
            </a:r>
            <a:endParaRPr lang="en-US" sz="1150" dirty="0"/>
          </a:p>
        </p:txBody>
      </p:sp>
      <p:sp>
        <p:nvSpPr>
          <p:cNvPr id="8" name="Shape 6"/>
          <p:cNvSpPr/>
          <p:nvPr/>
        </p:nvSpPr>
        <p:spPr>
          <a:xfrm>
            <a:off x="457200" y="2304288"/>
            <a:ext cx="4023360" cy="868680"/>
          </a:xfrm>
          <a:prstGeom prst="roundRect">
            <a:avLst>
              <a:gd name="adj" fmla="val 8421"/>
            </a:avLst>
          </a:prstGeom>
          <a:solidFill>
            <a:srgbClr val="EEF3F8"/>
          </a:solidFill>
          <a:ln w="12700">
            <a:solidFill>
              <a:srgbClr val="EEF3F8"/>
            </a:solidFill>
            <a:prstDash val="solid"/>
          </a:ln>
        </p:spPr>
      </p:sp>
      <p:sp>
        <p:nvSpPr>
          <p:cNvPr id="9" name="Text 7"/>
          <p:cNvSpPr txBox="1"/>
          <p:nvPr/>
        </p:nvSpPr>
        <p:spPr>
          <a:xfrm>
            <a:off x="594360" y="2304288"/>
            <a:ext cx="3749040" cy="612648"/>
          </a:xfrm>
          <a:prstGeom prst="rect">
            <a:avLst/>
          </a:prstGeom>
          <a:noFill/>
          <a:ln/>
        </p:spPr>
        <p:txBody>
          <a:bodyPr wrap="square" lIns="0" tIns="0" rIns="0" bIns="0" rtlCol="0" anchor="ctr"/>
          <a:lstStyle/>
          <a:p>
            <a:pPr algn="ctr" indent="0" marL="0">
              <a:buNone/>
            </a:pPr>
            <a:r>
              <a:rPr lang="en-US" sz="1400" dirty="0">
                <a:solidFill>
                  <a:srgbClr val="0B1F3A"/>
                </a:solidFill>
                <a:latin typeface="Cambria" pitchFamily="34" charset="0"/>
                <a:ea typeface="Cambria" pitchFamily="34" charset="-122"/>
                <a:cs typeface="Cambria" pitchFamily="34" charset="-120"/>
              </a:rPr>
              <a:t>SNR_jitter = −20 log₁₀( 2π f_in t_j )</a:t>
            </a:r>
            <a:endParaRPr lang="en-US" sz="1400" dirty="0"/>
          </a:p>
        </p:txBody>
      </p:sp>
      <p:sp>
        <p:nvSpPr>
          <p:cNvPr id="10" name="Text 8"/>
          <p:cNvSpPr txBox="1"/>
          <p:nvPr/>
        </p:nvSpPr>
        <p:spPr>
          <a:xfrm>
            <a:off x="594360" y="2871216"/>
            <a:ext cx="3749040" cy="256032"/>
          </a:xfrm>
          <a:prstGeom prst="rect">
            <a:avLst/>
          </a:prstGeom>
          <a:noFill/>
          <a:ln/>
        </p:spPr>
        <p:txBody>
          <a:bodyPr wrap="square" lIns="0" tIns="0" rIns="0" bIns="0" rtlCol="0" anchor="t"/>
          <a:lstStyle/>
          <a:p>
            <a:pPr algn="ctr" indent="0" marL="0">
              <a:buNone/>
            </a:pPr>
            <a:r>
              <a:rPr lang="en-US" sz="1000" dirty="0">
                <a:solidFill>
                  <a:srgbClr val="5B6B7F"/>
                </a:solidFill>
                <a:latin typeface="Calibri" pitchFamily="34" charset="0"/>
                <a:ea typeface="Calibri" pitchFamily="34" charset="-122"/>
                <a:cs typeface="Calibri" pitchFamily="34" charset="-120"/>
              </a:rPr>
              <a:t>Depends on the input frequency, not the sample rate</a:t>
            </a:r>
            <a:endParaRPr lang="en-US" sz="1000" dirty="0"/>
          </a:p>
        </p:txBody>
      </p:sp>
      <p:graphicFrame>
        <p:nvGraphicFramePr>
          <p:cNvPr id="11" name="Chart 0" descr=""/>
          <p:cNvGraphicFramePr/>
          <p:nvPr/>
        </p:nvGraphicFramePr>
        <p:xfrm>
          <a:off x="4663440" y="1042416"/>
          <a:ext cx="4023360" cy="2084832"/>
        </p:xfrm>
        <a:graphic xmlns:a="http://schemas.openxmlformats.org/drawingml/2006/main">
          <a:graphicData uri="http://schemas.openxmlformats.org/drawingml/2006/chart">
            <c:chart xmlns:c="http://schemas.openxmlformats.org/drawingml/2006/chart" r:id="rId1"/>
          </a:graphicData>
        </a:graphic>
      </p:graphicFrame>
      <p:sp>
        <p:nvSpPr>
          <p:cNvPr id="12" name="Text 9"/>
          <p:cNvSpPr txBox="1"/>
          <p:nvPr/>
        </p:nvSpPr>
        <p:spPr>
          <a:xfrm>
            <a:off x="4663440" y="3200400"/>
            <a:ext cx="4023360" cy="347472"/>
          </a:xfrm>
          <a:prstGeom prst="rect">
            <a:avLst/>
          </a:prstGeom>
          <a:noFill/>
          <a:ln/>
        </p:spPr>
        <p:txBody>
          <a:bodyPr wrap="square" lIns="0" tIns="0" rIns="0" bIns="0" rtlCol="0" anchor="ctr"/>
          <a:lstStyle/>
          <a:p>
            <a:pPr algn="ctr" indent="0" marL="0">
              <a:buNone/>
            </a:pPr>
            <a:r>
              <a:rPr lang="en-US" sz="1000" i="1" dirty="0">
                <a:solidFill>
                  <a:srgbClr val="5B6B7F"/>
                </a:solidFill>
                <a:latin typeface="Calibri" pitchFamily="34" charset="0"/>
                <a:ea typeface="Calibri" pitchFamily="34" charset="-122"/>
                <a:cs typeface="Calibri" pitchFamily="34" charset="-120"/>
              </a:rPr>
              <a:t>Jitter comes from the clock source as much as the ADC. Undersampling a high IF is exactly the case where jitter dominates, because the formula uses the…</a:t>
            </a:r>
            <a:endParaRPr lang="en-US" sz="1000" dirty="0"/>
          </a:p>
        </p:txBody>
      </p:sp>
      <p:sp>
        <p:nvSpPr>
          <p:cNvPr id="13" name="Shape 10"/>
          <p:cNvSpPr/>
          <p:nvPr/>
        </p:nvSpPr>
        <p:spPr>
          <a:xfrm>
            <a:off x="457200" y="3675888"/>
            <a:ext cx="4023360" cy="1024128"/>
          </a:xfrm>
          <a:prstGeom prst="roundRect">
            <a:avLst>
              <a:gd name="adj" fmla="val 7143"/>
            </a:avLst>
          </a:prstGeom>
          <a:solidFill>
            <a:srgbClr val="E4F7F4"/>
          </a:solidFill>
          <a:ln w="12700">
            <a:solidFill>
              <a:srgbClr val="E4F7F4"/>
            </a:solidFill>
            <a:prstDash val="solid"/>
          </a:ln>
        </p:spPr>
      </p:sp>
      <p:sp>
        <p:nvSpPr>
          <p:cNvPr id="14" name="Shape 11"/>
          <p:cNvSpPr/>
          <p:nvPr/>
        </p:nvSpPr>
        <p:spPr>
          <a:xfrm>
            <a:off x="566928" y="3776472"/>
            <a:ext cx="237744" cy="237744"/>
          </a:xfrm>
          <a:prstGeom prst="ellipse">
            <a:avLst/>
          </a:prstGeom>
          <a:solidFill>
            <a:srgbClr val="2EC4B6"/>
          </a:solidFill>
          <a:ln w="12700">
            <a:solidFill>
              <a:srgbClr val="2EC4B6"/>
            </a:solidFill>
            <a:prstDash val="solid"/>
          </a:ln>
        </p:spPr>
      </p:sp>
      <p:sp>
        <p:nvSpPr>
          <p:cNvPr id="15" name="Text 12"/>
          <p:cNvSpPr txBox="1"/>
          <p:nvPr/>
        </p:nvSpPr>
        <p:spPr>
          <a:xfrm>
            <a:off x="566928" y="3776472"/>
            <a:ext cx="237744" cy="237744"/>
          </a:xfrm>
          <a:prstGeom prst="rect">
            <a:avLst/>
          </a:prstGeom>
          <a:noFill/>
          <a:ln/>
        </p:spPr>
        <p:txBody>
          <a:bodyPr wrap="square" lIns="0" tIns="0" rIns="0" bIns="0" rtlCol="0" anchor="ctr"/>
          <a:lstStyle/>
          <a:p>
            <a:pPr algn="ctr" indent="0" marL="0">
              <a:buNone/>
            </a:pPr>
            <a:r>
              <a:rPr lang="en-US" sz="1200" b="1" dirty="0">
                <a:solidFill>
                  <a:srgbClr val="0B1F3A"/>
                </a:solidFill>
                <a:latin typeface="Calibri" pitchFamily="34" charset="0"/>
                <a:ea typeface="Calibri" pitchFamily="34" charset="-122"/>
                <a:cs typeface="Calibri" pitchFamily="34" charset="-120"/>
              </a:rPr>
              <a:t>≈</a:t>
            </a:r>
            <a:endParaRPr lang="en-US" sz="1200" dirty="0"/>
          </a:p>
        </p:txBody>
      </p:sp>
      <p:sp>
        <p:nvSpPr>
          <p:cNvPr id="16" name="Text 13"/>
          <p:cNvSpPr txBox="1"/>
          <p:nvPr/>
        </p:nvSpPr>
        <p:spPr>
          <a:xfrm>
            <a:off x="877824" y="3739896"/>
            <a:ext cx="3493008" cy="896112"/>
          </a:xfrm>
          <a:prstGeom prst="rect">
            <a:avLst/>
          </a:prstGeom>
          <a:noFill/>
          <a:ln/>
        </p:spPr>
        <p:txBody>
          <a:bodyPr wrap="square" lIns="0" tIns="0" rIns="0" bIns="0" rtlCol="0" anchor="t"/>
          <a:lstStyle/>
          <a:p>
            <a:pPr indent="0" marL="0">
              <a:buNone/>
            </a:pPr>
            <a:r>
              <a:rPr lang="en-US" sz="1050" b="1" dirty="0">
                <a:solidFill>
                  <a:srgbClr val="0B1F3A"/>
                </a:solidFill>
                <a:latin typeface="Calibri" pitchFamily="34" charset="0"/>
                <a:ea typeface="Calibri" pitchFamily="34" charset="-122"/>
                <a:cs typeface="Calibri" pitchFamily="34" charset="-120"/>
              </a:rPr>
              <a:t>Think of it like this  </a:t>
            </a:r>
            <a:pPr indent="0" marL="0">
              <a:buNone/>
            </a:pPr>
            <a:r>
              <a:rPr lang="en-US" sz="1050" dirty="0">
                <a:solidFill>
                  <a:srgbClr val="14213D"/>
                </a:solidFill>
                <a:latin typeface="Calibri" pitchFamily="34" charset="0"/>
                <a:ea typeface="Calibri" pitchFamily="34" charset="-122"/>
                <a:cs typeface="Calibri" pitchFamily="34" charset="-120"/>
              </a:rPr>
              <a:t>Photographing a sprinter with a shutter that fires a little early or late each time. The faster the runner, the more the same timing slip blurs the picture.</a:t>
            </a:r>
            <a:endParaRPr lang="en-US" sz="1050" dirty="0"/>
          </a:p>
        </p:txBody>
      </p:sp>
      <p:sp>
        <p:nvSpPr>
          <p:cNvPr id="17" name="Shape 14"/>
          <p:cNvSpPr/>
          <p:nvPr/>
        </p:nvSpPr>
        <p:spPr>
          <a:xfrm>
            <a:off x="4663440" y="3675888"/>
            <a:ext cx="4023360" cy="1024128"/>
          </a:xfrm>
          <a:prstGeom prst="roundRect">
            <a:avLst>
              <a:gd name="adj" fmla="val 7143"/>
            </a:avLst>
          </a:prstGeom>
          <a:solidFill>
            <a:srgbClr val="FFFFFF"/>
          </a:solidFill>
          <a:ln w="12700">
            <a:solidFill>
              <a:srgbClr val="0B1F3A"/>
            </a:solidFill>
            <a:prstDash val="solid"/>
          </a:ln>
        </p:spPr>
      </p:sp>
      <p:sp>
        <p:nvSpPr>
          <p:cNvPr id="18" name="Shape 15"/>
          <p:cNvSpPr/>
          <p:nvPr/>
        </p:nvSpPr>
        <p:spPr>
          <a:xfrm>
            <a:off x="4773168" y="3566160"/>
            <a:ext cx="914400" cy="219456"/>
          </a:xfrm>
          <a:prstGeom prst="roundRect">
            <a:avLst>
              <a:gd name="adj" fmla="val 25000"/>
            </a:avLst>
          </a:prstGeom>
          <a:solidFill>
            <a:srgbClr val="0B1F3A"/>
          </a:solidFill>
          <a:ln w="12700">
            <a:solidFill>
              <a:srgbClr val="0B1F3A"/>
            </a:solidFill>
            <a:prstDash val="solid"/>
          </a:ln>
        </p:spPr>
      </p:sp>
      <p:sp>
        <p:nvSpPr>
          <p:cNvPr id="19" name="Text 16"/>
          <p:cNvSpPr txBox="1"/>
          <p:nvPr/>
        </p:nvSpPr>
        <p:spPr>
          <a:xfrm>
            <a:off x="4773168" y="3566160"/>
            <a:ext cx="914400" cy="219456"/>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EXAMPLE</a:t>
            </a:r>
            <a:endParaRPr lang="en-US" sz="850" dirty="0"/>
          </a:p>
        </p:txBody>
      </p:sp>
      <p:sp>
        <p:nvSpPr>
          <p:cNvPr id="20" name="Text 17"/>
          <p:cNvSpPr txBox="1"/>
          <p:nvPr/>
        </p:nvSpPr>
        <p:spPr>
          <a:xfrm>
            <a:off x="4791456" y="3813048"/>
            <a:ext cx="3803904" cy="841248"/>
          </a:xfrm>
          <a:prstGeom prst="rect">
            <a:avLst/>
          </a:prstGeom>
          <a:noFill/>
          <a:ln/>
        </p:spPr>
        <p:txBody>
          <a:bodyPr wrap="square" lIns="0" tIns="0" rIns="0" bIns="0" rtlCol="0" anchor="t"/>
          <a:lstStyle/>
          <a:p>
            <a:pPr indent="0" marL="0">
              <a:spcAft>
                <a:spcPts val="100"/>
              </a:spcAft>
              <a:buNone/>
            </a:pPr>
            <a:r>
              <a:rPr lang="en-US" sz="900" b="1" dirty="0">
                <a:solidFill>
                  <a:srgbClr val="0B1F3A"/>
                </a:solidFill>
                <a:latin typeface="Calibri" pitchFamily="34" charset="0"/>
                <a:ea typeface="Calibri" pitchFamily="34" charset="-122"/>
                <a:cs typeface="Calibri" pitchFamily="34" charset="-120"/>
              </a:rPr>
              <a:t>The budget at 200 MHz</a:t>
            </a:r>
            <a:endParaRPr lang="en-US" sz="900" dirty="0"/>
          </a:p>
          <a:p>
            <a:pPr marL="114300" indent="-114300">
              <a:spcAft>
                <a:spcPts val="100"/>
              </a:spcAft>
              <a:buSzPct val="100000"/>
              <a:buChar char="•"/>
            </a:pPr>
            <a:r>
              <a:rPr lang="en-US" sz="900" dirty="0">
                <a:solidFill>
                  <a:srgbClr val="14213D"/>
                </a:solidFill>
                <a:latin typeface="Cambria" pitchFamily="34" charset="0"/>
                <a:ea typeface="Cambria" pitchFamily="34" charset="-122"/>
                <a:cs typeface="Cambria" pitchFamily="34" charset="-120"/>
              </a:rPr>
              <a:t>1 ps rms jitter: SNR limit = −20 log₁₀(2π × 2e8 × 1e−12) = 58 dB</a:t>
            </a:r>
            <a:endParaRPr lang="en-US" sz="900" dirty="0"/>
          </a:p>
          <a:p>
            <a:pPr marL="114300" indent="-114300">
              <a:spcAft>
                <a:spcPts val="100"/>
              </a:spcAft>
              <a:buSzPct val="100000"/>
              <a:buChar char="•"/>
            </a:pPr>
            <a:r>
              <a:rPr lang="en-US" sz="900" dirty="0">
                <a:solidFill>
                  <a:srgbClr val="14213D"/>
                </a:solidFill>
                <a:latin typeface="Cambria" pitchFamily="34" charset="0"/>
                <a:ea typeface="Cambria" pitchFamily="34" charset="-122"/>
                <a:cs typeface="Cambria" pitchFamily="34" charset="-120"/>
              </a:rPr>
              <a:t>That caps you at 9.3 effective bits, whatever the part claims</a:t>
            </a:r>
            <a:endParaRPr lang="en-US" sz="900" dirty="0"/>
          </a:p>
          <a:p>
            <a:pPr marL="114300" indent="-114300">
              <a:spcAft>
                <a:spcPts val="100"/>
              </a:spcAft>
              <a:buSzPct val="100000"/>
              <a:buChar char="•"/>
            </a:pPr>
            <a:r>
              <a:rPr lang="en-US" sz="900" dirty="0">
                <a:solidFill>
                  <a:srgbClr val="14213D"/>
                </a:solidFill>
                <a:latin typeface="Cambria" pitchFamily="34" charset="0"/>
                <a:ea typeface="Cambria" pitchFamily="34" charset="-122"/>
                <a:cs typeface="Cambria" pitchFamily="34" charset="-120"/>
              </a:rPr>
              <a:t>For 12 bits at 200 MHz you need about 160 fs — total, clock plus converter</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5404104" cy="640080"/>
          </a:xfrm>
          <a:prstGeom prst="rect">
            <a:avLst/>
          </a:prstGeom>
          <a:noFill/>
          <a:ln/>
        </p:spPr>
        <p:txBody>
          <a:bodyPr wrap="square" lIns="0" tIns="0" rIns="0" bIns="0" rtlCol="0" anchor="ctr"/>
          <a:lstStyle/>
          <a:p>
            <a:pPr indent="0" marL="0">
              <a:buNone/>
            </a:pPr>
            <a:r>
              <a:rPr lang="en-US" sz="2000" b="1" dirty="0">
                <a:solidFill>
                  <a:srgbClr val="0B1F3A"/>
                </a:solidFill>
                <a:latin typeface="Cambria" pitchFamily="34" charset="0"/>
                <a:ea typeface="Cambria" pitchFamily="34" charset="-122"/>
                <a:cs typeface="Cambria" pitchFamily="34" charset="-120"/>
              </a:rPr>
              <a:t>Acquisition and settling time</a:t>
            </a:r>
            <a:endParaRPr lang="en-US" sz="2000" dirty="0"/>
          </a:p>
        </p:txBody>
      </p:sp>
      <p:sp>
        <p:nvSpPr>
          <p:cNvPr id="3" name="Text 1"/>
          <p:cNvSpPr txBox="1"/>
          <p:nvPr/>
        </p:nvSpPr>
        <p:spPr>
          <a:xfrm>
            <a:off x="457200" y="4796028"/>
            <a:ext cx="4572000" cy="228600"/>
          </a:xfrm>
          <a:prstGeom prst="rect">
            <a:avLst/>
          </a:prstGeom>
          <a:noFill/>
          <a:ln/>
        </p:spPr>
        <p:txBody>
          <a:bodyPr wrap="square" lIns="0" tIns="0" rIns="0" bIns="0" rtlCol="0" anchor="ctr"/>
          <a:lstStyle/>
          <a:p>
            <a:pPr indent="0" marL="0">
              <a:buNone/>
            </a:pPr>
            <a:r>
              <a:rPr lang="en-US" sz="900" dirty="0">
                <a:solidFill>
                  <a:srgbClr val="5B6B7F"/>
                </a:solidFill>
                <a:latin typeface="Calibri" pitchFamily="34" charset="0"/>
                <a:ea typeface="Calibri" pitchFamily="34" charset="-122"/>
                <a:cs typeface="Calibri" pitchFamily="34" charset="-120"/>
              </a:rPr>
              <a:t>Part 4 · Speed and timing</a:t>
            </a:r>
            <a:endParaRPr lang="en-US" sz="900" dirty="0"/>
          </a:p>
        </p:txBody>
      </p:sp>
      <p:sp>
        <p:nvSpPr>
          <p:cNvPr id="4" name="Text 2"/>
          <p:cNvSpPr txBox="1"/>
          <p:nvPr/>
        </p:nvSpPr>
        <p:spPr>
          <a:xfrm>
            <a:off x="7772400" y="4796028"/>
            <a:ext cx="914400" cy="228600"/>
          </a:xfrm>
          <a:prstGeom prst="rect">
            <a:avLst/>
          </a:prstGeom>
          <a:noFill/>
          <a:ln/>
        </p:spPr>
        <p:txBody>
          <a:bodyPr wrap="square" lIns="0" tIns="0" rIns="0" bIns="0" rtlCol="0" anchor="ctr"/>
          <a:lstStyle/>
          <a:p>
            <a:pPr algn="r" indent="0" marL="0">
              <a:buNone/>
            </a:pPr>
            <a:r>
              <a:rPr lang="en-US" sz="900" dirty="0">
                <a:solidFill>
                  <a:srgbClr val="5B6B7F"/>
                </a:solidFill>
                <a:latin typeface="Calibri" pitchFamily="34" charset="0"/>
                <a:ea typeface="Calibri" pitchFamily="34" charset="-122"/>
                <a:cs typeface="Calibri" pitchFamily="34" charset="-120"/>
              </a:rPr>
              <a:t>38</a:t>
            </a:r>
            <a:endParaRPr lang="en-US" sz="900" dirty="0"/>
          </a:p>
        </p:txBody>
      </p:sp>
      <p:sp>
        <p:nvSpPr>
          <p:cNvPr id="5" name="Shape 3"/>
          <p:cNvSpPr/>
          <p:nvPr/>
        </p:nvSpPr>
        <p:spPr>
          <a:xfrm>
            <a:off x="6089904" y="384048"/>
            <a:ext cx="2596896" cy="384048"/>
          </a:xfrm>
          <a:prstGeom prst="roundRect">
            <a:avLst>
              <a:gd name="adj" fmla="val 19048"/>
            </a:avLst>
          </a:prstGeom>
          <a:solidFill>
            <a:srgbClr val="EEF3F8"/>
          </a:solidFill>
          <a:ln w="12700">
            <a:solidFill>
              <a:srgbClr val="EEF3F8"/>
            </a:solidFill>
            <a:prstDash val="solid"/>
          </a:ln>
        </p:spPr>
      </p:sp>
      <p:sp>
        <p:nvSpPr>
          <p:cNvPr id="6" name="Text 4"/>
          <p:cNvSpPr txBox="1"/>
          <p:nvPr/>
        </p:nvSpPr>
        <p:spPr>
          <a:xfrm>
            <a:off x="6089904" y="384048"/>
            <a:ext cx="2596896" cy="384048"/>
          </a:xfrm>
          <a:prstGeom prst="rect">
            <a:avLst/>
          </a:prstGeom>
          <a:noFill/>
          <a:ln/>
        </p:spPr>
        <p:txBody>
          <a:bodyPr wrap="square" lIns="0" tIns="0" rIns="0" bIns="0" rtlCol="0" anchor="ctr"/>
          <a:lstStyle/>
          <a:p>
            <a:pPr algn="ctr" indent="0" marL="0">
              <a:buNone/>
            </a:pPr>
            <a:r>
              <a:rPr lang="en-US" sz="1200" b="1" dirty="0">
                <a:solidFill>
                  <a:srgbClr val="0B1F3A"/>
                </a:solidFill>
                <a:latin typeface="Cambria" pitchFamily="34" charset="0"/>
                <a:ea typeface="Cambria" pitchFamily="34" charset="-122"/>
                <a:cs typeface="Cambria" pitchFamily="34" charset="-120"/>
              </a:rPr>
              <a:t>t_acq, t_s   ·   s</a:t>
            </a:r>
            <a:endParaRPr lang="en-US" sz="1200" dirty="0"/>
          </a:p>
        </p:txBody>
      </p:sp>
      <p:sp>
        <p:nvSpPr>
          <p:cNvPr id="7" name="Text 5"/>
          <p:cNvSpPr txBox="1"/>
          <p:nvPr/>
        </p:nvSpPr>
        <p:spPr>
          <a:xfrm>
            <a:off x="457200" y="1042416"/>
            <a:ext cx="4023360" cy="1207008"/>
          </a:xfrm>
          <a:prstGeom prst="rect">
            <a:avLst/>
          </a:prstGeom>
          <a:noFill/>
          <a:ln/>
        </p:spPr>
        <p:txBody>
          <a:bodyPr wrap="square" lIns="0" tIns="0" rIns="0" bIns="0" rtlCol="0" anchor="t"/>
          <a:lstStyle/>
          <a:p>
            <a:pPr indent="0" marL="0">
              <a:buNone/>
            </a:pPr>
            <a:r>
              <a:rPr lang="en-US" sz="1150" dirty="0">
                <a:solidFill>
                  <a:srgbClr val="14213D"/>
                </a:solidFill>
                <a:latin typeface="Calibri" pitchFamily="34" charset="0"/>
                <a:ea typeface="Calibri" pitchFamily="34" charset="-122"/>
                <a:cs typeface="Calibri" pitchFamily="34" charset="-120"/>
              </a:rPr>
              <a:t>During the track phase the hold capacitor has to charge to within half an LSB of the input. More bits means a tighter target and therefore more time constants — and this is what sets the demands on whatever amplifier drives the converter.</a:t>
            </a:r>
            <a:endParaRPr lang="en-US" sz="1150" dirty="0"/>
          </a:p>
        </p:txBody>
      </p:sp>
      <p:sp>
        <p:nvSpPr>
          <p:cNvPr id="8" name="Shape 6"/>
          <p:cNvSpPr/>
          <p:nvPr/>
        </p:nvSpPr>
        <p:spPr>
          <a:xfrm>
            <a:off x="457200" y="2304288"/>
            <a:ext cx="4023360" cy="868680"/>
          </a:xfrm>
          <a:prstGeom prst="roundRect">
            <a:avLst>
              <a:gd name="adj" fmla="val 8421"/>
            </a:avLst>
          </a:prstGeom>
          <a:solidFill>
            <a:srgbClr val="EEF3F8"/>
          </a:solidFill>
          <a:ln w="12700">
            <a:solidFill>
              <a:srgbClr val="EEF3F8"/>
            </a:solidFill>
            <a:prstDash val="solid"/>
          </a:ln>
        </p:spPr>
      </p:sp>
      <p:sp>
        <p:nvSpPr>
          <p:cNvPr id="9" name="Text 7"/>
          <p:cNvSpPr txBox="1"/>
          <p:nvPr/>
        </p:nvSpPr>
        <p:spPr>
          <a:xfrm>
            <a:off x="594360" y="2304288"/>
            <a:ext cx="3749040" cy="612648"/>
          </a:xfrm>
          <a:prstGeom prst="rect">
            <a:avLst/>
          </a:prstGeom>
          <a:noFill/>
          <a:ln/>
        </p:spPr>
        <p:txBody>
          <a:bodyPr wrap="square" lIns="0" tIns="0" rIns="0" bIns="0" rtlCol="0" anchor="ctr"/>
          <a:lstStyle/>
          <a:p>
            <a:pPr algn="ctr" indent="0" marL="0">
              <a:buNone/>
            </a:pPr>
            <a:r>
              <a:rPr lang="en-US" sz="1500" dirty="0">
                <a:solidFill>
                  <a:srgbClr val="0B1F3A"/>
                </a:solidFill>
                <a:latin typeface="Cambria" pitchFamily="34" charset="0"/>
                <a:ea typeface="Cambria" pitchFamily="34" charset="-122"/>
                <a:cs typeface="Cambria" pitchFamily="34" charset="-120"/>
              </a:rPr>
              <a:t>error = FSR × e^(−t/τ)</a:t>
            </a:r>
            <a:endParaRPr lang="en-US" sz="1500" dirty="0"/>
          </a:p>
        </p:txBody>
      </p:sp>
      <p:sp>
        <p:nvSpPr>
          <p:cNvPr id="10" name="Text 8"/>
          <p:cNvSpPr txBox="1"/>
          <p:nvPr/>
        </p:nvSpPr>
        <p:spPr>
          <a:xfrm>
            <a:off x="594360" y="2871216"/>
            <a:ext cx="3749040" cy="256032"/>
          </a:xfrm>
          <a:prstGeom prst="rect">
            <a:avLst/>
          </a:prstGeom>
          <a:noFill/>
          <a:ln/>
        </p:spPr>
        <p:txBody>
          <a:bodyPr wrap="square" lIns="0" tIns="0" rIns="0" bIns="0" rtlCol="0" anchor="t"/>
          <a:lstStyle/>
          <a:p>
            <a:pPr algn="ctr" indent="0" marL="0">
              <a:buNone/>
            </a:pPr>
            <a:r>
              <a:rPr lang="en-US" sz="1000" dirty="0">
                <a:solidFill>
                  <a:srgbClr val="5B6B7F"/>
                </a:solidFill>
                <a:latin typeface="Calibri" pitchFamily="34" charset="0"/>
                <a:ea typeface="Calibri" pitchFamily="34" charset="-122"/>
                <a:cs typeface="Calibri" pitchFamily="34" charset="-120"/>
              </a:rPr>
              <a:t>Single-pole settling</a:t>
            </a:r>
            <a:endParaRPr lang="en-US" sz="1000" dirty="0"/>
          </a:p>
        </p:txBody>
      </p:sp>
      <p:graphicFrame>
        <p:nvGraphicFramePr>
          <p:cNvPr id="11" name="Chart 0" descr=""/>
          <p:cNvGraphicFramePr/>
          <p:nvPr/>
        </p:nvGraphicFramePr>
        <p:xfrm>
          <a:off x="4663440" y="1042416"/>
          <a:ext cx="4023360" cy="2084832"/>
        </p:xfrm>
        <a:graphic xmlns:a="http://schemas.openxmlformats.org/drawingml/2006/main">
          <a:graphicData uri="http://schemas.openxmlformats.org/drawingml/2006/chart">
            <c:chart xmlns:c="http://schemas.openxmlformats.org/drawingml/2006/chart" r:id="rId1"/>
          </a:graphicData>
        </a:graphic>
      </p:graphicFrame>
      <p:sp>
        <p:nvSpPr>
          <p:cNvPr id="12" name="Text 9"/>
          <p:cNvSpPr txBox="1"/>
          <p:nvPr/>
        </p:nvSpPr>
        <p:spPr>
          <a:xfrm>
            <a:off x="4663440" y="3200400"/>
            <a:ext cx="4023360" cy="347472"/>
          </a:xfrm>
          <a:prstGeom prst="rect">
            <a:avLst/>
          </a:prstGeom>
          <a:noFill/>
          <a:ln/>
        </p:spPr>
        <p:txBody>
          <a:bodyPr wrap="square" lIns="0" tIns="0" rIns="0" bIns="0" rtlCol="0" anchor="ctr"/>
          <a:lstStyle/>
          <a:p>
            <a:pPr algn="ctr" indent="0" marL="0">
              <a:buNone/>
            </a:pPr>
            <a:r>
              <a:rPr lang="en-US" sz="1000" i="1" dirty="0">
                <a:solidFill>
                  <a:srgbClr val="5B6B7F"/>
                </a:solidFill>
                <a:latin typeface="Calibri" pitchFamily="34" charset="0"/>
                <a:ea typeface="Calibri" pitchFamily="34" charset="-122"/>
                <a:cs typeface="Calibri" pitchFamily="34" charset="-120"/>
              </a:rPr>
              <a:t>Under-settling looks exactly like distortion in the FFT, because the error depends on how far the input moved. Most "the ADC is bad" reports are really…</a:t>
            </a:r>
            <a:endParaRPr lang="en-US" sz="1000" dirty="0"/>
          </a:p>
        </p:txBody>
      </p:sp>
      <p:sp>
        <p:nvSpPr>
          <p:cNvPr id="13" name="Shape 10"/>
          <p:cNvSpPr/>
          <p:nvPr/>
        </p:nvSpPr>
        <p:spPr>
          <a:xfrm>
            <a:off x="457200" y="3675888"/>
            <a:ext cx="4023360" cy="1024128"/>
          </a:xfrm>
          <a:prstGeom prst="roundRect">
            <a:avLst>
              <a:gd name="adj" fmla="val 7143"/>
            </a:avLst>
          </a:prstGeom>
          <a:solidFill>
            <a:srgbClr val="E4F7F4"/>
          </a:solidFill>
          <a:ln w="12700">
            <a:solidFill>
              <a:srgbClr val="E4F7F4"/>
            </a:solidFill>
            <a:prstDash val="solid"/>
          </a:ln>
        </p:spPr>
      </p:sp>
      <p:sp>
        <p:nvSpPr>
          <p:cNvPr id="14" name="Shape 11"/>
          <p:cNvSpPr/>
          <p:nvPr/>
        </p:nvSpPr>
        <p:spPr>
          <a:xfrm>
            <a:off x="566928" y="3776472"/>
            <a:ext cx="237744" cy="237744"/>
          </a:xfrm>
          <a:prstGeom prst="ellipse">
            <a:avLst/>
          </a:prstGeom>
          <a:solidFill>
            <a:srgbClr val="2EC4B6"/>
          </a:solidFill>
          <a:ln w="12700">
            <a:solidFill>
              <a:srgbClr val="2EC4B6"/>
            </a:solidFill>
            <a:prstDash val="solid"/>
          </a:ln>
        </p:spPr>
      </p:sp>
      <p:sp>
        <p:nvSpPr>
          <p:cNvPr id="15" name="Text 12"/>
          <p:cNvSpPr txBox="1"/>
          <p:nvPr/>
        </p:nvSpPr>
        <p:spPr>
          <a:xfrm>
            <a:off x="566928" y="3776472"/>
            <a:ext cx="237744" cy="237744"/>
          </a:xfrm>
          <a:prstGeom prst="rect">
            <a:avLst/>
          </a:prstGeom>
          <a:noFill/>
          <a:ln/>
        </p:spPr>
        <p:txBody>
          <a:bodyPr wrap="square" lIns="0" tIns="0" rIns="0" bIns="0" rtlCol="0" anchor="ctr"/>
          <a:lstStyle/>
          <a:p>
            <a:pPr algn="ctr" indent="0" marL="0">
              <a:buNone/>
            </a:pPr>
            <a:r>
              <a:rPr lang="en-US" sz="1200" b="1" dirty="0">
                <a:solidFill>
                  <a:srgbClr val="0B1F3A"/>
                </a:solidFill>
                <a:latin typeface="Calibri" pitchFamily="34" charset="0"/>
                <a:ea typeface="Calibri" pitchFamily="34" charset="-122"/>
                <a:cs typeface="Calibri" pitchFamily="34" charset="-120"/>
              </a:rPr>
              <a:t>≈</a:t>
            </a:r>
            <a:endParaRPr lang="en-US" sz="1200" dirty="0"/>
          </a:p>
        </p:txBody>
      </p:sp>
      <p:sp>
        <p:nvSpPr>
          <p:cNvPr id="16" name="Text 13"/>
          <p:cNvSpPr txBox="1"/>
          <p:nvPr/>
        </p:nvSpPr>
        <p:spPr>
          <a:xfrm>
            <a:off x="877824" y="3739896"/>
            <a:ext cx="3493008" cy="896112"/>
          </a:xfrm>
          <a:prstGeom prst="rect">
            <a:avLst/>
          </a:prstGeom>
          <a:noFill/>
          <a:ln/>
        </p:spPr>
        <p:txBody>
          <a:bodyPr wrap="square" lIns="0" tIns="0" rIns="0" bIns="0" rtlCol="0" anchor="t"/>
          <a:lstStyle/>
          <a:p>
            <a:pPr indent="0" marL="0">
              <a:buNone/>
            </a:pPr>
            <a:r>
              <a:rPr lang="en-US" sz="1050" b="1" dirty="0">
                <a:solidFill>
                  <a:srgbClr val="0B1F3A"/>
                </a:solidFill>
                <a:latin typeface="Calibri" pitchFamily="34" charset="0"/>
                <a:ea typeface="Calibri" pitchFamily="34" charset="-122"/>
                <a:cs typeface="Calibri" pitchFamily="34" charset="-120"/>
              </a:rPr>
              <a:t>Think of it like this  </a:t>
            </a:r>
            <a:pPr indent="0" marL="0">
              <a:buNone/>
            </a:pPr>
            <a:r>
              <a:rPr lang="en-US" sz="1050" dirty="0">
                <a:solidFill>
                  <a:srgbClr val="14213D"/>
                </a:solidFill>
                <a:latin typeface="Calibri" pitchFamily="34" charset="0"/>
                <a:ea typeface="Calibri" pitchFamily="34" charset="-122"/>
                <a:cs typeface="Calibri" pitchFamily="34" charset="-120"/>
              </a:rPr>
              <a:t>Filling a measuring jug from a tap. Getting roughly full is quick; getting to the exact line, with the surface completely still, takes far longer.</a:t>
            </a:r>
            <a:endParaRPr lang="en-US" sz="1050" dirty="0"/>
          </a:p>
        </p:txBody>
      </p:sp>
      <p:sp>
        <p:nvSpPr>
          <p:cNvPr id="17" name="Shape 14"/>
          <p:cNvSpPr/>
          <p:nvPr/>
        </p:nvSpPr>
        <p:spPr>
          <a:xfrm>
            <a:off x="4663440" y="3675888"/>
            <a:ext cx="4023360" cy="1024128"/>
          </a:xfrm>
          <a:prstGeom prst="roundRect">
            <a:avLst>
              <a:gd name="adj" fmla="val 7143"/>
            </a:avLst>
          </a:prstGeom>
          <a:solidFill>
            <a:srgbClr val="FFFFFF"/>
          </a:solidFill>
          <a:ln w="12700">
            <a:solidFill>
              <a:srgbClr val="0B1F3A"/>
            </a:solidFill>
            <a:prstDash val="solid"/>
          </a:ln>
        </p:spPr>
      </p:sp>
      <p:sp>
        <p:nvSpPr>
          <p:cNvPr id="18" name="Shape 15"/>
          <p:cNvSpPr/>
          <p:nvPr/>
        </p:nvSpPr>
        <p:spPr>
          <a:xfrm>
            <a:off x="4773168" y="3566160"/>
            <a:ext cx="914400" cy="219456"/>
          </a:xfrm>
          <a:prstGeom prst="roundRect">
            <a:avLst>
              <a:gd name="adj" fmla="val 25000"/>
            </a:avLst>
          </a:prstGeom>
          <a:solidFill>
            <a:srgbClr val="0B1F3A"/>
          </a:solidFill>
          <a:ln w="12700">
            <a:solidFill>
              <a:srgbClr val="0B1F3A"/>
            </a:solidFill>
            <a:prstDash val="solid"/>
          </a:ln>
        </p:spPr>
      </p:sp>
      <p:sp>
        <p:nvSpPr>
          <p:cNvPr id="19" name="Text 16"/>
          <p:cNvSpPr txBox="1"/>
          <p:nvPr/>
        </p:nvSpPr>
        <p:spPr>
          <a:xfrm>
            <a:off x="4773168" y="3566160"/>
            <a:ext cx="914400" cy="219456"/>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EXAMPLE</a:t>
            </a:r>
            <a:endParaRPr lang="en-US" sz="850" dirty="0"/>
          </a:p>
        </p:txBody>
      </p:sp>
      <p:sp>
        <p:nvSpPr>
          <p:cNvPr id="20" name="Text 17"/>
          <p:cNvSpPr txBox="1"/>
          <p:nvPr/>
        </p:nvSpPr>
        <p:spPr>
          <a:xfrm>
            <a:off x="4791456" y="3813048"/>
            <a:ext cx="3803904" cy="841248"/>
          </a:xfrm>
          <a:prstGeom prst="rect">
            <a:avLst/>
          </a:prstGeom>
          <a:noFill/>
          <a:ln/>
        </p:spPr>
        <p:txBody>
          <a:bodyPr wrap="square" lIns="0" tIns="0" rIns="0" bIns="0" rtlCol="0" anchor="t"/>
          <a:lstStyle/>
          <a:p>
            <a:pPr indent="0" marL="0">
              <a:spcAft>
                <a:spcPts val="100"/>
              </a:spcAft>
              <a:buNone/>
            </a:pPr>
            <a:r>
              <a:rPr lang="en-US" sz="900" b="1" dirty="0">
                <a:solidFill>
                  <a:srgbClr val="0B1F3A"/>
                </a:solidFill>
                <a:latin typeface="Calibri" pitchFamily="34" charset="0"/>
                <a:ea typeface="Calibri" pitchFamily="34" charset="-122"/>
                <a:cs typeface="Calibri" pitchFamily="34" charset="-120"/>
              </a:rPr>
              <a:t>Driving a 16-bit SAR at 1 MSPS</a:t>
            </a:r>
            <a:endParaRPr lang="en-US" sz="900" dirty="0"/>
          </a:p>
          <a:p>
            <a:pPr marL="114300" indent="-114300">
              <a:spcAft>
                <a:spcPts val="100"/>
              </a:spcAft>
              <a:buSzPct val="100000"/>
              <a:buChar char="•"/>
            </a:pPr>
            <a:r>
              <a:rPr lang="en-US" sz="900" dirty="0">
                <a:solidFill>
                  <a:srgbClr val="14213D"/>
                </a:solidFill>
                <a:latin typeface="Cambria" pitchFamily="34" charset="0"/>
                <a:ea typeface="Cambria" pitchFamily="34" charset="-122"/>
                <a:cs typeface="Cambria" pitchFamily="34" charset="-120"/>
              </a:rPr>
              <a:t>Track time available: about 500 ns</a:t>
            </a:r>
            <a:endParaRPr lang="en-US" sz="900" dirty="0"/>
          </a:p>
          <a:p>
            <a:pPr marL="114300" indent="-114300">
              <a:spcAft>
                <a:spcPts val="100"/>
              </a:spcAft>
              <a:buSzPct val="100000"/>
              <a:buChar char="•"/>
            </a:pPr>
            <a:r>
              <a:rPr lang="en-US" sz="900" dirty="0">
                <a:solidFill>
                  <a:srgbClr val="14213D"/>
                </a:solidFill>
                <a:latin typeface="Cambria" pitchFamily="34" charset="0"/>
                <a:ea typeface="Cambria" pitchFamily="34" charset="-122"/>
                <a:cs typeface="Cambria" pitchFamily="34" charset="-120"/>
              </a:rPr>
              <a:t>16 bits needs 11.8 time constants, so τ &lt; 42 ns</a:t>
            </a:r>
            <a:endParaRPr lang="en-US" sz="900" dirty="0"/>
          </a:p>
          <a:p>
            <a:pPr marL="114300" indent="-114300">
              <a:spcAft>
                <a:spcPts val="100"/>
              </a:spcAft>
              <a:buSzPct val="100000"/>
              <a:buChar char="•"/>
            </a:pPr>
            <a:r>
              <a:rPr lang="en-US" sz="900" dirty="0">
                <a:solidFill>
                  <a:srgbClr val="14213D"/>
                </a:solidFill>
                <a:latin typeface="Cambria" pitchFamily="34" charset="0"/>
                <a:ea typeface="Cambria" pitchFamily="34" charset="-122"/>
                <a:cs typeface="Cambria" pitchFamily="34" charset="-120"/>
              </a:rPr>
              <a:t>That means an amplifier bandwidth above 3.8 MHz, settling to 0.0008 % — not a casual op-amp</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4809744" cy="640080"/>
          </a:xfrm>
          <a:prstGeom prst="rect">
            <a:avLst/>
          </a:prstGeom>
          <a:noFill/>
          <a:ln/>
        </p:spPr>
        <p:txBody>
          <a:bodyPr wrap="square" lIns="0" tIns="0" rIns="0" bIns="0" rtlCol="0" anchor="ctr"/>
          <a:lstStyle/>
          <a:p>
            <a:pPr indent="0" marL="0">
              <a:buNone/>
            </a:pPr>
            <a:r>
              <a:rPr lang="en-US" sz="1800" b="1" dirty="0">
                <a:solidFill>
                  <a:srgbClr val="0B1F3A"/>
                </a:solidFill>
                <a:latin typeface="Cambria" pitchFamily="34" charset="0"/>
                <a:ea typeface="Cambria" pitchFamily="34" charset="-122"/>
                <a:cs typeface="Cambria" pitchFamily="34" charset="-120"/>
              </a:rPr>
              <a:t>Slew rate and overvoltage recovery</a:t>
            </a:r>
            <a:endParaRPr lang="en-US" sz="1800" dirty="0"/>
          </a:p>
        </p:txBody>
      </p:sp>
      <p:sp>
        <p:nvSpPr>
          <p:cNvPr id="3" name="Text 1"/>
          <p:cNvSpPr txBox="1"/>
          <p:nvPr/>
        </p:nvSpPr>
        <p:spPr>
          <a:xfrm>
            <a:off x="457200" y="4796028"/>
            <a:ext cx="4572000" cy="228600"/>
          </a:xfrm>
          <a:prstGeom prst="rect">
            <a:avLst/>
          </a:prstGeom>
          <a:noFill/>
          <a:ln/>
        </p:spPr>
        <p:txBody>
          <a:bodyPr wrap="square" lIns="0" tIns="0" rIns="0" bIns="0" rtlCol="0" anchor="ctr"/>
          <a:lstStyle/>
          <a:p>
            <a:pPr indent="0" marL="0">
              <a:buNone/>
            </a:pPr>
            <a:r>
              <a:rPr lang="en-US" sz="900" dirty="0">
                <a:solidFill>
                  <a:srgbClr val="5B6B7F"/>
                </a:solidFill>
                <a:latin typeface="Calibri" pitchFamily="34" charset="0"/>
                <a:ea typeface="Calibri" pitchFamily="34" charset="-122"/>
                <a:cs typeface="Calibri" pitchFamily="34" charset="-120"/>
              </a:rPr>
              <a:t>Part 4 · Speed and timing</a:t>
            </a:r>
            <a:endParaRPr lang="en-US" sz="900" dirty="0"/>
          </a:p>
        </p:txBody>
      </p:sp>
      <p:sp>
        <p:nvSpPr>
          <p:cNvPr id="4" name="Text 2"/>
          <p:cNvSpPr txBox="1"/>
          <p:nvPr/>
        </p:nvSpPr>
        <p:spPr>
          <a:xfrm>
            <a:off x="7772400" y="4796028"/>
            <a:ext cx="914400" cy="228600"/>
          </a:xfrm>
          <a:prstGeom prst="rect">
            <a:avLst/>
          </a:prstGeom>
          <a:noFill/>
          <a:ln/>
        </p:spPr>
        <p:txBody>
          <a:bodyPr wrap="square" lIns="0" tIns="0" rIns="0" bIns="0" rtlCol="0" anchor="ctr"/>
          <a:lstStyle/>
          <a:p>
            <a:pPr algn="r" indent="0" marL="0">
              <a:buNone/>
            </a:pPr>
            <a:r>
              <a:rPr lang="en-US" sz="900" dirty="0">
                <a:solidFill>
                  <a:srgbClr val="5B6B7F"/>
                </a:solidFill>
                <a:latin typeface="Calibri" pitchFamily="34" charset="0"/>
                <a:ea typeface="Calibri" pitchFamily="34" charset="-122"/>
                <a:cs typeface="Calibri" pitchFamily="34" charset="-120"/>
              </a:rPr>
              <a:t>39</a:t>
            </a:r>
            <a:endParaRPr lang="en-US" sz="900" dirty="0"/>
          </a:p>
        </p:txBody>
      </p:sp>
      <p:sp>
        <p:nvSpPr>
          <p:cNvPr id="5" name="Shape 3"/>
          <p:cNvSpPr/>
          <p:nvPr/>
        </p:nvSpPr>
        <p:spPr>
          <a:xfrm>
            <a:off x="5495544" y="384048"/>
            <a:ext cx="3191256" cy="384048"/>
          </a:xfrm>
          <a:prstGeom prst="roundRect">
            <a:avLst>
              <a:gd name="adj" fmla="val 19048"/>
            </a:avLst>
          </a:prstGeom>
          <a:solidFill>
            <a:srgbClr val="EEF3F8"/>
          </a:solidFill>
          <a:ln w="12700">
            <a:solidFill>
              <a:srgbClr val="EEF3F8"/>
            </a:solidFill>
            <a:prstDash val="solid"/>
          </a:ln>
        </p:spPr>
      </p:sp>
      <p:sp>
        <p:nvSpPr>
          <p:cNvPr id="6" name="Text 4"/>
          <p:cNvSpPr txBox="1"/>
          <p:nvPr/>
        </p:nvSpPr>
        <p:spPr>
          <a:xfrm>
            <a:off x="5495544" y="384048"/>
            <a:ext cx="3191256" cy="384048"/>
          </a:xfrm>
          <a:prstGeom prst="rect">
            <a:avLst/>
          </a:prstGeom>
          <a:noFill/>
          <a:ln/>
        </p:spPr>
        <p:txBody>
          <a:bodyPr wrap="square" lIns="0" tIns="0" rIns="0" bIns="0" rtlCol="0" anchor="ctr"/>
          <a:lstStyle/>
          <a:p>
            <a:pPr algn="ctr" indent="0" marL="0">
              <a:buNone/>
            </a:pPr>
            <a:r>
              <a:rPr lang="en-US" sz="1200" b="1" dirty="0">
                <a:solidFill>
                  <a:srgbClr val="0B1F3A"/>
                </a:solidFill>
                <a:latin typeface="Cambria" pitchFamily="34" charset="0"/>
                <a:ea typeface="Cambria" pitchFamily="34" charset="-122"/>
                <a:cs typeface="Cambria" pitchFamily="34" charset="-120"/>
              </a:rPr>
              <a:t>SR, t_rec   ·   V/µs, s</a:t>
            </a:r>
            <a:endParaRPr lang="en-US" sz="1200" dirty="0"/>
          </a:p>
        </p:txBody>
      </p:sp>
      <p:sp>
        <p:nvSpPr>
          <p:cNvPr id="7" name="Text 5"/>
          <p:cNvSpPr txBox="1"/>
          <p:nvPr/>
        </p:nvSpPr>
        <p:spPr>
          <a:xfrm>
            <a:off x="457200" y="1042416"/>
            <a:ext cx="4023360" cy="1207008"/>
          </a:xfrm>
          <a:prstGeom prst="rect">
            <a:avLst/>
          </a:prstGeom>
          <a:noFill/>
          <a:ln/>
        </p:spPr>
        <p:txBody>
          <a:bodyPr wrap="square" lIns="0" tIns="0" rIns="0" bIns="0" rtlCol="0" anchor="t"/>
          <a:lstStyle/>
          <a:p>
            <a:pPr indent="0" marL="0">
              <a:buNone/>
            </a:pPr>
            <a:r>
              <a:rPr lang="en-US" sz="1150" dirty="0">
                <a:solidFill>
                  <a:srgbClr val="14213D"/>
                </a:solidFill>
                <a:latin typeface="Calibri" pitchFamily="34" charset="0"/>
                <a:ea typeface="Calibri" pitchFamily="34" charset="-122"/>
                <a:cs typeface="Calibri" pitchFamily="34" charset="-120"/>
              </a:rPr>
              <a:t>Slew rate is how fast the driving circuit can move its output; if the signal demands more, the peaks are flattened and the spectrum fills with harmonics. Overvoltage recovery is how long the input takes to behave again after being driven past full scale.</a:t>
            </a:r>
            <a:endParaRPr lang="en-US" sz="1150" dirty="0"/>
          </a:p>
        </p:txBody>
      </p:sp>
      <p:sp>
        <p:nvSpPr>
          <p:cNvPr id="8" name="Shape 6"/>
          <p:cNvSpPr/>
          <p:nvPr/>
        </p:nvSpPr>
        <p:spPr>
          <a:xfrm>
            <a:off x="457200" y="2304288"/>
            <a:ext cx="4023360" cy="868680"/>
          </a:xfrm>
          <a:prstGeom prst="roundRect">
            <a:avLst>
              <a:gd name="adj" fmla="val 8421"/>
            </a:avLst>
          </a:prstGeom>
          <a:solidFill>
            <a:srgbClr val="EEF3F8"/>
          </a:solidFill>
          <a:ln w="12700">
            <a:solidFill>
              <a:srgbClr val="EEF3F8"/>
            </a:solidFill>
            <a:prstDash val="solid"/>
          </a:ln>
        </p:spPr>
      </p:sp>
      <p:sp>
        <p:nvSpPr>
          <p:cNvPr id="9" name="Text 7"/>
          <p:cNvSpPr txBox="1"/>
          <p:nvPr/>
        </p:nvSpPr>
        <p:spPr>
          <a:xfrm>
            <a:off x="594360" y="2304288"/>
            <a:ext cx="3749040" cy="612648"/>
          </a:xfrm>
          <a:prstGeom prst="rect">
            <a:avLst/>
          </a:prstGeom>
          <a:noFill/>
          <a:ln/>
        </p:spPr>
        <p:txBody>
          <a:bodyPr wrap="square" lIns="0" tIns="0" rIns="0" bIns="0" rtlCol="0" anchor="ctr"/>
          <a:lstStyle/>
          <a:p>
            <a:pPr algn="ctr" indent="0" marL="0">
              <a:buNone/>
            </a:pPr>
            <a:r>
              <a:rPr lang="en-US" sz="1500" dirty="0">
                <a:solidFill>
                  <a:srgbClr val="0B1F3A"/>
                </a:solidFill>
                <a:latin typeface="Cambria" pitchFamily="34" charset="0"/>
                <a:ea typeface="Cambria" pitchFamily="34" charset="-122"/>
                <a:cs typeface="Cambria" pitchFamily="34" charset="-120"/>
              </a:rPr>
              <a:t>SR_needed = π × FSR × f</a:t>
            </a:r>
            <a:endParaRPr lang="en-US" sz="1500" dirty="0"/>
          </a:p>
        </p:txBody>
      </p:sp>
      <p:sp>
        <p:nvSpPr>
          <p:cNvPr id="10" name="Text 8"/>
          <p:cNvSpPr txBox="1"/>
          <p:nvPr/>
        </p:nvSpPr>
        <p:spPr>
          <a:xfrm>
            <a:off x="594360" y="2871216"/>
            <a:ext cx="3749040" cy="256032"/>
          </a:xfrm>
          <a:prstGeom prst="rect">
            <a:avLst/>
          </a:prstGeom>
          <a:noFill/>
          <a:ln/>
        </p:spPr>
        <p:txBody>
          <a:bodyPr wrap="square" lIns="0" tIns="0" rIns="0" bIns="0" rtlCol="0" anchor="t"/>
          <a:lstStyle/>
          <a:p>
            <a:pPr algn="ctr" indent="0" marL="0">
              <a:buNone/>
            </a:pPr>
            <a:r>
              <a:rPr lang="en-US" sz="1000" dirty="0">
                <a:solidFill>
                  <a:srgbClr val="5B6B7F"/>
                </a:solidFill>
                <a:latin typeface="Calibri" pitchFamily="34" charset="0"/>
                <a:ea typeface="Calibri" pitchFamily="34" charset="-122"/>
                <a:cs typeface="Calibri" pitchFamily="34" charset="-120"/>
              </a:rPr>
              <a:t>Peak slope of a full-scale sine</a:t>
            </a:r>
            <a:endParaRPr lang="en-US" sz="1000" dirty="0"/>
          </a:p>
        </p:txBody>
      </p:sp>
      <p:graphicFrame>
        <p:nvGraphicFramePr>
          <p:cNvPr id="11" name="Chart 0" descr=""/>
          <p:cNvGraphicFramePr/>
          <p:nvPr/>
        </p:nvGraphicFramePr>
        <p:xfrm>
          <a:off x="4663440" y="1042416"/>
          <a:ext cx="4023360" cy="2084832"/>
        </p:xfrm>
        <a:graphic xmlns:a="http://schemas.openxmlformats.org/drawingml/2006/main">
          <a:graphicData uri="http://schemas.openxmlformats.org/drawingml/2006/chart">
            <c:chart xmlns:c="http://schemas.openxmlformats.org/drawingml/2006/chart" r:id="rId1"/>
          </a:graphicData>
        </a:graphic>
      </p:graphicFrame>
      <p:sp>
        <p:nvSpPr>
          <p:cNvPr id="12" name="Text 9"/>
          <p:cNvSpPr txBox="1"/>
          <p:nvPr/>
        </p:nvSpPr>
        <p:spPr>
          <a:xfrm>
            <a:off x="4663440" y="3200400"/>
            <a:ext cx="4023360" cy="347472"/>
          </a:xfrm>
          <a:prstGeom prst="rect">
            <a:avLst/>
          </a:prstGeom>
          <a:noFill/>
          <a:ln/>
        </p:spPr>
        <p:txBody>
          <a:bodyPr wrap="square" lIns="0" tIns="0" rIns="0" bIns="0" rtlCol="0" anchor="ctr"/>
          <a:lstStyle/>
          <a:p>
            <a:pPr algn="ctr" indent="0" marL="0">
              <a:buNone/>
            </a:pPr>
            <a:r>
              <a:rPr lang="en-US" sz="1000" i="1" dirty="0">
                <a:solidFill>
                  <a:srgbClr val="5B6B7F"/>
                </a:solidFill>
                <a:latin typeface="Calibri" pitchFamily="34" charset="0"/>
                <a:ea typeface="Calibri" pitchFamily="34" charset="-122"/>
                <a:cs typeface="Calibri" pitchFamily="34" charset="-120"/>
              </a:rPr>
              <a:t>Overvoltage recovery matters in radar and pulsed systems, where a huge blocking signal is followed immediately by the tiny echo you actually want.</a:t>
            </a:r>
            <a:endParaRPr lang="en-US" sz="1000" dirty="0"/>
          </a:p>
        </p:txBody>
      </p:sp>
      <p:sp>
        <p:nvSpPr>
          <p:cNvPr id="13" name="Shape 10"/>
          <p:cNvSpPr/>
          <p:nvPr/>
        </p:nvSpPr>
        <p:spPr>
          <a:xfrm>
            <a:off x="457200" y="3675888"/>
            <a:ext cx="4023360" cy="1024128"/>
          </a:xfrm>
          <a:prstGeom prst="roundRect">
            <a:avLst>
              <a:gd name="adj" fmla="val 7143"/>
            </a:avLst>
          </a:prstGeom>
          <a:solidFill>
            <a:srgbClr val="E4F7F4"/>
          </a:solidFill>
          <a:ln w="12700">
            <a:solidFill>
              <a:srgbClr val="E4F7F4"/>
            </a:solidFill>
            <a:prstDash val="solid"/>
          </a:ln>
        </p:spPr>
      </p:sp>
      <p:sp>
        <p:nvSpPr>
          <p:cNvPr id="14" name="Shape 11"/>
          <p:cNvSpPr/>
          <p:nvPr/>
        </p:nvSpPr>
        <p:spPr>
          <a:xfrm>
            <a:off x="566928" y="3776472"/>
            <a:ext cx="237744" cy="237744"/>
          </a:xfrm>
          <a:prstGeom prst="ellipse">
            <a:avLst/>
          </a:prstGeom>
          <a:solidFill>
            <a:srgbClr val="2EC4B6"/>
          </a:solidFill>
          <a:ln w="12700">
            <a:solidFill>
              <a:srgbClr val="2EC4B6"/>
            </a:solidFill>
            <a:prstDash val="solid"/>
          </a:ln>
        </p:spPr>
      </p:sp>
      <p:sp>
        <p:nvSpPr>
          <p:cNvPr id="15" name="Text 12"/>
          <p:cNvSpPr txBox="1"/>
          <p:nvPr/>
        </p:nvSpPr>
        <p:spPr>
          <a:xfrm>
            <a:off x="566928" y="3776472"/>
            <a:ext cx="237744" cy="237744"/>
          </a:xfrm>
          <a:prstGeom prst="rect">
            <a:avLst/>
          </a:prstGeom>
          <a:noFill/>
          <a:ln/>
        </p:spPr>
        <p:txBody>
          <a:bodyPr wrap="square" lIns="0" tIns="0" rIns="0" bIns="0" rtlCol="0" anchor="ctr"/>
          <a:lstStyle/>
          <a:p>
            <a:pPr algn="ctr" indent="0" marL="0">
              <a:buNone/>
            </a:pPr>
            <a:r>
              <a:rPr lang="en-US" sz="1200" b="1" dirty="0">
                <a:solidFill>
                  <a:srgbClr val="0B1F3A"/>
                </a:solidFill>
                <a:latin typeface="Calibri" pitchFamily="34" charset="0"/>
                <a:ea typeface="Calibri" pitchFamily="34" charset="-122"/>
                <a:cs typeface="Calibri" pitchFamily="34" charset="-120"/>
              </a:rPr>
              <a:t>≈</a:t>
            </a:r>
            <a:endParaRPr lang="en-US" sz="1200" dirty="0"/>
          </a:p>
        </p:txBody>
      </p:sp>
      <p:sp>
        <p:nvSpPr>
          <p:cNvPr id="16" name="Text 13"/>
          <p:cNvSpPr txBox="1"/>
          <p:nvPr/>
        </p:nvSpPr>
        <p:spPr>
          <a:xfrm>
            <a:off x="877824" y="3739896"/>
            <a:ext cx="3493008" cy="896112"/>
          </a:xfrm>
          <a:prstGeom prst="rect">
            <a:avLst/>
          </a:prstGeom>
          <a:noFill/>
          <a:ln/>
        </p:spPr>
        <p:txBody>
          <a:bodyPr wrap="square" lIns="0" tIns="0" rIns="0" bIns="0" rtlCol="0" anchor="t"/>
          <a:lstStyle/>
          <a:p>
            <a:pPr indent="0" marL="0">
              <a:buNone/>
            </a:pPr>
            <a:r>
              <a:rPr lang="en-US" sz="1050" b="1" dirty="0">
                <a:solidFill>
                  <a:srgbClr val="0B1F3A"/>
                </a:solidFill>
                <a:latin typeface="Calibri" pitchFamily="34" charset="0"/>
                <a:ea typeface="Calibri" pitchFamily="34" charset="-122"/>
                <a:cs typeface="Calibri" pitchFamily="34" charset="-120"/>
              </a:rPr>
              <a:t>Think of it like this  </a:t>
            </a:r>
            <a:pPr indent="0" marL="0">
              <a:buNone/>
            </a:pPr>
            <a:r>
              <a:rPr lang="en-US" sz="1050" dirty="0">
                <a:solidFill>
                  <a:srgbClr val="14213D"/>
                </a:solidFill>
                <a:latin typeface="Calibri" pitchFamily="34" charset="0"/>
                <a:ea typeface="Calibri" pitchFamily="34" charset="-122"/>
                <a:cs typeface="Calibri" pitchFamily="34" charset="-120"/>
              </a:rPr>
              <a:t>A speedometer needle that cannot swing fast enough. Slam the accelerator and it lags, so the trace you record is a flattened version of what really happened.</a:t>
            </a:r>
            <a:endParaRPr lang="en-US" sz="1050" dirty="0"/>
          </a:p>
        </p:txBody>
      </p:sp>
      <p:sp>
        <p:nvSpPr>
          <p:cNvPr id="17" name="Shape 14"/>
          <p:cNvSpPr/>
          <p:nvPr/>
        </p:nvSpPr>
        <p:spPr>
          <a:xfrm>
            <a:off x="4663440" y="3675888"/>
            <a:ext cx="4023360" cy="1024128"/>
          </a:xfrm>
          <a:prstGeom prst="roundRect">
            <a:avLst>
              <a:gd name="adj" fmla="val 7143"/>
            </a:avLst>
          </a:prstGeom>
          <a:solidFill>
            <a:srgbClr val="FFFFFF"/>
          </a:solidFill>
          <a:ln w="12700">
            <a:solidFill>
              <a:srgbClr val="0B1F3A"/>
            </a:solidFill>
            <a:prstDash val="solid"/>
          </a:ln>
        </p:spPr>
      </p:sp>
      <p:sp>
        <p:nvSpPr>
          <p:cNvPr id="18" name="Shape 15"/>
          <p:cNvSpPr/>
          <p:nvPr/>
        </p:nvSpPr>
        <p:spPr>
          <a:xfrm>
            <a:off x="4773168" y="3566160"/>
            <a:ext cx="914400" cy="219456"/>
          </a:xfrm>
          <a:prstGeom prst="roundRect">
            <a:avLst>
              <a:gd name="adj" fmla="val 25000"/>
            </a:avLst>
          </a:prstGeom>
          <a:solidFill>
            <a:srgbClr val="0B1F3A"/>
          </a:solidFill>
          <a:ln w="12700">
            <a:solidFill>
              <a:srgbClr val="0B1F3A"/>
            </a:solidFill>
            <a:prstDash val="solid"/>
          </a:ln>
        </p:spPr>
      </p:sp>
      <p:sp>
        <p:nvSpPr>
          <p:cNvPr id="19" name="Text 16"/>
          <p:cNvSpPr txBox="1"/>
          <p:nvPr/>
        </p:nvSpPr>
        <p:spPr>
          <a:xfrm>
            <a:off x="4773168" y="3566160"/>
            <a:ext cx="914400" cy="219456"/>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EXAMPLE</a:t>
            </a:r>
            <a:endParaRPr lang="en-US" sz="850" dirty="0"/>
          </a:p>
        </p:txBody>
      </p:sp>
      <p:sp>
        <p:nvSpPr>
          <p:cNvPr id="20" name="Text 17"/>
          <p:cNvSpPr txBox="1"/>
          <p:nvPr/>
        </p:nvSpPr>
        <p:spPr>
          <a:xfrm>
            <a:off x="4791456" y="3813048"/>
            <a:ext cx="3803904" cy="841248"/>
          </a:xfrm>
          <a:prstGeom prst="rect">
            <a:avLst/>
          </a:prstGeom>
          <a:noFill/>
          <a:ln/>
        </p:spPr>
        <p:txBody>
          <a:bodyPr wrap="square" lIns="0" tIns="0" rIns="0" bIns="0" rtlCol="0" anchor="t"/>
          <a:lstStyle/>
          <a:p>
            <a:pPr indent="0" marL="0">
              <a:spcAft>
                <a:spcPts val="100"/>
              </a:spcAft>
              <a:buNone/>
            </a:pPr>
            <a:r>
              <a:rPr lang="en-US" sz="1000" b="1" dirty="0">
                <a:solidFill>
                  <a:srgbClr val="0B1F3A"/>
                </a:solidFill>
                <a:latin typeface="Calibri" pitchFamily="34" charset="0"/>
                <a:ea typeface="Calibri" pitchFamily="34" charset="-122"/>
                <a:cs typeface="Calibri" pitchFamily="34" charset="-120"/>
              </a:rPr>
              <a:t>A 2 V range at 50 MHz</a:t>
            </a:r>
            <a:endParaRPr lang="en-US" sz="1000" dirty="0"/>
          </a:p>
          <a:p>
            <a:pPr marL="114300" indent="-114300">
              <a:spcAft>
                <a:spcPts val="100"/>
              </a:spcAft>
              <a:buSzPct val="100000"/>
              <a:buChar char="•"/>
            </a:pPr>
            <a:r>
              <a:rPr lang="en-US" sz="1000" dirty="0">
                <a:solidFill>
                  <a:srgbClr val="14213D"/>
                </a:solidFill>
                <a:latin typeface="Cambria" pitchFamily="34" charset="0"/>
                <a:ea typeface="Cambria" pitchFamily="34" charset="-122"/>
                <a:cs typeface="Cambria" pitchFamily="34" charset="-120"/>
              </a:rPr>
              <a:t>SR needed = π × 2 × 50e6 = 314 V/µs</a:t>
            </a:r>
            <a:endParaRPr lang="en-US" sz="1000" dirty="0"/>
          </a:p>
          <a:p>
            <a:pPr marL="114300" indent="-114300">
              <a:spcAft>
                <a:spcPts val="100"/>
              </a:spcAft>
              <a:buSzPct val="100000"/>
              <a:buChar char="•"/>
            </a:pPr>
            <a:r>
              <a:rPr lang="en-US" sz="1000" dirty="0">
                <a:solidFill>
                  <a:srgbClr val="14213D"/>
                </a:solidFill>
                <a:latin typeface="Cambria" pitchFamily="34" charset="0"/>
                <a:ea typeface="Cambria" pitchFamily="34" charset="-122"/>
                <a:cs typeface="Cambria" pitchFamily="34" charset="-120"/>
              </a:rPr>
              <a:t>A 100 V/µs op-amp will visibly flatten the peaks</a:t>
            </a:r>
            <a:endParaRPr lang="en-US" sz="1000" dirty="0"/>
          </a:p>
          <a:p>
            <a:pPr marL="114300" indent="-114300">
              <a:spcAft>
                <a:spcPts val="100"/>
              </a:spcAft>
              <a:buSzPct val="100000"/>
              <a:buChar char="•"/>
            </a:pPr>
            <a:r>
              <a:rPr lang="en-US" sz="1000" dirty="0">
                <a:solidFill>
                  <a:srgbClr val="14213D"/>
                </a:solidFill>
                <a:latin typeface="Cambria" pitchFamily="34" charset="0"/>
                <a:ea typeface="Cambria" pitchFamily="34" charset="-122"/>
                <a:cs typeface="Cambria" pitchFamily="34" charset="-120"/>
              </a:rPr>
              <a:t>The FFT shows this as HD3 rising steeply with amplitude</a:t>
            </a:r>
            <a:endParaRPr lang="en-US" sz="1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B1F3A"/>
        </a:solidFill>
      </p:bgPr>
    </p:bg>
    <p:spTree>
      <p:nvGrpSpPr>
        <p:cNvPr id="1" name=""/>
        <p:cNvGrpSpPr/>
        <p:nvPr/>
      </p:nvGrpSpPr>
      <p:grpSpPr>
        <a:xfrm>
          <a:off x="0" y="0"/>
          <a:ext cx="0" cy="0"/>
          <a:chOff x="0" y="0"/>
          <a:chExt cx="0" cy="0"/>
        </a:xfrm>
      </p:grpSpPr>
      <p:sp>
        <p:nvSpPr>
          <p:cNvPr id="2" name="Text 0"/>
          <p:cNvSpPr txBox="1"/>
          <p:nvPr/>
        </p:nvSpPr>
        <p:spPr>
          <a:xfrm>
            <a:off x="457200" y="411480"/>
            <a:ext cx="822960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Recap · speed and timing</a:t>
            </a:r>
            <a:endParaRPr lang="en-US" sz="3000" dirty="0"/>
          </a:p>
        </p:txBody>
      </p:sp>
      <p:sp>
        <p:nvSpPr>
          <p:cNvPr id="3" name="Shape 1"/>
          <p:cNvSpPr/>
          <p:nvPr/>
        </p:nvSpPr>
        <p:spPr>
          <a:xfrm>
            <a:off x="457200" y="1271016"/>
            <a:ext cx="274320" cy="274320"/>
          </a:xfrm>
          <a:prstGeom prst="ellipse">
            <a:avLst/>
          </a:prstGeom>
          <a:solidFill>
            <a:srgbClr val="2EC4B6"/>
          </a:solidFill>
          <a:ln w="12700">
            <a:solidFill>
              <a:srgbClr val="2EC4B6"/>
            </a:solidFill>
            <a:prstDash val="solid"/>
          </a:ln>
        </p:spPr>
      </p:sp>
      <p:sp>
        <p:nvSpPr>
          <p:cNvPr id="4" name="Text 2"/>
          <p:cNvSpPr txBox="1"/>
          <p:nvPr/>
        </p:nvSpPr>
        <p:spPr>
          <a:xfrm>
            <a:off x="457200" y="1271016"/>
            <a:ext cx="274320" cy="274320"/>
          </a:xfrm>
          <a:prstGeom prst="rect">
            <a:avLst/>
          </a:prstGeom>
          <a:noFill/>
          <a:ln/>
        </p:spPr>
        <p:txBody>
          <a:bodyPr wrap="square" lIns="0" tIns="0" rIns="0" bIns="0" rtlCol="0" anchor="ctr"/>
          <a:lstStyle/>
          <a:p>
            <a:pPr algn="ctr" indent="0" marL="0">
              <a:buNone/>
            </a:pPr>
            <a:r>
              <a:rPr lang="en-US" sz="1200" b="1" dirty="0">
                <a:solidFill>
                  <a:srgbClr val="0B1F3A"/>
                </a:solidFill>
              </a:rPr>
              <a:t>✓</a:t>
            </a:r>
            <a:endParaRPr lang="en-US" sz="1200" dirty="0"/>
          </a:p>
        </p:txBody>
      </p:sp>
      <p:sp>
        <p:nvSpPr>
          <p:cNvPr id="5" name="Text 3"/>
          <p:cNvSpPr txBox="1"/>
          <p:nvPr/>
        </p:nvSpPr>
        <p:spPr>
          <a:xfrm>
            <a:off x="868680" y="1188720"/>
            <a:ext cx="7818120" cy="566928"/>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f_s must exceed 2 × the highest frequency present, or tones fold and cannot be recovered</a:t>
            </a:r>
            <a:endParaRPr lang="en-US" sz="1450" dirty="0"/>
          </a:p>
        </p:txBody>
      </p:sp>
      <p:sp>
        <p:nvSpPr>
          <p:cNvPr id="6" name="Shape 4"/>
          <p:cNvSpPr/>
          <p:nvPr/>
        </p:nvSpPr>
        <p:spPr>
          <a:xfrm>
            <a:off x="457200" y="1837944"/>
            <a:ext cx="274320" cy="274320"/>
          </a:xfrm>
          <a:prstGeom prst="ellipse">
            <a:avLst/>
          </a:prstGeom>
          <a:solidFill>
            <a:srgbClr val="2EC4B6"/>
          </a:solidFill>
          <a:ln w="12700">
            <a:solidFill>
              <a:srgbClr val="2EC4B6"/>
            </a:solidFill>
            <a:prstDash val="solid"/>
          </a:ln>
        </p:spPr>
      </p:sp>
      <p:sp>
        <p:nvSpPr>
          <p:cNvPr id="7" name="Text 5"/>
          <p:cNvSpPr txBox="1"/>
          <p:nvPr/>
        </p:nvSpPr>
        <p:spPr>
          <a:xfrm>
            <a:off x="457200" y="1837944"/>
            <a:ext cx="274320" cy="274320"/>
          </a:xfrm>
          <a:prstGeom prst="rect">
            <a:avLst/>
          </a:prstGeom>
          <a:noFill/>
          <a:ln/>
        </p:spPr>
        <p:txBody>
          <a:bodyPr wrap="square" lIns="0" tIns="0" rIns="0" bIns="0" rtlCol="0" anchor="ctr"/>
          <a:lstStyle/>
          <a:p>
            <a:pPr algn="ctr" indent="0" marL="0">
              <a:buNone/>
            </a:pPr>
            <a:r>
              <a:rPr lang="en-US" sz="1200" b="1" dirty="0">
                <a:solidFill>
                  <a:srgbClr val="0B1F3A"/>
                </a:solidFill>
              </a:rPr>
              <a:t>✓</a:t>
            </a:r>
            <a:endParaRPr lang="en-US" sz="1200" dirty="0"/>
          </a:p>
        </p:txBody>
      </p:sp>
      <p:sp>
        <p:nvSpPr>
          <p:cNvPr id="8" name="Text 6"/>
          <p:cNvSpPr txBox="1"/>
          <p:nvPr/>
        </p:nvSpPr>
        <p:spPr>
          <a:xfrm>
            <a:off x="868680" y="1755648"/>
            <a:ext cx="7818120" cy="566928"/>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Conversion time is not latency: a pipeline gives one result per clock, each many clocks old</a:t>
            </a:r>
            <a:endParaRPr lang="en-US" sz="1450" dirty="0"/>
          </a:p>
        </p:txBody>
      </p:sp>
      <p:sp>
        <p:nvSpPr>
          <p:cNvPr id="9" name="Shape 7"/>
          <p:cNvSpPr/>
          <p:nvPr/>
        </p:nvSpPr>
        <p:spPr>
          <a:xfrm>
            <a:off x="457200" y="2404872"/>
            <a:ext cx="274320" cy="274320"/>
          </a:xfrm>
          <a:prstGeom prst="ellipse">
            <a:avLst/>
          </a:prstGeom>
          <a:solidFill>
            <a:srgbClr val="2EC4B6"/>
          </a:solidFill>
          <a:ln w="12700">
            <a:solidFill>
              <a:srgbClr val="2EC4B6"/>
            </a:solidFill>
            <a:prstDash val="solid"/>
          </a:ln>
        </p:spPr>
      </p:sp>
      <p:sp>
        <p:nvSpPr>
          <p:cNvPr id="10" name="Text 8"/>
          <p:cNvSpPr txBox="1"/>
          <p:nvPr/>
        </p:nvSpPr>
        <p:spPr>
          <a:xfrm>
            <a:off x="457200" y="2404872"/>
            <a:ext cx="274320" cy="274320"/>
          </a:xfrm>
          <a:prstGeom prst="rect">
            <a:avLst/>
          </a:prstGeom>
          <a:noFill/>
          <a:ln/>
        </p:spPr>
        <p:txBody>
          <a:bodyPr wrap="square" lIns="0" tIns="0" rIns="0" bIns="0" rtlCol="0" anchor="ctr"/>
          <a:lstStyle/>
          <a:p>
            <a:pPr algn="ctr" indent="0" marL="0">
              <a:buNone/>
            </a:pPr>
            <a:r>
              <a:rPr lang="en-US" sz="1200" b="1" dirty="0">
                <a:solidFill>
                  <a:srgbClr val="0B1F3A"/>
                </a:solidFill>
              </a:rPr>
              <a:t>✓</a:t>
            </a:r>
            <a:endParaRPr lang="en-US" sz="1200" dirty="0"/>
          </a:p>
        </p:txBody>
      </p:sp>
      <p:sp>
        <p:nvSpPr>
          <p:cNvPr id="11" name="Text 9"/>
          <p:cNvSpPr txBox="1"/>
          <p:nvPr/>
        </p:nvSpPr>
        <p:spPr>
          <a:xfrm>
            <a:off x="868680" y="2322576"/>
            <a:ext cx="7818120" cy="566928"/>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Aperture delay is fixed and harmless; mismatch between interleaved channels is not</a:t>
            </a:r>
            <a:endParaRPr lang="en-US" sz="1450" dirty="0"/>
          </a:p>
        </p:txBody>
      </p:sp>
      <p:sp>
        <p:nvSpPr>
          <p:cNvPr id="12" name="Shape 10"/>
          <p:cNvSpPr/>
          <p:nvPr/>
        </p:nvSpPr>
        <p:spPr>
          <a:xfrm>
            <a:off x="457200" y="2971800"/>
            <a:ext cx="274320" cy="274320"/>
          </a:xfrm>
          <a:prstGeom prst="ellipse">
            <a:avLst/>
          </a:prstGeom>
          <a:solidFill>
            <a:srgbClr val="2EC4B6"/>
          </a:solidFill>
          <a:ln w="12700">
            <a:solidFill>
              <a:srgbClr val="2EC4B6"/>
            </a:solidFill>
            <a:prstDash val="solid"/>
          </a:ln>
        </p:spPr>
      </p:sp>
      <p:sp>
        <p:nvSpPr>
          <p:cNvPr id="13" name="Text 11"/>
          <p:cNvSpPr txBox="1"/>
          <p:nvPr/>
        </p:nvSpPr>
        <p:spPr>
          <a:xfrm>
            <a:off x="457200" y="2971800"/>
            <a:ext cx="274320" cy="274320"/>
          </a:xfrm>
          <a:prstGeom prst="rect">
            <a:avLst/>
          </a:prstGeom>
          <a:noFill/>
          <a:ln/>
        </p:spPr>
        <p:txBody>
          <a:bodyPr wrap="square" lIns="0" tIns="0" rIns="0" bIns="0" rtlCol="0" anchor="ctr"/>
          <a:lstStyle/>
          <a:p>
            <a:pPr algn="ctr" indent="0" marL="0">
              <a:buNone/>
            </a:pPr>
            <a:r>
              <a:rPr lang="en-US" sz="1200" b="1" dirty="0">
                <a:solidFill>
                  <a:srgbClr val="0B1F3A"/>
                </a:solidFill>
              </a:rPr>
              <a:t>✓</a:t>
            </a:r>
            <a:endParaRPr lang="en-US" sz="1200" dirty="0"/>
          </a:p>
        </p:txBody>
      </p:sp>
      <p:sp>
        <p:nvSpPr>
          <p:cNvPr id="14" name="Text 12"/>
          <p:cNvSpPr txBox="1"/>
          <p:nvPr/>
        </p:nvSpPr>
        <p:spPr>
          <a:xfrm>
            <a:off x="868680" y="2889504"/>
            <a:ext cx="7818120" cy="566928"/>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Aperture jitter limits SNR to −20 log₁₀(2π f_in t_j) — set by input frequency, not sample rate</a:t>
            </a:r>
            <a:endParaRPr lang="en-US" sz="1450" dirty="0"/>
          </a:p>
        </p:txBody>
      </p:sp>
      <p:sp>
        <p:nvSpPr>
          <p:cNvPr id="15" name="Shape 13"/>
          <p:cNvSpPr/>
          <p:nvPr/>
        </p:nvSpPr>
        <p:spPr>
          <a:xfrm>
            <a:off x="457200" y="3538728"/>
            <a:ext cx="274320" cy="274320"/>
          </a:xfrm>
          <a:prstGeom prst="ellipse">
            <a:avLst/>
          </a:prstGeom>
          <a:solidFill>
            <a:srgbClr val="2EC4B6"/>
          </a:solidFill>
          <a:ln w="12700">
            <a:solidFill>
              <a:srgbClr val="2EC4B6"/>
            </a:solidFill>
            <a:prstDash val="solid"/>
          </a:ln>
        </p:spPr>
      </p:sp>
      <p:sp>
        <p:nvSpPr>
          <p:cNvPr id="16" name="Text 14"/>
          <p:cNvSpPr txBox="1"/>
          <p:nvPr/>
        </p:nvSpPr>
        <p:spPr>
          <a:xfrm>
            <a:off x="457200" y="3538728"/>
            <a:ext cx="274320" cy="274320"/>
          </a:xfrm>
          <a:prstGeom prst="rect">
            <a:avLst/>
          </a:prstGeom>
          <a:noFill/>
          <a:ln/>
        </p:spPr>
        <p:txBody>
          <a:bodyPr wrap="square" lIns="0" tIns="0" rIns="0" bIns="0" rtlCol="0" anchor="ctr"/>
          <a:lstStyle/>
          <a:p>
            <a:pPr algn="ctr" indent="0" marL="0">
              <a:buNone/>
            </a:pPr>
            <a:r>
              <a:rPr lang="en-US" sz="1200" b="1" dirty="0">
                <a:solidFill>
                  <a:srgbClr val="0B1F3A"/>
                </a:solidFill>
              </a:rPr>
              <a:t>✓</a:t>
            </a:r>
            <a:endParaRPr lang="en-US" sz="1200" dirty="0"/>
          </a:p>
        </p:txBody>
      </p:sp>
      <p:sp>
        <p:nvSpPr>
          <p:cNvPr id="17" name="Text 15"/>
          <p:cNvSpPr txBox="1"/>
          <p:nvPr/>
        </p:nvSpPr>
        <p:spPr>
          <a:xfrm>
            <a:off x="868680" y="3456432"/>
            <a:ext cx="7818120" cy="566928"/>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Settling to N bits needs ln(2^(N+1)) time constants; under-settling looks exactly like distortion</a:t>
            </a:r>
            <a:endParaRPr lang="en-US" sz="1450" dirty="0"/>
          </a:p>
        </p:txBody>
      </p:sp>
      <p:sp>
        <p:nvSpPr>
          <p:cNvPr id="18" name="Text 16"/>
          <p:cNvSpPr txBox="1"/>
          <p:nvPr/>
        </p:nvSpPr>
        <p:spPr>
          <a:xfrm>
            <a:off x="7772400" y="4796028"/>
            <a:ext cx="914400" cy="228600"/>
          </a:xfrm>
          <a:prstGeom prst="rect">
            <a:avLst/>
          </a:prstGeom>
          <a:noFill/>
          <a:ln/>
        </p:spPr>
        <p:txBody>
          <a:bodyPr wrap="square" lIns="0" tIns="0" rIns="0" bIns="0" rtlCol="0" anchor="ctr"/>
          <a:lstStyle/>
          <a:p>
            <a:pPr algn="r" indent="0" marL="0">
              <a:buNone/>
            </a:pPr>
            <a:r>
              <a:rPr lang="en-US" sz="900" dirty="0">
                <a:solidFill>
                  <a:srgbClr val="8FA3BF"/>
                </a:solidFill>
                <a:latin typeface="Calibri" pitchFamily="34" charset="0"/>
                <a:ea typeface="Calibri" pitchFamily="34" charset="-122"/>
                <a:cs typeface="Calibri" pitchFamily="34" charset="-120"/>
              </a:rPr>
              <a:t>40</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B1F3A"/>
        </a:solidFill>
      </p:bgPr>
    </p:bg>
    <p:spTree>
      <p:nvGrpSpPr>
        <p:cNvPr id="1" name=""/>
        <p:cNvGrpSpPr/>
        <p:nvPr/>
      </p:nvGrpSpPr>
      <p:grpSpPr>
        <a:xfrm>
          <a:off x="0" y="0"/>
          <a:ext cx="0" cy="0"/>
          <a:chOff x="0" y="0"/>
          <a:chExt cx="0" cy="0"/>
        </a:xfrm>
      </p:grpSpPr>
      <p:sp>
        <p:nvSpPr>
          <p:cNvPr id="2" name="Text 0"/>
          <p:cNvSpPr txBox="1"/>
          <p:nvPr/>
        </p:nvSpPr>
        <p:spPr>
          <a:xfrm>
            <a:off x="457200" y="1234440"/>
            <a:ext cx="5486400" cy="365760"/>
          </a:xfrm>
          <a:prstGeom prst="rect">
            <a:avLst/>
          </a:prstGeom>
          <a:noFill/>
          <a:ln/>
        </p:spPr>
        <p:txBody>
          <a:bodyPr wrap="square" lIns="0" tIns="0" rIns="0" bIns="0" rtlCol="0" anchor="ctr"/>
          <a:lstStyle/>
          <a:p>
            <a:pPr indent="0" marL="0">
              <a:buNone/>
            </a:pPr>
            <a:r>
              <a:rPr lang="en-US" sz="1400" b="1" dirty="0">
                <a:solidFill>
                  <a:srgbClr val="2EC4B6"/>
                </a:solidFill>
                <a:latin typeface="Calibri" pitchFamily="34" charset="0"/>
                <a:ea typeface="Calibri" pitchFamily="34" charset="-122"/>
                <a:cs typeface="Calibri" pitchFamily="34" charset="-120"/>
              </a:rPr>
              <a:t>Part 5</a:t>
            </a:r>
            <a:endParaRPr lang="en-US" sz="1400" dirty="0"/>
          </a:p>
        </p:txBody>
      </p:sp>
      <p:sp>
        <p:nvSpPr>
          <p:cNvPr id="3" name="Text 1"/>
          <p:cNvSpPr txBox="1"/>
          <p:nvPr/>
        </p:nvSpPr>
        <p:spPr>
          <a:xfrm>
            <a:off x="457200" y="1600200"/>
            <a:ext cx="8229600" cy="9144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Bandwidth and sampling</a:t>
            </a:r>
            <a:endParaRPr lang="en-US" sz="3800" dirty="0"/>
          </a:p>
        </p:txBody>
      </p:sp>
      <p:sp>
        <p:nvSpPr>
          <p:cNvPr id="4" name="Text 2"/>
          <p:cNvSpPr txBox="1"/>
          <p:nvPr/>
        </p:nvSpPr>
        <p:spPr>
          <a:xfrm>
            <a:off x="457200" y="2560320"/>
            <a:ext cx="8229600" cy="457200"/>
          </a:xfrm>
          <a:prstGeom prst="rect">
            <a:avLst/>
          </a:prstGeom>
          <a:noFill/>
          <a:ln/>
        </p:spPr>
        <p:txBody>
          <a:bodyPr wrap="square" lIns="0" tIns="0" rIns="0" bIns="0" rtlCol="0" anchor="ctr"/>
          <a:lstStyle/>
          <a:p>
            <a:pPr indent="0" marL="0">
              <a:buNone/>
            </a:pPr>
            <a:r>
              <a:rPr lang="en-US" sz="1600" dirty="0">
                <a:solidFill>
                  <a:srgbClr val="D7DEE8"/>
                </a:solidFill>
                <a:latin typeface="Calibri" pitchFamily="34" charset="0"/>
                <a:ea typeface="Calibri" pitchFamily="34" charset="-122"/>
                <a:cs typeface="Calibri" pitchFamily="34" charset="-120"/>
              </a:rPr>
              <a:t>What the input can accept, and what the clock can keep up with</a:t>
            </a:r>
            <a:endParaRPr lang="en-US" sz="1600" dirty="0"/>
          </a:p>
        </p:txBody>
      </p:sp>
      <p:sp>
        <p:nvSpPr>
          <p:cNvPr id="5" name="Text 3"/>
          <p:cNvSpPr txBox="1"/>
          <p:nvPr/>
        </p:nvSpPr>
        <p:spPr>
          <a:xfrm>
            <a:off x="457200" y="3063240"/>
            <a:ext cx="3657600" cy="274320"/>
          </a:xfrm>
          <a:prstGeom prst="rect">
            <a:avLst/>
          </a:prstGeom>
          <a:noFill/>
          <a:ln/>
        </p:spPr>
        <p:txBody>
          <a:bodyPr wrap="square" lIns="0" tIns="0" rIns="0" bIns="0" rtlCol="0" anchor="ctr"/>
          <a:lstStyle/>
          <a:p>
            <a:pPr indent="0" marL="0">
              <a:buNone/>
            </a:pPr>
            <a:r>
              <a:rPr lang="en-US" sz="1100" dirty="0">
                <a:solidFill>
                  <a:srgbClr val="B8C4D6"/>
                </a:solidFill>
                <a:latin typeface="Calibri" pitchFamily="34" charset="0"/>
                <a:ea typeface="Calibri" pitchFamily="34" charset="-122"/>
                <a:cs typeface="Calibri" pitchFamily="34" charset="-120"/>
              </a:rPr>
              <a:t>10 minutes</a:t>
            </a:r>
            <a:endParaRPr lang="en-US" sz="1100" dirty="0"/>
          </a:p>
        </p:txBody>
      </p:sp>
      <p:sp>
        <p:nvSpPr>
          <p:cNvPr id="6" name="Text 4"/>
          <p:cNvSpPr txBox="1"/>
          <p:nvPr/>
        </p:nvSpPr>
        <p:spPr>
          <a:xfrm>
            <a:off x="7772400" y="4796028"/>
            <a:ext cx="914400" cy="228600"/>
          </a:xfrm>
          <a:prstGeom prst="rect">
            <a:avLst/>
          </a:prstGeom>
          <a:noFill/>
          <a:ln/>
        </p:spPr>
        <p:txBody>
          <a:bodyPr wrap="square" lIns="0" tIns="0" rIns="0" bIns="0" rtlCol="0" anchor="ctr"/>
          <a:lstStyle/>
          <a:p>
            <a:pPr algn="r" indent="0" marL="0">
              <a:buNone/>
            </a:pPr>
            <a:r>
              <a:rPr lang="en-US" sz="900" dirty="0">
                <a:solidFill>
                  <a:srgbClr val="8FA3BF"/>
                </a:solidFill>
                <a:latin typeface="Calibri" pitchFamily="34" charset="0"/>
                <a:ea typeface="Calibri" pitchFamily="34" charset="-122"/>
                <a:cs typeface="Calibri" pitchFamily="34" charset="-120"/>
              </a:rPr>
              <a:t>41</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5760720" cy="640080"/>
          </a:xfrm>
          <a:prstGeom prst="rect">
            <a:avLst/>
          </a:prstGeom>
          <a:noFill/>
          <a:ln/>
        </p:spPr>
        <p:txBody>
          <a:bodyPr wrap="square" lIns="0" tIns="0" rIns="0" bIns="0" rtlCol="0" anchor="ctr"/>
          <a:lstStyle/>
          <a:p>
            <a:pPr indent="0" marL="0">
              <a:buNone/>
            </a:pPr>
            <a:r>
              <a:rPr lang="en-US" sz="2800" b="1" dirty="0">
                <a:solidFill>
                  <a:srgbClr val="0B1F3A"/>
                </a:solidFill>
                <a:latin typeface="Cambria" pitchFamily="34" charset="0"/>
                <a:ea typeface="Cambria" pitchFamily="34" charset="-122"/>
                <a:cs typeface="Cambria" pitchFamily="34" charset="-120"/>
              </a:rPr>
              <a:t>Analog input bandwidth</a:t>
            </a:r>
            <a:endParaRPr lang="en-US" sz="2800" dirty="0"/>
          </a:p>
        </p:txBody>
      </p:sp>
      <p:sp>
        <p:nvSpPr>
          <p:cNvPr id="3" name="Text 1"/>
          <p:cNvSpPr txBox="1"/>
          <p:nvPr/>
        </p:nvSpPr>
        <p:spPr>
          <a:xfrm>
            <a:off x="457200" y="4796028"/>
            <a:ext cx="4572000" cy="228600"/>
          </a:xfrm>
          <a:prstGeom prst="rect">
            <a:avLst/>
          </a:prstGeom>
          <a:noFill/>
          <a:ln/>
        </p:spPr>
        <p:txBody>
          <a:bodyPr wrap="square" lIns="0" tIns="0" rIns="0" bIns="0" rtlCol="0" anchor="ctr"/>
          <a:lstStyle/>
          <a:p>
            <a:pPr indent="0" marL="0">
              <a:buNone/>
            </a:pPr>
            <a:r>
              <a:rPr lang="en-US" sz="900" dirty="0">
                <a:solidFill>
                  <a:srgbClr val="5B6B7F"/>
                </a:solidFill>
                <a:latin typeface="Calibri" pitchFamily="34" charset="0"/>
                <a:ea typeface="Calibri" pitchFamily="34" charset="-122"/>
                <a:cs typeface="Calibri" pitchFamily="34" charset="-120"/>
              </a:rPr>
              <a:t>Part 5 · Bandwidth and sampling</a:t>
            </a:r>
            <a:endParaRPr lang="en-US" sz="900" dirty="0"/>
          </a:p>
        </p:txBody>
      </p:sp>
      <p:sp>
        <p:nvSpPr>
          <p:cNvPr id="4" name="Text 2"/>
          <p:cNvSpPr txBox="1"/>
          <p:nvPr/>
        </p:nvSpPr>
        <p:spPr>
          <a:xfrm>
            <a:off x="7772400" y="4796028"/>
            <a:ext cx="914400" cy="228600"/>
          </a:xfrm>
          <a:prstGeom prst="rect">
            <a:avLst/>
          </a:prstGeom>
          <a:noFill/>
          <a:ln/>
        </p:spPr>
        <p:txBody>
          <a:bodyPr wrap="square" lIns="0" tIns="0" rIns="0" bIns="0" rtlCol="0" anchor="ctr"/>
          <a:lstStyle/>
          <a:p>
            <a:pPr algn="r" indent="0" marL="0">
              <a:buNone/>
            </a:pPr>
            <a:r>
              <a:rPr lang="en-US" sz="900" dirty="0">
                <a:solidFill>
                  <a:srgbClr val="5B6B7F"/>
                </a:solidFill>
                <a:latin typeface="Calibri" pitchFamily="34" charset="0"/>
                <a:ea typeface="Calibri" pitchFamily="34" charset="-122"/>
                <a:cs typeface="Calibri" pitchFamily="34" charset="-120"/>
              </a:rPr>
              <a:t>42</a:t>
            </a:r>
            <a:endParaRPr lang="en-US" sz="900" dirty="0"/>
          </a:p>
        </p:txBody>
      </p:sp>
      <p:sp>
        <p:nvSpPr>
          <p:cNvPr id="5" name="Shape 3"/>
          <p:cNvSpPr/>
          <p:nvPr/>
        </p:nvSpPr>
        <p:spPr>
          <a:xfrm>
            <a:off x="6446520" y="384048"/>
            <a:ext cx="2240280" cy="384048"/>
          </a:xfrm>
          <a:prstGeom prst="roundRect">
            <a:avLst>
              <a:gd name="adj" fmla="val 19048"/>
            </a:avLst>
          </a:prstGeom>
          <a:solidFill>
            <a:srgbClr val="EEF3F8"/>
          </a:solidFill>
          <a:ln w="12700">
            <a:solidFill>
              <a:srgbClr val="EEF3F8"/>
            </a:solidFill>
            <a:prstDash val="solid"/>
          </a:ln>
        </p:spPr>
      </p:sp>
      <p:sp>
        <p:nvSpPr>
          <p:cNvPr id="6" name="Text 4"/>
          <p:cNvSpPr txBox="1"/>
          <p:nvPr/>
        </p:nvSpPr>
        <p:spPr>
          <a:xfrm>
            <a:off x="6446520" y="384048"/>
            <a:ext cx="2240280" cy="384048"/>
          </a:xfrm>
          <a:prstGeom prst="rect">
            <a:avLst/>
          </a:prstGeom>
          <a:noFill/>
          <a:ln/>
        </p:spPr>
        <p:txBody>
          <a:bodyPr wrap="square" lIns="0" tIns="0" rIns="0" bIns="0" rtlCol="0" anchor="ctr"/>
          <a:lstStyle/>
          <a:p>
            <a:pPr algn="ctr" indent="0" marL="0">
              <a:buNone/>
            </a:pPr>
            <a:r>
              <a:rPr lang="en-US" sz="1200" b="1" dirty="0">
                <a:solidFill>
                  <a:srgbClr val="0B1F3A"/>
                </a:solidFill>
                <a:latin typeface="Cambria" pitchFamily="34" charset="0"/>
                <a:ea typeface="Cambria" pitchFamily="34" charset="-122"/>
                <a:cs typeface="Cambria" pitchFamily="34" charset="-120"/>
              </a:rPr>
              <a:t>BW₋₃dB   ·   Hz</a:t>
            </a:r>
            <a:endParaRPr lang="en-US" sz="1200" dirty="0"/>
          </a:p>
        </p:txBody>
      </p:sp>
      <p:sp>
        <p:nvSpPr>
          <p:cNvPr id="7" name="Text 5"/>
          <p:cNvSpPr txBox="1"/>
          <p:nvPr/>
        </p:nvSpPr>
        <p:spPr>
          <a:xfrm>
            <a:off x="457200" y="1042416"/>
            <a:ext cx="4023360" cy="1005840"/>
          </a:xfrm>
          <a:prstGeom prst="rect">
            <a:avLst/>
          </a:prstGeom>
          <a:noFill/>
          <a:ln/>
        </p:spPr>
        <p:txBody>
          <a:bodyPr wrap="square" lIns="0" tIns="0" rIns="0" bIns="0" rtlCol="0" anchor="t"/>
          <a:lstStyle/>
          <a:p>
            <a:pPr indent="0" marL="0">
              <a:buNone/>
            </a:pPr>
            <a:r>
              <a:rPr lang="en-US" sz="1150" dirty="0">
                <a:solidFill>
                  <a:srgbClr val="14213D"/>
                </a:solidFill>
                <a:latin typeface="Calibri" pitchFamily="34" charset="0"/>
                <a:ea typeface="Calibri" pitchFamily="34" charset="-122"/>
                <a:cs typeface="Calibri" pitchFamily="34" charset="-120"/>
              </a:rPr>
              <a:t>How high in frequency the sample-and-hold front end will still faithfully follow the input, measured where the response has fallen 3 dB. It is completely independent of the sample rate, and it is often several times higher.</a:t>
            </a:r>
            <a:endParaRPr lang="en-US" sz="1150" dirty="0"/>
          </a:p>
        </p:txBody>
      </p:sp>
      <p:sp>
        <p:nvSpPr>
          <p:cNvPr id="8" name="Shape 6"/>
          <p:cNvSpPr/>
          <p:nvPr/>
        </p:nvSpPr>
        <p:spPr>
          <a:xfrm>
            <a:off x="457200" y="2103120"/>
            <a:ext cx="4023360" cy="868680"/>
          </a:xfrm>
          <a:prstGeom prst="roundRect">
            <a:avLst>
              <a:gd name="adj" fmla="val 8421"/>
            </a:avLst>
          </a:prstGeom>
          <a:solidFill>
            <a:srgbClr val="EEF3F8"/>
          </a:solidFill>
          <a:ln w="12700">
            <a:solidFill>
              <a:srgbClr val="EEF3F8"/>
            </a:solidFill>
            <a:prstDash val="solid"/>
          </a:ln>
        </p:spPr>
      </p:sp>
      <p:sp>
        <p:nvSpPr>
          <p:cNvPr id="9" name="Text 7"/>
          <p:cNvSpPr txBox="1"/>
          <p:nvPr/>
        </p:nvSpPr>
        <p:spPr>
          <a:xfrm>
            <a:off x="594360" y="2103120"/>
            <a:ext cx="3749040" cy="612648"/>
          </a:xfrm>
          <a:prstGeom prst="rect">
            <a:avLst/>
          </a:prstGeom>
          <a:noFill/>
          <a:ln/>
        </p:spPr>
        <p:txBody>
          <a:bodyPr wrap="square" lIns="0" tIns="0" rIns="0" bIns="0" rtlCol="0" anchor="ctr"/>
          <a:lstStyle/>
          <a:p>
            <a:pPr algn="ctr" indent="0" marL="0">
              <a:buNone/>
            </a:pPr>
            <a:r>
              <a:rPr lang="en-US" sz="1500" dirty="0">
                <a:solidFill>
                  <a:srgbClr val="0B1F3A"/>
                </a:solidFill>
                <a:latin typeface="Cambria" pitchFamily="34" charset="0"/>
                <a:ea typeface="Cambria" pitchFamily="34" charset="-122"/>
                <a:cs typeface="Cambria" pitchFamily="34" charset="-120"/>
              </a:rPr>
              <a:t>BW₋₃dB = 1 / (2π τ)</a:t>
            </a:r>
            <a:endParaRPr lang="en-US" sz="1500" dirty="0"/>
          </a:p>
        </p:txBody>
      </p:sp>
      <p:sp>
        <p:nvSpPr>
          <p:cNvPr id="10" name="Text 8"/>
          <p:cNvSpPr txBox="1"/>
          <p:nvPr/>
        </p:nvSpPr>
        <p:spPr>
          <a:xfrm>
            <a:off x="594360" y="2670048"/>
            <a:ext cx="3749040" cy="256032"/>
          </a:xfrm>
          <a:prstGeom prst="rect">
            <a:avLst/>
          </a:prstGeom>
          <a:noFill/>
          <a:ln/>
        </p:spPr>
        <p:txBody>
          <a:bodyPr wrap="square" lIns="0" tIns="0" rIns="0" bIns="0" rtlCol="0" anchor="t"/>
          <a:lstStyle/>
          <a:p>
            <a:pPr algn="ctr" indent="0" marL="0">
              <a:buNone/>
            </a:pPr>
            <a:r>
              <a:rPr lang="en-US" sz="1000" dirty="0">
                <a:solidFill>
                  <a:srgbClr val="5B6B7F"/>
                </a:solidFill>
                <a:latin typeface="Calibri" pitchFamily="34" charset="0"/>
                <a:ea typeface="Calibri" pitchFamily="34" charset="-122"/>
                <a:cs typeface="Calibri" pitchFamily="34" charset="-120"/>
              </a:rPr>
              <a:t>Set by the input switch resistance and hold capacitance</a:t>
            </a:r>
            <a:endParaRPr lang="en-US" sz="1000" dirty="0"/>
          </a:p>
        </p:txBody>
      </p:sp>
      <p:graphicFrame>
        <p:nvGraphicFramePr>
          <p:cNvPr id="11" name="Chart 0" descr=""/>
          <p:cNvGraphicFramePr/>
          <p:nvPr/>
        </p:nvGraphicFramePr>
        <p:xfrm>
          <a:off x="4663440" y="1042416"/>
          <a:ext cx="4023360" cy="2084832"/>
        </p:xfrm>
        <a:graphic xmlns:a="http://schemas.openxmlformats.org/drawingml/2006/main">
          <a:graphicData uri="http://schemas.openxmlformats.org/drawingml/2006/chart">
            <c:chart xmlns:c="http://schemas.openxmlformats.org/drawingml/2006/chart" r:id="rId1"/>
          </a:graphicData>
        </a:graphic>
      </p:graphicFrame>
      <p:sp>
        <p:nvSpPr>
          <p:cNvPr id="12" name="Text 9"/>
          <p:cNvSpPr txBox="1"/>
          <p:nvPr/>
        </p:nvSpPr>
        <p:spPr>
          <a:xfrm>
            <a:off x="4663440" y="3200400"/>
            <a:ext cx="4023360" cy="347472"/>
          </a:xfrm>
          <a:prstGeom prst="rect">
            <a:avLst/>
          </a:prstGeom>
          <a:noFill/>
          <a:ln/>
        </p:spPr>
        <p:txBody>
          <a:bodyPr wrap="square" lIns="0" tIns="0" rIns="0" bIns="0" rtlCol="0" anchor="ctr"/>
          <a:lstStyle/>
          <a:p>
            <a:pPr algn="ctr" indent="0" marL="0">
              <a:buNone/>
            </a:pPr>
            <a:r>
              <a:rPr lang="en-US" sz="1000" i="1" dirty="0">
                <a:solidFill>
                  <a:srgbClr val="5B6B7F"/>
                </a:solidFill>
                <a:latin typeface="Calibri" pitchFamily="34" charset="0"/>
                <a:ea typeface="Calibri" pitchFamily="34" charset="-122"/>
                <a:cs typeface="Calibri" pitchFamily="34" charset="-120"/>
              </a:rPr>
              <a:t>A wide input bandwidth also lets in wideband noise and out-of-band interference, so the anti-alias filter has to do more work, not less.</a:t>
            </a:r>
            <a:endParaRPr lang="en-US" sz="1000" dirty="0"/>
          </a:p>
        </p:txBody>
      </p:sp>
      <p:sp>
        <p:nvSpPr>
          <p:cNvPr id="13" name="Shape 10"/>
          <p:cNvSpPr/>
          <p:nvPr/>
        </p:nvSpPr>
        <p:spPr>
          <a:xfrm>
            <a:off x="457200" y="3675888"/>
            <a:ext cx="4023360" cy="1024128"/>
          </a:xfrm>
          <a:prstGeom prst="roundRect">
            <a:avLst>
              <a:gd name="adj" fmla="val 7143"/>
            </a:avLst>
          </a:prstGeom>
          <a:solidFill>
            <a:srgbClr val="E4F7F4"/>
          </a:solidFill>
          <a:ln w="12700">
            <a:solidFill>
              <a:srgbClr val="E4F7F4"/>
            </a:solidFill>
            <a:prstDash val="solid"/>
          </a:ln>
        </p:spPr>
      </p:sp>
      <p:sp>
        <p:nvSpPr>
          <p:cNvPr id="14" name="Shape 11"/>
          <p:cNvSpPr/>
          <p:nvPr/>
        </p:nvSpPr>
        <p:spPr>
          <a:xfrm>
            <a:off x="566928" y="3776472"/>
            <a:ext cx="237744" cy="237744"/>
          </a:xfrm>
          <a:prstGeom prst="ellipse">
            <a:avLst/>
          </a:prstGeom>
          <a:solidFill>
            <a:srgbClr val="2EC4B6"/>
          </a:solidFill>
          <a:ln w="12700">
            <a:solidFill>
              <a:srgbClr val="2EC4B6"/>
            </a:solidFill>
            <a:prstDash val="solid"/>
          </a:ln>
        </p:spPr>
      </p:sp>
      <p:sp>
        <p:nvSpPr>
          <p:cNvPr id="15" name="Text 12"/>
          <p:cNvSpPr txBox="1"/>
          <p:nvPr/>
        </p:nvSpPr>
        <p:spPr>
          <a:xfrm>
            <a:off x="566928" y="3776472"/>
            <a:ext cx="237744" cy="237744"/>
          </a:xfrm>
          <a:prstGeom prst="rect">
            <a:avLst/>
          </a:prstGeom>
          <a:noFill/>
          <a:ln/>
        </p:spPr>
        <p:txBody>
          <a:bodyPr wrap="square" lIns="0" tIns="0" rIns="0" bIns="0" rtlCol="0" anchor="ctr"/>
          <a:lstStyle/>
          <a:p>
            <a:pPr algn="ctr" indent="0" marL="0">
              <a:buNone/>
            </a:pPr>
            <a:r>
              <a:rPr lang="en-US" sz="1200" b="1" dirty="0">
                <a:solidFill>
                  <a:srgbClr val="0B1F3A"/>
                </a:solidFill>
                <a:latin typeface="Calibri" pitchFamily="34" charset="0"/>
                <a:ea typeface="Calibri" pitchFamily="34" charset="-122"/>
                <a:cs typeface="Calibri" pitchFamily="34" charset="-120"/>
              </a:rPr>
              <a:t>≈</a:t>
            </a:r>
            <a:endParaRPr lang="en-US" sz="1200" dirty="0"/>
          </a:p>
        </p:txBody>
      </p:sp>
      <p:sp>
        <p:nvSpPr>
          <p:cNvPr id="16" name="Text 13"/>
          <p:cNvSpPr txBox="1"/>
          <p:nvPr/>
        </p:nvSpPr>
        <p:spPr>
          <a:xfrm>
            <a:off x="877824" y="3739896"/>
            <a:ext cx="3493008" cy="896112"/>
          </a:xfrm>
          <a:prstGeom prst="rect">
            <a:avLst/>
          </a:prstGeom>
          <a:noFill/>
          <a:ln/>
        </p:spPr>
        <p:txBody>
          <a:bodyPr wrap="square" lIns="0" tIns="0" rIns="0" bIns="0" rtlCol="0" anchor="t"/>
          <a:lstStyle/>
          <a:p>
            <a:pPr indent="0" marL="0">
              <a:buNone/>
            </a:pPr>
            <a:r>
              <a:rPr lang="en-US" sz="1050" b="1" dirty="0">
                <a:solidFill>
                  <a:srgbClr val="0B1F3A"/>
                </a:solidFill>
                <a:latin typeface="Calibri" pitchFamily="34" charset="0"/>
                <a:ea typeface="Calibri" pitchFamily="34" charset="-122"/>
                <a:cs typeface="Calibri" pitchFamily="34" charset="-120"/>
              </a:rPr>
              <a:t>Think of it like this  </a:t>
            </a:r>
            <a:pPr indent="0" marL="0">
              <a:buNone/>
            </a:pPr>
            <a:r>
              <a:rPr lang="en-US" sz="1050" dirty="0">
                <a:solidFill>
                  <a:srgbClr val="14213D"/>
                </a:solidFill>
                <a:latin typeface="Calibri" pitchFamily="34" charset="0"/>
                <a:ea typeface="Calibri" pitchFamily="34" charset="-122"/>
                <a:cs typeface="Calibri" pitchFamily="34" charset="-120"/>
              </a:rPr>
              <a:t>How high a note a microphone can pick up, which is a different question from how many times a second you write the level down.</a:t>
            </a:r>
            <a:endParaRPr lang="en-US" sz="1050" dirty="0"/>
          </a:p>
        </p:txBody>
      </p:sp>
      <p:sp>
        <p:nvSpPr>
          <p:cNvPr id="17" name="Shape 14"/>
          <p:cNvSpPr/>
          <p:nvPr/>
        </p:nvSpPr>
        <p:spPr>
          <a:xfrm>
            <a:off x="4663440" y="3675888"/>
            <a:ext cx="4023360" cy="1024128"/>
          </a:xfrm>
          <a:prstGeom prst="roundRect">
            <a:avLst>
              <a:gd name="adj" fmla="val 7143"/>
            </a:avLst>
          </a:prstGeom>
          <a:solidFill>
            <a:srgbClr val="FFFFFF"/>
          </a:solidFill>
          <a:ln w="12700">
            <a:solidFill>
              <a:srgbClr val="0B1F3A"/>
            </a:solidFill>
            <a:prstDash val="solid"/>
          </a:ln>
        </p:spPr>
      </p:sp>
      <p:sp>
        <p:nvSpPr>
          <p:cNvPr id="18" name="Shape 15"/>
          <p:cNvSpPr/>
          <p:nvPr/>
        </p:nvSpPr>
        <p:spPr>
          <a:xfrm>
            <a:off x="4773168" y="3566160"/>
            <a:ext cx="914400" cy="219456"/>
          </a:xfrm>
          <a:prstGeom prst="roundRect">
            <a:avLst>
              <a:gd name="adj" fmla="val 25000"/>
            </a:avLst>
          </a:prstGeom>
          <a:solidFill>
            <a:srgbClr val="0B1F3A"/>
          </a:solidFill>
          <a:ln w="12700">
            <a:solidFill>
              <a:srgbClr val="0B1F3A"/>
            </a:solidFill>
            <a:prstDash val="solid"/>
          </a:ln>
        </p:spPr>
      </p:sp>
      <p:sp>
        <p:nvSpPr>
          <p:cNvPr id="19" name="Text 16"/>
          <p:cNvSpPr txBox="1"/>
          <p:nvPr/>
        </p:nvSpPr>
        <p:spPr>
          <a:xfrm>
            <a:off x="4773168" y="3566160"/>
            <a:ext cx="914400" cy="219456"/>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EXAMPLE</a:t>
            </a:r>
            <a:endParaRPr lang="en-US" sz="850" dirty="0"/>
          </a:p>
        </p:txBody>
      </p:sp>
      <p:sp>
        <p:nvSpPr>
          <p:cNvPr id="20" name="Text 17"/>
          <p:cNvSpPr txBox="1"/>
          <p:nvPr/>
        </p:nvSpPr>
        <p:spPr>
          <a:xfrm>
            <a:off x="4791456" y="3813048"/>
            <a:ext cx="3803904" cy="841248"/>
          </a:xfrm>
          <a:prstGeom prst="rect">
            <a:avLst/>
          </a:prstGeom>
          <a:noFill/>
          <a:ln/>
        </p:spPr>
        <p:txBody>
          <a:bodyPr wrap="square" lIns="0" tIns="0" rIns="0" bIns="0" rtlCol="0" anchor="t"/>
          <a:lstStyle/>
          <a:p>
            <a:pPr indent="0" marL="0">
              <a:spcAft>
                <a:spcPts val="100"/>
              </a:spcAft>
              <a:buNone/>
            </a:pPr>
            <a:r>
              <a:rPr lang="en-US" sz="900" b="1" dirty="0">
                <a:solidFill>
                  <a:srgbClr val="0B1F3A"/>
                </a:solidFill>
                <a:latin typeface="Calibri" pitchFamily="34" charset="0"/>
                <a:ea typeface="Calibri" pitchFamily="34" charset="-122"/>
                <a:cs typeface="Calibri" pitchFamily="34" charset="-120"/>
              </a:rPr>
              <a:t>A typical high-speed part</a:t>
            </a:r>
            <a:endParaRPr lang="en-US" sz="900" dirty="0"/>
          </a:p>
          <a:p>
            <a:pPr marL="114300" indent="-114300">
              <a:spcAft>
                <a:spcPts val="100"/>
              </a:spcAft>
              <a:buSzPct val="100000"/>
              <a:buChar char="•"/>
            </a:pPr>
            <a:r>
              <a:rPr lang="en-US" sz="900" dirty="0">
                <a:solidFill>
                  <a:srgbClr val="14213D"/>
                </a:solidFill>
                <a:latin typeface="Cambria" pitchFamily="34" charset="0"/>
                <a:ea typeface="Cambria" pitchFamily="34" charset="-122"/>
                <a:cs typeface="Cambria" pitchFamily="34" charset="-120"/>
              </a:rPr>
              <a:t>Sample rate 250 MSPS, so Nyquist is 125 MHz</a:t>
            </a:r>
            <a:endParaRPr lang="en-US" sz="900" dirty="0"/>
          </a:p>
          <a:p>
            <a:pPr marL="114300" indent="-114300">
              <a:spcAft>
                <a:spcPts val="100"/>
              </a:spcAft>
              <a:buSzPct val="100000"/>
              <a:buChar char="•"/>
            </a:pPr>
            <a:r>
              <a:rPr lang="en-US" sz="900" dirty="0">
                <a:solidFill>
                  <a:srgbClr val="14213D"/>
                </a:solidFill>
                <a:latin typeface="Cambria" pitchFamily="34" charset="0"/>
                <a:ea typeface="Cambria" pitchFamily="34" charset="-122"/>
                <a:cs typeface="Cambria" pitchFamily="34" charset="-120"/>
              </a:rPr>
              <a:t>Analog bandwidth 900 MHz — more than seven times higher</a:t>
            </a:r>
            <a:endParaRPr lang="en-US" sz="900" dirty="0"/>
          </a:p>
          <a:p>
            <a:pPr marL="114300" indent="-114300">
              <a:spcAft>
                <a:spcPts val="100"/>
              </a:spcAft>
              <a:buSzPct val="100000"/>
              <a:buChar char="•"/>
            </a:pPr>
            <a:r>
              <a:rPr lang="en-US" sz="900" dirty="0">
                <a:solidFill>
                  <a:srgbClr val="14213D"/>
                </a:solidFill>
                <a:latin typeface="Cambria" pitchFamily="34" charset="0"/>
                <a:ea typeface="Cambria" pitchFamily="34" charset="-122"/>
                <a:cs typeface="Cambria" pitchFamily="34" charset="-120"/>
              </a:rPr>
              <a:t>That headroom is what makes undersampling a 400 MHz IF possible</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5285232" cy="640080"/>
          </a:xfrm>
          <a:prstGeom prst="rect">
            <a:avLst/>
          </a:prstGeom>
          <a:noFill/>
          <a:ln/>
        </p:spPr>
        <p:txBody>
          <a:bodyPr wrap="square" lIns="0" tIns="0" rIns="0" bIns="0" rtlCol="0" anchor="ctr"/>
          <a:lstStyle/>
          <a:p>
            <a:pPr indent="0" marL="0">
              <a:buNone/>
            </a:pPr>
            <a:r>
              <a:rPr lang="en-US" sz="1800" b="1" dirty="0">
                <a:solidFill>
                  <a:srgbClr val="0B1F3A"/>
                </a:solidFill>
                <a:latin typeface="Cambria" pitchFamily="34" charset="0"/>
                <a:ea typeface="Cambria" pitchFamily="34" charset="-122"/>
                <a:cs typeface="Cambria" pitchFamily="34" charset="-120"/>
              </a:rPr>
              <a:t>Full-power and full-linear bandwidth</a:t>
            </a:r>
            <a:endParaRPr lang="en-US" sz="1800" dirty="0"/>
          </a:p>
        </p:txBody>
      </p:sp>
      <p:sp>
        <p:nvSpPr>
          <p:cNvPr id="3" name="Text 1"/>
          <p:cNvSpPr txBox="1"/>
          <p:nvPr/>
        </p:nvSpPr>
        <p:spPr>
          <a:xfrm>
            <a:off x="457200" y="4796028"/>
            <a:ext cx="4572000" cy="228600"/>
          </a:xfrm>
          <a:prstGeom prst="rect">
            <a:avLst/>
          </a:prstGeom>
          <a:noFill/>
          <a:ln/>
        </p:spPr>
        <p:txBody>
          <a:bodyPr wrap="square" lIns="0" tIns="0" rIns="0" bIns="0" rtlCol="0" anchor="ctr"/>
          <a:lstStyle/>
          <a:p>
            <a:pPr indent="0" marL="0">
              <a:buNone/>
            </a:pPr>
            <a:r>
              <a:rPr lang="en-US" sz="900" dirty="0">
                <a:solidFill>
                  <a:srgbClr val="5B6B7F"/>
                </a:solidFill>
                <a:latin typeface="Calibri" pitchFamily="34" charset="0"/>
                <a:ea typeface="Calibri" pitchFamily="34" charset="-122"/>
                <a:cs typeface="Calibri" pitchFamily="34" charset="-120"/>
              </a:rPr>
              <a:t>Part 5 · Bandwidth and sampling</a:t>
            </a:r>
            <a:endParaRPr lang="en-US" sz="900" dirty="0"/>
          </a:p>
        </p:txBody>
      </p:sp>
      <p:sp>
        <p:nvSpPr>
          <p:cNvPr id="4" name="Text 2"/>
          <p:cNvSpPr txBox="1"/>
          <p:nvPr/>
        </p:nvSpPr>
        <p:spPr>
          <a:xfrm>
            <a:off x="7772400" y="4796028"/>
            <a:ext cx="914400" cy="228600"/>
          </a:xfrm>
          <a:prstGeom prst="rect">
            <a:avLst/>
          </a:prstGeom>
          <a:noFill/>
          <a:ln/>
        </p:spPr>
        <p:txBody>
          <a:bodyPr wrap="square" lIns="0" tIns="0" rIns="0" bIns="0" rtlCol="0" anchor="ctr"/>
          <a:lstStyle/>
          <a:p>
            <a:pPr algn="r" indent="0" marL="0">
              <a:buNone/>
            </a:pPr>
            <a:r>
              <a:rPr lang="en-US" sz="900" dirty="0">
                <a:solidFill>
                  <a:srgbClr val="5B6B7F"/>
                </a:solidFill>
                <a:latin typeface="Calibri" pitchFamily="34" charset="0"/>
                <a:ea typeface="Calibri" pitchFamily="34" charset="-122"/>
                <a:cs typeface="Calibri" pitchFamily="34" charset="-120"/>
              </a:rPr>
              <a:t>43</a:t>
            </a:r>
            <a:endParaRPr lang="en-US" sz="900" dirty="0"/>
          </a:p>
        </p:txBody>
      </p:sp>
      <p:sp>
        <p:nvSpPr>
          <p:cNvPr id="5" name="Shape 3"/>
          <p:cNvSpPr/>
          <p:nvPr/>
        </p:nvSpPr>
        <p:spPr>
          <a:xfrm>
            <a:off x="5971032" y="384048"/>
            <a:ext cx="2715768" cy="384048"/>
          </a:xfrm>
          <a:prstGeom prst="roundRect">
            <a:avLst>
              <a:gd name="adj" fmla="val 19048"/>
            </a:avLst>
          </a:prstGeom>
          <a:solidFill>
            <a:srgbClr val="EEF3F8"/>
          </a:solidFill>
          <a:ln w="12700">
            <a:solidFill>
              <a:srgbClr val="EEF3F8"/>
            </a:solidFill>
            <a:prstDash val="solid"/>
          </a:ln>
        </p:spPr>
      </p:sp>
      <p:sp>
        <p:nvSpPr>
          <p:cNvPr id="6" name="Text 4"/>
          <p:cNvSpPr txBox="1"/>
          <p:nvPr/>
        </p:nvSpPr>
        <p:spPr>
          <a:xfrm>
            <a:off x="5971032" y="384048"/>
            <a:ext cx="2715768" cy="384048"/>
          </a:xfrm>
          <a:prstGeom prst="rect">
            <a:avLst/>
          </a:prstGeom>
          <a:noFill/>
          <a:ln/>
        </p:spPr>
        <p:txBody>
          <a:bodyPr wrap="square" lIns="0" tIns="0" rIns="0" bIns="0" rtlCol="0" anchor="ctr"/>
          <a:lstStyle/>
          <a:p>
            <a:pPr algn="ctr" indent="0" marL="0">
              <a:buNone/>
            </a:pPr>
            <a:r>
              <a:rPr lang="en-US" sz="1200" b="1" dirty="0">
                <a:solidFill>
                  <a:srgbClr val="0B1F3A"/>
                </a:solidFill>
                <a:latin typeface="Cambria" pitchFamily="34" charset="0"/>
                <a:ea typeface="Cambria" pitchFamily="34" charset="-122"/>
                <a:cs typeface="Cambria" pitchFamily="34" charset="-120"/>
              </a:rPr>
              <a:t>FPBW, FLBW   ·   Hz</a:t>
            </a:r>
            <a:endParaRPr lang="en-US" sz="1200" dirty="0"/>
          </a:p>
        </p:txBody>
      </p:sp>
      <p:sp>
        <p:nvSpPr>
          <p:cNvPr id="7" name="Text 5"/>
          <p:cNvSpPr txBox="1"/>
          <p:nvPr/>
        </p:nvSpPr>
        <p:spPr>
          <a:xfrm>
            <a:off x="457200" y="1042416"/>
            <a:ext cx="4023360" cy="1207008"/>
          </a:xfrm>
          <a:prstGeom prst="rect">
            <a:avLst/>
          </a:prstGeom>
          <a:noFill/>
          <a:ln/>
        </p:spPr>
        <p:txBody>
          <a:bodyPr wrap="square" lIns="0" tIns="0" rIns="0" bIns="0" rtlCol="0" anchor="t"/>
          <a:lstStyle/>
          <a:p>
            <a:pPr indent="0" marL="0">
              <a:buNone/>
            </a:pPr>
            <a:r>
              <a:rPr lang="en-US" sz="1150" dirty="0">
                <a:solidFill>
                  <a:srgbClr val="14213D"/>
                </a:solidFill>
                <a:latin typeface="Calibri" pitchFamily="34" charset="0"/>
                <a:ea typeface="Calibri" pitchFamily="34" charset="-122"/>
                <a:cs typeface="Calibri" pitchFamily="34" charset="-120"/>
              </a:rPr>
              <a:t>Two more honest bandwidth numbers. Full-power bandwidth is where a full-scale input has dropped 3 dB. Full-linear bandwidth is the much lower frequency up to which the converter still meets its distortion specification — and that is the one you can actually use.</a:t>
            </a:r>
            <a:endParaRPr lang="en-US" sz="1150" dirty="0"/>
          </a:p>
        </p:txBody>
      </p:sp>
      <p:sp>
        <p:nvSpPr>
          <p:cNvPr id="8" name="Shape 6"/>
          <p:cNvSpPr/>
          <p:nvPr/>
        </p:nvSpPr>
        <p:spPr>
          <a:xfrm>
            <a:off x="457200" y="2304288"/>
            <a:ext cx="4023360" cy="868680"/>
          </a:xfrm>
          <a:prstGeom prst="roundRect">
            <a:avLst>
              <a:gd name="adj" fmla="val 8421"/>
            </a:avLst>
          </a:prstGeom>
          <a:solidFill>
            <a:srgbClr val="EEF3F8"/>
          </a:solidFill>
          <a:ln w="12700">
            <a:solidFill>
              <a:srgbClr val="EEF3F8"/>
            </a:solidFill>
            <a:prstDash val="solid"/>
          </a:ln>
        </p:spPr>
      </p:sp>
      <p:sp>
        <p:nvSpPr>
          <p:cNvPr id="9" name="Text 7"/>
          <p:cNvSpPr txBox="1"/>
          <p:nvPr/>
        </p:nvSpPr>
        <p:spPr>
          <a:xfrm>
            <a:off x="594360" y="2304288"/>
            <a:ext cx="3749040" cy="612648"/>
          </a:xfrm>
          <a:prstGeom prst="rect">
            <a:avLst/>
          </a:prstGeom>
          <a:noFill/>
          <a:ln/>
        </p:spPr>
        <p:txBody>
          <a:bodyPr wrap="square" lIns="0" tIns="0" rIns="0" bIns="0" rtlCol="0" anchor="ctr"/>
          <a:lstStyle/>
          <a:p>
            <a:pPr algn="ctr" indent="0" marL="0">
              <a:buNone/>
            </a:pPr>
            <a:r>
              <a:rPr lang="en-US" sz="1500" dirty="0">
                <a:solidFill>
                  <a:srgbClr val="0B1F3A"/>
                </a:solidFill>
                <a:latin typeface="Cambria" pitchFamily="34" charset="0"/>
                <a:ea typeface="Cambria" pitchFamily="34" charset="-122"/>
                <a:cs typeface="Cambria" pitchFamily="34" charset="-120"/>
              </a:rPr>
              <a:t>FLBW &lt; FPBW &lt; BW_small-signal</a:t>
            </a:r>
            <a:endParaRPr lang="en-US" sz="1500" dirty="0"/>
          </a:p>
        </p:txBody>
      </p:sp>
      <p:sp>
        <p:nvSpPr>
          <p:cNvPr id="10" name="Text 8"/>
          <p:cNvSpPr txBox="1"/>
          <p:nvPr/>
        </p:nvSpPr>
        <p:spPr>
          <a:xfrm>
            <a:off x="594360" y="2871216"/>
            <a:ext cx="3749040" cy="256032"/>
          </a:xfrm>
          <a:prstGeom prst="rect">
            <a:avLst/>
          </a:prstGeom>
          <a:noFill/>
          <a:ln/>
        </p:spPr>
        <p:txBody>
          <a:bodyPr wrap="square" lIns="0" tIns="0" rIns="0" bIns="0" rtlCol="0" anchor="t"/>
          <a:lstStyle/>
          <a:p>
            <a:pPr algn="ctr" indent="0" marL="0">
              <a:buNone/>
            </a:pPr>
            <a:r>
              <a:rPr lang="en-US" sz="1000" dirty="0">
                <a:solidFill>
                  <a:srgbClr val="5B6B7F"/>
                </a:solidFill>
                <a:latin typeface="Calibri" pitchFamily="34" charset="0"/>
                <a:ea typeface="Calibri" pitchFamily="34" charset="-122"/>
                <a:cs typeface="Calibri" pitchFamily="34" charset="-120"/>
              </a:rPr>
              <a:t>Almost always in that order</a:t>
            </a:r>
            <a:endParaRPr lang="en-US" sz="1000" dirty="0"/>
          </a:p>
        </p:txBody>
      </p:sp>
      <p:graphicFrame>
        <p:nvGraphicFramePr>
          <p:cNvPr id="11" name="Chart 0" descr=""/>
          <p:cNvGraphicFramePr/>
          <p:nvPr/>
        </p:nvGraphicFramePr>
        <p:xfrm>
          <a:off x="4663440" y="1042416"/>
          <a:ext cx="4023360" cy="2084832"/>
        </p:xfrm>
        <a:graphic xmlns:a="http://schemas.openxmlformats.org/drawingml/2006/main">
          <a:graphicData uri="http://schemas.openxmlformats.org/drawingml/2006/chart">
            <c:chart xmlns:c="http://schemas.openxmlformats.org/drawingml/2006/chart" r:id="rId1"/>
          </a:graphicData>
        </a:graphic>
      </p:graphicFrame>
      <p:sp>
        <p:nvSpPr>
          <p:cNvPr id="12" name="Text 9"/>
          <p:cNvSpPr txBox="1"/>
          <p:nvPr/>
        </p:nvSpPr>
        <p:spPr>
          <a:xfrm>
            <a:off x="4663440" y="3200400"/>
            <a:ext cx="4023360" cy="347472"/>
          </a:xfrm>
          <a:prstGeom prst="rect">
            <a:avLst/>
          </a:prstGeom>
          <a:noFill/>
          <a:ln/>
        </p:spPr>
        <p:txBody>
          <a:bodyPr wrap="square" lIns="0" tIns="0" rIns="0" bIns="0" rtlCol="0" anchor="ctr"/>
          <a:lstStyle/>
          <a:p>
            <a:pPr algn="ctr" indent="0" marL="0">
              <a:buNone/>
            </a:pPr>
            <a:r>
              <a:rPr lang="en-US" sz="1000" i="1" dirty="0">
                <a:solidFill>
                  <a:srgbClr val="5B6B7F"/>
                </a:solidFill>
                <a:latin typeface="Calibri" pitchFamily="34" charset="0"/>
                <a:ea typeface="Calibri" pitchFamily="34" charset="-122"/>
                <a:cs typeface="Calibri" pitchFamily="34" charset="-120"/>
              </a:rPr>
              <a:t>Never design to the headline bandwidth. Find the frequency at which ENOB and SFDR are still adequate, and treat that as the real limit.</a:t>
            </a:r>
            <a:endParaRPr lang="en-US" sz="1000" dirty="0"/>
          </a:p>
        </p:txBody>
      </p:sp>
      <p:sp>
        <p:nvSpPr>
          <p:cNvPr id="13" name="Shape 10"/>
          <p:cNvSpPr/>
          <p:nvPr/>
        </p:nvSpPr>
        <p:spPr>
          <a:xfrm>
            <a:off x="457200" y="3675888"/>
            <a:ext cx="4023360" cy="1024128"/>
          </a:xfrm>
          <a:prstGeom prst="roundRect">
            <a:avLst>
              <a:gd name="adj" fmla="val 7143"/>
            </a:avLst>
          </a:prstGeom>
          <a:solidFill>
            <a:srgbClr val="E4F7F4"/>
          </a:solidFill>
          <a:ln w="12700">
            <a:solidFill>
              <a:srgbClr val="E4F7F4"/>
            </a:solidFill>
            <a:prstDash val="solid"/>
          </a:ln>
        </p:spPr>
      </p:sp>
      <p:sp>
        <p:nvSpPr>
          <p:cNvPr id="14" name="Shape 11"/>
          <p:cNvSpPr/>
          <p:nvPr/>
        </p:nvSpPr>
        <p:spPr>
          <a:xfrm>
            <a:off x="566928" y="3776472"/>
            <a:ext cx="237744" cy="237744"/>
          </a:xfrm>
          <a:prstGeom prst="ellipse">
            <a:avLst/>
          </a:prstGeom>
          <a:solidFill>
            <a:srgbClr val="2EC4B6"/>
          </a:solidFill>
          <a:ln w="12700">
            <a:solidFill>
              <a:srgbClr val="2EC4B6"/>
            </a:solidFill>
            <a:prstDash val="solid"/>
          </a:ln>
        </p:spPr>
      </p:sp>
      <p:sp>
        <p:nvSpPr>
          <p:cNvPr id="15" name="Text 12"/>
          <p:cNvSpPr txBox="1"/>
          <p:nvPr/>
        </p:nvSpPr>
        <p:spPr>
          <a:xfrm>
            <a:off x="566928" y="3776472"/>
            <a:ext cx="237744" cy="237744"/>
          </a:xfrm>
          <a:prstGeom prst="rect">
            <a:avLst/>
          </a:prstGeom>
          <a:noFill/>
          <a:ln/>
        </p:spPr>
        <p:txBody>
          <a:bodyPr wrap="square" lIns="0" tIns="0" rIns="0" bIns="0" rtlCol="0" anchor="ctr"/>
          <a:lstStyle/>
          <a:p>
            <a:pPr algn="ctr" indent="0" marL="0">
              <a:buNone/>
            </a:pPr>
            <a:r>
              <a:rPr lang="en-US" sz="1200" b="1" dirty="0">
                <a:solidFill>
                  <a:srgbClr val="0B1F3A"/>
                </a:solidFill>
                <a:latin typeface="Calibri" pitchFamily="34" charset="0"/>
                <a:ea typeface="Calibri" pitchFamily="34" charset="-122"/>
                <a:cs typeface="Calibri" pitchFamily="34" charset="-120"/>
              </a:rPr>
              <a:t>≈</a:t>
            </a:r>
            <a:endParaRPr lang="en-US" sz="1200" dirty="0"/>
          </a:p>
        </p:txBody>
      </p:sp>
      <p:sp>
        <p:nvSpPr>
          <p:cNvPr id="16" name="Text 13"/>
          <p:cNvSpPr txBox="1"/>
          <p:nvPr/>
        </p:nvSpPr>
        <p:spPr>
          <a:xfrm>
            <a:off x="877824" y="3739896"/>
            <a:ext cx="3493008" cy="896112"/>
          </a:xfrm>
          <a:prstGeom prst="rect">
            <a:avLst/>
          </a:prstGeom>
          <a:noFill/>
          <a:ln/>
        </p:spPr>
        <p:txBody>
          <a:bodyPr wrap="square" lIns="0" tIns="0" rIns="0" bIns="0" rtlCol="0" anchor="t"/>
          <a:lstStyle/>
          <a:p>
            <a:pPr indent="0" marL="0">
              <a:buNone/>
            </a:pPr>
            <a:r>
              <a:rPr lang="en-US" sz="1050" b="1" dirty="0">
                <a:solidFill>
                  <a:srgbClr val="0B1F3A"/>
                </a:solidFill>
                <a:latin typeface="Calibri" pitchFamily="34" charset="0"/>
                <a:ea typeface="Calibri" pitchFamily="34" charset="-122"/>
                <a:cs typeface="Calibri" pitchFamily="34" charset="-120"/>
              </a:rPr>
              <a:t>Think of it like this  </a:t>
            </a:r>
            <a:pPr indent="0" marL="0">
              <a:buNone/>
            </a:pPr>
            <a:r>
              <a:rPr lang="en-US" sz="1050" dirty="0">
                <a:solidFill>
                  <a:srgbClr val="14213D"/>
                </a:solidFill>
                <a:latin typeface="Calibri" pitchFamily="34" charset="0"/>
                <a:ea typeface="Calibri" pitchFamily="34" charset="-122"/>
                <a:cs typeface="Calibri" pitchFamily="34" charset="-120"/>
              </a:rPr>
              <a:t>A car’s top speed against the speed at which it still handles safely. The brochure quotes one; you drive at the other.</a:t>
            </a:r>
            <a:endParaRPr lang="en-US" sz="1050" dirty="0"/>
          </a:p>
        </p:txBody>
      </p:sp>
      <p:sp>
        <p:nvSpPr>
          <p:cNvPr id="17" name="Shape 14"/>
          <p:cNvSpPr/>
          <p:nvPr/>
        </p:nvSpPr>
        <p:spPr>
          <a:xfrm>
            <a:off x="4663440" y="3675888"/>
            <a:ext cx="4023360" cy="1024128"/>
          </a:xfrm>
          <a:prstGeom prst="roundRect">
            <a:avLst>
              <a:gd name="adj" fmla="val 7143"/>
            </a:avLst>
          </a:prstGeom>
          <a:solidFill>
            <a:srgbClr val="FFFFFF"/>
          </a:solidFill>
          <a:ln w="12700">
            <a:solidFill>
              <a:srgbClr val="0B1F3A"/>
            </a:solidFill>
            <a:prstDash val="solid"/>
          </a:ln>
        </p:spPr>
      </p:sp>
      <p:sp>
        <p:nvSpPr>
          <p:cNvPr id="18" name="Shape 15"/>
          <p:cNvSpPr/>
          <p:nvPr/>
        </p:nvSpPr>
        <p:spPr>
          <a:xfrm>
            <a:off x="4773168" y="3566160"/>
            <a:ext cx="914400" cy="219456"/>
          </a:xfrm>
          <a:prstGeom prst="roundRect">
            <a:avLst>
              <a:gd name="adj" fmla="val 25000"/>
            </a:avLst>
          </a:prstGeom>
          <a:solidFill>
            <a:srgbClr val="0B1F3A"/>
          </a:solidFill>
          <a:ln w="12700">
            <a:solidFill>
              <a:srgbClr val="0B1F3A"/>
            </a:solidFill>
            <a:prstDash val="solid"/>
          </a:ln>
        </p:spPr>
      </p:sp>
      <p:sp>
        <p:nvSpPr>
          <p:cNvPr id="19" name="Text 16"/>
          <p:cNvSpPr txBox="1"/>
          <p:nvPr/>
        </p:nvSpPr>
        <p:spPr>
          <a:xfrm>
            <a:off x="4773168" y="3566160"/>
            <a:ext cx="914400" cy="219456"/>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EXAMPLE</a:t>
            </a:r>
            <a:endParaRPr lang="en-US" sz="850" dirty="0"/>
          </a:p>
        </p:txBody>
      </p:sp>
      <p:sp>
        <p:nvSpPr>
          <p:cNvPr id="20" name="Text 17"/>
          <p:cNvSpPr txBox="1"/>
          <p:nvPr/>
        </p:nvSpPr>
        <p:spPr>
          <a:xfrm>
            <a:off x="4791456" y="3813048"/>
            <a:ext cx="3803904" cy="841248"/>
          </a:xfrm>
          <a:prstGeom prst="rect">
            <a:avLst/>
          </a:prstGeom>
          <a:noFill/>
          <a:ln/>
        </p:spPr>
        <p:txBody>
          <a:bodyPr wrap="square" lIns="0" tIns="0" rIns="0" bIns="0" rtlCol="0" anchor="t"/>
          <a:lstStyle/>
          <a:p>
            <a:pPr indent="0" marL="0">
              <a:spcAft>
                <a:spcPts val="100"/>
              </a:spcAft>
              <a:buNone/>
            </a:pPr>
            <a:r>
              <a:rPr lang="en-US" sz="1000" b="1" dirty="0">
                <a:solidFill>
                  <a:srgbClr val="0B1F3A"/>
                </a:solidFill>
                <a:latin typeface="Calibri" pitchFamily="34" charset="0"/>
                <a:ea typeface="Calibri" pitchFamily="34" charset="-122"/>
                <a:cs typeface="Calibri" pitchFamily="34" charset="-120"/>
              </a:rPr>
              <a:t>The gap is large</a:t>
            </a:r>
            <a:endParaRPr lang="en-US" sz="1000" dirty="0"/>
          </a:p>
          <a:p>
            <a:pPr marL="114300" indent="-114300">
              <a:spcAft>
                <a:spcPts val="100"/>
              </a:spcAft>
              <a:buSzPct val="100000"/>
              <a:buChar char="•"/>
            </a:pPr>
            <a:r>
              <a:rPr lang="en-US" sz="1000" dirty="0">
                <a:solidFill>
                  <a:srgbClr val="14213D"/>
                </a:solidFill>
                <a:latin typeface="Cambria" pitchFamily="34" charset="0"/>
                <a:ea typeface="Cambria" pitchFamily="34" charset="-122"/>
                <a:cs typeface="Cambria" pitchFamily="34" charset="-120"/>
              </a:rPr>
              <a:t>Small-signal bandwidth: 900 MHz</a:t>
            </a:r>
            <a:endParaRPr lang="en-US" sz="1000" dirty="0"/>
          </a:p>
          <a:p>
            <a:pPr marL="114300" indent="-114300">
              <a:spcAft>
                <a:spcPts val="100"/>
              </a:spcAft>
              <a:buSzPct val="100000"/>
              <a:buChar char="•"/>
            </a:pPr>
            <a:r>
              <a:rPr lang="en-US" sz="1000" dirty="0">
                <a:solidFill>
                  <a:srgbClr val="14213D"/>
                </a:solidFill>
                <a:latin typeface="Cambria" pitchFamily="34" charset="0"/>
                <a:ea typeface="Cambria" pitchFamily="34" charset="-122"/>
                <a:cs typeface="Cambria" pitchFamily="34" charset="-120"/>
              </a:rPr>
              <a:t>Full-power bandwidth: 500 MHz</a:t>
            </a:r>
            <a:endParaRPr lang="en-US" sz="1000" dirty="0"/>
          </a:p>
          <a:p>
            <a:pPr marL="114300" indent="-114300">
              <a:spcAft>
                <a:spcPts val="100"/>
              </a:spcAft>
              <a:buSzPct val="100000"/>
              <a:buChar char="•"/>
            </a:pPr>
            <a:r>
              <a:rPr lang="en-US" sz="1000" dirty="0">
                <a:solidFill>
                  <a:srgbClr val="14213D"/>
                </a:solidFill>
                <a:latin typeface="Cambria" pitchFamily="34" charset="0"/>
                <a:ea typeface="Cambria" pitchFamily="34" charset="-122"/>
                <a:cs typeface="Cambria" pitchFamily="34" charset="-120"/>
              </a:rPr>
              <a:t>Full-linear bandwidth (SFDR still above 70 dB): 200 MHz</a:t>
            </a:r>
            <a:endParaRPr lang="en-US" sz="10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64008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Undersampling and bandpass sampling</a:t>
            </a:r>
            <a:endParaRPr lang="en-US" sz="2400" dirty="0"/>
          </a:p>
        </p:txBody>
      </p:sp>
      <p:sp>
        <p:nvSpPr>
          <p:cNvPr id="3" name="Text 1"/>
          <p:cNvSpPr txBox="1"/>
          <p:nvPr/>
        </p:nvSpPr>
        <p:spPr>
          <a:xfrm>
            <a:off x="457200" y="4796028"/>
            <a:ext cx="4572000" cy="228600"/>
          </a:xfrm>
          <a:prstGeom prst="rect">
            <a:avLst/>
          </a:prstGeom>
          <a:noFill/>
          <a:ln/>
        </p:spPr>
        <p:txBody>
          <a:bodyPr wrap="square" lIns="0" tIns="0" rIns="0" bIns="0" rtlCol="0" anchor="ctr"/>
          <a:lstStyle/>
          <a:p>
            <a:pPr indent="0" marL="0">
              <a:buNone/>
            </a:pPr>
            <a:r>
              <a:rPr lang="en-US" sz="900" dirty="0">
                <a:solidFill>
                  <a:srgbClr val="5B6B7F"/>
                </a:solidFill>
                <a:latin typeface="Calibri" pitchFamily="34" charset="0"/>
                <a:ea typeface="Calibri" pitchFamily="34" charset="-122"/>
                <a:cs typeface="Calibri" pitchFamily="34" charset="-120"/>
              </a:rPr>
              <a:t>Part 5 · Bandwidth and sampling</a:t>
            </a:r>
            <a:endParaRPr lang="en-US" sz="900" dirty="0"/>
          </a:p>
        </p:txBody>
      </p:sp>
      <p:sp>
        <p:nvSpPr>
          <p:cNvPr id="4" name="Text 2"/>
          <p:cNvSpPr txBox="1"/>
          <p:nvPr/>
        </p:nvSpPr>
        <p:spPr>
          <a:xfrm>
            <a:off x="7772400" y="4796028"/>
            <a:ext cx="914400" cy="228600"/>
          </a:xfrm>
          <a:prstGeom prst="rect">
            <a:avLst/>
          </a:prstGeom>
          <a:noFill/>
          <a:ln/>
        </p:spPr>
        <p:txBody>
          <a:bodyPr wrap="square" lIns="0" tIns="0" rIns="0" bIns="0" rtlCol="0" anchor="ctr"/>
          <a:lstStyle/>
          <a:p>
            <a:pPr algn="r" indent="0" marL="0">
              <a:buNone/>
            </a:pPr>
            <a:r>
              <a:rPr lang="en-US" sz="900" dirty="0">
                <a:solidFill>
                  <a:srgbClr val="5B6B7F"/>
                </a:solidFill>
                <a:latin typeface="Calibri" pitchFamily="34" charset="0"/>
                <a:ea typeface="Calibri" pitchFamily="34" charset="-122"/>
                <a:cs typeface="Calibri" pitchFamily="34" charset="-120"/>
              </a:rPr>
              <a:t>44</a:t>
            </a:r>
            <a:endParaRPr lang="en-US" sz="900" dirty="0"/>
          </a:p>
        </p:txBody>
      </p:sp>
      <p:sp>
        <p:nvSpPr>
          <p:cNvPr id="5" name="Text 3"/>
          <p:cNvSpPr txBox="1"/>
          <p:nvPr/>
        </p:nvSpPr>
        <p:spPr>
          <a:xfrm>
            <a:off x="457200" y="1042416"/>
            <a:ext cx="4023360" cy="1005840"/>
          </a:xfrm>
          <a:prstGeom prst="rect">
            <a:avLst/>
          </a:prstGeom>
          <a:noFill/>
          <a:ln/>
        </p:spPr>
        <p:txBody>
          <a:bodyPr wrap="square" lIns="0" tIns="0" rIns="0" bIns="0" rtlCol="0" anchor="t"/>
          <a:lstStyle/>
          <a:p>
            <a:pPr indent="0" marL="0">
              <a:buNone/>
            </a:pPr>
            <a:r>
              <a:rPr lang="en-US" sz="1150" dirty="0">
                <a:solidFill>
                  <a:srgbClr val="14213D"/>
                </a:solidFill>
                <a:latin typeface="Calibri" pitchFamily="34" charset="0"/>
                <a:ea typeface="Calibri" pitchFamily="34" charset="-122"/>
                <a:cs typeface="Calibri" pitchFamily="34" charset="-120"/>
              </a:rPr>
              <a:t>Aliasing used deliberately. A signal in a narrow band high up in frequency can be sampled far below its own frequency: it folds down into the first Nyquist zone intact, with the ADC doing the work of a mixer.</a:t>
            </a:r>
            <a:endParaRPr lang="en-US" sz="1150" dirty="0"/>
          </a:p>
        </p:txBody>
      </p:sp>
      <p:sp>
        <p:nvSpPr>
          <p:cNvPr id="6" name="Shape 4"/>
          <p:cNvSpPr/>
          <p:nvPr/>
        </p:nvSpPr>
        <p:spPr>
          <a:xfrm>
            <a:off x="457200" y="2103120"/>
            <a:ext cx="4023360" cy="685800"/>
          </a:xfrm>
          <a:prstGeom prst="roundRect">
            <a:avLst>
              <a:gd name="adj" fmla="val 10667"/>
            </a:avLst>
          </a:prstGeom>
          <a:solidFill>
            <a:srgbClr val="EEF3F8"/>
          </a:solidFill>
          <a:ln w="12700">
            <a:solidFill>
              <a:srgbClr val="EEF3F8"/>
            </a:solidFill>
            <a:prstDash val="solid"/>
          </a:ln>
        </p:spPr>
      </p:sp>
      <p:sp>
        <p:nvSpPr>
          <p:cNvPr id="7" name="Text 5"/>
          <p:cNvSpPr txBox="1"/>
          <p:nvPr/>
        </p:nvSpPr>
        <p:spPr>
          <a:xfrm>
            <a:off x="594360" y="2103120"/>
            <a:ext cx="3749040" cy="429768"/>
          </a:xfrm>
          <a:prstGeom prst="rect">
            <a:avLst/>
          </a:prstGeom>
          <a:noFill/>
          <a:ln/>
        </p:spPr>
        <p:txBody>
          <a:bodyPr wrap="square" lIns="0" tIns="0" rIns="0" bIns="0" rtlCol="0" anchor="ctr"/>
          <a:lstStyle/>
          <a:p>
            <a:pPr algn="ctr" indent="0" marL="0">
              <a:buNone/>
            </a:pPr>
            <a:r>
              <a:rPr lang="en-US" sz="1500" dirty="0">
                <a:solidFill>
                  <a:srgbClr val="0B1F3A"/>
                </a:solidFill>
                <a:latin typeface="Cambria" pitchFamily="34" charset="0"/>
                <a:ea typeface="Cambria" pitchFamily="34" charset="-122"/>
                <a:cs typeface="Cambria" pitchFamily="34" charset="-120"/>
              </a:rPr>
              <a:t>2 f_H / n ≤ f_s ≤ 2 f_L / (n − 1)</a:t>
            </a:r>
            <a:endParaRPr lang="en-US" sz="1500" dirty="0"/>
          </a:p>
        </p:txBody>
      </p:sp>
      <p:sp>
        <p:nvSpPr>
          <p:cNvPr id="8" name="Text 6"/>
          <p:cNvSpPr txBox="1"/>
          <p:nvPr/>
        </p:nvSpPr>
        <p:spPr>
          <a:xfrm>
            <a:off x="594360" y="2487168"/>
            <a:ext cx="3749040" cy="256032"/>
          </a:xfrm>
          <a:prstGeom prst="rect">
            <a:avLst/>
          </a:prstGeom>
          <a:noFill/>
          <a:ln/>
        </p:spPr>
        <p:txBody>
          <a:bodyPr wrap="square" lIns="0" tIns="0" rIns="0" bIns="0" rtlCol="0" anchor="t"/>
          <a:lstStyle/>
          <a:p>
            <a:pPr algn="ctr" indent="0" marL="0">
              <a:buNone/>
            </a:pPr>
            <a:r>
              <a:rPr lang="en-US" sz="1000" dirty="0">
                <a:solidFill>
                  <a:srgbClr val="5B6B7F"/>
                </a:solidFill>
                <a:latin typeface="Calibri" pitchFamily="34" charset="0"/>
                <a:ea typeface="Calibri" pitchFamily="34" charset="-122"/>
                <a:cs typeface="Calibri" pitchFamily="34" charset="-120"/>
              </a:rPr>
              <a:t>Keeps the band [f_L, f_H] clear of the fold points</a:t>
            </a:r>
            <a:endParaRPr lang="en-US" sz="1000" dirty="0"/>
          </a:p>
        </p:txBody>
      </p:sp>
      <p:sp>
        <p:nvSpPr>
          <p:cNvPr id="9" name="Shape 7"/>
          <p:cNvSpPr/>
          <p:nvPr/>
        </p:nvSpPr>
        <p:spPr>
          <a:xfrm>
            <a:off x="457200" y="2862072"/>
            <a:ext cx="4023360" cy="685800"/>
          </a:xfrm>
          <a:prstGeom prst="roundRect">
            <a:avLst>
              <a:gd name="adj" fmla="val 10667"/>
            </a:avLst>
          </a:prstGeom>
          <a:solidFill>
            <a:srgbClr val="EEF3F8"/>
          </a:solidFill>
          <a:ln w="12700">
            <a:solidFill>
              <a:srgbClr val="EEF3F8"/>
            </a:solidFill>
            <a:prstDash val="solid"/>
          </a:ln>
        </p:spPr>
      </p:sp>
      <p:sp>
        <p:nvSpPr>
          <p:cNvPr id="10" name="Text 8"/>
          <p:cNvSpPr txBox="1"/>
          <p:nvPr/>
        </p:nvSpPr>
        <p:spPr>
          <a:xfrm>
            <a:off x="594360" y="2862072"/>
            <a:ext cx="3749040" cy="429768"/>
          </a:xfrm>
          <a:prstGeom prst="rect">
            <a:avLst/>
          </a:prstGeom>
          <a:noFill/>
          <a:ln/>
        </p:spPr>
        <p:txBody>
          <a:bodyPr wrap="square" lIns="0" tIns="0" rIns="0" bIns="0" rtlCol="0" anchor="ctr"/>
          <a:lstStyle/>
          <a:p>
            <a:pPr algn="ctr" indent="0" marL="0">
              <a:buNone/>
            </a:pPr>
            <a:r>
              <a:rPr lang="en-US" sz="1500" dirty="0">
                <a:solidFill>
                  <a:srgbClr val="0B1F3A"/>
                </a:solidFill>
                <a:latin typeface="Cambria" pitchFamily="34" charset="0"/>
                <a:ea typeface="Cambria" pitchFamily="34" charset="-122"/>
                <a:cs typeface="Cambria" pitchFamily="34" charset="-120"/>
              </a:rPr>
              <a:t>requires BW_analog &gt; f_H</a:t>
            </a:r>
            <a:endParaRPr lang="en-US" sz="1500" dirty="0"/>
          </a:p>
        </p:txBody>
      </p:sp>
      <p:sp>
        <p:nvSpPr>
          <p:cNvPr id="11" name="Text 9"/>
          <p:cNvSpPr txBox="1"/>
          <p:nvPr/>
        </p:nvSpPr>
        <p:spPr>
          <a:xfrm>
            <a:off x="594360" y="3246120"/>
            <a:ext cx="3749040" cy="256032"/>
          </a:xfrm>
          <a:prstGeom prst="rect">
            <a:avLst/>
          </a:prstGeom>
          <a:noFill/>
          <a:ln/>
        </p:spPr>
        <p:txBody>
          <a:bodyPr wrap="square" lIns="0" tIns="0" rIns="0" bIns="0" rtlCol="0" anchor="t"/>
          <a:lstStyle/>
          <a:p>
            <a:pPr algn="ctr" indent="0" marL="0">
              <a:buNone/>
            </a:pPr>
            <a:r>
              <a:rPr lang="en-US" sz="1000" dirty="0">
                <a:solidFill>
                  <a:srgbClr val="5B6B7F"/>
                </a:solidFill>
                <a:latin typeface="Calibri" pitchFamily="34" charset="0"/>
                <a:ea typeface="Calibri" pitchFamily="34" charset="-122"/>
                <a:cs typeface="Calibri" pitchFamily="34" charset="-120"/>
              </a:rPr>
              <a:t>The front end must genuinely reach the real frequency</a:t>
            </a:r>
            <a:endParaRPr lang="en-US" sz="1000" dirty="0"/>
          </a:p>
        </p:txBody>
      </p:sp>
      <p:graphicFrame>
        <p:nvGraphicFramePr>
          <p:cNvPr id="12" name="Chart 0" descr=""/>
          <p:cNvGraphicFramePr/>
          <p:nvPr/>
        </p:nvGraphicFramePr>
        <p:xfrm>
          <a:off x="4663440" y="1042416"/>
          <a:ext cx="4023360" cy="2084832"/>
        </p:xfrm>
        <a:graphic xmlns:a="http://schemas.openxmlformats.org/drawingml/2006/main">
          <a:graphicData uri="http://schemas.openxmlformats.org/drawingml/2006/chart">
            <c:chart xmlns:c="http://schemas.openxmlformats.org/drawingml/2006/chart" r:id="rId1"/>
          </a:graphicData>
        </a:graphic>
      </p:graphicFrame>
      <p:sp>
        <p:nvSpPr>
          <p:cNvPr id="13" name="Text 10"/>
          <p:cNvSpPr txBox="1"/>
          <p:nvPr/>
        </p:nvSpPr>
        <p:spPr>
          <a:xfrm>
            <a:off x="4663440" y="3200400"/>
            <a:ext cx="4023360" cy="347472"/>
          </a:xfrm>
          <a:prstGeom prst="rect">
            <a:avLst/>
          </a:prstGeom>
          <a:noFill/>
          <a:ln/>
        </p:spPr>
        <p:txBody>
          <a:bodyPr wrap="square" lIns="0" tIns="0" rIns="0" bIns="0" rtlCol="0" anchor="ctr"/>
          <a:lstStyle/>
          <a:p>
            <a:pPr algn="ctr" indent="0" marL="0">
              <a:buNone/>
            </a:pPr>
            <a:r>
              <a:rPr lang="en-US" sz="1000" i="1" dirty="0">
                <a:solidFill>
                  <a:srgbClr val="5B6B7F"/>
                </a:solidFill>
                <a:latin typeface="Calibri" pitchFamily="34" charset="0"/>
                <a:ea typeface="Calibri" pitchFamily="34" charset="-122"/>
                <a:cs typeface="Calibri" pitchFamily="34" charset="-120"/>
              </a:rPr>
              <a:t>The jitter penalty is set by the real input frequency, not the sample rate. Undersampling a high IF is the hardest thing you can ask of a sampling clock.</a:t>
            </a:r>
            <a:endParaRPr lang="en-US" sz="1000" dirty="0"/>
          </a:p>
        </p:txBody>
      </p:sp>
      <p:sp>
        <p:nvSpPr>
          <p:cNvPr id="14" name="Shape 11"/>
          <p:cNvSpPr/>
          <p:nvPr/>
        </p:nvSpPr>
        <p:spPr>
          <a:xfrm>
            <a:off x="457200" y="3675888"/>
            <a:ext cx="4023360" cy="1024128"/>
          </a:xfrm>
          <a:prstGeom prst="roundRect">
            <a:avLst>
              <a:gd name="adj" fmla="val 7143"/>
            </a:avLst>
          </a:prstGeom>
          <a:solidFill>
            <a:srgbClr val="E4F7F4"/>
          </a:solidFill>
          <a:ln w="12700">
            <a:solidFill>
              <a:srgbClr val="E4F7F4"/>
            </a:solidFill>
            <a:prstDash val="solid"/>
          </a:ln>
        </p:spPr>
      </p:sp>
      <p:sp>
        <p:nvSpPr>
          <p:cNvPr id="15" name="Shape 12"/>
          <p:cNvSpPr/>
          <p:nvPr/>
        </p:nvSpPr>
        <p:spPr>
          <a:xfrm>
            <a:off x="566928" y="3776472"/>
            <a:ext cx="237744" cy="237744"/>
          </a:xfrm>
          <a:prstGeom prst="ellipse">
            <a:avLst/>
          </a:prstGeom>
          <a:solidFill>
            <a:srgbClr val="2EC4B6"/>
          </a:solidFill>
          <a:ln w="12700">
            <a:solidFill>
              <a:srgbClr val="2EC4B6"/>
            </a:solidFill>
            <a:prstDash val="solid"/>
          </a:ln>
        </p:spPr>
      </p:sp>
      <p:sp>
        <p:nvSpPr>
          <p:cNvPr id="16" name="Text 13"/>
          <p:cNvSpPr txBox="1"/>
          <p:nvPr/>
        </p:nvSpPr>
        <p:spPr>
          <a:xfrm>
            <a:off x="566928" y="3776472"/>
            <a:ext cx="237744" cy="237744"/>
          </a:xfrm>
          <a:prstGeom prst="rect">
            <a:avLst/>
          </a:prstGeom>
          <a:noFill/>
          <a:ln/>
        </p:spPr>
        <p:txBody>
          <a:bodyPr wrap="square" lIns="0" tIns="0" rIns="0" bIns="0" rtlCol="0" anchor="ctr"/>
          <a:lstStyle/>
          <a:p>
            <a:pPr algn="ctr" indent="0" marL="0">
              <a:buNone/>
            </a:pPr>
            <a:r>
              <a:rPr lang="en-US" sz="1200" b="1" dirty="0">
                <a:solidFill>
                  <a:srgbClr val="0B1F3A"/>
                </a:solidFill>
                <a:latin typeface="Calibri" pitchFamily="34" charset="0"/>
                <a:ea typeface="Calibri" pitchFamily="34" charset="-122"/>
                <a:cs typeface="Calibri" pitchFamily="34" charset="-120"/>
              </a:rPr>
              <a:t>≈</a:t>
            </a:r>
            <a:endParaRPr lang="en-US" sz="1200" dirty="0"/>
          </a:p>
        </p:txBody>
      </p:sp>
      <p:sp>
        <p:nvSpPr>
          <p:cNvPr id="17" name="Text 14"/>
          <p:cNvSpPr txBox="1"/>
          <p:nvPr/>
        </p:nvSpPr>
        <p:spPr>
          <a:xfrm>
            <a:off x="877824" y="3739896"/>
            <a:ext cx="3493008" cy="896112"/>
          </a:xfrm>
          <a:prstGeom prst="rect">
            <a:avLst/>
          </a:prstGeom>
          <a:noFill/>
          <a:ln/>
        </p:spPr>
        <p:txBody>
          <a:bodyPr wrap="square" lIns="0" tIns="0" rIns="0" bIns="0" rtlCol="0" anchor="t"/>
          <a:lstStyle/>
          <a:p>
            <a:pPr indent="0" marL="0">
              <a:buNone/>
            </a:pPr>
            <a:r>
              <a:rPr lang="en-US" sz="1050" b="1" dirty="0">
                <a:solidFill>
                  <a:srgbClr val="0B1F3A"/>
                </a:solidFill>
                <a:latin typeface="Calibri" pitchFamily="34" charset="0"/>
                <a:ea typeface="Calibri" pitchFamily="34" charset="-122"/>
                <a:cs typeface="Calibri" pitchFamily="34" charset="-120"/>
              </a:rPr>
              <a:t>Think of it like this  </a:t>
            </a:r>
            <a:pPr indent="0" marL="0">
              <a:buNone/>
            </a:pPr>
            <a:r>
              <a:rPr lang="en-US" sz="1050" dirty="0">
                <a:solidFill>
                  <a:srgbClr val="14213D"/>
                </a:solidFill>
                <a:latin typeface="Calibri" pitchFamily="34" charset="0"/>
                <a:ea typeface="Calibri" pitchFamily="34" charset="-122"/>
                <a:cs typeface="Calibri" pitchFamily="34" charset="-120"/>
              </a:rPr>
              <a:t>Watching a fast fan under a strobe light tuned so the blades appear to creep slowly. Nothing about the fan changed; you chose a look rate that makes it easy to watch.</a:t>
            </a:r>
            <a:endParaRPr lang="en-US" sz="1050" dirty="0"/>
          </a:p>
        </p:txBody>
      </p:sp>
      <p:sp>
        <p:nvSpPr>
          <p:cNvPr id="18" name="Shape 15"/>
          <p:cNvSpPr/>
          <p:nvPr/>
        </p:nvSpPr>
        <p:spPr>
          <a:xfrm>
            <a:off x="4663440" y="3675888"/>
            <a:ext cx="4023360" cy="1024128"/>
          </a:xfrm>
          <a:prstGeom prst="roundRect">
            <a:avLst>
              <a:gd name="adj" fmla="val 7143"/>
            </a:avLst>
          </a:prstGeom>
          <a:solidFill>
            <a:srgbClr val="FFFFFF"/>
          </a:solidFill>
          <a:ln w="12700">
            <a:solidFill>
              <a:srgbClr val="0B1F3A"/>
            </a:solidFill>
            <a:prstDash val="solid"/>
          </a:ln>
        </p:spPr>
      </p:sp>
      <p:sp>
        <p:nvSpPr>
          <p:cNvPr id="19" name="Shape 16"/>
          <p:cNvSpPr/>
          <p:nvPr/>
        </p:nvSpPr>
        <p:spPr>
          <a:xfrm>
            <a:off x="4773168" y="3566160"/>
            <a:ext cx="914400" cy="219456"/>
          </a:xfrm>
          <a:prstGeom prst="roundRect">
            <a:avLst>
              <a:gd name="adj" fmla="val 25000"/>
            </a:avLst>
          </a:prstGeom>
          <a:solidFill>
            <a:srgbClr val="0B1F3A"/>
          </a:solidFill>
          <a:ln w="12700">
            <a:solidFill>
              <a:srgbClr val="0B1F3A"/>
            </a:solidFill>
            <a:prstDash val="solid"/>
          </a:ln>
        </p:spPr>
      </p:sp>
      <p:sp>
        <p:nvSpPr>
          <p:cNvPr id="20" name="Text 17"/>
          <p:cNvSpPr txBox="1"/>
          <p:nvPr/>
        </p:nvSpPr>
        <p:spPr>
          <a:xfrm>
            <a:off x="4773168" y="3566160"/>
            <a:ext cx="914400" cy="219456"/>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EXAMPLE</a:t>
            </a:r>
            <a:endParaRPr lang="en-US" sz="850" dirty="0"/>
          </a:p>
        </p:txBody>
      </p:sp>
      <p:sp>
        <p:nvSpPr>
          <p:cNvPr id="21" name="Text 18"/>
          <p:cNvSpPr txBox="1"/>
          <p:nvPr/>
        </p:nvSpPr>
        <p:spPr>
          <a:xfrm>
            <a:off x="4791456" y="3813048"/>
            <a:ext cx="3803904" cy="841248"/>
          </a:xfrm>
          <a:prstGeom prst="rect">
            <a:avLst/>
          </a:prstGeom>
          <a:noFill/>
          <a:ln/>
        </p:spPr>
        <p:txBody>
          <a:bodyPr wrap="square" lIns="0" tIns="0" rIns="0" bIns="0" rtlCol="0" anchor="t"/>
          <a:lstStyle/>
          <a:p>
            <a:pPr indent="0" marL="0">
              <a:spcAft>
                <a:spcPts val="100"/>
              </a:spcAft>
              <a:buNone/>
            </a:pPr>
            <a:r>
              <a:rPr lang="en-US" sz="900" b="1" dirty="0">
                <a:solidFill>
                  <a:srgbClr val="0B1F3A"/>
                </a:solidFill>
                <a:latin typeface="Calibri" pitchFamily="34" charset="0"/>
                <a:ea typeface="Calibri" pitchFamily="34" charset="-122"/>
                <a:cs typeface="Calibri" pitchFamily="34" charset="-120"/>
              </a:rPr>
              <a:t>A 70 MHz IF at 61.44 MSPS</a:t>
            </a:r>
            <a:endParaRPr lang="en-US" sz="900" dirty="0"/>
          </a:p>
          <a:p>
            <a:pPr marL="114300" indent="-114300">
              <a:spcAft>
                <a:spcPts val="100"/>
              </a:spcAft>
              <a:buSzPct val="100000"/>
              <a:buChar char="•"/>
            </a:pPr>
            <a:r>
              <a:rPr lang="en-US" sz="900" dirty="0">
                <a:solidFill>
                  <a:srgbClr val="14213D"/>
                </a:solidFill>
                <a:latin typeface="Cambria" pitchFamily="34" charset="0"/>
                <a:ea typeface="Cambria" pitchFamily="34" charset="-122"/>
                <a:cs typeface="Cambria" pitchFamily="34" charset="-120"/>
              </a:rPr>
              <a:t>The band 65 – 75 MHz folds into the second Nyquist zone</a:t>
            </a:r>
            <a:endParaRPr lang="en-US" sz="900" dirty="0"/>
          </a:p>
          <a:p>
            <a:pPr marL="114300" indent="-114300">
              <a:spcAft>
                <a:spcPts val="100"/>
              </a:spcAft>
              <a:buSzPct val="100000"/>
              <a:buChar char="•"/>
            </a:pPr>
            <a:r>
              <a:rPr lang="en-US" sz="900" dirty="0">
                <a:solidFill>
                  <a:srgbClr val="14213D"/>
                </a:solidFill>
                <a:latin typeface="Cambria" pitchFamily="34" charset="0"/>
                <a:ea typeface="Cambria" pitchFamily="34" charset="-122"/>
                <a:cs typeface="Cambria" pitchFamily="34" charset="-120"/>
              </a:rPr>
              <a:t>It folds down to |70 − 61.44| = 8.56 MHz, orientation intact (zone 3 is odd)</a:t>
            </a:r>
            <a:endParaRPr lang="en-US" sz="900" dirty="0"/>
          </a:p>
          <a:p>
            <a:pPr marL="114300" indent="-114300">
              <a:spcAft>
                <a:spcPts val="100"/>
              </a:spcAft>
              <a:buSzPct val="100000"/>
              <a:buChar char="•"/>
            </a:pPr>
            <a:r>
              <a:rPr lang="en-US" sz="900" dirty="0">
                <a:solidFill>
                  <a:srgbClr val="14213D"/>
                </a:solidFill>
                <a:latin typeface="Cambria" pitchFamily="34" charset="0"/>
                <a:ea typeface="Cambria" pitchFamily="34" charset="-122"/>
                <a:cs typeface="Cambria" pitchFamily="34" charset="-120"/>
              </a:rPr>
              <a:t>Needs a sharp bandpass filter and very low jitter, because 70 MHz sets the jitter budget</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6236208" cy="640080"/>
          </a:xfrm>
          <a:prstGeom prst="rect">
            <a:avLst/>
          </a:prstGeom>
          <a:noFill/>
          <a:ln/>
        </p:spPr>
        <p:txBody>
          <a:bodyPr wrap="square" lIns="0" tIns="0" rIns="0" bIns="0" rtlCol="0" anchor="ctr"/>
          <a:lstStyle/>
          <a:p>
            <a:pPr indent="0" marL="0">
              <a:buNone/>
            </a:pPr>
            <a:r>
              <a:rPr lang="en-US" sz="2000" b="1" dirty="0">
                <a:solidFill>
                  <a:srgbClr val="0B1F3A"/>
                </a:solidFill>
                <a:latin typeface="Cambria" pitchFamily="34" charset="0"/>
                <a:ea typeface="Cambria" pitchFamily="34" charset="-122"/>
                <a:cs typeface="Cambria" pitchFamily="34" charset="-120"/>
              </a:rPr>
              <a:t>Oversampling ratio and decimation</a:t>
            </a:r>
            <a:endParaRPr lang="en-US" sz="2000" dirty="0"/>
          </a:p>
        </p:txBody>
      </p:sp>
      <p:sp>
        <p:nvSpPr>
          <p:cNvPr id="3" name="Text 1"/>
          <p:cNvSpPr txBox="1"/>
          <p:nvPr/>
        </p:nvSpPr>
        <p:spPr>
          <a:xfrm>
            <a:off x="457200" y="4796028"/>
            <a:ext cx="4572000" cy="228600"/>
          </a:xfrm>
          <a:prstGeom prst="rect">
            <a:avLst/>
          </a:prstGeom>
          <a:noFill/>
          <a:ln/>
        </p:spPr>
        <p:txBody>
          <a:bodyPr wrap="square" lIns="0" tIns="0" rIns="0" bIns="0" rtlCol="0" anchor="ctr"/>
          <a:lstStyle/>
          <a:p>
            <a:pPr indent="0" marL="0">
              <a:buNone/>
            </a:pPr>
            <a:r>
              <a:rPr lang="en-US" sz="900" dirty="0">
                <a:solidFill>
                  <a:srgbClr val="5B6B7F"/>
                </a:solidFill>
                <a:latin typeface="Calibri" pitchFamily="34" charset="0"/>
                <a:ea typeface="Calibri" pitchFamily="34" charset="-122"/>
                <a:cs typeface="Calibri" pitchFamily="34" charset="-120"/>
              </a:rPr>
              <a:t>Part 5 · Bandwidth and sampling</a:t>
            </a:r>
            <a:endParaRPr lang="en-US" sz="900" dirty="0"/>
          </a:p>
        </p:txBody>
      </p:sp>
      <p:sp>
        <p:nvSpPr>
          <p:cNvPr id="4" name="Text 2"/>
          <p:cNvSpPr txBox="1"/>
          <p:nvPr/>
        </p:nvSpPr>
        <p:spPr>
          <a:xfrm>
            <a:off x="7772400" y="4796028"/>
            <a:ext cx="914400" cy="228600"/>
          </a:xfrm>
          <a:prstGeom prst="rect">
            <a:avLst/>
          </a:prstGeom>
          <a:noFill/>
          <a:ln/>
        </p:spPr>
        <p:txBody>
          <a:bodyPr wrap="square" lIns="0" tIns="0" rIns="0" bIns="0" rtlCol="0" anchor="ctr"/>
          <a:lstStyle/>
          <a:p>
            <a:pPr algn="r" indent="0" marL="0">
              <a:buNone/>
            </a:pPr>
            <a:r>
              <a:rPr lang="en-US" sz="900" dirty="0">
                <a:solidFill>
                  <a:srgbClr val="5B6B7F"/>
                </a:solidFill>
                <a:latin typeface="Calibri" pitchFamily="34" charset="0"/>
                <a:ea typeface="Calibri" pitchFamily="34" charset="-122"/>
                <a:cs typeface="Calibri" pitchFamily="34" charset="-120"/>
              </a:rPr>
              <a:t>45</a:t>
            </a:r>
            <a:endParaRPr lang="en-US" sz="900" dirty="0"/>
          </a:p>
        </p:txBody>
      </p:sp>
      <p:sp>
        <p:nvSpPr>
          <p:cNvPr id="5" name="Shape 3"/>
          <p:cNvSpPr/>
          <p:nvPr/>
        </p:nvSpPr>
        <p:spPr>
          <a:xfrm>
            <a:off x="6922008" y="384048"/>
            <a:ext cx="1764792" cy="384048"/>
          </a:xfrm>
          <a:prstGeom prst="roundRect">
            <a:avLst>
              <a:gd name="adj" fmla="val 19048"/>
            </a:avLst>
          </a:prstGeom>
          <a:solidFill>
            <a:srgbClr val="EEF3F8"/>
          </a:solidFill>
          <a:ln w="12700">
            <a:solidFill>
              <a:srgbClr val="EEF3F8"/>
            </a:solidFill>
            <a:prstDash val="solid"/>
          </a:ln>
        </p:spPr>
      </p:sp>
      <p:sp>
        <p:nvSpPr>
          <p:cNvPr id="6" name="Text 4"/>
          <p:cNvSpPr txBox="1"/>
          <p:nvPr/>
        </p:nvSpPr>
        <p:spPr>
          <a:xfrm>
            <a:off x="6922008" y="384048"/>
            <a:ext cx="1764792" cy="384048"/>
          </a:xfrm>
          <a:prstGeom prst="rect">
            <a:avLst/>
          </a:prstGeom>
          <a:noFill/>
          <a:ln/>
        </p:spPr>
        <p:txBody>
          <a:bodyPr wrap="square" lIns="0" tIns="0" rIns="0" bIns="0" rtlCol="0" anchor="ctr"/>
          <a:lstStyle/>
          <a:p>
            <a:pPr algn="ctr" indent="0" marL="0">
              <a:buNone/>
            </a:pPr>
            <a:r>
              <a:rPr lang="en-US" sz="1200" b="1" dirty="0">
                <a:solidFill>
                  <a:srgbClr val="0B1F3A"/>
                </a:solidFill>
                <a:latin typeface="Cambria" pitchFamily="34" charset="0"/>
                <a:ea typeface="Cambria" pitchFamily="34" charset="-122"/>
                <a:cs typeface="Cambria" pitchFamily="34" charset="-120"/>
              </a:rPr>
              <a:t>OSR   ·   ×</a:t>
            </a:r>
            <a:endParaRPr lang="en-US" sz="1200" dirty="0"/>
          </a:p>
        </p:txBody>
      </p:sp>
      <p:sp>
        <p:nvSpPr>
          <p:cNvPr id="7" name="Text 5"/>
          <p:cNvSpPr txBox="1"/>
          <p:nvPr/>
        </p:nvSpPr>
        <p:spPr>
          <a:xfrm>
            <a:off x="457200" y="1042416"/>
            <a:ext cx="4023360" cy="1005840"/>
          </a:xfrm>
          <a:prstGeom prst="rect">
            <a:avLst/>
          </a:prstGeom>
          <a:noFill/>
          <a:ln/>
        </p:spPr>
        <p:txBody>
          <a:bodyPr wrap="square" lIns="0" tIns="0" rIns="0" bIns="0" rtlCol="0" anchor="t"/>
          <a:lstStyle/>
          <a:p>
            <a:pPr indent="0" marL="0">
              <a:buNone/>
            </a:pPr>
            <a:r>
              <a:rPr lang="en-US" sz="1150" dirty="0">
                <a:solidFill>
                  <a:srgbClr val="14213D"/>
                </a:solidFill>
                <a:latin typeface="Calibri" pitchFamily="34" charset="0"/>
                <a:ea typeface="Calibri" pitchFamily="34" charset="-122"/>
                <a:cs typeface="Calibri" pitchFamily="34" charset="-120"/>
              </a:rPr>
              <a:t>Sampling much faster than Nyquist spreads the same fixed quantisation noise over a wider band. A digital filter then keeps only the band you care about and throws the rest away — taking most of the noise with it.</a:t>
            </a:r>
            <a:endParaRPr lang="en-US" sz="1150" dirty="0"/>
          </a:p>
        </p:txBody>
      </p:sp>
      <p:sp>
        <p:nvSpPr>
          <p:cNvPr id="8" name="Shape 6"/>
          <p:cNvSpPr/>
          <p:nvPr/>
        </p:nvSpPr>
        <p:spPr>
          <a:xfrm>
            <a:off x="457200" y="2103120"/>
            <a:ext cx="4023360" cy="685800"/>
          </a:xfrm>
          <a:prstGeom prst="roundRect">
            <a:avLst>
              <a:gd name="adj" fmla="val 10667"/>
            </a:avLst>
          </a:prstGeom>
          <a:solidFill>
            <a:srgbClr val="EEF3F8"/>
          </a:solidFill>
          <a:ln w="12700">
            <a:solidFill>
              <a:srgbClr val="EEF3F8"/>
            </a:solidFill>
            <a:prstDash val="solid"/>
          </a:ln>
        </p:spPr>
      </p:sp>
      <p:sp>
        <p:nvSpPr>
          <p:cNvPr id="9" name="Text 7"/>
          <p:cNvSpPr txBox="1"/>
          <p:nvPr/>
        </p:nvSpPr>
        <p:spPr>
          <a:xfrm>
            <a:off x="594360" y="2103120"/>
            <a:ext cx="3749040" cy="429768"/>
          </a:xfrm>
          <a:prstGeom prst="rect">
            <a:avLst/>
          </a:prstGeom>
          <a:noFill/>
          <a:ln/>
        </p:spPr>
        <p:txBody>
          <a:bodyPr wrap="square" lIns="0" tIns="0" rIns="0" bIns="0" rtlCol="0" anchor="ctr"/>
          <a:lstStyle/>
          <a:p>
            <a:pPr algn="ctr" indent="0" marL="0">
              <a:buNone/>
            </a:pPr>
            <a:r>
              <a:rPr lang="en-US" sz="1500" dirty="0">
                <a:solidFill>
                  <a:srgbClr val="0B1F3A"/>
                </a:solidFill>
                <a:latin typeface="Cambria" pitchFamily="34" charset="0"/>
                <a:ea typeface="Cambria" pitchFamily="34" charset="-122"/>
                <a:cs typeface="Cambria" pitchFamily="34" charset="-120"/>
              </a:rPr>
              <a:t>OSR = f_s / (2 × BW)</a:t>
            </a:r>
            <a:endParaRPr lang="en-US" sz="1500" dirty="0"/>
          </a:p>
        </p:txBody>
      </p:sp>
      <p:sp>
        <p:nvSpPr>
          <p:cNvPr id="10" name="Text 8"/>
          <p:cNvSpPr txBox="1"/>
          <p:nvPr/>
        </p:nvSpPr>
        <p:spPr>
          <a:xfrm>
            <a:off x="594360" y="2487168"/>
            <a:ext cx="3749040" cy="256032"/>
          </a:xfrm>
          <a:prstGeom prst="rect">
            <a:avLst/>
          </a:prstGeom>
          <a:noFill/>
          <a:ln/>
        </p:spPr>
        <p:txBody>
          <a:bodyPr wrap="square" lIns="0" tIns="0" rIns="0" bIns="0" rtlCol="0" anchor="t"/>
          <a:lstStyle/>
          <a:p>
            <a:pPr algn="ctr" indent="0" marL="0">
              <a:buNone/>
            </a:pPr>
            <a:r>
              <a:rPr lang="en-US" sz="1000" dirty="0">
                <a:solidFill>
                  <a:srgbClr val="5B6B7F"/>
                </a:solidFill>
                <a:latin typeface="Calibri" pitchFamily="34" charset="0"/>
                <a:ea typeface="Calibri" pitchFamily="34" charset="-122"/>
                <a:cs typeface="Calibri" pitchFamily="34" charset="-120"/>
              </a:rPr>
              <a:t>How many times faster than strictly necessary</a:t>
            </a:r>
            <a:endParaRPr lang="en-US" sz="1000" dirty="0"/>
          </a:p>
        </p:txBody>
      </p:sp>
      <p:sp>
        <p:nvSpPr>
          <p:cNvPr id="11" name="Shape 9"/>
          <p:cNvSpPr/>
          <p:nvPr/>
        </p:nvSpPr>
        <p:spPr>
          <a:xfrm>
            <a:off x="457200" y="2862072"/>
            <a:ext cx="4023360" cy="685800"/>
          </a:xfrm>
          <a:prstGeom prst="roundRect">
            <a:avLst>
              <a:gd name="adj" fmla="val 10667"/>
            </a:avLst>
          </a:prstGeom>
          <a:solidFill>
            <a:srgbClr val="EEF3F8"/>
          </a:solidFill>
          <a:ln w="12700">
            <a:solidFill>
              <a:srgbClr val="EEF3F8"/>
            </a:solidFill>
            <a:prstDash val="solid"/>
          </a:ln>
        </p:spPr>
      </p:sp>
      <p:sp>
        <p:nvSpPr>
          <p:cNvPr id="12" name="Text 10"/>
          <p:cNvSpPr txBox="1"/>
          <p:nvPr/>
        </p:nvSpPr>
        <p:spPr>
          <a:xfrm>
            <a:off x="594360" y="2862072"/>
            <a:ext cx="3749040" cy="429768"/>
          </a:xfrm>
          <a:prstGeom prst="rect">
            <a:avLst/>
          </a:prstGeom>
          <a:noFill/>
          <a:ln/>
        </p:spPr>
        <p:txBody>
          <a:bodyPr wrap="square" lIns="0" tIns="0" rIns="0" bIns="0" rtlCol="0" anchor="ctr"/>
          <a:lstStyle/>
          <a:p>
            <a:pPr algn="ctr" indent="0" marL="0">
              <a:buNone/>
            </a:pPr>
            <a:r>
              <a:rPr lang="en-US" sz="1500" dirty="0">
                <a:solidFill>
                  <a:srgbClr val="0B1F3A"/>
                </a:solidFill>
                <a:latin typeface="Cambria" pitchFamily="34" charset="0"/>
                <a:ea typeface="Cambria" pitchFamily="34" charset="-122"/>
                <a:cs typeface="Cambria" pitchFamily="34" charset="-120"/>
              </a:rPr>
              <a:t>gain = 10 log₁₀(OSR)</a:t>
            </a:r>
            <a:endParaRPr lang="en-US" sz="1500" dirty="0"/>
          </a:p>
        </p:txBody>
      </p:sp>
      <p:sp>
        <p:nvSpPr>
          <p:cNvPr id="13" name="Text 11"/>
          <p:cNvSpPr txBox="1"/>
          <p:nvPr/>
        </p:nvSpPr>
        <p:spPr>
          <a:xfrm>
            <a:off x="594360" y="3246120"/>
            <a:ext cx="3749040" cy="256032"/>
          </a:xfrm>
          <a:prstGeom prst="rect">
            <a:avLst/>
          </a:prstGeom>
          <a:noFill/>
          <a:ln/>
        </p:spPr>
        <p:txBody>
          <a:bodyPr wrap="square" lIns="0" tIns="0" rIns="0" bIns="0" rtlCol="0" anchor="t"/>
          <a:lstStyle/>
          <a:p>
            <a:pPr algn="ctr" indent="0" marL="0">
              <a:buNone/>
            </a:pPr>
            <a:r>
              <a:rPr lang="en-US" sz="1000" dirty="0">
                <a:solidFill>
                  <a:srgbClr val="5B6B7F"/>
                </a:solidFill>
                <a:latin typeface="Calibri" pitchFamily="34" charset="0"/>
                <a:ea typeface="Calibri" pitchFamily="34" charset="-122"/>
                <a:cs typeface="Calibri" pitchFamily="34" charset="-120"/>
              </a:rPr>
              <a:t>+3 dB per doubling, plain oversampling</a:t>
            </a:r>
            <a:endParaRPr lang="en-US" sz="1000" dirty="0"/>
          </a:p>
        </p:txBody>
      </p:sp>
      <p:graphicFrame>
        <p:nvGraphicFramePr>
          <p:cNvPr id="14" name="Chart 0" descr=""/>
          <p:cNvGraphicFramePr/>
          <p:nvPr/>
        </p:nvGraphicFramePr>
        <p:xfrm>
          <a:off x="4663440" y="1042416"/>
          <a:ext cx="4023360" cy="2084832"/>
        </p:xfrm>
        <a:graphic xmlns:a="http://schemas.openxmlformats.org/drawingml/2006/main">
          <a:graphicData uri="http://schemas.openxmlformats.org/drawingml/2006/chart">
            <c:chart xmlns:c="http://schemas.openxmlformats.org/drawingml/2006/chart" r:id="rId1"/>
          </a:graphicData>
        </a:graphic>
      </p:graphicFrame>
      <p:sp>
        <p:nvSpPr>
          <p:cNvPr id="15" name="Text 12"/>
          <p:cNvSpPr txBox="1"/>
          <p:nvPr/>
        </p:nvSpPr>
        <p:spPr>
          <a:xfrm>
            <a:off x="4663440" y="3200400"/>
            <a:ext cx="4023360" cy="347472"/>
          </a:xfrm>
          <a:prstGeom prst="rect">
            <a:avLst/>
          </a:prstGeom>
          <a:noFill/>
          <a:ln/>
        </p:spPr>
        <p:txBody>
          <a:bodyPr wrap="square" lIns="0" tIns="0" rIns="0" bIns="0" rtlCol="0" anchor="ctr"/>
          <a:lstStyle/>
          <a:p>
            <a:pPr algn="ctr" indent="0" marL="0">
              <a:buNone/>
            </a:pPr>
            <a:r>
              <a:rPr lang="en-US" sz="1000" i="1" dirty="0">
                <a:solidFill>
                  <a:srgbClr val="5B6B7F"/>
                </a:solidFill>
                <a:latin typeface="Calibri" pitchFamily="34" charset="0"/>
                <a:ea typeface="Calibri" pitchFamily="34" charset="-122"/>
                <a:cs typeface="Calibri" pitchFamily="34" charset="-120"/>
              </a:rPr>
              <a:t>This is the whole trick behind delta-sigma converters, and it is why they can be extremely accurate and quite slow at the same time.</a:t>
            </a:r>
            <a:endParaRPr lang="en-US" sz="1000" dirty="0"/>
          </a:p>
        </p:txBody>
      </p:sp>
      <p:sp>
        <p:nvSpPr>
          <p:cNvPr id="16" name="Shape 13"/>
          <p:cNvSpPr/>
          <p:nvPr/>
        </p:nvSpPr>
        <p:spPr>
          <a:xfrm>
            <a:off x="457200" y="3675888"/>
            <a:ext cx="4023360" cy="1024128"/>
          </a:xfrm>
          <a:prstGeom prst="roundRect">
            <a:avLst>
              <a:gd name="adj" fmla="val 7143"/>
            </a:avLst>
          </a:prstGeom>
          <a:solidFill>
            <a:srgbClr val="E4F7F4"/>
          </a:solidFill>
          <a:ln w="12700">
            <a:solidFill>
              <a:srgbClr val="E4F7F4"/>
            </a:solidFill>
            <a:prstDash val="solid"/>
          </a:ln>
        </p:spPr>
      </p:sp>
      <p:sp>
        <p:nvSpPr>
          <p:cNvPr id="17" name="Shape 14"/>
          <p:cNvSpPr/>
          <p:nvPr/>
        </p:nvSpPr>
        <p:spPr>
          <a:xfrm>
            <a:off x="566928" y="3776472"/>
            <a:ext cx="237744" cy="237744"/>
          </a:xfrm>
          <a:prstGeom prst="ellipse">
            <a:avLst/>
          </a:prstGeom>
          <a:solidFill>
            <a:srgbClr val="2EC4B6"/>
          </a:solidFill>
          <a:ln w="12700">
            <a:solidFill>
              <a:srgbClr val="2EC4B6"/>
            </a:solidFill>
            <a:prstDash val="solid"/>
          </a:ln>
        </p:spPr>
      </p:sp>
      <p:sp>
        <p:nvSpPr>
          <p:cNvPr id="18" name="Text 15"/>
          <p:cNvSpPr txBox="1"/>
          <p:nvPr/>
        </p:nvSpPr>
        <p:spPr>
          <a:xfrm>
            <a:off x="566928" y="3776472"/>
            <a:ext cx="237744" cy="237744"/>
          </a:xfrm>
          <a:prstGeom prst="rect">
            <a:avLst/>
          </a:prstGeom>
          <a:noFill/>
          <a:ln/>
        </p:spPr>
        <p:txBody>
          <a:bodyPr wrap="square" lIns="0" tIns="0" rIns="0" bIns="0" rtlCol="0" anchor="ctr"/>
          <a:lstStyle/>
          <a:p>
            <a:pPr algn="ctr" indent="0" marL="0">
              <a:buNone/>
            </a:pPr>
            <a:r>
              <a:rPr lang="en-US" sz="1200" b="1" dirty="0">
                <a:solidFill>
                  <a:srgbClr val="0B1F3A"/>
                </a:solidFill>
                <a:latin typeface="Calibri" pitchFamily="34" charset="0"/>
                <a:ea typeface="Calibri" pitchFamily="34" charset="-122"/>
                <a:cs typeface="Calibri" pitchFamily="34" charset="-120"/>
              </a:rPr>
              <a:t>≈</a:t>
            </a:r>
            <a:endParaRPr lang="en-US" sz="1200" dirty="0"/>
          </a:p>
        </p:txBody>
      </p:sp>
      <p:sp>
        <p:nvSpPr>
          <p:cNvPr id="19" name="Text 16"/>
          <p:cNvSpPr txBox="1"/>
          <p:nvPr/>
        </p:nvSpPr>
        <p:spPr>
          <a:xfrm>
            <a:off x="877824" y="3739896"/>
            <a:ext cx="3493008" cy="896112"/>
          </a:xfrm>
          <a:prstGeom prst="rect">
            <a:avLst/>
          </a:prstGeom>
          <a:noFill/>
          <a:ln/>
        </p:spPr>
        <p:txBody>
          <a:bodyPr wrap="square" lIns="0" tIns="0" rIns="0" bIns="0" rtlCol="0" anchor="t"/>
          <a:lstStyle/>
          <a:p>
            <a:pPr indent="0" marL="0">
              <a:buNone/>
            </a:pPr>
            <a:r>
              <a:rPr lang="en-US" sz="1050" b="1" dirty="0">
                <a:solidFill>
                  <a:srgbClr val="0B1F3A"/>
                </a:solidFill>
                <a:latin typeface="Calibri" pitchFamily="34" charset="0"/>
                <a:ea typeface="Calibri" pitchFamily="34" charset="-122"/>
                <a:cs typeface="Calibri" pitchFamily="34" charset="-120"/>
              </a:rPr>
              <a:t>Think of it like this  </a:t>
            </a:r>
            <a:pPr indent="0" marL="0">
              <a:buNone/>
            </a:pPr>
            <a:r>
              <a:rPr lang="en-US" sz="1050" dirty="0">
                <a:solidFill>
                  <a:srgbClr val="14213D"/>
                </a:solidFill>
                <a:latin typeface="Calibri" pitchFamily="34" charset="0"/>
                <a:ea typeface="Calibri" pitchFamily="34" charset="-122"/>
                <a:cs typeface="Calibri" pitchFamily="34" charset="-120"/>
              </a:rPr>
              <a:t>Weighing a letter on a coarse scale a thousand times while nudging it, then averaging. Many rough measurements, carefully combined, beat one careful measurement.</a:t>
            </a:r>
            <a:endParaRPr lang="en-US" sz="1050" dirty="0"/>
          </a:p>
        </p:txBody>
      </p:sp>
      <p:sp>
        <p:nvSpPr>
          <p:cNvPr id="20" name="Shape 17"/>
          <p:cNvSpPr/>
          <p:nvPr/>
        </p:nvSpPr>
        <p:spPr>
          <a:xfrm>
            <a:off x="4663440" y="3675888"/>
            <a:ext cx="4023360" cy="1024128"/>
          </a:xfrm>
          <a:prstGeom prst="roundRect">
            <a:avLst>
              <a:gd name="adj" fmla="val 7143"/>
            </a:avLst>
          </a:prstGeom>
          <a:solidFill>
            <a:srgbClr val="FFFFFF"/>
          </a:solidFill>
          <a:ln w="12700">
            <a:solidFill>
              <a:srgbClr val="0B1F3A"/>
            </a:solidFill>
            <a:prstDash val="solid"/>
          </a:ln>
        </p:spPr>
      </p:sp>
      <p:sp>
        <p:nvSpPr>
          <p:cNvPr id="21" name="Shape 18"/>
          <p:cNvSpPr/>
          <p:nvPr/>
        </p:nvSpPr>
        <p:spPr>
          <a:xfrm>
            <a:off x="4773168" y="3566160"/>
            <a:ext cx="914400" cy="219456"/>
          </a:xfrm>
          <a:prstGeom prst="roundRect">
            <a:avLst>
              <a:gd name="adj" fmla="val 25000"/>
            </a:avLst>
          </a:prstGeom>
          <a:solidFill>
            <a:srgbClr val="0B1F3A"/>
          </a:solidFill>
          <a:ln w="12700">
            <a:solidFill>
              <a:srgbClr val="0B1F3A"/>
            </a:solidFill>
            <a:prstDash val="solid"/>
          </a:ln>
        </p:spPr>
      </p:sp>
      <p:sp>
        <p:nvSpPr>
          <p:cNvPr id="22" name="Text 19"/>
          <p:cNvSpPr txBox="1"/>
          <p:nvPr/>
        </p:nvSpPr>
        <p:spPr>
          <a:xfrm>
            <a:off x="4773168" y="3566160"/>
            <a:ext cx="914400" cy="219456"/>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EXAMPLE</a:t>
            </a:r>
            <a:endParaRPr lang="en-US" sz="850" dirty="0"/>
          </a:p>
        </p:txBody>
      </p:sp>
      <p:sp>
        <p:nvSpPr>
          <p:cNvPr id="23" name="Text 20"/>
          <p:cNvSpPr txBox="1"/>
          <p:nvPr/>
        </p:nvSpPr>
        <p:spPr>
          <a:xfrm>
            <a:off x="4791456" y="3813048"/>
            <a:ext cx="3803904" cy="841248"/>
          </a:xfrm>
          <a:prstGeom prst="rect">
            <a:avLst/>
          </a:prstGeom>
          <a:noFill/>
          <a:ln/>
        </p:spPr>
        <p:txBody>
          <a:bodyPr wrap="square" lIns="0" tIns="0" rIns="0" bIns="0" rtlCol="0" anchor="t"/>
          <a:lstStyle/>
          <a:p>
            <a:pPr indent="0" marL="0">
              <a:spcAft>
                <a:spcPts val="100"/>
              </a:spcAft>
              <a:buNone/>
            </a:pPr>
            <a:r>
              <a:rPr lang="en-US" sz="900" b="1" dirty="0">
                <a:solidFill>
                  <a:srgbClr val="0B1F3A"/>
                </a:solidFill>
                <a:latin typeface="Calibri" pitchFamily="34" charset="0"/>
                <a:ea typeface="Calibri" pitchFamily="34" charset="-122"/>
                <a:cs typeface="Calibri" pitchFamily="34" charset="-120"/>
              </a:rPr>
              <a:t>A 24-bit audio converter</a:t>
            </a:r>
            <a:endParaRPr lang="en-US" sz="900" dirty="0"/>
          </a:p>
          <a:p>
            <a:pPr marL="114300" indent="-114300">
              <a:spcAft>
                <a:spcPts val="100"/>
              </a:spcAft>
              <a:buSzPct val="100000"/>
              <a:buChar char="•"/>
            </a:pPr>
            <a:r>
              <a:rPr lang="en-US" sz="900" dirty="0">
                <a:solidFill>
                  <a:srgbClr val="14213D"/>
                </a:solidFill>
                <a:latin typeface="Cambria" pitchFamily="34" charset="0"/>
                <a:ea typeface="Cambria" pitchFamily="34" charset="-122"/>
                <a:cs typeface="Cambria" pitchFamily="34" charset="-120"/>
              </a:rPr>
              <a:t>1-bit modulator at 6.1 MSPS, signal band 20 kHz → OSR = 153</a:t>
            </a:r>
            <a:endParaRPr lang="en-US" sz="900" dirty="0"/>
          </a:p>
          <a:p>
            <a:pPr marL="114300" indent="-114300">
              <a:spcAft>
                <a:spcPts val="100"/>
              </a:spcAft>
              <a:buSzPct val="100000"/>
              <a:buChar char="•"/>
            </a:pPr>
            <a:r>
              <a:rPr lang="en-US" sz="900" dirty="0">
                <a:solidFill>
                  <a:srgbClr val="14213D"/>
                </a:solidFill>
                <a:latin typeface="Cambria" pitchFamily="34" charset="0"/>
                <a:ea typeface="Cambria" pitchFamily="34" charset="-122"/>
                <a:cs typeface="Cambria" pitchFamily="34" charset="-120"/>
              </a:rPr>
              <a:t>Seven doublings with second-order shaping: 7 × 15 = 105 dB gained</a:t>
            </a:r>
            <a:endParaRPr lang="en-US" sz="900" dirty="0"/>
          </a:p>
          <a:p>
            <a:pPr marL="114300" indent="-114300">
              <a:spcAft>
                <a:spcPts val="100"/>
              </a:spcAft>
              <a:buSzPct val="100000"/>
              <a:buChar char="•"/>
            </a:pPr>
            <a:r>
              <a:rPr lang="en-US" sz="900" dirty="0">
                <a:solidFill>
                  <a:srgbClr val="14213D"/>
                </a:solidFill>
                <a:latin typeface="Cambria" pitchFamily="34" charset="0"/>
                <a:ea typeface="Cambria" pitchFamily="34" charset="-122"/>
                <a:cs typeface="Cambria" pitchFamily="34" charset="-120"/>
              </a:rPr>
              <a:t>A one-bit front end ends up delivering about 20 real bits</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B1F3A"/>
        </a:solidFill>
      </p:bgPr>
    </p:bg>
    <p:spTree>
      <p:nvGrpSpPr>
        <p:cNvPr id="1" name=""/>
        <p:cNvGrpSpPr/>
        <p:nvPr/>
      </p:nvGrpSpPr>
      <p:grpSpPr>
        <a:xfrm>
          <a:off x="0" y="0"/>
          <a:ext cx="0" cy="0"/>
          <a:chOff x="0" y="0"/>
          <a:chExt cx="0" cy="0"/>
        </a:xfrm>
      </p:grpSpPr>
      <p:sp>
        <p:nvSpPr>
          <p:cNvPr id="2" name="Text 0"/>
          <p:cNvSpPr txBox="1"/>
          <p:nvPr/>
        </p:nvSpPr>
        <p:spPr>
          <a:xfrm>
            <a:off x="457200" y="1234440"/>
            <a:ext cx="5486400" cy="365760"/>
          </a:xfrm>
          <a:prstGeom prst="rect">
            <a:avLst/>
          </a:prstGeom>
          <a:noFill/>
          <a:ln/>
        </p:spPr>
        <p:txBody>
          <a:bodyPr wrap="square" lIns="0" tIns="0" rIns="0" bIns="0" rtlCol="0" anchor="ctr"/>
          <a:lstStyle/>
          <a:p>
            <a:pPr indent="0" marL="0">
              <a:buNone/>
            </a:pPr>
            <a:r>
              <a:rPr lang="en-US" sz="1400" b="1" dirty="0">
                <a:solidFill>
                  <a:srgbClr val="2EC4B6"/>
                </a:solidFill>
                <a:latin typeface="Calibri" pitchFamily="34" charset="0"/>
                <a:ea typeface="Calibri" pitchFamily="34" charset="-122"/>
                <a:cs typeface="Calibri" pitchFamily="34" charset="-120"/>
              </a:rPr>
              <a:t>Part 6</a:t>
            </a:r>
            <a:endParaRPr lang="en-US" sz="1400" dirty="0"/>
          </a:p>
        </p:txBody>
      </p:sp>
      <p:sp>
        <p:nvSpPr>
          <p:cNvPr id="3" name="Text 1"/>
          <p:cNvSpPr txBox="1"/>
          <p:nvPr/>
        </p:nvSpPr>
        <p:spPr>
          <a:xfrm>
            <a:off x="457200" y="1600200"/>
            <a:ext cx="8229600" cy="9144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Power, interface and figures of merit</a:t>
            </a:r>
            <a:endParaRPr lang="en-US" sz="3800" dirty="0"/>
          </a:p>
        </p:txBody>
      </p:sp>
      <p:sp>
        <p:nvSpPr>
          <p:cNvPr id="4" name="Text 2"/>
          <p:cNvSpPr txBox="1"/>
          <p:nvPr/>
        </p:nvSpPr>
        <p:spPr>
          <a:xfrm>
            <a:off x="457200" y="2560320"/>
            <a:ext cx="8229600" cy="457200"/>
          </a:xfrm>
          <a:prstGeom prst="rect">
            <a:avLst/>
          </a:prstGeom>
          <a:noFill/>
          <a:ln/>
        </p:spPr>
        <p:txBody>
          <a:bodyPr wrap="square" lIns="0" tIns="0" rIns="0" bIns="0" rtlCol="0" anchor="ctr"/>
          <a:lstStyle/>
          <a:p>
            <a:pPr indent="0" marL="0">
              <a:buNone/>
            </a:pPr>
            <a:r>
              <a:rPr lang="en-US" sz="1600" dirty="0">
                <a:solidFill>
                  <a:srgbClr val="D7DEE8"/>
                </a:solidFill>
                <a:latin typeface="Calibri" pitchFamily="34" charset="0"/>
                <a:ea typeface="Calibri" pitchFamily="34" charset="-122"/>
                <a:cs typeface="Calibri" pitchFamily="34" charset="-120"/>
              </a:rPr>
              <a:t>What it costs, how you get the data out, and how to compare parts fairly</a:t>
            </a:r>
            <a:endParaRPr lang="en-US" sz="1600" dirty="0"/>
          </a:p>
        </p:txBody>
      </p:sp>
      <p:sp>
        <p:nvSpPr>
          <p:cNvPr id="5" name="Text 3"/>
          <p:cNvSpPr txBox="1"/>
          <p:nvPr/>
        </p:nvSpPr>
        <p:spPr>
          <a:xfrm>
            <a:off x="457200" y="3063240"/>
            <a:ext cx="3657600" cy="274320"/>
          </a:xfrm>
          <a:prstGeom prst="rect">
            <a:avLst/>
          </a:prstGeom>
          <a:noFill/>
          <a:ln/>
        </p:spPr>
        <p:txBody>
          <a:bodyPr wrap="square" lIns="0" tIns="0" rIns="0" bIns="0" rtlCol="0" anchor="ctr"/>
          <a:lstStyle/>
          <a:p>
            <a:pPr indent="0" marL="0">
              <a:buNone/>
            </a:pPr>
            <a:r>
              <a:rPr lang="en-US" sz="1100" dirty="0">
                <a:solidFill>
                  <a:srgbClr val="B8C4D6"/>
                </a:solidFill>
                <a:latin typeface="Calibri" pitchFamily="34" charset="0"/>
                <a:ea typeface="Calibri" pitchFamily="34" charset="-122"/>
                <a:cs typeface="Calibri" pitchFamily="34" charset="-120"/>
              </a:rPr>
              <a:t>8 minutes</a:t>
            </a:r>
            <a:endParaRPr lang="en-US" sz="1100" dirty="0"/>
          </a:p>
        </p:txBody>
      </p:sp>
      <p:sp>
        <p:nvSpPr>
          <p:cNvPr id="6" name="Text 4"/>
          <p:cNvSpPr txBox="1"/>
          <p:nvPr/>
        </p:nvSpPr>
        <p:spPr>
          <a:xfrm>
            <a:off x="7772400" y="4796028"/>
            <a:ext cx="914400" cy="228600"/>
          </a:xfrm>
          <a:prstGeom prst="rect">
            <a:avLst/>
          </a:prstGeom>
          <a:noFill/>
          <a:ln/>
        </p:spPr>
        <p:txBody>
          <a:bodyPr wrap="square" lIns="0" tIns="0" rIns="0" bIns="0" rtlCol="0" anchor="ctr"/>
          <a:lstStyle/>
          <a:p>
            <a:pPr algn="r" indent="0" marL="0">
              <a:buNone/>
            </a:pPr>
            <a:r>
              <a:rPr lang="en-US" sz="900" dirty="0">
                <a:solidFill>
                  <a:srgbClr val="8FA3BF"/>
                </a:solidFill>
                <a:latin typeface="Calibri" pitchFamily="34" charset="0"/>
                <a:ea typeface="Calibri" pitchFamily="34" charset="-122"/>
                <a:cs typeface="Calibri" pitchFamily="34" charset="-120"/>
              </a:rPr>
              <a:t>46</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6236208" cy="640080"/>
          </a:xfrm>
          <a:prstGeom prst="rect">
            <a:avLst/>
          </a:prstGeom>
          <a:noFill/>
          <a:ln/>
        </p:spPr>
        <p:txBody>
          <a:bodyPr wrap="square" lIns="0" tIns="0" rIns="0" bIns="0" rtlCol="0" anchor="ctr"/>
          <a:lstStyle/>
          <a:p>
            <a:pPr indent="0" marL="0">
              <a:buNone/>
            </a:pPr>
            <a:r>
              <a:rPr lang="en-US" sz="2000" b="1" dirty="0">
                <a:solidFill>
                  <a:srgbClr val="0B1F3A"/>
                </a:solidFill>
                <a:latin typeface="Cambria" pitchFamily="34" charset="0"/>
                <a:ea typeface="Cambria" pitchFamily="34" charset="-122"/>
                <a:cs typeface="Cambria" pitchFamily="34" charset="-120"/>
              </a:rPr>
              <a:t>Power dissipation and supplies</a:t>
            </a:r>
            <a:endParaRPr lang="en-US" sz="2000" dirty="0"/>
          </a:p>
        </p:txBody>
      </p:sp>
      <p:sp>
        <p:nvSpPr>
          <p:cNvPr id="3" name="Text 1"/>
          <p:cNvSpPr txBox="1"/>
          <p:nvPr/>
        </p:nvSpPr>
        <p:spPr>
          <a:xfrm>
            <a:off x="457200" y="4796028"/>
            <a:ext cx="4572000" cy="228600"/>
          </a:xfrm>
          <a:prstGeom prst="rect">
            <a:avLst/>
          </a:prstGeom>
          <a:noFill/>
          <a:ln/>
        </p:spPr>
        <p:txBody>
          <a:bodyPr wrap="square" lIns="0" tIns="0" rIns="0" bIns="0" rtlCol="0" anchor="ctr"/>
          <a:lstStyle/>
          <a:p>
            <a:pPr indent="0" marL="0">
              <a:buNone/>
            </a:pPr>
            <a:r>
              <a:rPr lang="en-US" sz="900" dirty="0">
                <a:solidFill>
                  <a:srgbClr val="5B6B7F"/>
                </a:solidFill>
                <a:latin typeface="Calibri" pitchFamily="34" charset="0"/>
                <a:ea typeface="Calibri" pitchFamily="34" charset="-122"/>
                <a:cs typeface="Calibri" pitchFamily="34" charset="-120"/>
              </a:rPr>
              <a:t>Part 6 · Power, interface and figures of merit</a:t>
            </a:r>
            <a:endParaRPr lang="en-US" sz="900" dirty="0"/>
          </a:p>
        </p:txBody>
      </p:sp>
      <p:sp>
        <p:nvSpPr>
          <p:cNvPr id="4" name="Text 2"/>
          <p:cNvSpPr txBox="1"/>
          <p:nvPr/>
        </p:nvSpPr>
        <p:spPr>
          <a:xfrm>
            <a:off x="7772400" y="4796028"/>
            <a:ext cx="914400" cy="228600"/>
          </a:xfrm>
          <a:prstGeom prst="rect">
            <a:avLst/>
          </a:prstGeom>
          <a:noFill/>
          <a:ln/>
        </p:spPr>
        <p:txBody>
          <a:bodyPr wrap="square" lIns="0" tIns="0" rIns="0" bIns="0" rtlCol="0" anchor="ctr"/>
          <a:lstStyle/>
          <a:p>
            <a:pPr algn="r" indent="0" marL="0">
              <a:buNone/>
            </a:pPr>
            <a:r>
              <a:rPr lang="en-US" sz="900" dirty="0">
                <a:solidFill>
                  <a:srgbClr val="5B6B7F"/>
                </a:solidFill>
                <a:latin typeface="Calibri" pitchFamily="34" charset="0"/>
                <a:ea typeface="Calibri" pitchFamily="34" charset="-122"/>
                <a:cs typeface="Calibri" pitchFamily="34" charset="-120"/>
              </a:rPr>
              <a:t>47</a:t>
            </a:r>
            <a:endParaRPr lang="en-US" sz="900" dirty="0"/>
          </a:p>
        </p:txBody>
      </p:sp>
      <p:sp>
        <p:nvSpPr>
          <p:cNvPr id="5" name="Shape 3"/>
          <p:cNvSpPr/>
          <p:nvPr/>
        </p:nvSpPr>
        <p:spPr>
          <a:xfrm>
            <a:off x="6922008" y="384048"/>
            <a:ext cx="1764792" cy="384048"/>
          </a:xfrm>
          <a:prstGeom prst="roundRect">
            <a:avLst>
              <a:gd name="adj" fmla="val 19048"/>
            </a:avLst>
          </a:prstGeom>
          <a:solidFill>
            <a:srgbClr val="EEF3F8"/>
          </a:solidFill>
          <a:ln w="12700">
            <a:solidFill>
              <a:srgbClr val="EEF3F8"/>
            </a:solidFill>
            <a:prstDash val="solid"/>
          </a:ln>
        </p:spPr>
      </p:sp>
      <p:sp>
        <p:nvSpPr>
          <p:cNvPr id="6" name="Text 4"/>
          <p:cNvSpPr txBox="1"/>
          <p:nvPr/>
        </p:nvSpPr>
        <p:spPr>
          <a:xfrm>
            <a:off x="6922008" y="384048"/>
            <a:ext cx="1764792" cy="384048"/>
          </a:xfrm>
          <a:prstGeom prst="rect">
            <a:avLst/>
          </a:prstGeom>
          <a:noFill/>
          <a:ln/>
        </p:spPr>
        <p:txBody>
          <a:bodyPr wrap="square" lIns="0" tIns="0" rIns="0" bIns="0" rtlCol="0" anchor="ctr"/>
          <a:lstStyle/>
          <a:p>
            <a:pPr algn="ctr" indent="0" marL="0">
              <a:buNone/>
            </a:pPr>
            <a:r>
              <a:rPr lang="en-US" sz="1200" b="1" dirty="0">
                <a:solidFill>
                  <a:srgbClr val="0B1F3A"/>
                </a:solidFill>
                <a:latin typeface="Cambria" pitchFamily="34" charset="0"/>
                <a:ea typeface="Cambria" pitchFamily="34" charset="-122"/>
                <a:cs typeface="Cambria" pitchFamily="34" charset="-120"/>
              </a:rPr>
              <a:t>P_D   ·   W</a:t>
            </a:r>
            <a:endParaRPr lang="en-US" sz="1200" dirty="0"/>
          </a:p>
        </p:txBody>
      </p:sp>
      <p:sp>
        <p:nvSpPr>
          <p:cNvPr id="7" name="Text 5"/>
          <p:cNvSpPr txBox="1"/>
          <p:nvPr/>
        </p:nvSpPr>
        <p:spPr>
          <a:xfrm>
            <a:off x="457200" y="1042416"/>
            <a:ext cx="4023360" cy="1207008"/>
          </a:xfrm>
          <a:prstGeom prst="rect">
            <a:avLst/>
          </a:prstGeom>
          <a:noFill/>
          <a:ln/>
        </p:spPr>
        <p:txBody>
          <a:bodyPr wrap="square" lIns="0" tIns="0" rIns="0" bIns="0" rtlCol="0" anchor="t"/>
          <a:lstStyle/>
          <a:p>
            <a:pPr indent="0" marL="0">
              <a:buNone/>
            </a:pPr>
            <a:r>
              <a:rPr lang="en-US" sz="1150" dirty="0">
                <a:solidFill>
                  <a:srgbClr val="14213D"/>
                </a:solidFill>
                <a:latin typeface="Calibri" pitchFamily="34" charset="0"/>
                <a:ea typeface="Calibri" pitchFamily="34" charset="-122"/>
                <a:cs typeface="Calibri" pitchFamily="34" charset="-120"/>
              </a:rPr>
              <a:t>What the converter costs you in watts, usually split across an analogue supply, a digital supply and an I/O supply. It scales roughly with sample rate, and very steeply with resolution — every extra bit costs about four times the power.</a:t>
            </a:r>
            <a:endParaRPr lang="en-US" sz="1150" dirty="0"/>
          </a:p>
        </p:txBody>
      </p:sp>
      <p:sp>
        <p:nvSpPr>
          <p:cNvPr id="8" name="Shape 6"/>
          <p:cNvSpPr/>
          <p:nvPr/>
        </p:nvSpPr>
        <p:spPr>
          <a:xfrm>
            <a:off x="457200" y="2304288"/>
            <a:ext cx="4023360" cy="868680"/>
          </a:xfrm>
          <a:prstGeom prst="roundRect">
            <a:avLst>
              <a:gd name="adj" fmla="val 8421"/>
            </a:avLst>
          </a:prstGeom>
          <a:solidFill>
            <a:srgbClr val="EEF3F8"/>
          </a:solidFill>
          <a:ln w="12700">
            <a:solidFill>
              <a:srgbClr val="EEF3F8"/>
            </a:solidFill>
            <a:prstDash val="solid"/>
          </a:ln>
        </p:spPr>
      </p:sp>
      <p:sp>
        <p:nvSpPr>
          <p:cNvPr id="9" name="Text 7"/>
          <p:cNvSpPr txBox="1"/>
          <p:nvPr/>
        </p:nvSpPr>
        <p:spPr>
          <a:xfrm>
            <a:off x="594360" y="2304288"/>
            <a:ext cx="3749040" cy="612648"/>
          </a:xfrm>
          <a:prstGeom prst="rect">
            <a:avLst/>
          </a:prstGeom>
          <a:noFill/>
          <a:ln/>
        </p:spPr>
        <p:txBody>
          <a:bodyPr wrap="square" lIns="0" tIns="0" rIns="0" bIns="0" rtlCol="0" anchor="ctr"/>
          <a:lstStyle/>
          <a:p>
            <a:pPr algn="ctr" indent="0" marL="0">
              <a:buNone/>
            </a:pPr>
            <a:r>
              <a:rPr lang="en-US" sz="1500" dirty="0">
                <a:solidFill>
                  <a:srgbClr val="0B1F3A"/>
                </a:solidFill>
                <a:latin typeface="Cambria" pitchFamily="34" charset="0"/>
                <a:ea typeface="Cambria" pitchFamily="34" charset="-122"/>
                <a:cs typeface="Cambria" pitchFamily="34" charset="-120"/>
              </a:rPr>
              <a:t>P ∝ f_s × 2²ᴺᵒᵇ</a:t>
            </a:r>
            <a:endParaRPr lang="en-US" sz="1500" dirty="0"/>
          </a:p>
        </p:txBody>
      </p:sp>
      <p:sp>
        <p:nvSpPr>
          <p:cNvPr id="10" name="Text 8"/>
          <p:cNvSpPr txBox="1"/>
          <p:nvPr/>
        </p:nvSpPr>
        <p:spPr>
          <a:xfrm>
            <a:off x="594360" y="2871216"/>
            <a:ext cx="3749040" cy="256032"/>
          </a:xfrm>
          <a:prstGeom prst="rect">
            <a:avLst/>
          </a:prstGeom>
          <a:noFill/>
          <a:ln/>
        </p:spPr>
        <p:txBody>
          <a:bodyPr wrap="square" lIns="0" tIns="0" rIns="0" bIns="0" rtlCol="0" anchor="t"/>
          <a:lstStyle/>
          <a:p>
            <a:pPr algn="ctr" indent="0" marL="0">
              <a:buNone/>
            </a:pPr>
            <a:r>
              <a:rPr lang="en-US" sz="1000" dirty="0">
                <a:solidFill>
                  <a:srgbClr val="5B6B7F"/>
                </a:solidFill>
                <a:latin typeface="Calibri" pitchFamily="34" charset="0"/>
                <a:ea typeface="Calibri" pitchFamily="34" charset="-122"/>
                <a:cs typeface="Calibri" pitchFamily="34" charset="-120"/>
              </a:rPr>
              <a:t>Why 16 bits at 1 GSPS is so much harder than 8 bits at 1 GSPS</a:t>
            </a:r>
            <a:endParaRPr lang="en-US" sz="1000" dirty="0"/>
          </a:p>
        </p:txBody>
      </p:sp>
      <p:graphicFrame>
        <p:nvGraphicFramePr>
          <p:cNvPr id="11" name="Chart 0" descr=""/>
          <p:cNvGraphicFramePr/>
          <p:nvPr/>
        </p:nvGraphicFramePr>
        <p:xfrm>
          <a:off x="4663440" y="1042416"/>
          <a:ext cx="4023360" cy="2084832"/>
        </p:xfrm>
        <a:graphic xmlns:a="http://schemas.openxmlformats.org/drawingml/2006/main">
          <a:graphicData uri="http://schemas.openxmlformats.org/drawingml/2006/chart">
            <c:chart xmlns:c="http://schemas.openxmlformats.org/drawingml/2006/chart" r:id="rId1"/>
          </a:graphicData>
        </a:graphic>
      </p:graphicFrame>
      <p:sp>
        <p:nvSpPr>
          <p:cNvPr id="12" name="Text 9"/>
          <p:cNvSpPr txBox="1"/>
          <p:nvPr/>
        </p:nvSpPr>
        <p:spPr>
          <a:xfrm>
            <a:off x="4663440" y="3200400"/>
            <a:ext cx="4023360" cy="347472"/>
          </a:xfrm>
          <a:prstGeom prst="rect">
            <a:avLst/>
          </a:prstGeom>
          <a:noFill/>
          <a:ln/>
        </p:spPr>
        <p:txBody>
          <a:bodyPr wrap="square" lIns="0" tIns="0" rIns="0" bIns="0" rtlCol="0" anchor="ctr"/>
          <a:lstStyle/>
          <a:p>
            <a:pPr algn="ctr" indent="0" marL="0">
              <a:buNone/>
            </a:pPr>
            <a:r>
              <a:rPr lang="en-US" sz="1000" i="1" dirty="0">
                <a:solidFill>
                  <a:srgbClr val="5B6B7F"/>
                </a:solidFill>
                <a:latin typeface="Calibri" pitchFamily="34" charset="0"/>
                <a:ea typeface="Calibri" pitchFamily="34" charset="-122"/>
                <a:cs typeface="Calibri" pitchFamily="34" charset="-120"/>
              </a:rPr>
              <a:t>In battery and multi-channel systems, energy per conversion matters more than the headline power figure — which is exactly what the next two slides…</a:t>
            </a:r>
            <a:endParaRPr lang="en-US" sz="1000" dirty="0"/>
          </a:p>
        </p:txBody>
      </p:sp>
      <p:sp>
        <p:nvSpPr>
          <p:cNvPr id="13" name="Shape 10"/>
          <p:cNvSpPr/>
          <p:nvPr/>
        </p:nvSpPr>
        <p:spPr>
          <a:xfrm>
            <a:off x="457200" y="3675888"/>
            <a:ext cx="4023360" cy="1024128"/>
          </a:xfrm>
          <a:prstGeom prst="roundRect">
            <a:avLst>
              <a:gd name="adj" fmla="val 7143"/>
            </a:avLst>
          </a:prstGeom>
          <a:solidFill>
            <a:srgbClr val="E4F7F4"/>
          </a:solidFill>
          <a:ln w="12700">
            <a:solidFill>
              <a:srgbClr val="E4F7F4"/>
            </a:solidFill>
            <a:prstDash val="solid"/>
          </a:ln>
        </p:spPr>
      </p:sp>
      <p:sp>
        <p:nvSpPr>
          <p:cNvPr id="14" name="Shape 11"/>
          <p:cNvSpPr/>
          <p:nvPr/>
        </p:nvSpPr>
        <p:spPr>
          <a:xfrm>
            <a:off x="566928" y="3776472"/>
            <a:ext cx="237744" cy="237744"/>
          </a:xfrm>
          <a:prstGeom prst="ellipse">
            <a:avLst/>
          </a:prstGeom>
          <a:solidFill>
            <a:srgbClr val="2EC4B6"/>
          </a:solidFill>
          <a:ln w="12700">
            <a:solidFill>
              <a:srgbClr val="2EC4B6"/>
            </a:solidFill>
            <a:prstDash val="solid"/>
          </a:ln>
        </p:spPr>
      </p:sp>
      <p:sp>
        <p:nvSpPr>
          <p:cNvPr id="15" name="Text 12"/>
          <p:cNvSpPr txBox="1"/>
          <p:nvPr/>
        </p:nvSpPr>
        <p:spPr>
          <a:xfrm>
            <a:off x="566928" y="3776472"/>
            <a:ext cx="237744" cy="237744"/>
          </a:xfrm>
          <a:prstGeom prst="rect">
            <a:avLst/>
          </a:prstGeom>
          <a:noFill/>
          <a:ln/>
        </p:spPr>
        <p:txBody>
          <a:bodyPr wrap="square" lIns="0" tIns="0" rIns="0" bIns="0" rtlCol="0" anchor="ctr"/>
          <a:lstStyle/>
          <a:p>
            <a:pPr algn="ctr" indent="0" marL="0">
              <a:buNone/>
            </a:pPr>
            <a:r>
              <a:rPr lang="en-US" sz="1200" b="1" dirty="0">
                <a:solidFill>
                  <a:srgbClr val="0B1F3A"/>
                </a:solidFill>
                <a:latin typeface="Calibri" pitchFamily="34" charset="0"/>
                <a:ea typeface="Calibri" pitchFamily="34" charset="-122"/>
                <a:cs typeface="Calibri" pitchFamily="34" charset="-120"/>
              </a:rPr>
              <a:t>≈</a:t>
            </a:r>
            <a:endParaRPr lang="en-US" sz="1200" dirty="0"/>
          </a:p>
        </p:txBody>
      </p:sp>
      <p:sp>
        <p:nvSpPr>
          <p:cNvPr id="16" name="Text 13"/>
          <p:cNvSpPr txBox="1"/>
          <p:nvPr/>
        </p:nvSpPr>
        <p:spPr>
          <a:xfrm>
            <a:off x="877824" y="3739896"/>
            <a:ext cx="3493008" cy="896112"/>
          </a:xfrm>
          <a:prstGeom prst="rect">
            <a:avLst/>
          </a:prstGeom>
          <a:noFill/>
          <a:ln/>
        </p:spPr>
        <p:txBody>
          <a:bodyPr wrap="square" lIns="0" tIns="0" rIns="0" bIns="0" rtlCol="0" anchor="t"/>
          <a:lstStyle/>
          <a:p>
            <a:pPr indent="0" marL="0">
              <a:buNone/>
            </a:pPr>
            <a:r>
              <a:rPr lang="en-US" sz="1050" b="1" dirty="0">
                <a:solidFill>
                  <a:srgbClr val="0B1F3A"/>
                </a:solidFill>
                <a:latin typeface="Calibri" pitchFamily="34" charset="0"/>
                <a:ea typeface="Calibri" pitchFamily="34" charset="-122"/>
                <a:cs typeface="Calibri" pitchFamily="34" charset="-120"/>
              </a:rPr>
              <a:t>Think of it like this  </a:t>
            </a:r>
            <a:pPr indent="0" marL="0">
              <a:buNone/>
            </a:pPr>
            <a:r>
              <a:rPr lang="en-US" sz="1050" dirty="0">
                <a:solidFill>
                  <a:srgbClr val="14213D"/>
                </a:solidFill>
                <a:latin typeface="Calibri" pitchFamily="34" charset="0"/>
                <a:ea typeface="Calibri" pitchFamily="34" charset="-122"/>
                <a:cs typeface="Calibri" pitchFamily="34" charset="-120"/>
              </a:rPr>
              <a:t>Precision costs energy everywhere: a laboratory balance uses far more power than a kitchen scale, for the same reason.</a:t>
            </a:r>
            <a:endParaRPr lang="en-US" sz="1050" dirty="0"/>
          </a:p>
        </p:txBody>
      </p:sp>
      <p:sp>
        <p:nvSpPr>
          <p:cNvPr id="17" name="Shape 14"/>
          <p:cNvSpPr/>
          <p:nvPr/>
        </p:nvSpPr>
        <p:spPr>
          <a:xfrm>
            <a:off x="4663440" y="3675888"/>
            <a:ext cx="4023360" cy="1024128"/>
          </a:xfrm>
          <a:prstGeom prst="roundRect">
            <a:avLst>
              <a:gd name="adj" fmla="val 7143"/>
            </a:avLst>
          </a:prstGeom>
          <a:solidFill>
            <a:srgbClr val="FFFFFF"/>
          </a:solidFill>
          <a:ln w="12700">
            <a:solidFill>
              <a:srgbClr val="0B1F3A"/>
            </a:solidFill>
            <a:prstDash val="solid"/>
          </a:ln>
        </p:spPr>
      </p:sp>
      <p:sp>
        <p:nvSpPr>
          <p:cNvPr id="18" name="Shape 15"/>
          <p:cNvSpPr/>
          <p:nvPr/>
        </p:nvSpPr>
        <p:spPr>
          <a:xfrm>
            <a:off x="4773168" y="3566160"/>
            <a:ext cx="914400" cy="219456"/>
          </a:xfrm>
          <a:prstGeom prst="roundRect">
            <a:avLst>
              <a:gd name="adj" fmla="val 25000"/>
            </a:avLst>
          </a:prstGeom>
          <a:solidFill>
            <a:srgbClr val="0B1F3A"/>
          </a:solidFill>
          <a:ln w="12700">
            <a:solidFill>
              <a:srgbClr val="0B1F3A"/>
            </a:solidFill>
            <a:prstDash val="solid"/>
          </a:ln>
        </p:spPr>
      </p:sp>
      <p:sp>
        <p:nvSpPr>
          <p:cNvPr id="19" name="Text 16"/>
          <p:cNvSpPr txBox="1"/>
          <p:nvPr/>
        </p:nvSpPr>
        <p:spPr>
          <a:xfrm>
            <a:off x="4773168" y="3566160"/>
            <a:ext cx="914400" cy="219456"/>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EXAMPLE</a:t>
            </a:r>
            <a:endParaRPr lang="en-US" sz="850" dirty="0"/>
          </a:p>
        </p:txBody>
      </p:sp>
      <p:sp>
        <p:nvSpPr>
          <p:cNvPr id="20" name="Text 17"/>
          <p:cNvSpPr txBox="1"/>
          <p:nvPr/>
        </p:nvSpPr>
        <p:spPr>
          <a:xfrm>
            <a:off x="4791456" y="3813048"/>
            <a:ext cx="3803904" cy="841248"/>
          </a:xfrm>
          <a:prstGeom prst="rect">
            <a:avLst/>
          </a:prstGeom>
          <a:noFill/>
          <a:ln/>
        </p:spPr>
        <p:txBody>
          <a:bodyPr wrap="square" lIns="0" tIns="0" rIns="0" bIns="0" rtlCol="0" anchor="t"/>
          <a:lstStyle/>
          <a:p>
            <a:pPr indent="0" marL="0">
              <a:spcAft>
                <a:spcPts val="100"/>
              </a:spcAft>
              <a:buNone/>
            </a:pPr>
            <a:r>
              <a:rPr lang="en-US" sz="900" b="1" dirty="0">
                <a:solidFill>
                  <a:srgbClr val="0B1F3A"/>
                </a:solidFill>
                <a:latin typeface="Calibri" pitchFamily="34" charset="0"/>
                <a:ea typeface="Calibri" pitchFamily="34" charset="-122"/>
                <a:cs typeface="Calibri" pitchFamily="34" charset="-120"/>
              </a:rPr>
              <a:t>Comparing two parts</a:t>
            </a:r>
            <a:endParaRPr lang="en-US" sz="900" dirty="0"/>
          </a:p>
          <a:p>
            <a:pPr marL="114300" indent="-114300">
              <a:spcAft>
                <a:spcPts val="100"/>
              </a:spcAft>
              <a:buSzPct val="100000"/>
              <a:buChar char="•"/>
            </a:pPr>
            <a:r>
              <a:rPr lang="en-US" sz="900" dirty="0">
                <a:solidFill>
                  <a:srgbClr val="14213D"/>
                </a:solidFill>
                <a:latin typeface="Cambria" pitchFamily="34" charset="0"/>
                <a:ea typeface="Cambria" pitchFamily="34" charset="-122"/>
                <a:cs typeface="Cambria" pitchFamily="34" charset="-120"/>
              </a:rPr>
              <a:t>12 bit, 100 MSPS: 300 mW → 3 nJ per conversion</a:t>
            </a:r>
            <a:endParaRPr lang="en-US" sz="900" dirty="0"/>
          </a:p>
          <a:p>
            <a:pPr marL="114300" indent="-114300">
              <a:spcAft>
                <a:spcPts val="100"/>
              </a:spcAft>
              <a:buSzPct val="100000"/>
              <a:buChar char="•"/>
            </a:pPr>
            <a:r>
              <a:rPr lang="en-US" sz="900" dirty="0">
                <a:solidFill>
                  <a:srgbClr val="14213D"/>
                </a:solidFill>
                <a:latin typeface="Cambria" pitchFamily="34" charset="0"/>
                <a:ea typeface="Cambria" pitchFamily="34" charset="-122"/>
                <a:cs typeface="Cambria" pitchFamily="34" charset="-120"/>
              </a:rPr>
              <a:t>16 bit, 100 MSPS: 1.4 W → 14 nJ per conversion</a:t>
            </a:r>
            <a:endParaRPr lang="en-US" sz="900" dirty="0"/>
          </a:p>
          <a:p>
            <a:pPr marL="114300" indent="-114300">
              <a:spcAft>
                <a:spcPts val="100"/>
              </a:spcAft>
              <a:buSzPct val="100000"/>
              <a:buChar char="•"/>
            </a:pPr>
            <a:r>
              <a:rPr lang="en-US" sz="900" dirty="0">
                <a:solidFill>
                  <a:srgbClr val="14213D"/>
                </a:solidFill>
                <a:latin typeface="Cambria" pitchFamily="34" charset="0"/>
                <a:ea typeface="Cambria" pitchFamily="34" charset="-122"/>
                <a:cs typeface="Cambria" pitchFamily="34" charset="-120"/>
              </a:rPr>
              <a:t>Many parts offer a low-power mode that trades sample rate for milliwatts</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4709160" cy="64008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Walden figure of merit</a:t>
            </a:r>
            <a:endParaRPr lang="en-US" sz="2400" dirty="0"/>
          </a:p>
        </p:txBody>
      </p:sp>
      <p:sp>
        <p:nvSpPr>
          <p:cNvPr id="3" name="Text 1"/>
          <p:cNvSpPr txBox="1"/>
          <p:nvPr/>
        </p:nvSpPr>
        <p:spPr>
          <a:xfrm>
            <a:off x="457200" y="4796028"/>
            <a:ext cx="4572000" cy="228600"/>
          </a:xfrm>
          <a:prstGeom prst="rect">
            <a:avLst/>
          </a:prstGeom>
          <a:noFill/>
          <a:ln/>
        </p:spPr>
        <p:txBody>
          <a:bodyPr wrap="square" lIns="0" tIns="0" rIns="0" bIns="0" rtlCol="0" anchor="ctr"/>
          <a:lstStyle/>
          <a:p>
            <a:pPr indent="0" marL="0">
              <a:buNone/>
            </a:pPr>
            <a:r>
              <a:rPr lang="en-US" sz="900" dirty="0">
                <a:solidFill>
                  <a:srgbClr val="5B6B7F"/>
                </a:solidFill>
                <a:latin typeface="Calibri" pitchFamily="34" charset="0"/>
                <a:ea typeface="Calibri" pitchFamily="34" charset="-122"/>
                <a:cs typeface="Calibri" pitchFamily="34" charset="-120"/>
              </a:rPr>
              <a:t>Part 6 · Power, interface and figures of merit</a:t>
            </a:r>
            <a:endParaRPr lang="en-US" sz="900" dirty="0"/>
          </a:p>
        </p:txBody>
      </p:sp>
      <p:sp>
        <p:nvSpPr>
          <p:cNvPr id="4" name="Text 2"/>
          <p:cNvSpPr txBox="1"/>
          <p:nvPr/>
        </p:nvSpPr>
        <p:spPr>
          <a:xfrm>
            <a:off x="7772400" y="4796028"/>
            <a:ext cx="914400" cy="228600"/>
          </a:xfrm>
          <a:prstGeom prst="rect">
            <a:avLst/>
          </a:prstGeom>
          <a:noFill/>
          <a:ln/>
        </p:spPr>
        <p:txBody>
          <a:bodyPr wrap="square" lIns="0" tIns="0" rIns="0" bIns="0" rtlCol="0" anchor="ctr"/>
          <a:lstStyle/>
          <a:p>
            <a:pPr algn="r" indent="0" marL="0">
              <a:buNone/>
            </a:pPr>
            <a:r>
              <a:rPr lang="en-US" sz="900" dirty="0">
                <a:solidFill>
                  <a:srgbClr val="5B6B7F"/>
                </a:solidFill>
                <a:latin typeface="Calibri" pitchFamily="34" charset="0"/>
                <a:ea typeface="Calibri" pitchFamily="34" charset="-122"/>
                <a:cs typeface="Calibri" pitchFamily="34" charset="-120"/>
              </a:rPr>
              <a:t>48</a:t>
            </a:r>
            <a:endParaRPr lang="en-US" sz="900" dirty="0"/>
          </a:p>
        </p:txBody>
      </p:sp>
      <p:sp>
        <p:nvSpPr>
          <p:cNvPr id="5" name="Shape 3"/>
          <p:cNvSpPr/>
          <p:nvPr/>
        </p:nvSpPr>
        <p:spPr>
          <a:xfrm>
            <a:off x="5394960" y="384048"/>
            <a:ext cx="3291840" cy="384048"/>
          </a:xfrm>
          <a:prstGeom prst="roundRect">
            <a:avLst>
              <a:gd name="adj" fmla="val 19048"/>
            </a:avLst>
          </a:prstGeom>
          <a:solidFill>
            <a:srgbClr val="EEF3F8"/>
          </a:solidFill>
          <a:ln w="12700">
            <a:solidFill>
              <a:srgbClr val="EEF3F8"/>
            </a:solidFill>
            <a:prstDash val="solid"/>
          </a:ln>
        </p:spPr>
      </p:sp>
      <p:sp>
        <p:nvSpPr>
          <p:cNvPr id="6" name="Text 4"/>
          <p:cNvSpPr txBox="1"/>
          <p:nvPr/>
        </p:nvSpPr>
        <p:spPr>
          <a:xfrm>
            <a:off x="5394960" y="384048"/>
            <a:ext cx="3291840" cy="384048"/>
          </a:xfrm>
          <a:prstGeom prst="rect">
            <a:avLst/>
          </a:prstGeom>
          <a:noFill/>
          <a:ln/>
        </p:spPr>
        <p:txBody>
          <a:bodyPr wrap="square" lIns="0" tIns="0" rIns="0" bIns="0" rtlCol="0" anchor="ctr"/>
          <a:lstStyle/>
          <a:p>
            <a:pPr algn="ctr" indent="0" marL="0">
              <a:buNone/>
            </a:pPr>
            <a:r>
              <a:rPr lang="en-US" sz="1200" b="1" dirty="0">
                <a:solidFill>
                  <a:srgbClr val="0B1F3A"/>
                </a:solidFill>
                <a:latin typeface="Cambria" pitchFamily="34" charset="0"/>
                <a:ea typeface="Cambria" pitchFamily="34" charset="-122"/>
                <a:cs typeface="Cambria" pitchFamily="34" charset="-120"/>
              </a:rPr>
              <a:t>FoM_W   ·   J/conversion-step</a:t>
            </a:r>
            <a:endParaRPr lang="en-US" sz="1200" dirty="0"/>
          </a:p>
        </p:txBody>
      </p:sp>
      <p:sp>
        <p:nvSpPr>
          <p:cNvPr id="7" name="Text 5"/>
          <p:cNvSpPr txBox="1"/>
          <p:nvPr/>
        </p:nvSpPr>
        <p:spPr>
          <a:xfrm>
            <a:off x="457200" y="1042416"/>
            <a:ext cx="4023360" cy="1005840"/>
          </a:xfrm>
          <a:prstGeom prst="rect">
            <a:avLst/>
          </a:prstGeom>
          <a:noFill/>
          <a:ln/>
        </p:spPr>
        <p:txBody>
          <a:bodyPr wrap="square" lIns="0" tIns="0" rIns="0" bIns="0" rtlCol="0" anchor="t"/>
          <a:lstStyle/>
          <a:p>
            <a:pPr indent="0" marL="0">
              <a:buNone/>
            </a:pPr>
            <a:r>
              <a:rPr lang="en-US" sz="1150" dirty="0">
                <a:solidFill>
                  <a:srgbClr val="14213D"/>
                </a:solidFill>
                <a:latin typeface="Calibri" pitchFamily="34" charset="0"/>
                <a:ea typeface="Calibri" pitchFamily="34" charset="-122"/>
                <a:cs typeface="Calibri" pitchFamily="34" charset="-120"/>
              </a:rPr>
              <a:t>Energy spent for each conversion, divided by the number of levels actually resolved. It lets you compare a slow precision part against a fast coarse one on equal terms. Lower is better.</a:t>
            </a:r>
            <a:endParaRPr lang="en-US" sz="1150" dirty="0"/>
          </a:p>
        </p:txBody>
      </p:sp>
      <p:sp>
        <p:nvSpPr>
          <p:cNvPr id="8" name="Shape 6"/>
          <p:cNvSpPr/>
          <p:nvPr/>
        </p:nvSpPr>
        <p:spPr>
          <a:xfrm>
            <a:off x="457200" y="2103120"/>
            <a:ext cx="4023360" cy="868680"/>
          </a:xfrm>
          <a:prstGeom prst="roundRect">
            <a:avLst>
              <a:gd name="adj" fmla="val 8421"/>
            </a:avLst>
          </a:prstGeom>
          <a:solidFill>
            <a:srgbClr val="EEF3F8"/>
          </a:solidFill>
          <a:ln w="12700">
            <a:solidFill>
              <a:srgbClr val="EEF3F8"/>
            </a:solidFill>
            <a:prstDash val="solid"/>
          </a:ln>
        </p:spPr>
      </p:sp>
      <p:sp>
        <p:nvSpPr>
          <p:cNvPr id="9" name="Text 7"/>
          <p:cNvSpPr txBox="1"/>
          <p:nvPr/>
        </p:nvSpPr>
        <p:spPr>
          <a:xfrm>
            <a:off x="594360" y="2103120"/>
            <a:ext cx="3749040" cy="612648"/>
          </a:xfrm>
          <a:prstGeom prst="rect">
            <a:avLst/>
          </a:prstGeom>
          <a:noFill/>
          <a:ln/>
        </p:spPr>
        <p:txBody>
          <a:bodyPr wrap="square" lIns="0" tIns="0" rIns="0" bIns="0" rtlCol="0" anchor="ctr"/>
          <a:lstStyle/>
          <a:p>
            <a:pPr algn="ctr" indent="0" marL="0">
              <a:buNone/>
            </a:pPr>
            <a:r>
              <a:rPr lang="en-US" sz="1500" dirty="0">
                <a:solidFill>
                  <a:srgbClr val="0B1F3A"/>
                </a:solidFill>
                <a:latin typeface="Cambria" pitchFamily="34" charset="0"/>
                <a:ea typeface="Cambria" pitchFamily="34" charset="-122"/>
                <a:cs typeface="Cambria" pitchFamily="34" charset="-120"/>
              </a:rPr>
              <a:t>FoM_W = P / ( 2^ENOB × f_s )</a:t>
            </a:r>
            <a:endParaRPr lang="en-US" sz="1500" dirty="0"/>
          </a:p>
        </p:txBody>
      </p:sp>
      <p:sp>
        <p:nvSpPr>
          <p:cNvPr id="10" name="Text 8"/>
          <p:cNvSpPr txBox="1"/>
          <p:nvPr/>
        </p:nvSpPr>
        <p:spPr>
          <a:xfrm>
            <a:off x="594360" y="2670048"/>
            <a:ext cx="3749040" cy="256032"/>
          </a:xfrm>
          <a:prstGeom prst="rect">
            <a:avLst/>
          </a:prstGeom>
          <a:noFill/>
          <a:ln/>
        </p:spPr>
        <p:txBody>
          <a:bodyPr wrap="square" lIns="0" tIns="0" rIns="0" bIns="0" rtlCol="0" anchor="t"/>
          <a:lstStyle/>
          <a:p>
            <a:pPr algn="ctr" indent="0" marL="0">
              <a:buNone/>
            </a:pPr>
            <a:r>
              <a:rPr lang="en-US" sz="1000" dirty="0">
                <a:solidFill>
                  <a:srgbClr val="5B6B7F"/>
                </a:solidFill>
                <a:latin typeface="Calibri" pitchFamily="34" charset="0"/>
                <a:ea typeface="Calibri" pitchFamily="34" charset="-122"/>
                <a:cs typeface="Calibri" pitchFamily="34" charset="-120"/>
              </a:rPr>
              <a:t>Joules per conversion step</a:t>
            </a:r>
            <a:endParaRPr lang="en-US" sz="1000" dirty="0"/>
          </a:p>
        </p:txBody>
      </p:sp>
      <p:graphicFrame>
        <p:nvGraphicFramePr>
          <p:cNvPr id="11" name="Chart 0" descr=""/>
          <p:cNvGraphicFramePr/>
          <p:nvPr/>
        </p:nvGraphicFramePr>
        <p:xfrm>
          <a:off x="4663440" y="1042416"/>
          <a:ext cx="4023360" cy="2450592"/>
        </p:xfrm>
        <a:graphic xmlns:a="http://schemas.openxmlformats.org/drawingml/2006/main">
          <a:graphicData uri="http://schemas.openxmlformats.org/drawingml/2006/chart">
            <c:chart xmlns:c="http://schemas.openxmlformats.org/drawingml/2006/chart" r:id="rId1"/>
          </a:graphicData>
        </a:graphic>
      </p:graphicFrame>
      <p:sp>
        <p:nvSpPr>
          <p:cNvPr id="12" name="Shape 9"/>
          <p:cNvSpPr/>
          <p:nvPr/>
        </p:nvSpPr>
        <p:spPr>
          <a:xfrm>
            <a:off x="457200" y="3675888"/>
            <a:ext cx="4023360" cy="1024128"/>
          </a:xfrm>
          <a:prstGeom prst="roundRect">
            <a:avLst>
              <a:gd name="adj" fmla="val 7143"/>
            </a:avLst>
          </a:prstGeom>
          <a:solidFill>
            <a:srgbClr val="E4F7F4"/>
          </a:solidFill>
          <a:ln w="12700">
            <a:solidFill>
              <a:srgbClr val="E4F7F4"/>
            </a:solidFill>
            <a:prstDash val="solid"/>
          </a:ln>
        </p:spPr>
      </p:sp>
      <p:sp>
        <p:nvSpPr>
          <p:cNvPr id="13" name="Shape 10"/>
          <p:cNvSpPr/>
          <p:nvPr/>
        </p:nvSpPr>
        <p:spPr>
          <a:xfrm>
            <a:off x="566928" y="3776472"/>
            <a:ext cx="237744" cy="237744"/>
          </a:xfrm>
          <a:prstGeom prst="ellipse">
            <a:avLst/>
          </a:prstGeom>
          <a:solidFill>
            <a:srgbClr val="2EC4B6"/>
          </a:solidFill>
          <a:ln w="12700">
            <a:solidFill>
              <a:srgbClr val="2EC4B6"/>
            </a:solidFill>
            <a:prstDash val="solid"/>
          </a:ln>
        </p:spPr>
      </p:sp>
      <p:sp>
        <p:nvSpPr>
          <p:cNvPr id="14" name="Text 11"/>
          <p:cNvSpPr txBox="1"/>
          <p:nvPr/>
        </p:nvSpPr>
        <p:spPr>
          <a:xfrm>
            <a:off x="566928" y="3776472"/>
            <a:ext cx="237744" cy="237744"/>
          </a:xfrm>
          <a:prstGeom prst="rect">
            <a:avLst/>
          </a:prstGeom>
          <a:noFill/>
          <a:ln/>
        </p:spPr>
        <p:txBody>
          <a:bodyPr wrap="square" lIns="0" tIns="0" rIns="0" bIns="0" rtlCol="0" anchor="ctr"/>
          <a:lstStyle/>
          <a:p>
            <a:pPr algn="ctr" indent="0" marL="0">
              <a:buNone/>
            </a:pPr>
            <a:r>
              <a:rPr lang="en-US" sz="1200" b="1" dirty="0">
                <a:solidFill>
                  <a:srgbClr val="0B1F3A"/>
                </a:solidFill>
                <a:latin typeface="Calibri" pitchFamily="34" charset="0"/>
                <a:ea typeface="Calibri" pitchFamily="34" charset="-122"/>
                <a:cs typeface="Calibri" pitchFamily="34" charset="-120"/>
              </a:rPr>
              <a:t>≈</a:t>
            </a:r>
            <a:endParaRPr lang="en-US" sz="1200" dirty="0"/>
          </a:p>
        </p:txBody>
      </p:sp>
      <p:sp>
        <p:nvSpPr>
          <p:cNvPr id="15" name="Text 12"/>
          <p:cNvSpPr txBox="1"/>
          <p:nvPr/>
        </p:nvSpPr>
        <p:spPr>
          <a:xfrm>
            <a:off x="877824" y="3739896"/>
            <a:ext cx="3493008" cy="896112"/>
          </a:xfrm>
          <a:prstGeom prst="rect">
            <a:avLst/>
          </a:prstGeom>
          <a:noFill/>
          <a:ln/>
        </p:spPr>
        <p:txBody>
          <a:bodyPr wrap="square" lIns="0" tIns="0" rIns="0" bIns="0" rtlCol="0" anchor="t"/>
          <a:lstStyle/>
          <a:p>
            <a:pPr indent="0" marL="0">
              <a:buNone/>
            </a:pPr>
            <a:r>
              <a:rPr lang="en-US" sz="1050" b="1" dirty="0">
                <a:solidFill>
                  <a:srgbClr val="0B1F3A"/>
                </a:solidFill>
                <a:latin typeface="Calibri" pitchFamily="34" charset="0"/>
                <a:ea typeface="Calibri" pitchFamily="34" charset="-122"/>
                <a:cs typeface="Calibri" pitchFamily="34" charset="-120"/>
              </a:rPr>
              <a:t>Think of it like this  </a:t>
            </a:r>
            <a:pPr indent="0" marL="0">
              <a:buNone/>
            </a:pPr>
            <a:r>
              <a:rPr lang="en-US" sz="1050" dirty="0">
                <a:solidFill>
                  <a:srgbClr val="14213D"/>
                </a:solidFill>
                <a:latin typeface="Calibri" pitchFamily="34" charset="0"/>
                <a:ea typeface="Calibri" pitchFamily="34" charset="-122"/>
                <a:cs typeface="Calibri" pitchFamily="34" charset="-120"/>
              </a:rPr>
              <a:t>Litres per hundred kilometres for cars. It lets you compare a small hatchback with a lorry, because it divides out how much work each is doing.</a:t>
            </a:r>
            <a:endParaRPr lang="en-US" sz="1050" dirty="0"/>
          </a:p>
        </p:txBody>
      </p:sp>
      <p:sp>
        <p:nvSpPr>
          <p:cNvPr id="16" name="Shape 13"/>
          <p:cNvSpPr/>
          <p:nvPr/>
        </p:nvSpPr>
        <p:spPr>
          <a:xfrm>
            <a:off x="4663440" y="3675888"/>
            <a:ext cx="4023360" cy="1024128"/>
          </a:xfrm>
          <a:prstGeom prst="roundRect">
            <a:avLst>
              <a:gd name="adj" fmla="val 7143"/>
            </a:avLst>
          </a:prstGeom>
          <a:solidFill>
            <a:srgbClr val="FFFFFF"/>
          </a:solidFill>
          <a:ln w="12700">
            <a:solidFill>
              <a:srgbClr val="0B1F3A"/>
            </a:solidFill>
            <a:prstDash val="solid"/>
          </a:ln>
        </p:spPr>
      </p:sp>
      <p:sp>
        <p:nvSpPr>
          <p:cNvPr id="17" name="Shape 14"/>
          <p:cNvSpPr/>
          <p:nvPr/>
        </p:nvSpPr>
        <p:spPr>
          <a:xfrm>
            <a:off x="4773168" y="3566160"/>
            <a:ext cx="914400" cy="219456"/>
          </a:xfrm>
          <a:prstGeom prst="roundRect">
            <a:avLst>
              <a:gd name="adj" fmla="val 25000"/>
            </a:avLst>
          </a:prstGeom>
          <a:solidFill>
            <a:srgbClr val="0B1F3A"/>
          </a:solidFill>
          <a:ln w="12700">
            <a:solidFill>
              <a:srgbClr val="0B1F3A"/>
            </a:solidFill>
            <a:prstDash val="solid"/>
          </a:ln>
        </p:spPr>
      </p:sp>
      <p:sp>
        <p:nvSpPr>
          <p:cNvPr id="18" name="Text 15"/>
          <p:cNvSpPr txBox="1"/>
          <p:nvPr/>
        </p:nvSpPr>
        <p:spPr>
          <a:xfrm>
            <a:off x="4773168" y="3566160"/>
            <a:ext cx="914400" cy="219456"/>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EXAMPLE</a:t>
            </a:r>
            <a:endParaRPr lang="en-US" sz="850" dirty="0"/>
          </a:p>
        </p:txBody>
      </p:sp>
      <p:sp>
        <p:nvSpPr>
          <p:cNvPr id="19" name="Text 16"/>
          <p:cNvSpPr txBox="1"/>
          <p:nvPr/>
        </p:nvSpPr>
        <p:spPr>
          <a:xfrm>
            <a:off x="4791456" y="3813048"/>
            <a:ext cx="3803904" cy="841248"/>
          </a:xfrm>
          <a:prstGeom prst="rect">
            <a:avLst/>
          </a:prstGeom>
          <a:noFill/>
          <a:ln/>
        </p:spPr>
        <p:txBody>
          <a:bodyPr wrap="square" lIns="0" tIns="0" rIns="0" bIns="0" rtlCol="0" anchor="t"/>
          <a:lstStyle/>
          <a:p>
            <a:pPr indent="0" marL="0">
              <a:spcAft>
                <a:spcPts val="100"/>
              </a:spcAft>
              <a:buNone/>
            </a:pPr>
            <a:r>
              <a:rPr lang="en-US" sz="900" b="1" dirty="0">
                <a:solidFill>
                  <a:srgbClr val="0B1F3A"/>
                </a:solidFill>
                <a:latin typeface="Calibri" pitchFamily="34" charset="0"/>
                <a:ea typeface="Calibri" pitchFamily="34" charset="-122"/>
                <a:cs typeface="Calibri" pitchFamily="34" charset="-120"/>
              </a:rPr>
              <a:t>Is 300 mW good?</a:t>
            </a:r>
            <a:endParaRPr lang="en-US" sz="900" dirty="0"/>
          </a:p>
          <a:p>
            <a:pPr marL="114300" indent="-114300">
              <a:spcAft>
                <a:spcPts val="100"/>
              </a:spcAft>
              <a:buSzPct val="100000"/>
              <a:buChar char="•"/>
            </a:pPr>
            <a:r>
              <a:rPr lang="en-US" sz="900" dirty="0">
                <a:solidFill>
                  <a:srgbClr val="14213D"/>
                </a:solidFill>
                <a:latin typeface="Cambria" pitchFamily="34" charset="0"/>
                <a:ea typeface="Cambria" pitchFamily="34" charset="-122"/>
                <a:cs typeface="Cambria" pitchFamily="34" charset="-120"/>
              </a:rPr>
              <a:t>12 bit, ENOB 11.5, 100 MSPS, 300 mW</a:t>
            </a:r>
            <a:endParaRPr lang="en-US" sz="900" dirty="0"/>
          </a:p>
          <a:p>
            <a:pPr marL="114300" indent="-114300">
              <a:spcAft>
                <a:spcPts val="100"/>
              </a:spcAft>
              <a:buSzPct val="100000"/>
              <a:buChar char="•"/>
            </a:pPr>
            <a:r>
              <a:rPr lang="en-US" sz="900" dirty="0">
                <a:solidFill>
                  <a:srgbClr val="14213D"/>
                </a:solidFill>
                <a:latin typeface="Cambria" pitchFamily="34" charset="0"/>
                <a:ea typeface="Cambria" pitchFamily="34" charset="-122"/>
                <a:cs typeface="Cambria" pitchFamily="34" charset="-120"/>
              </a:rPr>
              <a:t>FoM = 0.3 / (2^11.5 × 1e8) = 1.04 pJ per step</a:t>
            </a:r>
            <a:endParaRPr lang="en-US" sz="900" dirty="0"/>
          </a:p>
          <a:p>
            <a:pPr marL="114300" indent="-114300">
              <a:spcAft>
                <a:spcPts val="100"/>
              </a:spcAft>
              <a:buSzPct val="100000"/>
              <a:buChar char="•"/>
            </a:pPr>
            <a:r>
              <a:rPr lang="en-US" sz="900" dirty="0">
                <a:solidFill>
                  <a:srgbClr val="14213D"/>
                </a:solidFill>
                <a:latin typeface="Cambria" pitchFamily="34" charset="0"/>
                <a:ea typeface="Cambria" pitchFamily="34" charset="-122"/>
                <a:cs typeface="Cambria" pitchFamily="34" charset="-120"/>
              </a:rPr>
              <a:t>State of the art is a few femtojoules; 1 pJ is respectable for a fast part</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5879592" cy="64008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Schreier figure of merit</a:t>
            </a:r>
            <a:endParaRPr lang="en-US" sz="2400" dirty="0"/>
          </a:p>
        </p:txBody>
      </p:sp>
      <p:sp>
        <p:nvSpPr>
          <p:cNvPr id="3" name="Text 1"/>
          <p:cNvSpPr txBox="1"/>
          <p:nvPr/>
        </p:nvSpPr>
        <p:spPr>
          <a:xfrm>
            <a:off x="457200" y="4796028"/>
            <a:ext cx="4572000" cy="228600"/>
          </a:xfrm>
          <a:prstGeom prst="rect">
            <a:avLst/>
          </a:prstGeom>
          <a:noFill/>
          <a:ln/>
        </p:spPr>
        <p:txBody>
          <a:bodyPr wrap="square" lIns="0" tIns="0" rIns="0" bIns="0" rtlCol="0" anchor="ctr"/>
          <a:lstStyle/>
          <a:p>
            <a:pPr indent="0" marL="0">
              <a:buNone/>
            </a:pPr>
            <a:r>
              <a:rPr lang="en-US" sz="900" dirty="0">
                <a:solidFill>
                  <a:srgbClr val="5B6B7F"/>
                </a:solidFill>
                <a:latin typeface="Calibri" pitchFamily="34" charset="0"/>
                <a:ea typeface="Calibri" pitchFamily="34" charset="-122"/>
                <a:cs typeface="Calibri" pitchFamily="34" charset="-120"/>
              </a:rPr>
              <a:t>Part 6 · Power, interface and figures of merit</a:t>
            </a:r>
            <a:endParaRPr lang="en-US" sz="900" dirty="0"/>
          </a:p>
        </p:txBody>
      </p:sp>
      <p:sp>
        <p:nvSpPr>
          <p:cNvPr id="4" name="Text 2"/>
          <p:cNvSpPr txBox="1"/>
          <p:nvPr/>
        </p:nvSpPr>
        <p:spPr>
          <a:xfrm>
            <a:off x="7772400" y="4796028"/>
            <a:ext cx="914400" cy="228600"/>
          </a:xfrm>
          <a:prstGeom prst="rect">
            <a:avLst/>
          </a:prstGeom>
          <a:noFill/>
          <a:ln/>
        </p:spPr>
        <p:txBody>
          <a:bodyPr wrap="square" lIns="0" tIns="0" rIns="0" bIns="0" rtlCol="0" anchor="ctr"/>
          <a:lstStyle/>
          <a:p>
            <a:pPr algn="r" indent="0" marL="0">
              <a:buNone/>
            </a:pPr>
            <a:r>
              <a:rPr lang="en-US" sz="900" dirty="0">
                <a:solidFill>
                  <a:srgbClr val="5B6B7F"/>
                </a:solidFill>
                <a:latin typeface="Calibri" pitchFamily="34" charset="0"/>
                <a:ea typeface="Calibri" pitchFamily="34" charset="-122"/>
                <a:cs typeface="Calibri" pitchFamily="34" charset="-120"/>
              </a:rPr>
              <a:t>49</a:t>
            </a:r>
            <a:endParaRPr lang="en-US" sz="900" dirty="0"/>
          </a:p>
        </p:txBody>
      </p:sp>
      <p:sp>
        <p:nvSpPr>
          <p:cNvPr id="5" name="Shape 3"/>
          <p:cNvSpPr/>
          <p:nvPr/>
        </p:nvSpPr>
        <p:spPr>
          <a:xfrm>
            <a:off x="6565392" y="384048"/>
            <a:ext cx="2121408" cy="384048"/>
          </a:xfrm>
          <a:prstGeom prst="roundRect">
            <a:avLst>
              <a:gd name="adj" fmla="val 19048"/>
            </a:avLst>
          </a:prstGeom>
          <a:solidFill>
            <a:srgbClr val="EEF3F8"/>
          </a:solidFill>
          <a:ln w="12700">
            <a:solidFill>
              <a:srgbClr val="EEF3F8"/>
            </a:solidFill>
            <a:prstDash val="solid"/>
          </a:ln>
        </p:spPr>
      </p:sp>
      <p:sp>
        <p:nvSpPr>
          <p:cNvPr id="6" name="Text 4"/>
          <p:cNvSpPr txBox="1"/>
          <p:nvPr/>
        </p:nvSpPr>
        <p:spPr>
          <a:xfrm>
            <a:off x="6565392" y="384048"/>
            <a:ext cx="2121408" cy="384048"/>
          </a:xfrm>
          <a:prstGeom prst="rect">
            <a:avLst/>
          </a:prstGeom>
          <a:noFill/>
          <a:ln/>
        </p:spPr>
        <p:txBody>
          <a:bodyPr wrap="square" lIns="0" tIns="0" rIns="0" bIns="0" rtlCol="0" anchor="ctr"/>
          <a:lstStyle/>
          <a:p>
            <a:pPr algn="ctr" indent="0" marL="0">
              <a:buNone/>
            </a:pPr>
            <a:r>
              <a:rPr lang="en-US" sz="1200" b="1" dirty="0">
                <a:solidFill>
                  <a:srgbClr val="0B1F3A"/>
                </a:solidFill>
                <a:latin typeface="Cambria" pitchFamily="34" charset="0"/>
                <a:ea typeface="Cambria" pitchFamily="34" charset="-122"/>
                <a:cs typeface="Cambria" pitchFamily="34" charset="-120"/>
              </a:rPr>
              <a:t>FoM_S   ·   dB</a:t>
            </a:r>
            <a:endParaRPr lang="en-US" sz="1200" dirty="0"/>
          </a:p>
        </p:txBody>
      </p:sp>
      <p:sp>
        <p:nvSpPr>
          <p:cNvPr id="7" name="Text 5"/>
          <p:cNvSpPr txBox="1"/>
          <p:nvPr/>
        </p:nvSpPr>
        <p:spPr>
          <a:xfrm>
            <a:off x="457200" y="1042416"/>
            <a:ext cx="4023360" cy="1005840"/>
          </a:xfrm>
          <a:prstGeom prst="rect">
            <a:avLst/>
          </a:prstGeom>
          <a:noFill/>
          <a:ln/>
        </p:spPr>
        <p:txBody>
          <a:bodyPr wrap="square" lIns="0" tIns="0" rIns="0" bIns="0" rtlCol="0" anchor="t"/>
          <a:lstStyle/>
          <a:p>
            <a:pPr indent="0" marL="0">
              <a:buNone/>
            </a:pPr>
            <a:r>
              <a:rPr lang="en-US" sz="1150" dirty="0">
                <a:solidFill>
                  <a:srgbClr val="14213D"/>
                </a:solidFill>
                <a:latin typeface="Calibri" pitchFamily="34" charset="0"/>
                <a:ea typeface="Calibri" pitchFamily="34" charset="-122"/>
                <a:cs typeface="Calibri" pitchFamily="34" charset="-120"/>
              </a:rPr>
              <a:t>The other way of asking the same question, built for converters whose limit is thermal noise rather than switching energy. Higher is better, and it is the figure used for precision and delta-sigma parts.</a:t>
            </a:r>
            <a:endParaRPr lang="en-US" sz="1150" dirty="0"/>
          </a:p>
        </p:txBody>
      </p:sp>
      <p:sp>
        <p:nvSpPr>
          <p:cNvPr id="8" name="Shape 6"/>
          <p:cNvSpPr/>
          <p:nvPr/>
        </p:nvSpPr>
        <p:spPr>
          <a:xfrm>
            <a:off x="457200" y="2103120"/>
            <a:ext cx="4023360" cy="868680"/>
          </a:xfrm>
          <a:prstGeom prst="roundRect">
            <a:avLst>
              <a:gd name="adj" fmla="val 8421"/>
            </a:avLst>
          </a:prstGeom>
          <a:solidFill>
            <a:srgbClr val="EEF3F8"/>
          </a:solidFill>
          <a:ln w="12700">
            <a:solidFill>
              <a:srgbClr val="EEF3F8"/>
            </a:solidFill>
            <a:prstDash val="solid"/>
          </a:ln>
        </p:spPr>
      </p:sp>
      <p:sp>
        <p:nvSpPr>
          <p:cNvPr id="9" name="Text 7"/>
          <p:cNvSpPr txBox="1"/>
          <p:nvPr/>
        </p:nvSpPr>
        <p:spPr>
          <a:xfrm>
            <a:off x="594360" y="2103120"/>
            <a:ext cx="3749040" cy="612648"/>
          </a:xfrm>
          <a:prstGeom prst="rect">
            <a:avLst/>
          </a:prstGeom>
          <a:noFill/>
          <a:ln/>
        </p:spPr>
        <p:txBody>
          <a:bodyPr wrap="square" lIns="0" tIns="0" rIns="0" bIns="0" rtlCol="0" anchor="ctr"/>
          <a:lstStyle/>
          <a:p>
            <a:pPr algn="ctr" indent="0" marL="0">
              <a:buNone/>
            </a:pPr>
            <a:r>
              <a:rPr lang="en-US" sz="1500" dirty="0">
                <a:solidFill>
                  <a:srgbClr val="0B1F3A"/>
                </a:solidFill>
                <a:latin typeface="Cambria" pitchFamily="34" charset="0"/>
                <a:ea typeface="Cambria" pitchFamily="34" charset="-122"/>
                <a:cs typeface="Cambria" pitchFamily="34" charset="-120"/>
              </a:rPr>
              <a:t>FoM_S = SNDR + 10 log₁₀( BW / P )</a:t>
            </a:r>
            <a:endParaRPr lang="en-US" sz="1500" dirty="0"/>
          </a:p>
        </p:txBody>
      </p:sp>
      <p:sp>
        <p:nvSpPr>
          <p:cNvPr id="10" name="Text 8"/>
          <p:cNvSpPr txBox="1"/>
          <p:nvPr/>
        </p:nvSpPr>
        <p:spPr>
          <a:xfrm>
            <a:off x="594360" y="2670048"/>
            <a:ext cx="3749040" cy="256032"/>
          </a:xfrm>
          <a:prstGeom prst="rect">
            <a:avLst/>
          </a:prstGeom>
          <a:noFill/>
          <a:ln/>
        </p:spPr>
        <p:txBody>
          <a:bodyPr wrap="square" lIns="0" tIns="0" rIns="0" bIns="0" rtlCol="0" anchor="t"/>
          <a:lstStyle/>
          <a:p>
            <a:pPr algn="ctr" indent="0" marL="0">
              <a:buNone/>
            </a:pPr>
            <a:r>
              <a:rPr lang="en-US" sz="1000" dirty="0">
                <a:solidFill>
                  <a:srgbClr val="5B6B7F"/>
                </a:solidFill>
                <a:latin typeface="Calibri" pitchFamily="34" charset="0"/>
                <a:ea typeface="Calibri" pitchFamily="34" charset="-122"/>
                <a:cs typeface="Calibri" pitchFamily="34" charset="-120"/>
              </a:rPr>
              <a:t>dB; add 10 log₁₀ of bandwidth per watt</a:t>
            </a:r>
            <a:endParaRPr lang="en-US" sz="1000" dirty="0"/>
          </a:p>
        </p:txBody>
      </p:sp>
      <p:graphicFrame>
        <p:nvGraphicFramePr>
          <p:cNvPr id="11" name="Chart 0" descr=""/>
          <p:cNvGraphicFramePr/>
          <p:nvPr/>
        </p:nvGraphicFramePr>
        <p:xfrm>
          <a:off x="4663440" y="1042416"/>
          <a:ext cx="4023360" cy="2084832"/>
        </p:xfrm>
        <a:graphic xmlns:a="http://schemas.openxmlformats.org/drawingml/2006/main">
          <a:graphicData uri="http://schemas.openxmlformats.org/drawingml/2006/chart">
            <c:chart xmlns:c="http://schemas.openxmlformats.org/drawingml/2006/chart" r:id="rId1"/>
          </a:graphicData>
        </a:graphic>
      </p:graphicFrame>
      <p:sp>
        <p:nvSpPr>
          <p:cNvPr id="12" name="Text 9"/>
          <p:cNvSpPr txBox="1"/>
          <p:nvPr/>
        </p:nvSpPr>
        <p:spPr>
          <a:xfrm>
            <a:off x="4663440" y="3200400"/>
            <a:ext cx="4023360" cy="347472"/>
          </a:xfrm>
          <a:prstGeom prst="rect">
            <a:avLst/>
          </a:prstGeom>
          <a:noFill/>
          <a:ln/>
        </p:spPr>
        <p:txBody>
          <a:bodyPr wrap="square" lIns="0" tIns="0" rIns="0" bIns="0" rtlCol="0" anchor="ctr"/>
          <a:lstStyle/>
          <a:p>
            <a:pPr algn="ctr" indent="0" marL="0">
              <a:buNone/>
            </a:pPr>
            <a:r>
              <a:rPr lang="en-US" sz="1000" i="1" dirty="0">
                <a:solidFill>
                  <a:srgbClr val="5B6B7F"/>
                </a:solidFill>
                <a:latin typeface="Calibri" pitchFamily="34" charset="0"/>
                <a:ea typeface="Calibri" pitchFamily="34" charset="-122"/>
                <a:cs typeface="Calibri" pitchFamily="34" charset="-120"/>
              </a:rPr>
              <a:t>Use Walden for fast, low-resolution parts and Schreier for slow, high-resolution ones. Quoting the wrong one flatters the wrong design.</a:t>
            </a:r>
            <a:endParaRPr lang="en-US" sz="1000" dirty="0"/>
          </a:p>
        </p:txBody>
      </p:sp>
      <p:sp>
        <p:nvSpPr>
          <p:cNvPr id="13" name="Shape 10"/>
          <p:cNvSpPr/>
          <p:nvPr/>
        </p:nvSpPr>
        <p:spPr>
          <a:xfrm>
            <a:off x="457200" y="3675888"/>
            <a:ext cx="4023360" cy="1024128"/>
          </a:xfrm>
          <a:prstGeom prst="roundRect">
            <a:avLst>
              <a:gd name="adj" fmla="val 7143"/>
            </a:avLst>
          </a:prstGeom>
          <a:solidFill>
            <a:srgbClr val="E4F7F4"/>
          </a:solidFill>
          <a:ln w="12700">
            <a:solidFill>
              <a:srgbClr val="E4F7F4"/>
            </a:solidFill>
            <a:prstDash val="solid"/>
          </a:ln>
        </p:spPr>
      </p:sp>
      <p:sp>
        <p:nvSpPr>
          <p:cNvPr id="14" name="Shape 11"/>
          <p:cNvSpPr/>
          <p:nvPr/>
        </p:nvSpPr>
        <p:spPr>
          <a:xfrm>
            <a:off x="566928" y="3776472"/>
            <a:ext cx="237744" cy="237744"/>
          </a:xfrm>
          <a:prstGeom prst="ellipse">
            <a:avLst/>
          </a:prstGeom>
          <a:solidFill>
            <a:srgbClr val="2EC4B6"/>
          </a:solidFill>
          <a:ln w="12700">
            <a:solidFill>
              <a:srgbClr val="2EC4B6"/>
            </a:solidFill>
            <a:prstDash val="solid"/>
          </a:ln>
        </p:spPr>
      </p:sp>
      <p:sp>
        <p:nvSpPr>
          <p:cNvPr id="15" name="Text 12"/>
          <p:cNvSpPr txBox="1"/>
          <p:nvPr/>
        </p:nvSpPr>
        <p:spPr>
          <a:xfrm>
            <a:off x="566928" y="3776472"/>
            <a:ext cx="237744" cy="237744"/>
          </a:xfrm>
          <a:prstGeom prst="rect">
            <a:avLst/>
          </a:prstGeom>
          <a:noFill/>
          <a:ln/>
        </p:spPr>
        <p:txBody>
          <a:bodyPr wrap="square" lIns="0" tIns="0" rIns="0" bIns="0" rtlCol="0" anchor="ctr"/>
          <a:lstStyle/>
          <a:p>
            <a:pPr algn="ctr" indent="0" marL="0">
              <a:buNone/>
            </a:pPr>
            <a:r>
              <a:rPr lang="en-US" sz="1200" b="1" dirty="0">
                <a:solidFill>
                  <a:srgbClr val="0B1F3A"/>
                </a:solidFill>
                <a:latin typeface="Calibri" pitchFamily="34" charset="0"/>
                <a:ea typeface="Calibri" pitchFamily="34" charset="-122"/>
                <a:cs typeface="Calibri" pitchFamily="34" charset="-120"/>
              </a:rPr>
              <a:t>≈</a:t>
            </a:r>
            <a:endParaRPr lang="en-US" sz="1200" dirty="0"/>
          </a:p>
        </p:txBody>
      </p:sp>
      <p:sp>
        <p:nvSpPr>
          <p:cNvPr id="16" name="Text 13"/>
          <p:cNvSpPr txBox="1"/>
          <p:nvPr/>
        </p:nvSpPr>
        <p:spPr>
          <a:xfrm>
            <a:off x="877824" y="3739896"/>
            <a:ext cx="3493008" cy="896112"/>
          </a:xfrm>
          <a:prstGeom prst="rect">
            <a:avLst/>
          </a:prstGeom>
          <a:noFill/>
          <a:ln/>
        </p:spPr>
        <p:txBody>
          <a:bodyPr wrap="square" lIns="0" tIns="0" rIns="0" bIns="0" rtlCol="0" anchor="t"/>
          <a:lstStyle/>
          <a:p>
            <a:pPr indent="0" marL="0">
              <a:buNone/>
            </a:pPr>
            <a:r>
              <a:rPr lang="en-US" sz="1050" b="1" dirty="0">
                <a:solidFill>
                  <a:srgbClr val="0B1F3A"/>
                </a:solidFill>
                <a:latin typeface="Calibri" pitchFamily="34" charset="0"/>
                <a:ea typeface="Calibri" pitchFamily="34" charset="-122"/>
                <a:cs typeface="Calibri" pitchFamily="34" charset="-120"/>
              </a:rPr>
              <a:t>Think of it like this  </a:t>
            </a:r>
            <a:pPr indent="0" marL="0">
              <a:buNone/>
            </a:pPr>
            <a:r>
              <a:rPr lang="en-US" sz="1050" dirty="0">
                <a:solidFill>
                  <a:srgbClr val="14213D"/>
                </a:solidFill>
                <a:latin typeface="Calibri" pitchFamily="34" charset="0"/>
                <a:ea typeface="Calibri" pitchFamily="34" charset="-122"/>
                <a:cs typeface="Calibri" pitchFamily="34" charset="-120"/>
              </a:rPr>
              <a:t>Rating a telescope by how faint a star it can see per unit of cost. It rewards sensitivity, not just size.</a:t>
            </a:r>
            <a:endParaRPr lang="en-US" sz="1050" dirty="0"/>
          </a:p>
        </p:txBody>
      </p:sp>
      <p:sp>
        <p:nvSpPr>
          <p:cNvPr id="17" name="Shape 14"/>
          <p:cNvSpPr/>
          <p:nvPr/>
        </p:nvSpPr>
        <p:spPr>
          <a:xfrm>
            <a:off x="4663440" y="3675888"/>
            <a:ext cx="4023360" cy="1024128"/>
          </a:xfrm>
          <a:prstGeom prst="roundRect">
            <a:avLst>
              <a:gd name="adj" fmla="val 7143"/>
            </a:avLst>
          </a:prstGeom>
          <a:solidFill>
            <a:srgbClr val="FFFFFF"/>
          </a:solidFill>
          <a:ln w="12700">
            <a:solidFill>
              <a:srgbClr val="0B1F3A"/>
            </a:solidFill>
            <a:prstDash val="solid"/>
          </a:ln>
        </p:spPr>
      </p:sp>
      <p:sp>
        <p:nvSpPr>
          <p:cNvPr id="18" name="Shape 15"/>
          <p:cNvSpPr/>
          <p:nvPr/>
        </p:nvSpPr>
        <p:spPr>
          <a:xfrm>
            <a:off x="4773168" y="3566160"/>
            <a:ext cx="914400" cy="219456"/>
          </a:xfrm>
          <a:prstGeom prst="roundRect">
            <a:avLst>
              <a:gd name="adj" fmla="val 25000"/>
            </a:avLst>
          </a:prstGeom>
          <a:solidFill>
            <a:srgbClr val="0B1F3A"/>
          </a:solidFill>
          <a:ln w="12700">
            <a:solidFill>
              <a:srgbClr val="0B1F3A"/>
            </a:solidFill>
            <a:prstDash val="solid"/>
          </a:ln>
        </p:spPr>
      </p:sp>
      <p:sp>
        <p:nvSpPr>
          <p:cNvPr id="19" name="Text 16"/>
          <p:cNvSpPr txBox="1"/>
          <p:nvPr/>
        </p:nvSpPr>
        <p:spPr>
          <a:xfrm>
            <a:off x="4773168" y="3566160"/>
            <a:ext cx="914400" cy="219456"/>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EXAMPLE</a:t>
            </a:r>
            <a:endParaRPr lang="en-US" sz="850" dirty="0"/>
          </a:p>
        </p:txBody>
      </p:sp>
      <p:sp>
        <p:nvSpPr>
          <p:cNvPr id="20" name="Text 17"/>
          <p:cNvSpPr txBox="1"/>
          <p:nvPr/>
        </p:nvSpPr>
        <p:spPr>
          <a:xfrm>
            <a:off x="4791456" y="3813048"/>
            <a:ext cx="3803904" cy="841248"/>
          </a:xfrm>
          <a:prstGeom prst="rect">
            <a:avLst/>
          </a:prstGeom>
          <a:noFill/>
          <a:ln/>
        </p:spPr>
        <p:txBody>
          <a:bodyPr wrap="square" lIns="0" tIns="0" rIns="0" bIns="0" rtlCol="0" anchor="t"/>
          <a:lstStyle/>
          <a:p>
            <a:pPr indent="0" marL="0">
              <a:spcAft>
                <a:spcPts val="100"/>
              </a:spcAft>
              <a:buNone/>
            </a:pPr>
            <a:r>
              <a:rPr lang="en-US" sz="1000" b="1" dirty="0">
                <a:solidFill>
                  <a:srgbClr val="0B1F3A"/>
                </a:solidFill>
                <a:latin typeface="Calibri" pitchFamily="34" charset="0"/>
                <a:ea typeface="Calibri" pitchFamily="34" charset="-122"/>
                <a:cs typeface="Calibri" pitchFamily="34" charset="-120"/>
              </a:rPr>
              <a:t>The same part</a:t>
            </a:r>
            <a:endParaRPr lang="en-US" sz="1000" dirty="0"/>
          </a:p>
          <a:p>
            <a:pPr marL="114300" indent="-114300">
              <a:spcAft>
                <a:spcPts val="100"/>
              </a:spcAft>
              <a:buSzPct val="100000"/>
              <a:buChar char="•"/>
            </a:pPr>
            <a:r>
              <a:rPr lang="en-US" sz="1000" dirty="0">
                <a:solidFill>
                  <a:srgbClr val="14213D"/>
                </a:solidFill>
                <a:latin typeface="Cambria" pitchFamily="34" charset="0"/>
                <a:ea typeface="Cambria" pitchFamily="34" charset="-122"/>
                <a:cs typeface="Cambria" pitchFamily="34" charset="-120"/>
              </a:rPr>
              <a:t>SNDR 70.5 dB, bandwidth 50 MHz, power 300 mW</a:t>
            </a:r>
            <a:endParaRPr lang="en-US" sz="1000" dirty="0"/>
          </a:p>
          <a:p>
            <a:pPr marL="114300" indent="-114300">
              <a:spcAft>
                <a:spcPts val="100"/>
              </a:spcAft>
              <a:buSzPct val="100000"/>
              <a:buChar char="•"/>
            </a:pPr>
            <a:r>
              <a:rPr lang="en-US" sz="1000" dirty="0">
                <a:solidFill>
                  <a:srgbClr val="14213D"/>
                </a:solidFill>
                <a:latin typeface="Cambria" pitchFamily="34" charset="0"/>
                <a:ea typeface="Cambria" pitchFamily="34" charset="-122"/>
                <a:cs typeface="Cambria" pitchFamily="34" charset="-120"/>
              </a:rPr>
              <a:t>FoM_S = 70.5 + 10 log₁₀(5e7 / 0.3) = 152.7 dB</a:t>
            </a:r>
            <a:endParaRPr lang="en-US" sz="1000" dirty="0"/>
          </a:p>
          <a:p>
            <a:pPr marL="114300" indent="-114300">
              <a:spcAft>
                <a:spcPts val="100"/>
              </a:spcAft>
              <a:buSzPct val="100000"/>
              <a:buChar char="•"/>
            </a:pPr>
            <a:r>
              <a:rPr lang="en-US" sz="1000" dirty="0">
                <a:solidFill>
                  <a:srgbClr val="14213D"/>
                </a:solidFill>
                <a:latin typeface="Cambria" pitchFamily="34" charset="0"/>
                <a:ea typeface="Cambria" pitchFamily="34" charset="-122"/>
                <a:cs typeface="Cambria" pitchFamily="34" charset="-120"/>
              </a:rPr>
              <a:t>Above about 175 dB is state of the art</a:t>
            </a:r>
            <a:endParaRPr lang="en-US" sz="10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640080"/>
          </a:xfrm>
          <a:prstGeom prst="rect">
            <a:avLst/>
          </a:prstGeom>
          <a:noFill/>
          <a:ln/>
        </p:spPr>
        <p:txBody>
          <a:bodyPr wrap="square" lIns="0" tIns="0" rIns="0" bIns="0" rtlCol="0" anchor="ctr"/>
          <a:lstStyle/>
          <a:p>
            <a:pPr indent="0" marL="0">
              <a:buNone/>
            </a:pPr>
            <a:r>
              <a:rPr lang="en-US" sz="2800" b="1" dirty="0">
                <a:solidFill>
                  <a:srgbClr val="0B1F3A"/>
                </a:solidFill>
                <a:latin typeface="Cambria" pitchFamily="34" charset="0"/>
                <a:ea typeface="Cambria" pitchFamily="34" charset="-122"/>
                <a:cs typeface="Cambria" pitchFamily="34" charset="-120"/>
              </a:rPr>
              <a:t>Crosstalk and channel isolation</a:t>
            </a:r>
            <a:endParaRPr lang="en-US" sz="2800" dirty="0"/>
          </a:p>
        </p:txBody>
      </p:sp>
      <p:sp>
        <p:nvSpPr>
          <p:cNvPr id="3" name="Text 1"/>
          <p:cNvSpPr txBox="1"/>
          <p:nvPr/>
        </p:nvSpPr>
        <p:spPr>
          <a:xfrm>
            <a:off x="457200" y="4796028"/>
            <a:ext cx="4572000" cy="228600"/>
          </a:xfrm>
          <a:prstGeom prst="rect">
            <a:avLst/>
          </a:prstGeom>
          <a:noFill/>
          <a:ln/>
        </p:spPr>
        <p:txBody>
          <a:bodyPr wrap="square" lIns="0" tIns="0" rIns="0" bIns="0" rtlCol="0" anchor="ctr"/>
          <a:lstStyle/>
          <a:p>
            <a:pPr indent="0" marL="0">
              <a:buNone/>
            </a:pPr>
            <a:r>
              <a:rPr lang="en-US" sz="900" dirty="0">
                <a:solidFill>
                  <a:srgbClr val="5B6B7F"/>
                </a:solidFill>
                <a:latin typeface="Calibri" pitchFamily="34" charset="0"/>
                <a:ea typeface="Calibri" pitchFamily="34" charset="-122"/>
                <a:cs typeface="Calibri" pitchFamily="34" charset="-120"/>
              </a:rPr>
              <a:t>Part 6 · Power, interface and figures of merit</a:t>
            </a:r>
            <a:endParaRPr lang="en-US" sz="900" dirty="0"/>
          </a:p>
        </p:txBody>
      </p:sp>
      <p:sp>
        <p:nvSpPr>
          <p:cNvPr id="4" name="Text 2"/>
          <p:cNvSpPr txBox="1"/>
          <p:nvPr/>
        </p:nvSpPr>
        <p:spPr>
          <a:xfrm>
            <a:off x="7772400" y="4796028"/>
            <a:ext cx="914400" cy="228600"/>
          </a:xfrm>
          <a:prstGeom prst="rect">
            <a:avLst/>
          </a:prstGeom>
          <a:noFill/>
          <a:ln/>
        </p:spPr>
        <p:txBody>
          <a:bodyPr wrap="square" lIns="0" tIns="0" rIns="0" bIns="0" rtlCol="0" anchor="ctr"/>
          <a:lstStyle/>
          <a:p>
            <a:pPr algn="r" indent="0" marL="0">
              <a:buNone/>
            </a:pPr>
            <a:r>
              <a:rPr lang="en-US" sz="900" dirty="0">
                <a:solidFill>
                  <a:srgbClr val="5B6B7F"/>
                </a:solidFill>
                <a:latin typeface="Calibri" pitchFamily="34" charset="0"/>
                <a:ea typeface="Calibri" pitchFamily="34" charset="-122"/>
                <a:cs typeface="Calibri" pitchFamily="34" charset="-120"/>
              </a:rPr>
              <a:t>50</a:t>
            </a:r>
            <a:endParaRPr lang="en-US" sz="900" dirty="0"/>
          </a:p>
        </p:txBody>
      </p:sp>
      <p:sp>
        <p:nvSpPr>
          <p:cNvPr id="5" name="Text 3"/>
          <p:cNvSpPr txBox="1"/>
          <p:nvPr/>
        </p:nvSpPr>
        <p:spPr>
          <a:xfrm>
            <a:off x="457200" y="1042416"/>
            <a:ext cx="4023360" cy="1005840"/>
          </a:xfrm>
          <a:prstGeom prst="rect">
            <a:avLst/>
          </a:prstGeom>
          <a:noFill/>
          <a:ln/>
        </p:spPr>
        <p:txBody>
          <a:bodyPr wrap="square" lIns="0" tIns="0" rIns="0" bIns="0" rtlCol="0" anchor="t"/>
          <a:lstStyle/>
          <a:p>
            <a:pPr indent="0" marL="0">
              <a:buNone/>
            </a:pPr>
            <a:r>
              <a:rPr lang="en-US" sz="1150" dirty="0">
                <a:solidFill>
                  <a:srgbClr val="14213D"/>
                </a:solidFill>
                <a:latin typeface="Calibri" pitchFamily="34" charset="0"/>
                <a:ea typeface="Calibri" pitchFamily="34" charset="-122"/>
                <a:cs typeface="Calibri" pitchFamily="34" charset="-120"/>
              </a:rPr>
              <a:t>In a multi-channel converter, how much of a signal on one channel leaks into another. A large signal on channel 1 can put a ghost of itself on channel 2, where nothing was connected at all.</a:t>
            </a:r>
            <a:endParaRPr lang="en-US" sz="1150" dirty="0"/>
          </a:p>
        </p:txBody>
      </p:sp>
      <p:sp>
        <p:nvSpPr>
          <p:cNvPr id="6" name="Shape 4"/>
          <p:cNvSpPr/>
          <p:nvPr/>
        </p:nvSpPr>
        <p:spPr>
          <a:xfrm>
            <a:off x="457200" y="2103120"/>
            <a:ext cx="4023360" cy="868680"/>
          </a:xfrm>
          <a:prstGeom prst="roundRect">
            <a:avLst>
              <a:gd name="adj" fmla="val 8421"/>
            </a:avLst>
          </a:prstGeom>
          <a:solidFill>
            <a:srgbClr val="EEF3F8"/>
          </a:solidFill>
          <a:ln w="12700">
            <a:solidFill>
              <a:srgbClr val="EEF3F8"/>
            </a:solidFill>
            <a:prstDash val="solid"/>
          </a:ln>
        </p:spPr>
      </p:sp>
      <p:sp>
        <p:nvSpPr>
          <p:cNvPr id="7" name="Text 5"/>
          <p:cNvSpPr txBox="1"/>
          <p:nvPr/>
        </p:nvSpPr>
        <p:spPr>
          <a:xfrm>
            <a:off x="594360" y="2103120"/>
            <a:ext cx="3749040" cy="612648"/>
          </a:xfrm>
          <a:prstGeom prst="rect">
            <a:avLst/>
          </a:prstGeom>
          <a:noFill/>
          <a:ln/>
        </p:spPr>
        <p:txBody>
          <a:bodyPr wrap="square" lIns="0" tIns="0" rIns="0" bIns="0" rtlCol="0" anchor="ctr"/>
          <a:lstStyle/>
          <a:p>
            <a:pPr algn="ctr" indent="0" marL="0">
              <a:buNone/>
            </a:pPr>
            <a:r>
              <a:rPr lang="en-US" sz="1200" dirty="0">
                <a:solidFill>
                  <a:srgbClr val="0B1F3A"/>
                </a:solidFill>
                <a:latin typeface="Cambria" pitchFamily="34" charset="0"/>
                <a:ea typeface="Cambria" pitchFamily="34" charset="-122"/>
                <a:cs typeface="Cambria" pitchFamily="34" charset="-120"/>
              </a:rPr>
              <a:t>crosstalk = 20 log₁₀( V_leaked / V_source )</a:t>
            </a:r>
            <a:endParaRPr lang="en-US" sz="1200" dirty="0"/>
          </a:p>
        </p:txBody>
      </p:sp>
      <p:sp>
        <p:nvSpPr>
          <p:cNvPr id="8" name="Text 6"/>
          <p:cNvSpPr txBox="1"/>
          <p:nvPr/>
        </p:nvSpPr>
        <p:spPr>
          <a:xfrm>
            <a:off x="594360" y="2670048"/>
            <a:ext cx="3749040" cy="256032"/>
          </a:xfrm>
          <a:prstGeom prst="rect">
            <a:avLst/>
          </a:prstGeom>
          <a:noFill/>
          <a:ln/>
        </p:spPr>
        <p:txBody>
          <a:bodyPr wrap="square" lIns="0" tIns="0" rIns="0" bIns="0" rtlCol="0" anchor="t"/>
          <a:lstStyle/>
          <a:p>
            <a:pPr algn="ctr" indent="0" marL="0">
              <a:buNone/>
            </a:pPr>
            <a:r>
              <a:rPr lang="en-US" sz="1000" dirty="0">
                <a:solidFill>
                  <a:srgbClr val="5B6B7F"/>
                </a:solidFill>
                <a:latin typeface="Calibri" pitchFamily="34" charset="0"/>
                <a:ea typeface="Calibri" pitchFamily="34" charset="-122"/>
                <a:cs typeface="Calibri" pitchFamily="34" charset="-120"/>
              </a:rPr>
              <a:t>More negative is better; worsens with frequency</a:t>
            </a:r>
            <a:endParaRPr lang="en-US" sz="1000" dirty="0"/>
          </a:p>
        </p:txBody>
      </p:sp>
      <p:graphicFrame>
        <p:nvGraphicFramePr>
          <p:cNvPr id="9" name="Chart 0" descr=""/>
          <p:cNvGraphicFramePr/>
          <p:nvPr/>
        </p:nvGraphicFramePr>
        <p:xfrm>
          <a:off x="4663440" y="1042416"/>
          <a:ext cx="4023360" cy="2084832"/>
        </p:xfrm>
        <a:graphic xmlns:a="http://schemas.openxmlformats.org/drawingml/2006/main">
          <a:graphicData uri="http://schemas.openxmlformats.org/drawingml/2006/chart">
            <c:chart xmlns:c="http://schemas.openxmlformats.org/drawingml/2006/chart" r:id="rId1"/>
          </a:graphicData>
        </a:graphic>
      </p:graphicFrame>
      <p:sp>
        <p:nvSpPr>
          <p:cNvPr id="10" name="Text 7"/>
          <p:cNvSpPr txBox="1"/>
          <p:nvPr/>
        </p:nvSpPr>
        <p:spPr>
          <a:xfrm>
            <a:off x="4663440" y="3200400"/>
            <a:ext cx="4023360" cy="347472"/>
          </a:xfrm>
          <a:prstGeom prst="rect">
            <a:avLst/>
          </a:prstGeom>
          <a:noFill/>
          <a:ln/>
        </p:spPr>
        <p:txBody>
          <a:bodyPr wrap="square" lIns="0" tIns="0" rIns="0" bIns="0" rtlCol="0" anchor="ctr"/>
          <a:lstStyle/>
          <a:p>
            <a:pPr algn="ctr" indent="0" marL="0">
              <a:buNone/>
            </a:pPr>
            <a:r>
              <a:rPr lang="en-US" sz="1000" i="1" dirty="0">
                <a:solidFill>
                  <a:srgbClr val="5B6B7F"/>
                </a:solidFill>
                <a:latin typeface="Calibri" pitchFamily="34" charset="0"/>
                <a:ea typeface="Calibri" pitchFamily="34" charset="-122"/>
                <a:cs typeface="Calibri" pitchFamily="34" charset="-120"/>
              </a:rPr>
              <a:t>Multiplexed converters also suffer settling crosstalk: the previous channel’s voltage has not fully decayed from the hold capacitor when the next is…</a:t>
            </a:r>
            <a:endParaRPr lang="en-US" sz="1000" dirty="0"/>
          </a:p>
        </p:txBody>
      </p:sp>
      <p:sp>
        <p:nvSpPr>
          <p:cNvPr id="11" name="Shape 8"/>
          <p:cNvSpPr/>
          <p:nvPr/>
        </p:nvSpPr>
        <p:spPr>
          <a:xfrm>
            <a:off x="457200" y="3675888"/>
            <a:ext cx="4023360" cy="1024128"/>
          </a:xfrm>
          <a:prstGeom prst="roundRect">
            <a:avLst>
              <a:gd name="adj" fmla="val 7143"/>
            </a:avLst>
          </a:prstGeom>
          <a:solidFill>
            <a:srgbClr val="E4F7F4"/>
          </a:solidFill>
          <a:ln w="12700">
            <a:solidFill>
              <a:srgbClr val="E4F7F4"/>
            </a:solidFill>
            <a:prstDash val="solid"/>
          </a:ln>
        </p:spPr>
      </p:sp>
      <p:sp>
        <p:nvSpPr>
          <p:cNvPr id="12" name="Shape 9"/>
          <p:cNvSpPr/>
          <p:nvPr/>
        </p:nvSpPr>
        <p:spPr>
          <a:xfrm>
            <a:off x="566928" y="3776472"/>
            <a:ext cx="237744" cy="237744"/>
          </a:xfrm>
          <a:prstGeom prst="ellipse">
            <a:avLst/>
          </a:prstGeom>
          <a:solidFill>
            <a:srgbClr val="2EC4B6"/>
          </a:solidFill>
          <a:ln w="12700">
            <a:solidFill>
              <a:srgbClr val="2EC4B6"/>
            </a:solidFill>
            <a:prstDash val="solid"/>
          </a:ln>
        </p:spPr>
      </p:sp>
      <p:sp>
        <p:nvSpPr>
          <p:cNvPr id="13" name="Text 10"/>
          <p:cNvSpPr txBox="1"/>
          <p:nvPr/>
        </p:nvSpPr>
        <p:spPr>
          <a:xfrm>
            <a:off x="566928" y="3776472"/>
            <a:ext cx="237744" cy="237744"/>
          </a:xfrm>
          <a:prstGeom prst="rect">
            <a:avLst/>
          </a:prstGeom>
          <a:noFill/>
          <a:ln/>
        </p:spPr>
        <p:txBody>
          <a:bodyPr wrap="square" lIns="0" tIns="0" rIns="0" bIns="0" rtlCol="0" anchor="ctr"/>
          <a:lstStyle/>
          <a:p>
            <a:pPr algn="ctr" indent="0" marL="0">
              <a:buNone/>
            </a:pPr>
            <a:r>
              <a:rPr lang="en-US" sz="1200" b="1" dirty="0">
                <a:solidFill>
                  <a:srgbClr val="0B1F3A"/>
                </a:solidFill>
                <a:latin typeface="Calibri" pitchFamily="34" charset="0"/>
                <a:ea typeface="Calibri" pitchFamily="34" charset="-122"/>
                <a:cs typeface="Calibri" pitchFamily="34" charset="-120"/>
              </a:rPr>
              <a:t>≈</a:t>
            </a:r>
            <a:endParaRPr lang="en-US" sz="1200" dirty="0"/>
          </a:p>
        </p:txBody>
      </p:sp>
      <p:sp>
        <p:nvSpPr>
          <p:cNvPr id="14" name="Text 11"/>
          <p:cNvSpPr txBox="1"/>
          <p:nvPr/>
        </p:nvSpPr>
        <p:spPr>
          <a:xfrm>
            <a:off x="877824" y="3739896"/>
            <a:ext cx="3493008" cy="896112"/>
          </a:xfrm>
          <a:prstGeom prst="rect">
            <a:avLst/>
          </a:prstGeom>
          <a:noFill/>
          <a:ln/>
        </p:spPr>
        <p:txBody>
          <a:bodyPr wrap="square" lIns="0" tIns="0" rIns="0" bIns="0" rtlCol="0" anchor="t"/>
          <a:lstStyle/>
          <a:p>
            <a:pPr indent="0" marL="0">
              <a:buNone/>
            </a:pPr>
            <a:r>
              <a:rPr lang="en-US" sz="1050" b="1" dirty="0">
                <a:solidFill>
                  <a:srgbClr val="0B1F3A"/>
                </a:solidFill>
                <a:latin typeface="Calibri" pitchFamily="34" charset="0"/>
                <a:ea typeface="Calibri" pitchFamily="34" charset="-122"/>
                <a:cs typeface="Calibri" pitchFamily="34" charset="-120"/>
              </a:rPr>
              <a:t>Think of it like this  </a:t>
            </a:r>
            <a:pPr indent="0" marL="0">
              <a:buNone/>
            </a:pPr>
            <a:r>
              <a:rPr lang="en-US" sz="1050" dirty="0">
                <a:solidFill>
                  <a:srgbClr val="14213D"/>
                </a:solidFill>
                <a:latin typeface="Calibri" pitchFamily="34" charset="0"/>
                <a:ea typeface="Calibri" pitchFamily="34" charset="-122"/>
                <a:cs typeface="Calibri" pitchFamily="34" charset="-120"/>
              </a:rPr>
              <a:t>Hearing next door’s television faintly through the wall. Nothing is wrong with your television; the isolation between rooms is finite.</a:t>
            </a:r>
            <a:endParaRPr lang="en-US" sz="1050" dirty="0"/>
          </a:p>
        </p:txBody>
      </p:sp>
      <p:sp>
        <p:nvSpPr>
          <p:cNvPr id="15" name="Shape 12"/>
          <p:cNvSpPr/>
          <p:nvPr/>
        </p:nvSpPr>
        <p:spPr>
          <a:xfrm>
            <a:off x="4663440" y="3675888"/>
            <a:ext cx="4023360" cy="1024128"/>
          </a:xfrm>
          <a:prstGeom prst="roundRect">
            <a:avLst>
              <a:gd name="adj" fmla="val 7143"/>
            </a:avLst>
          </a:prstGeom>
          <a:solidFill>
            <a:srgbClr val="FFFFFF"/>
          </a:solidFill>
          <a:ln w="12700">
            <a:solidFill>
              <a:srgbClr val="0B1F3A"/>
            </a:solidFill>
            <a:prstDash val="solid"/>
          </a:ln>
        </p:spPr>
      </p:sp>
      <p:sp>
        <p:nvSpPr>
          <p:cNvPr id="16" name="Shape 13"/>
          <p:cNvSpPr/>
          <p:nvPr/>
        </p:nvSpPr>
        <p:spPr>
          <a:xfrm>
            <a:off x="4773168" y="3566160"/>
            <a:ext cx="914400" cy="219456"/>
          </a:xfrm>
          <a:prstGeom prst="roundRect">
            <a:avLst>
              <a:gd name="adj" fmla="val 25000"/>
            </a:avLst>
          </a:prstGeom>
          <a:solidFill>
            <a:srgbClr val="0B1F3A"/>
          </a:solidFill>
          <a:ln w="12700">
            <a:solidFill>
              <a:srgbClr val="0B1F3A"/>
            </a:solidFill>
            <a:prstDash val="solid"/>
          </a:ln>
        </p:spPr>
      </p:sp>
      <p:sp>
        <p:nvSpPr>
          <p:cNvPr id="17" name="Text 14"/>
          <p:cNvSpPr txBox="1"/>
          <p:nvPr/>
        </p:nvSpPr>
        <p:spPr>
          <a:xfrm>
            <a:off x="4773168" y="3566160"/>
            <a:ext cx="914400" cy="219456"/>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EXAMPLE</a:t>
            </a:r>
            <a:endParaRPr lang="en-US" sz="850" dirty="0"/>
          </a:p>
        </p:txBody>
      </p:sp>
      <p:sp>
        <p:nvSpPr>
          <p:cNvPr id="18" name="Text 15"/>
          <p:cNvSpPr txBox="1"/>
          <p:nvPr/>
        </p:nvSpPr>
        <p:spPr>
          <a:xfrm>
            <a:off x="4791456" y="3813048"/>
            <a:ext cx="3803904" cy="841248"/>
          </a:xfrm>
          <a:prstGeom prst="rect">
            <a:avLst/>
          </a:prstGeom>
          <a:noFill/>
          <a:ln/>
        </p:spPr>
        <p:txBody>
          <a:bodyPr wrap="square" lIns="0" tIns="0" rIns="0" bIns="0" rtlCol="0" anchor="t"/>
          <a:lstStyle/>
          <a:p>
            <a:pPr indent="0" marL="0">
              <a:spcAft>
                <a:spcPts val="100"/>
              </a:spcAft>
              <a:buNone/>
            </a:pPr>
            <a:r>
              <a:rPr lang="en-US" sz="1000" b="1" dirty="0">
                <a:solidFill>
                  <a:srgbClr val="0B1F3A"/>
                </a:solidFill>
                <a:latin typeface="Calibri" pitchFamily="34" charset="0"/>
                <a:ea typeface="Calibri" pitchFamily="34" charset="-122"/>
                <a:cs typeface="Calibri" pitchFamily="34" charset="-120"/>
              </a:rPr>
              <a:t>An 8-channel data logger</a:t>
            </a:r>
            <a:endParaRPr lang="en-US" sz="1000" dirty="0"/>
          </a:p>
          <a:p>
            <a:pPr marL="114300" indent="-114300">
              <a:spcAft>
                <a:spcPts val="100"/>
              </a:spcAft>
              <a:buSzPct val="100000"/>
              <a:buChar char="•"/>
            </a:pPr>
            <a:r>
              <a:rPr lang="en-US" sz="1000" dirty="0">
                <a:solidFill>
                  <a:srgbClr val="14213D"/>
                </a:solidFill>
                <a:latin typeface="Cambria" pitchFamily="34" charset="0"/>
                <a:ea typeface="Cambria" pitchFamily="34" charset="-122"/>
                <a:cs typeface="Cambria" pitchFamily="34" charset="-120"/>
              </a:rPr>
              <a:t>Channel 1: 10 V thermocouple amplifier output</a:t>
            </a:r>
            <a:endParaRPr lang="en-US" sz="1000" dirty="0"/>
          </a:p>
          <a:p>
            <a:pPr marL="114300" indent="-114300">
              <a:spcAft>
                <a:spcPts val="100"/>
              </a:spcAft>
              <a:buSzPct val="100000"/>
              <a:buChar char="•"/>
            </a:pPr>
            <a:r>
              <a:rPr lang="en-US" sz="1000" dirty="0">
                <a:solidFill>
                  <a:srgbClr val="14213D"/>
                </a:solidFill>
                <a:latin typeface="Cambria" pitchFamily="34" charset="0"/>
                <a:ea typeface="Cambria" pitchFamily="34" charset="-122"/>
                <a:cs typeface="Cambria" pitchFamily="34" charset="-120"/>
              </a:rPr>
              <a:t>Crosstalk −80 dB → 1 mV appears on channel 2</a:t>
            </a:r>
            <a:endParaRPr lang="en-US" sz="1000" dirty="0"/>
          </a:p>
          <a:p>
            <a:pPr marL="114300" indent="-114300">
              <a:spcAft>
                <a:spcPts val="100"/>
              </a:spcAft>
              <a:buSzPct val="100000"/>
              <a:buChar char="•"/>
            </a:pPr>
            <a:r>
              <a:rPr lang="en-US" sz="1000" dirty="0">
                <a:solidFill>
                  <a:srgbClr val="14213D"/>
                </a:solidFill>
                <a:latin typeface="Cambria" pitchFamily="34" charset="0"/>
                <a:ea typeface="Cambria" pitchFamily="34" charset="-122"/>
                <a:cs typeface="Cambria" pitchFamily="34" charset="-120"/>
              </a:rPr>
              <a:t>On a 16-bit, 2 V range that is 33 LSB of pure fiction</a:t>
            </a:r>
            <a:endParaRPr lang="en-US" sz="10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640080"/>
          </a:xfrm>
          <a:prstGeom prst="rect">
            <a:avLst/>
          </a:prstGeom>
          <a:noFill/>
          <a:ln/>
        </p:spPr>
        <p:txBody>
          <a:bodyPr wrap="square" lIns="0" tIns="0" rIns="0" bIns="0" rtlCol="0" anchor="ctr"/>
          <a:lstStyle/>
          <a:p>
            <a:pPr indent="0" marL="0">
              <a:buNone/>
            </a:pPr>
            <a:r>
              <a:rPr lang="en-US" sz="2800" b="1" dirty="0">
                <a:solidFill>
                  <a:srgbClr val="0B1F3A"/>
                </a:solidFill>
                <a:latin typeface="Cambria" pitchFamily="34" charset="0"/>
                <a:ea typeface="Cambria" pitchFamily="34" charset="-122"/>
                <a:cs typeface="Cambria" pitchFamily="34" charset="-120"/>
              </a:rPr>
              <a:t>Digital interface</a:t>
            </a:r>
            <a:endParaRPr lang="en-US" sz="2800" dirty="0"/>
          </a:p>
        </p:txBody>
      </p:sp>
      <p:sp>
        <p:nvSpPr>
          <p:cNvPr id="3" name="Text 1"/>
          <p:cNvSpPr txBox="1"/>
          <p:nvPr/>
        </p:nvSpPr>
        <p:spPr>
          <a:xfrm>
            <a:off x="457200" y="4796028"/>
            <a:ext cx="4572000" cy="228600"/>
          </a:xfrm>
          <a:prstGeom prst="rect">
            <a:avLst/>
          </a:prstGeom>
          <a:noFill/>
          <a:ln/>
        </p:spPr>
        <p:txBody>
          <a:bodyPr wrap="square" lIns="0" tIns="0" rIns="0" bIns="0" rtlCol="0" anchor="ctr"/>
          <a:lstStyle/>
          <a:p>
            <a:pPr indent="0" marL="0">
              <a:buNone/>
            </a:pPr>
            <a:r>
              <a:rPr lang="en-US" sz="900" dirty="0">
                <a:solidFill>
                  <a:srgbClr val="5B6B7F"/>
                </a:solidFill>
                <a:latin typeface="Calibri" pitchFamily="34" charset="0"/>
                <a:ea typeface="Calibri" pitchFamily="34" charset="-122"/>
                <a:cs typeface="Calibri" pitchFamily="34" charset="-120"/>
              </a:rPr>
              <a:t>Part 6 · Power, interface and figures of merit</a:t>
            </a:r>
            <a:endParaRPr lang="en-US" sz="900" dirty="0"/>
          </a:p>
        </p:txBody>
      </p:sp>
      <p:sp>
        <p:nvSpPr>
          <p:cNvPr id="4" name="Text 2"/>
          <p:cNvSpPr txBox="1"/>
          <p:nvPr/>
        </p:nvSpPr>
        <p:spPr>
          <a:xfrm>
            <a:off x="7772400" y="4796028"/>
            <a:ext cx="914400" cy="228600"/>
          </a:xfrm>
          <a:prstGeom prst="rect">
            <a:avLst/>
          </a:prstGeom>
          <a:noFill/>
          <a:ln/>
        </p:spPr>
        <p:txBody>
          <a:bodyPr wrap="square" lIns="0" tIns="0" rIns="0" bIns="0" rtlCol="0" anchor="ctr"/>
          <a:lstStyle/>
          <a:p>
            <a:pPr algn="r" indent="0" marL="0">
              <a:buNone/>
            </a:pPr>
            <a:r>
              <a:rPr lang="en-US" sz="900" dirty="0">
                <a:solidFill>
                  <a:srgbClr val="5B6B7F"/>
                </a:solidFill>
                <a:latin typeface="Calibri" pitchFamily="34" charset="0"/>
                <a:ea typeface="Calibri" pitchFamily="34" charset="-122"/>
                <a:cs typeface="Calibri" pitchFamily="34" charset="-120"/>
              </a:rPr>
              <a:t>51</a:t>
            </a:r>
            <a:endParaRPr lang="en-US" sz="900" dirty="0"/>
          </a:p>
        </p:txBody>
      </p:sp>
      <p:sp>
        <p:nvSpPr>
          <p:cNvPr id="5" name="Text 3"/>
          <p:cNvSpPr txBox="1"/>
          <p:nvPr/>
        </p:nvSpPr>
        <p:spPr>
          <a:xfrm>
            <a:off x="457200" y="1042416"/>
            <a:ext cx="4023360" cy="1005840"/>
          </a:xfrm>
          <a:prstGeom prst="rect">
            <a:avLst/>
          </a:prstGeom>
          <a:noFill/>
          <a:ln/>
        </p:spPr>
        <p:txBody>
          <a:bodyPr wrap="square" lIns="0" tIns="0" rIns="0" bIns="0" rtlCol="0" anchor="t"/>
          <a:lstStyle/>
          <a:p>
            <a:pPr indent="0" marL="0">
              <a:buNone/>
            </a:pPr>
            <a:r>
              <a:rPr lang="en-US" sz="1150" dirty="0">
                <a:solidFill>
                  <a:srgbClr val="14213D"/>
                </a:solidFill>
                <a:latin typeface="Calibri" pitchFamily="34" charset="0"/>
                <a:ea typeface="Calibri" pitchFamily="34" charset="-122"/>
                <a:cs typeface="Calibri" pitchFamily="34" charset="-120"/>
              </a:rPr>
              <a:t>How the numbers leave the chip. The choice is set by the data rate: a slow part can use a handful of wires and a simple protocol, while a gigasample part needs serialised high-speed lanes.</a:t>
            </a:r>
            <a:endParaRPr lang="en-US" sz="1150" dirty="0"/>
          </a:p>
        </p:txBody>
      </p:sp>
      <p:sp>
        <p:nvSpPr>
          <p:cNvPr id="6" name="Text 4"/>
          <p:cNvSpPr txBox="1"/>
          <p:nvPr/>
        </p:nvSpPr>
        <p:spPr>
          <a:xfrm>
            <a:off x="457200" y="2103120"/>
            <a:ext cx="4023360" cy="1444752"/>
          </a:xfrm>
          <a:prstGeom prst="rect">
            <a:avLst/>
          </a:prstGeom>
          <a:noFill/>
          <a:ln/>
        </p:spPr>
        <p:txBody>
          <a:bodyPr wrap="square" lIns="0" tIns="0" rIns="0" bIns="0" rtlCol="0" anchor="t"/>
          <a:lstStyle/>
          <a:p>
            <a:pPr marL="342900" indent="-342900">
              <a:spcAft>
                <a:spcPts val="300"/>
              </a:spcAft>
              <a:buSzPct val="100000"/>
              <a:buChar char="•"/>
            </a:pPr>
            <a:r>
              <a:rPr lang="en-US" sz="1100" dirty="0">
                <a:solidFill>
                  <a:srgbClr val="14213D"/>
                </a:solidFill>
                <a:latin typeface="Calibri" pitchFamily="34" charset="0"/>
                <a:ea typeface="Calibri" pitchFamily="34" charset="-122"/>
                <a:cs typeface="Calibri" pitchFamily="34" charset="-120"/>
              </a:rPr>
              <a:t>SPI or I²C: a few hundred kSPS to a few MSPS, simplest wiring</a:t>
            </a:r>
            <a:endParaRPr lang="en-US" sz="1100" dirty="0"/>
          </a:p>
          <a:p>
            <a:pPr marL="342900" indent="-342900">
              <a:spcAft>
                <a:spcPts val="300"/>
              </a:spcAft>
              <a:buSzPct val="100000"/>
              <a:buChar char="•"/>
            </a:pPr>
            <a:r>
              <a:rPr lang="en-US" sz="1100" dirty="0">
                <a:solidFill>
                  <a:srgbClr val="14213D"/>
                </a:solidFill>
                <a:latin typeface="Calibri" pitchFamily="34" charset="0"/>
                <a:ea typeface="Calibri" pitchFamily="34" charset="-122"/>
                <a:cs typeface="Calibri" pitchFamily="34" charset="-120"/>
              </a:rPr>
              <a:t>Parallel CMOS: fast but many pins, and the switching noise couples back into the analogue</a:t>
            </a:r>
            <a:endParaRPr lang="en-US" sz="1100" dirty="0"/>
          </a:p>
          <a:p>
            <a:pPr marL="342900" indent="-342900">
              <a:spcAft>
                <a:spcPts val="300"/>
              </a:spcAft>
              <a:buSzPct val="100000"/>
              <a:buChar char="•"/>
            </a:pPr>
            <a:r>
              <a:rPr lang="en-US" sz="1100" dirty="0">
                <a:solidFill>
                  <a:srgbClr val="14213D"/>
                </a:solidFill>
                <a:latin typeface="Calibri" pitchFamily="34" charset="0"/>
                <a:ea typeface="Calibri" pitchFamily="34" charset="-122"/>
                <a:cs typeface="Calibri" pitchFamily="34" charset="-120"/>
              </a:rPr>
              <a:t>LVDS: differential, low noise, good to hundreds of MSPS</a:t>
            </a:r>
            <a:endParaRPr lang="en-US" sz="1100" dirty="0"/>
          </a:p>
          <a:p>
            <a:pPr marL="342900" indent="-342900">
              <a:spcAft>
                <a:spcPts val="300"/>
              </a:spcAft>
              <a:buSzPct val="100000"/>
              <a:buChar char="•"/>
            </a:pPr>
            <a:r>
              <a:rPr lang="en-US" sz="1100" dirty="0">
                <a:solidFill>
                  <a:srgbClr val="14213D"/>
                </a:solidFill>
                <a:latin typeface="Calibri" pitchFamily="34" charset="0"/>
                <a:ea typeface="Calibri" pitchFamily="34" charset="-122"/>
                <a:cs typeface="Calibri" pitchFamily="34" charset="-120"/>
              </a:rPr>
              <a:t>JESD204B/C: serialised lanes with deterministic latency, for GSPS parts and synchronised arrays</a:t>
            </a:r>
            <a:endParaRPr lang="en-US" sz="11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663440" y="1042416"/>
          <a:ext cx="4023360" cy="914400"/>
        </p:xfrm>
        <a:graphic>
          <a:graphicData uri="http://schemas.openxmlformats.org/drawingml/2006/table">
            <a:tbl>
              <a:tblPr/>
              <a:tblGrid>
                <a:gridCol w="1234440"/>
                <a:gridCol w="1371600"/>
                <a:gridCol w="1417320"/>
              </a:tblGrid>
              <a:tr h="301752">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Interface</a:t>
                      </a:r>
                      <a:endParaRPr lang="en-US" sz="100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0B1F3A"/>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Typical rate</a:t>
                      </a:r>
                      <a:endParaRPr lang="en-US" sz="100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0B1F3A"/>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Where it fits</a:t>
                      </a:r>
                      <a:endParaRPr lang="en-US" sz="100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0B1F3A"/>
                    </a:solidFill>
                  </a:tcPr>
                </a:tc>
              </a:tr>
              <a:tr h="301752">
                <a:tc>
                  <a:txBody>
                    <a:bodyPr/>
                    <a:lstStyle/>
                    <a:p>
                      <a:pPr indent="0" marL="0">
                        <a:buNone/>
                      </a:pPr>
                      <a:r>
                        <a:rPr lang="en-US" sz="1000" dirty="0">
                          <a:solidFill>
                            <a:srgbClr val="14213D"/>
                          </a:solidFill>
                          <a:latin typeface="Calibri" pitchFamily="34" charset="0"/>
                          <a:ea typeface="Calibri" pitchFamily="34" charset="-122"/>
                          <a:cs typeface="Calibri" pitchFamily="34" charset="-120"/>
                        </a:rPr>
                        <a:t>SPI / I²C</a:t>
                      </a:r>
                      <a:endParaRPr lang="en-US" sz="100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EEF3F8"/>
                    </a:solidFill>
                  </a:tcPr>
                </a:tc>
                <a:tc>
                  <a:txBody>
                    <a:bodyPr/>
                    <a:lstStyle/>
                    <a:p>
                      <a:pPr indent="0" marL="0">
                        <a:buNone/>
                      </a:pPr>
                      <a:r>
                        <a:rPr lang="en-US" sz="1000" dirty="0">
                          <a:solidFill>
                            <a:srgbClr val="14213D"/>
                          </a:solidFill>
                          <a:latin typeface="Calibri" pitchFamily="34" charset="0"/>
                          <a:ea typeface="Calibri" pitchFamily="34" charset="-122"/>
                          <a:cs typeface="Calibri" pitchFamily="34" charset="-120"/>
                        </a:rPr>
                        <a:t>&lt; 50 Mbit/s</a:t>
                      </a:r>
                      <a:endParaRPr lang="en-US" sz="100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EEF3F8"/>
                    </a:solidFill>
                  </a:tcPr>
                </a:tc>
                <a:tc>
                  <a:txBody>
                    <a:bodyPr/>
                    <a:lstStyle/>
                    <a:p>
                      <a:pPr indent="0" marL="0">
                        <a:buNone/>
                      </a:pPr>
                      <a:r>
                        <a:rPr lang="en-US" sz="1000" dirty="0">
                          <a:solidFill>
                            <a:srgbClr val="14213D"/>
                          </a:solidFill>
                          <a:latin typeface="Calibri" pitchFamily="34" charset="0"/>
                          <a:ea typeface="Calibri" pitchFamily="34" charset="-122"/>
                          <a:cs typeface="Calibri" pitchFamily="34" charset="-120"/>
                        </a:rPr>
                        <a:t>Sensors, slow SAR</a:t>
                      </a:r>
                      <a:endParaRPr lang="en-US" sz="100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EEF3F8"/>
                    </a:solidFill>
                  </a:tcPr>
                </a:tc>
              </a:tr>
              <a:tr h="301752">
                <a:tc>
                  <a:txBody>
                    <a:bodyPr/>
                    <a:lstStyle/>
                    <a:p>
                      <a:pPr indent="0" marL="0">
                        <a:buNone/>
                      </a:pPr>
                      <a:r>
                        <a:rPr lang="en-US" sz="1000" dirty="0">
                          <a:solidFill>
                            <a:srgbClr val="14213D"/>
                          </a:solidFill>
                          <a:latin typeface="Calibri" pitchFamily="34" charset="0"/>
                          <a:ea typeface="Calibri" pitchFamily="34" charset="-122"/>
                          <a:cs typeface="Calibri" pitchFamily="34" charset="-120"/>
                        </a:rPr>
                        <a:t>Parallel CMOS</a:t>
                      </a:r>
                      <a:endParaRPr lang="en-US" sz="100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FFFFF"/>
                    </a:solidFill>
                  </a:tcPr>
                </a:tc>
                <a:tc>
                  <a:txBody>
                    <a:bodyPr/>
                    <a:lstStyle/>
                    <a:p>
                      <a:pPr indent="0" marL="0">
                        <a:buNone/>
                      </a:pPr>
                      <a:r>
                        <a:rPr lang="en-US" sz="1000" dirty="0">
                          <a:solidFill>
                            <a:srgbClr val="14213D"/>
                          </a:solidFill>
                          <a:latin typeface="Calibri" pitchFamily="34" charset="0"/>
                          <a:ea typeface="Calibri" pitchFamily="34" charset="-122"/>
                          <a:cs typeface="Calibri" pitchFamily="34" charset="-120"/>
                        </a:rPr>
                        <a:t>&lt; 1 Gbit/s</a:t>
                      </a:r>
                      <a:endParaRPr lang="en-US" sz="100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FFFFF"/>
                    </a:solidFill>
                  </a:tcPr>
                </a:tc>
                <a:tc>
                  <a:txBody>
                    <a:bodyPr/>
                    <a:lstStyle/>
                    <a:p>
                      <a:pPr indent="0" marL="0">
                        <a:buNone/>
                      </a:pPr>
                      <a:r>
                        <a:rPr lang="en-US" sz="1000" dirty="0">
                          <a:solidFill>
                            <a:srgbClr val="14213D"/>
                          </a:solidFill>
                          <a:latin typeface="Calibri" pitchFamily="34" charset="0"/>
                          <a:ea typeface="Calibri" pitchFamily="34" charset="-122"/>
                          <a:cs typeface="Calibri" pitchFamily="34" charset="-120"/>
                        </a:rPr>
                        <a:t>Mid-speed, many pins</a:t>
                      </a:r>
                      <a:endParaRPr lang="en-US" sz="100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FFFFF"/>
                    </a:solidFill>
                  </a:tcPr>
                </a:tc>
              </a:tr>
              <a:tr h="301752">
                <a:tc>
                  <a:txBody>
                    <a:bodyPr/>
                    <a:lstStyle/>
                    <a:p>
                      <a:pPr indent="0" marL="0">
                        <a:buNone/>
                      </a:pPr>
                      <a:r>
                        <a:rPr lang="en-US" sz="1000" dirty="0">
                          <a:solidFill>
                            <a:srgbClr val="14213D"/>
                          </a:solidFill>
                          <a:latin typeface="Calibri" pitchFamily="34" charset="0"/>
                          <a:ea typeface="Calibri" pitchFamily="34" charset="-122"/>
                          <a:cs typeface="Calibri" pitchFamily="34" charset="-120"/>
                        </a:rPr>
                        <a:t>LVDS</a:t>
                      </a:r>
                      <a:endParaRPr lang="en-US" sz="100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EEF3F8"/>
                    </a:solidFill>
                  </a:tcPr>
                </a:tc>
                <a:tc>
                  <a:txBody>
                    <a:bodyPr/>
                    <a:lstStyle/>
                    <a:p>
                      <a:pPr indent="0" marL="0">
                        <a:buNone/>
                      </a:pPr>
                      <a:r>
                        <a:rPr lang="en-US" sz="1000" dirty="0">
                          <a:solidFill>
                            <a:srgbClr val="14213D"/>
                          </a:solidFill>
                          <a:latin typeface="Calibri" pitchFamily="34" charset="0"/>
                          <a:ea typeface="Calibri" pitchFamily="34" charset="-122"/>
                          <a:cs typeface="Calibri" pitchFamily="34" charset="-120"/>
                        </a:rPr>
                        <a:t>~ 1 Gbit/s per pair</a:t>
                      </a:r>
                      <a:endParaRPr lang="en-US" sz="100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EEF3F8"/>
                    </a:solidFill>
                  </a:tcPr>
                </a:tc>
                <a:tc>
                  <a:txBody>
                    <a:bodyPr/>
                    <a:lstStyle/>
                    <a:p>
                      <a:pPr indent="0" marL="0">
                        <a:buNone/>
                      </a:pPr>
                      <a:r>
                        <a:rPr lang="en-US" sz="1000" dirty="0">
                          <a:solidFill>
                            <a:srgbClr val="14213D"/>
                          </a:solidFill>
                          <a:latin typeface="Calibri" pitchFamily="34" charset="0"/>
                          <a:ea typeface="Calibri" pitchFamily="34" charset="-122"/>
                          <a:cs typeface="Calibri" pitchFamily="34" charset="-120"/>
                        </a:rPr>
                        <a:t>100s of MSPS</a:t>
                      </a:r>
                      <a:endParaRPr lang="en-US" sz="100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EEF3F8"/>
                    </a:solidFill>
                  </a:tcPr>
                </a:tc>
              </a:tr>
              <a:tr h="301752">
                <a:tc>
                  <a:txBody>
                    <a:bodyPr/>
                    <a:lstStyle/>
                    <a:p>
                      <a:pPr indent="0" marL="0">
                        <a:buNone/>
                      </a:pPr>
                      <a:r>
                        <a:rPr lang="en-US" sz="1000" dirty="0">
                          <a:solidFill>
                            <a:srgbClr val="14213D"/>
                          </a:solidFill>
                          <a:latin typeface="Calibri" pitchFamily="34" charset="0"/>
                          <a:ea typeface="Calibri" pitchFamily="34" charset="-122"/>
                          <a:cs typeface="Calibri" pitchFamily="34" charset="-120"/>
                        </a:rPr>
                        <a:t>JESD204B/C</a:t>
                      </a:r>
                      <a:endParaRPr lang="en-US" sz="100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FFFFF"/>
                    </a:solidFill>
                  </a:tcPr>
                </a:tc>
                <a:tc>
                  <a:txBody>
                    <a:bodyPr/>
                    <a:lstStyle/>
                    <a:p>
                      <a:pPr indent="0" marL="0">
                        <a:buNone/>
                      </a:pPr>
                      <a:r>
                        <a:rPr lang="en-US" sz="1000" dirty="0">
                          <a:solidFill>
                            <a:srgbClr val="14213D"/>
                          </a:solidFill>
                          <a:latin typeface="Calibri" pitchFamily="34" charset="0"/>
                          <a:ea typeface="Calibri" pitchFamily="34" charset="-122"/>
                          <a:cs typeface="Calibri" pitchFamily="34" charset="-120"/>
                        </a:rPr>
                        <a:t>12.5 Gbit/s per lane</a:t>
                      </a:r>
                      <a:endParaRPr lang="en-US" sz="100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FFFFF"/>
                    </a:solidFill>
                  </a:tcPr>
                </a:tc>
                <a:tc>
                  <a:txBody>
                    <a:bodyPr/>
                    <a:lstStyle/>
                    <a:p>
                      <a:pPr indent="0" marL="0">
                        <a:buNone/>
                      </a:pPr>
                      <a:r>
                        <a:rPr lang="en-US" sz="1000" dirty="0">
                          <a:solidFill>
                            <a:srgbClr val="14213D"/>
                          </a:solidFill>
                          <a:latin typeface="Calibri" pitchFamily="34" charset="0"/>
                          <a:ea typeface="Calibri" pitchFamily="34" charset="-122"/>
                          <a:cs typeface="Calibri" pitchFamily="34" charset="-120"/>
                        </a:rPr>
                        <a:t>GSPS, synchronised arrays</a:t>
                      </a:r>
                      <a:endParaRPr lang="en-US" sz="100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FFFFF"/>
                    </a:solidFill>
                  </a:tcPr>
                </a:tc>
              </a:tr>
            </a:tbl>
          </a:graphicData>
        </a:graphic>
      </p:graphicFrame>
      <p:sp>
        <p:nvSpPr>
          <p:cNvPr id="8" name="Text 5"/>
          <p:cNvSpPr txBox="1"/>
          <p:nvPr/>
        </p:nvSpPr>
        <p:spPr>
          <a:xfrm>
            <a:off x="4663440" y="3200400"/>
            <a:ext cx="4023360" cy="347472"/>
          </a:xfrm>
          <a:prstGeom prst="rect">
            <a:avLst/>
          </a:prstGeom>
          <a:noFill/>
          <a:ln/>
        </p:spPr>
        <p:txBody>
          <a:bodyPr wrap="square" lIns="0" tIns="0" rIns="0" bIns="0" rtlCol="0" anchor="ctr"/>
          <a:lstStyle/>
          <a:p>
            <a:pPr algn="ctr" indent="0" marL="0">
              <a:buNone/>
            </a:pPr>
            <a:r>
              <a:rPr lang="en-US" sz="1000" i="1" dirty="0">
                <a:solidFill>
                  <a:srgbClr val="5B6B7F"/>
                </a:solidFill>
                <a:latin typeface="Calibri" pitchFamily="34" charset="0"/>
                <a:ea typeface="Calibri" pitchFamily="34" charset="-122"/>
                <a:cs typeface="Calibri" pitchFamily="34" charset="-120"/>
              </a:rPr>
              <a:t>Digital switching noise coupling back into the analogue front end is a real and common problem. It is one of the reasons LVDS and serialised interfaces…</a:t>
            </a:r>
            <a:endParaRPr lang="en-US" sz="1000" dirty="0"/>
          </a:p>
        </p:txBody>
      </p:sp>
      <p:sp>
        <p:nvSpPr>
          <p:cNvPr id="9" name="Shape 6"/>
          <p:cNvSpPr/>
          <p:nvPr/>
        </p:nvSpPr>
        <p:spPr>
          <a:xfrm>
            <a:off x="457200" y="3675888"/>
            <a:ext cx="4023360" cy="1024128"/>
          </a:xfrm>
          <a:prstGeom prst="roundRect">
            <a:avLst>
              <a:gd name="adj" fmla="val 7143"/>
            </a:avLst>
          </a:prstGeom>
          <a:solidFill>
            <a:srgbClr val="E4F7F4"/>
          </a:solidFill>
          <a:ln w="12700">
            <a:solidFill>
              <a:srgbClr val="E4F7F4"/>
            </a:solidFill>
            <a:prstDash val="solid"/>
          </a:ln>
        </p:spPr>
      </p:sp>
      <p:sp>
        <p:nvSpPr>
          <p:cNvPr id="10" name="Shape 7"/>
          <p:cNvSpPr/>
          <p:nvPr/>
        </p:nvSpPr>
        <p:spPr>
          <a:xfrm>
            <a:off x="566928" y="3776472"/>
            <a:ext cx="237744" cy="237744"/>
          </a:xfrm>
          <a:prstGeom prst="ellipse">
            <a:avLst/>
          </a:prstGeom>
          <a:solidFill>
            <a:srgbClr val="2EC4B6"/>
          </a:solidFill>
          <a:ln w="12700">
            <a:solidFill>
              <a:srgbClr val="2EC4B6"/>
            </a:solidFill>
            <a:prstDash val="solid"/>
          </a:ln>
        </p:spPr>
      </p:sp>
      <p:sp>
        <p:nvSpPr>
          <p:cNvPr id="11" name="Text 8"/>
          <p:cNvSpPr txBox="1"/>
          <p:nvPr/>
        </p:nvSpPr>
        <p:spPr>
          <a:xfrm>
            <a:off x="566928" y="3776472"/>
            <a:ext cx="237744" cy="237744"/>
          </a:xfrm>
          <a:prstGeom prst="rect">
            <a:avLst/>
          </a:prstGeom>
          <a:noFill/>
          <a:ln/>
        </p:spPr>
        <p:txBody>
          <a:bodyPr wrap="square" lIns="0" tIns="0" rIns="0" bIns="0" rtlCol="0" anchor="ctr"/>
          <a:lstStyle/>
          <a:p>
            <a:pPr algn="ctr" indent="0" marL="0">
              <a:buNone/>
            </a:pPr>
            <a:r>
              <a:rPr lang="en-US" sz="1200" b="1" dirty="0">
                <a:solidFill>
                  <a:srgbClr val="0B1F3A"/>
                </a:solidFill>
                <a:latin typeface="Calibri" pitchFamily="34" charset="0"/>
                <a:ea typeface="Calibri" pitchFamily="34" charset="-122"/>
                <a:cs typeface="Calibri" pitchFamily="34" charset="-120"/>
              </a:rPr>
              <a:t>≈</a:t>
            </a:r>
            <a:endParaRPr lang="en-US" sz="1200" dirty="0"/>
          </a:p>
        </p:txBody>
      </p:sp>
      <p:sp>
        <p:nvSpPr>
          <p:cNvPr id="12" name="Text 9"/>
          <p:cNvSpPr txBox="1"/>
          <p:nvPr/>
        </p:nvSpPr>
        <p:spPr>
          <a:xfrm>
            <a:off x="877824" y="3739896"/>
            <a:ext cx="3493008" cy="896112"/>
          </a:xfrm>
          <a:prstGeom prst="rect">
            <a:avLst/>
          </a:prstGeom>
          <a:noFill/>
          <a:ln/>
        </p:spPr>
        <p:txBody>
          <a:bodyPr wrap="square" lIns="0" tIns="0" rIns="0" bIns="0" rtlCol="0" anchor="t"/>
          <a:lstStyle/>
          <a:p>
            <a:pPr indent="0" marL="0">
              <a:buNone/>
            </a:pPr>
            <a:r>
              <a:rPr lang="en-US" sz="1050" b="1" dirty="0">
                <a:solidFill>
                  <a:srgbClr val="0B1F3A"/>
                </a:solidFill>
                <a:latin typeface="Calibri" pitchFamily="34" charset="0"/>
                <a:ea typeface="Calibri" pitchFamily="34" charset="-122"/>
                <a:cs typeface="Calibri" pitchFamily="34" charset="-120"/>
              </a:rPr>
              <a:t>Think of it like this  </a:t>
            </a:r>
            <a:pPr indent="0" marL="0">
              <a:buNone/>
            </a:pPr>
            <a:r>
              <a:rPr lang="en-US" sz="1050" dirty="0">
                <a:solidFill>
                  <a:srgbClr val="14213D"/>
                </a:solidFill>
                <a:latin typeface="Calibri" pitchFamily="34" charset="0"/>
                <a:ea typeface="Calibri" pitchFamily="34" charset="-122"/>
                <a:cs typeface="Calibri" pitchFamily="34" charset="-120"/>
              </a:rPr>
              <a:t>The difference between handing over a note, posting a letter, and running a dedicated fibre. All deliver the message; they differ in how much you can send and how much fuss it is.</a:t>
            </a:r>
            <a:endParaRPr lang="en-US" sz="1050" dirty="0"/>
          </a:p>
        </p:txBody>
      </p:sp>
      <p:sp>
        <p:nvSpPr>
          <p:cNvPr id="13" name="Shape 10"/>
          <p:cNvSpPr/>
          <p:nvPr/>
        </p:nvSpPr>
        <p:spPr>
          <a:xfrm>
            <a:off x="4663440" y="3675888"/>
            <a:ext cx="4023360" cy="1024128"/>
          </a:xfrm>
          <a:prstGeom prst="roundRect">
            <a:avLst>
              <a:gd name="adj" fmla="val 7143"/>
            </a:avLst>
          </a:prstGeom>
          <a:solidFill>
            <a:srgbClr val="FFFFFF"/>
          </a:solidFill>
          <a:ln w="12700">
            <a:solidFill>
              <a:srgbClr val="0B1F3A"/>
            </a:solidFill>
            <a:prstDash val="solid"/>
          </a:ln>
        </p:spPr>
      </p:sp>
      <p:sp>
        <p:nvSpPr>
          <p:cNvPr id="14" name="Shape 11"/>
          <p:cNvSpPr/>
          <p:nvPr/>
        </p:nvSpPr>
        <p:spPr>
          <a:xfrm>
            <a:off x="4773168" y="3566160"/>
            <a:ext cx="914400" cy="219456"/>
          </a:xfrm>
          <a:prstGeom prst="roundRect">
            <a:avLst>
              <a:gd name="adj" fmla="val 25000"/>
            </a:avLst>
          </a:prstGeom>
          <a:solidFill>
            <a:srgbClr val="0B1F3A"/>
          </a:solidFill>
          <a:ln w="12700">
            <a:solidFill>
              <a:srgbClr val="0B1F3A"/>
            </a:solidFill>
            <a:prstDash val="solid"/>
          </a:ln>
        </p:spPr>
      </p:sp>
      <p:sp>
        <p:nvSpPr>
          <p:cNvPr id="15" name="Text 12"/>
          <p:cNvSpPr txBox="1"/>
          <p:nvPr/>
        </p:nvSpPr>
        <p:spPr>
          <a:xfrm>
            <a:off x="4773168" y="3566160"/>
            <a:ext cx="914400" cy="219456"/>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EXAMPLE</a:t>
            </a:r>
            <a:endParaRPr lang="en-US" sz="850" dirty="0"/>
          </a:p>
        </p:txBody>
      </p:sp>
      <p:sp>
        <p:nvSpPr>
          <p:cNvPr id="16" name="Text 13"/>
          <p:cNvSpPr txBox="1"/>
          <p:nvPr/>
        </p:nvSpPr>
        <p:spPr>
          <a:xfrm>
            <a:off x="4791456" y="3813048"/>
            <a:ext cx="3803904" cy="841248"/>
          </a:xfrm>
          <a:prstGeom prst="rect">
            <a:avLst/>
          </a:prstGeom>
          <a:noFill/>
          <a:ln/>
        </p:spPr>
        <p:txBody>
          <a:bodyPr wrap="square" lIns="0" tIns="0" rIns="0" bIns="0" rtlCol="0" anchor="t"/>
          <a:lstStyle/>
          <a:p>
            <a:pPr indent="0" marL="0">
              <a:spcAft>
                <a:spcPts val="100"/>
              </a:spcAft>
              <a:buNone/>
            </a:pPr>
            <a:r>
              <a:rPr lang="en-US" sz="900" b="1" dirty="0">
                <a:solidFill>
                  <a:srgbClr val="0B1F3A"/>
                </a:solidFill>
                <a:latin typeface="Calibri" pitchFamily="34" charset="0"/>
                <a:ea typeface="Calibri" pitchFamily="34" charset="-122"/>
                <a:cs typeface="Calibri" pitchFamily="34" charset="-120"/>
              </a:rPr>
              <a:t>Sizing the link</a:t>
            </a:r>
            <a:endParaRPr lang="en-US" sz="900" dirty="0"/>
          </a:p>
          <a:p>
            <a:pPr marL="114300" indent="-114300">
              <a:spcAft>
                <a:spcPts val="100"/>
              </a:spcAft>
              <a:buSzPct val="100000"/>
              <a:buChar char="•"/>
            </a:pPr>
            <a:r>
              <a:rPr lang="en-US" sz="900" dirty="0">
                <a:solidFill>
                  <a:srgbClr val="14213D"/>
                </a:solidFill>
                <a:latin typeface="Cambria" pitchFamily="34" charset="0"/>
                <a:ea typeface="Cambria" pitchFamily="34" charset="-122"/>
                <a:cs typeface="Cambria" pitchFamily="34" charset="-120"/>
              </a:rPr>
              <a:t>12 bit at 250 MSPS = 3 Gbit/s of payload</a:t>
            </a:r>
            <a:endParaRPr lang="en-US" sz="900" dirty="0"/>
          </a:p>
          <a:p>
            <a:pPr marL="114300" indent="-114300">
              <a:spcAft>
                <a:spcPts val="100"/>
              </a:spcAft>
              <a:buSzPct val="100000"/>
              <a:buChar char="•"/>
            </a:pPr>
            <a:r>
              <a:rPr lang="en-US" sz="900" dirty="0">
                <a:solidFill>
                  <a:srgbClr val="14213D"/>
                </a:solidFill>
                <a:latin typeface="Cambria" pitchFamily="34" charset="0"/>
                <a:ea typeface="Cambria" pitchFamily="34" charset="-122"/>
                <a:cs typeface="Cambria" pitchFamily="34" charset="-120"/>
              </a:rPr>
              <a:t>Too fast for parallel CMOS at sensible pin counts</a:t>
            </a:r>
            <a:endParaRPr lang="en-US" sz="900" dirty="0"/>
          </a:p>
          <a:p>
            <a:pPr marL="114300" indent="-114300">
              <a:spcAft>
                <a:spcPts val="100"/>
              </a:spcAft>
              <a:buSzPct val="100000"/>
              <a:buChar char="•"/>
            </a:pPr>
            <a:r>
              <a:rPr lang="en-US" sz="900" dirty="0">
                <a:solidFill>
                  <a:srgbClr val="14213D"/>
                </a:solidFill>
                <a:latin typeface="Cambria" pitchFamily="34" charset="0"/>
                <a:ea typeface="Cambria" pitchFamily="34" charset="-122"/>
                <a:cs typeface="Cambria" pitchFamily="34" charset="-120"/>
              </a:rPr>
              <a:t>Two JESD204B lanes at 5 Gbit/s each, with 8b/10b overhead, carry it comfortably</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0B1F3A"/>
        </a:solidFill>
      </p:bgPr>
    </p:bg>
    <p:spTree>
      <p:nvGrpSpPr>
        <p:cNvPr id="1" name=""/>
        <p:cNvGrpSpPr/>
        <p:nvPr/>
      </p:nvGrpSpPr>
      <p:grpSpPr>
        <a:xfrm>
          <a:off x="0" y="0"/>
          <a:ext cx="0" cy="0"/>
          <a:chOff x="0" y="0"/>
          <a:chExt cx="0" cy="0"/>
        </a:xfrm>
      </p:grpSpPr>
      <p:sp>
        <p:nvSpPr>
          <p:cNvPr id="2" name="Text 0"/>
          <p:cNvSpPr txBox="1"/>
          <p:nvPr/>
        </p:nvSpPr>
        <p:spPr>
          <a:xfrm>
            <a:off x="457200" y="1234440"/>
            <a:ext cx="5486400" cy="365760"/>
          </a:xfrm>
          <a:prstGeom prst="rect">
            <a:avLst/>
          </a:prstGeom>
          <a:noFill/>
          <a:ln/>
        </p:spPr>
        <p:txBody>
          <a:bodyPr wrap="square" lIns="0" tIns="0" rIns="0" bIns="0" rtlCol="0" anchor="ctr"/>
          <a:lstStyle/>
          <a:p>
            <a:pPr indent="0" marL="0">
              <a:buNone/>
            </a:pPr>
            <a:r>
              <a:rPr lang="en-US" sz="1400" b="1" dirty="0">
                <a:solidFill>
                  <a:srgbClr val="2EC4B6"/>
                </a:solidFill>
                <a:latin typeface="Calibri" pitchFamily="34" charset="0"/>
                <a:ea typeface="Calibri" pitchFamily="34" charset="-122"/>
                <a:cs typeface="Calibri" pitchFamily="34" charset="-120"/>
              </a:rPr>
              <a:t>Part 7</a:t>
            </a:r>
            <a:endParaRPr lang="en-US" sz="1400" dirty="0"/>
          </a:p>
        </p:txBody>
      </p:sp>
      <p:sp>
        <p:nvSpPr>
          <p:cNvPr id="3" name="Text 1"/>
          <p:cNvSpPr txBox="1"/>
          <p:nvPr/>
        </p:nvSpPr>
        <p:spPr>
          <a:xfrm>
            <a:off x="457200" y="1600200"/>
            <a:ext cx="8229600" cy="9144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Architectures and the datasheet</a:t>
            </a:r>
            <a:endParaRPr lang="en-US" sz="3800" dirty="0"/>
          </a:p>
        </p:txBody>
      </p:sp>
      <p:sp>
        <p:nvSpPr>
          <p:cNvPr id="4" name="Text 2"/>
          <p:cNvSpPr txBox="1"/>
          <p:nvPr/>
        </p:nvSpPr>
        <p:spPr>
          <a:xfrm>
            <a:off x="457200" y="2560320"/>
            <a:ext cx="8229600" cy="457200"/>
          </a:xfrm>
          <a:prstGeom prst="rect">
            <a:avLst/>
          </a:prstGeom>
          <a:noFill/>
          <a:ln/>
        </p:spPr>
        <p:txBody>
          <a:bodyPr wrap="square" lIns="0" tIns="0" rIns="0" bIns="0" rtlCol="0" anchor="ctr"/>
          <a:lstStyle/>
          <a:p>
            <a:pPr indent="0" marL="0">
              <a:buNone/>
            </a:pPr>
            <a:r>
              <a:rPr lang="en-US" sz="1600" dirty="0">
                <a:solidFill>
                  <a:srgbClr val="D7DEE8"/>
                </a:solidFill>
                <a:latin typeface="Calibri" pitchFamily="34" charset="0"/>
                <a:ea typeface="Calibri" pitchFamily="34" charset="-122"/>
                <a:cs typeface="Calibri" pitchFamily="34" charset="-120"/>
              </a:rPr>
              <a:t>Which converter, and how to read its datasheet in the right order</a:t>
            </a:r>
            <a:endParaRPr lang="en-US" sz="1600" dirty="0"/>
          </a:p>
        </p:txBody>
      </p:sp>
      <p:sp>
        <p:nvSpPr>
          <p:cNvPr id="5" name="Text 3"/>
          <p:cNvSpPr txBox="1"/>
          <p:nvPr/>
        </p:nvSpPr>
        <p:spPr>
          <a:xfrm>
            <a:off x="457200" y="3063240"/>
            <a:ext cx="3657600" cy="274320"/>
          </a:xfrm>
          <a:prstGeom prst="rect">
            <a:avLst/>
          </a:prstGeom>
          <a:noFill/>
          <a:ln/>
        </p:spPr>
        <p:txBody>
          <a:bodyPr wrap="square" lIns="0" tIns="0" rIns="0" bIns="0" rtlCol="0" anchor="ctr"/>
          <a:lstStyle/>
          <a:p>
            <a:pPr indent="0" marL="0">
              <a:buNone/>
            </a:pPr>
            <a:r>
              <a:rPr lang="en-US" sz="1100" dirty="0">
                <a:solidFill>
                  <a:srgbClr val="B8C4D6"/>
                </a:solidFill>
                <a:latin typeface="Calibri" pitchFamily="34" charset="0"/>
                <a:ea typeface="Calibri" pitchFamily="34" charset="-122"/>
                <a:cs typeface="Calibri" pitchFamily="34" charset="-120"/>
              </a:rPr>
              <a:t>12 minutes</a:t>
            </a:r>
            <a:endParaRPr lang="en-US" sz="1100" dirty="0"/>
          </a:p>
        </p:txBody>
      </p:sp>
      <p:sp>
        <p:nvSpPr>
          <p:cNvPr id="6" name="Text 4"/>
          <p:cNvSpPr txBox="1"/>
          <p:nvPr/>
        </p:nvSpPr>
        <p:spPr>
          <a:xfrm>
            <a:off x="7772400" y="4796028"/>
            <a:ext cx="914400" cy="228600"/>
          </a:xfrm>
          <a:prstGeom prst="rect">
            <a:avLst/>
          </a:prstGeom>
          <a:noFill/>
          <a:ln/>
        </p:spPr>
        <p:txBody>
          <a:bodyPr wrap="square" lIns="0" tIns="0" rIns="0" bIns="0" rtlCol="0" anchor="ctr"/>
          <a:lstStyle/>
          <a:p>
            <a:pPr algn="r" indent="0" marL="0">
              <a:buNone/>
            </a:pPr>
            <a:r>
              <a:rPr lang="en-US" sz="900" dirty="0">
                <a:solidFill>
                  <a:srgbClr val="8FA3BF"/>
                </a:solidFill>
                <a:latin typeface="Calibri" pitchFamily="34" charset="0"/>
                <a:ea typeface="Calibri" pitchFamily="34" charset="-122"/>
                <a:cs typeface="Calibri" pitchFamily="34" charset="-120"/>
              </a:rPr>
              <a:t>52</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640080"/>
          </a:xfrm>
          <a:prstGeom prst="rect">
            <a:avLst/>
          </a:prstGeom>
          <a:noFill/>
          <a:ln/>
        </p:spPr>
        <p:txBody>
          <a:bodyPr wrap="square" lIns="0" tIns="0" rIns="0" bIns="0" rtlCol="0" anchor="ctr"/>
          <a:lstStyle/>
          <a:p>
            <a:pPr indent="0" marL="0">
              <a:buNone/>
            </a:pPr>
            <a:r>
              <a:rPr lang="en-US" sz="2800" b="1" dirty="0">
                <a:solidFill>
                  <a:srgbClr val="0B1F3A"/>
                </a:solidFill>
                <a:latin typeface="Cambria" pitchFamily="34" charset="0"/>
                <a:ea typeface="Cambria" pitchFamily="34" charset="-122"/>
                <a:cs typeface="Cambria" pitchFamily="34" charset="-120"/>
              </a:rPr>
              <a:t>The five architectures compared</a:t>
            </a:r>
            <a:endParaRPr lang="en-US" sz="2800" dirty="0"/>
          </a:p>
        </p:txBody>
      </p:sp>
      <p:sp>
        <p:nvSpPr>
          <p:cNvPr id="3" name="Text 1"/>
          <p:cNvSpPr txBox="1"/>
          <p:nvPr/>
        </p:nvSpPr>
        <p:spPr>
          <a:xfrm>
            <a:off x="457200" y="4796028"/>
            <a:ext cx="4572000" cy="228600"/>
          </a:xfrm>
          <a:prstGeom prst="rect">
            <a:avLst/>
          </a:prstGeom>
          <a:noFill/>
          <a:ln/>
        </p:spPr>
        <p:txBody>
          <a:bodyPr wrap="square" lIns="0" tIns="0" rIns="0" bIns="0" rtlCol="0" anchor="ctr"/>
          <a:lstStyle/>
          <a:p>
            <a:pPr indent="0" marL="0">
              <a:buNone/>
            </a:pPr>
            <a:r>
              <a:rPr lang="en-US" sz="900" dirty="0">
                <a:solidFill>
                  <a:srgbClr val="5B6B7F"/>
                </a:solidFill>
                <a:latin typeface="Calibri" pitchFamily="34" charset="0"/>
                <a:ea typeface="Calibri" pitchFamily="34" charset="-122"/>
                <a:cs typeface="Calibri" pitchFamily="34" charset="-120"/>
              </a:rPr>
              <a:t>Part 7 · Architectures and the datasheet</a:t>
            </a:r>
            <a:endParaRPr lang="en-US" sz="900" dirty="0"/>
          </a:p>
        </p:txBody>
      </p:sp>
      <p:sp>
        <p:nvSpPr>
          <p:cNvPr id="4" name="Text 2"/>
          <p:cNvSpPr txBox="1"/>
          <p:nvPr/>
        </p:nvSpPr>
        <p:spPr>
          <a:xfrm>
            <a:off x="7772400" y="4796028"/>
            <a:ext cx="914400" cy="228600"/>
          </a:xfrm>
          <a:prstGeom prst="rect">
            <a:avLst/>
          </a:prstGeom>
          <a:noFill/>
          <a:ln/>
        </p:spPr>
        <p:txBody>
          <a:bodyPr wrap="square" lIns="0" tIns="0" rIns="0" bIns="0" rtlCol="0" anchor="ctr"/>
          <a:lstStyle/>
          <a:p>
            <a:pPr algn="r" indent="0" marL="0">
              <a:buNone/>
            </a:pPr>
            <a:r>
              <a:rPr lang="en-US" sz="900" dirty="0">
                <a:solidFill>
                  <a:srgbClr val="5B6B7F"/>
                </a:solidFill>
                <a:latin typeface="Calibri" pitchFamily="34" charset="0"/>
                <a:ea typeface="Calibri" pitchFamily="34" charset="-122"/>
                <a:cs typeface="Calibri" pitchFamily="34" charset="-120"/>
              </a:rPr>
              <a:t>53</a:t>
            </a:r>
            <a:endParaRPr lang="en-US" sz="900" dirty="0"/>
          </a:p>
        </p:txBody>
      </p:sp>
      <p:sp>
        <p:nvSpPr>
          <p:cNvPr id="5" name="Text 3"/>
          <p:cNvSpPr txBox="1"/>
          <p:nvPr/>
        </p:nvSpPr>
        <p:spPr>
          <a:xfrm>
            <a:off x="457200" y="1042416"/>
            <a:ext cx="8229600" cy="411480"/>
          </a:xfrm>
          <a:prstGeom prst="rect">
            <a:avLst/>
          </a:prstGeom>
          <a:noFill/>
          <a:ln/>
        </p:spPr>
        <p:txBody>
          <a:bodyPr wrap="square" lIns="0" tIns="0" rIns="0" bIns="0" rtlCol="0" anchor="ctr"/>
          <a:lstStyle/>
          <a:p>
            <a:pPr indent="0" marL="0">
              <a:buNone/>
            </a:pPr>
            <a:r>
              <a:rPr lang="en-US" sz="1200" dirty="0">
                <a:solidFill>
                  <a:srgbClr val="14213D"/>
                </a:solidFill>
                <a:latin typeface="Calibri" pitchFamily="34" charset="0"/>
                <a:ea typeface="Calibri" pitchFamily="34" charset="-122"/>
                <a:cs typeface="Calibri" pitchFamily="34" charset="-120"/>
              </a:rPr>
              <a:t>Every architecture is a different way of doing the quantise step, and each one trades the parameters in this talk against each other differently.</a:t>
            </a:r>
            <a:endParaRPr lang="en-US" sz="12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457200" y="1545336"/>
          <a:ext cx="8229600" cy="914400"/>
        </p:xfrm>
        <a:graphic>
          <a:graphicData uri="http://schemas.openxmlformats.org/drawingml/2006/table">
            <a:tbl>
              <a:tblPr/>
              <a:tblGrid>
                <a:gridCol w="1143000"/>
                <a:gridCol w="1371600"/>
                <a:gridCol w="1051560"/>
                <a:gridCol w="1143000"/>
                <a:gridCol w="2103120"/>
                <a:gridCol w="1417320"/>
              </a:tblGrid>
              <a:tr h="402336">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Architecture</a:t>
                      </a:r>
                      <a:endParaRPr lang="en-US" sz="100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0B1F3A"/>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Speed</a:t>
                      </a:r>
                      <a:endParaRPr lang="en-US" sz="100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0B1F3A"/>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Resolution</a:t>
                      </a:r>
                      <a:endParaRPr lang="en-US" sz="100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0B1F3A"/>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Latency</a:t>
                      </a:r>
                      <a:endParaRPr lang="en-US" sz="100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0B1F3A"/>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Strength</a:t>
                      </a:r>
                      <a:endParaRPr lang="en-US" sz="100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0B1F3A"/>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Weakness</a:t>
                      </a:r>
                      <a:endParaRPr lang="en-US" sz="100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0B1F3A"/>
                    </a:solidFill>
                  </a:tcPr>
                </a:tc>
              </a:tr>
              <a:tr h="402336">
                <a:tc>
                  <a:txBody>
                    <a:bodyPr/>
                    <a:lstStyle/>
                    <a:p>
                      <a:pPr indent="0" marL="0">
                        <a:buNone/>
                      </a:pPr>
                      <a:r>
                        <a:rPr lang="en-US" sz="1000" dirty="0">
                          <a:solidFill>
                            <a:srgbClr val="14213D"/>
                          </a:solidFill>
                          <a:latin typeface="Calibri" pitchFamily="34" charset="0"/>
                          <a:ea typeface="Calibri" pitchFamily="34" charset="-122"/>
                          <a:cs typeface="Calibri" pitchFamily="34" charset="-120"/>
                        </a:rPr>
                        <a:t>Flash</a:t>
                      </a:r>
                      <a:endParaRPr lang="en-US" sz="100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EEF3F8"/>
                    </a:solidFill>
                  </a:tcPr>
                </a:tc>
                <a:tc>
                  <a:txBody>
                    <a:bodyPr/>
                    <a:lstStyle/>
                    <a:p>
                      <a:pPr indent="0" marL="0">
                        <a:buNone/>
                      </a:pPr>
                      <a:r>
                        <a:rPr lang="en-US" sz="1000" dirty="0">
                          <a:solidFill>
                            <a:srgbClr val="14213D"/>
                          </a:solidFill>
                          <a:latin typeface="Calibri" pitchFamily="34" charset="0"/>
                          <a:ea typeface="Calibri" pitchFamily="34" charset="-122"/>
                          <a:cs typeface="Calibri" pitchFamily="34" charset="-120"/>
                        </a:rPr>
                        <a:t>GSPS</a:t>
                      </a:r>
                      <a:endParaRPr lang="en-US" sz="100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EEF3F8"/>
                    </a:solidFill>
                  </a:tcPr>
                </a:tc>
                <a:tc>
                  <a:txBody>
                    <a:bodyPr/>
                    <a:lstStyle/>
                    <a:p>
                      <a:pPr indent="0" marL="0">
                        <a:buNone/>
                      </a:pPr>
                      <a:r>
                        <a:rPr lang="en-US" sz="1000" dirty="0">
                          <a:solidFill>
                            <a:srgbClr val="14213D"/>
                          </a:solidFill>
                          <a:latin typeface="Calibri" pitchFamily="34" charset="0"/>
                          <a:ea typeface="Calibri" pitchFamily="34" charset="-122"/>
                          <a:cs typeface="Calibri" pitchFamily="34" charset="-120"/>
                        </a:rPr>
                        <a:t>4 – 8 bit</a:t>
                      </a:r>
                      <a:endParaRPr lang="en-US" sz="100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EEF3F8"/>
                    </a:solidFill>
                  </a:tcPr>
                </a:tc>
                <a:tc>
                  <a:txBody>
                    <a:bodyPr/>
                    <a:lstStyle/>
                    <a:p>
                      <a:pPr indent="0" marL="0">
                        <a:buNone/>
                      </a:pPr>
                      <a:r>
                        <a:rPr lang="en-US" sz="1000" dirty="0">
                          <a:solidFill>
                            <a:srgbClr val="14213D"/>
                          </a:solidFill>
                          <a:latin typeface="Calibri" pitchFamily="34" charset="0"/>
                          <a:ea typeface="Calibri" pitchFamily="34" charset="-122"/>
                          <a:cs typeface="Calibri" pitchFamily="34" charset="-120"/>
                        </a:rPr>
                        <a:t>1 cycle</a:t>
                      </a:r>
                      <a:endParaRPr lang="en-US" sz="100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EEF3F8"/>
                    </a:solidFill>
                  </a:tcPr>
                </a:tc>
                <a:tc>
                  <a:txBody>
                    <a:bodyPr/>
                    <a:lstStyle/>
                    <a:p>
                      <a:pPr indent="0" marL="0">
                        <a:buNone/>
                      </a:pPr>
                      <a:r>
                        <a:rPr lang="en-US" sz="1000" dirty="0">
                          <a:solidFill>
                            <a:srgbClr val="14213D"/>
                          </a:solidFill>
                          <a:latin typeface="Calibri" pitchFamily="34" charset="0"/>
                          <a:ea typeface="Calibri" pitchFamily="34" charset="-122"/>
                          <a:cs typeface="Calibri" pitchFamily="34" charset="-120"/>
                        </a:rPr>
                        <a:t>Fastest possible; one clock per result</a:t>
                      </a:r>
                      <a:endParaRPr lang="en-US" sz="100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EEF3F8"/>
                    </a:solidFill>
                  </a:tcPr>
                </a:tc>
                <a:tc>
                  <a:txBody>
                    <a:bodyPr/>
                    <a:lstStyle/>
                    <a:p>
                      <a:pPr indent="0" marL="0">
                        <a:buNone/>
                      </a:pPr>
                      <a:r>
                        <a:rPr lang="en-US" sz="1000" dirty="0">
                          <a:solidFill>
                            <a:srgbClr val="14213D"/>
                          </a:solidFill>
                          <a:latin typeface="Calibri" pitchFamily="34" charset="0"/>
                          <a:ea typeface="Calibri" pitchFamily="34" charset="-122"/>
                          <a:cs typeface="Calibri" pitchFamily="34" charset="-120"/>
                        </a:rPr>
                        <a:t>2ᴺ−1 comparators: power and area explode</a:t>
                      </a:r>
                      <a:endParaRPr lang="en-US" sz="100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EEF3F8"/>
                    </a:solidFill>
                  </a:tcPr>
                </a:tc>
              </a:tr>
              <a:tr h="402336">
                <a:tc>
                  <a:txBody>
                    <a:bodyPr/>
                    <a:lstStyle/>
                    <a:p>
                      <a:pPr indent="0" marL="0">
                        <a:buNone/>
                      </a:pPr>
                      <a:r>
                        <a:rPr lang="en-US" sz="1000" dirty="0">
                          <a:solidFill>
                            <a:srgbClr val="14213D"/>
                          </a:solidFill>
                          <a:latin typeface="Calibri" pitchFamily="34" charset="0"/>
                          <a:ea typeface="Calibri" pitchFamily="34" charset="-122"/>
                          <a:cs typeface="Calibri" pitchFamily="34" charset="-120"/>
                        </a:rPr>
                        <a:t>SAR</a:t>
                      </a:r>
                      <a:endParaRPr lang="en-US" sz="100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FFFFF"/>
                    </a:solidFill>
                  </a:tcPr>
                </a:tc>
                <a:tc>
                  <a:txBody>
                    <a:bodyPr/>
                    <a:lstStyle/>
                    <a:p>
                      <a:pPr indent="0" marL="0">
                        <a:buNone/>
                      </a:pPr>
                      <a:r>
                        <a:rPr lang="en-US" sz="1000" dirty="0">
                          <a:solidFill>
                            <a:srgbClr val="14213D"/>
                          </a:solidFill>
                          <a:latin typeface="Calibri" pitchFamily="34" charset="0"/>
                          <a:ea typeface="Calibri" pitchFamily="34" charset="-122"/>
                          <a:cs typeface="Calibri" pitchFamily="34" charset="-120"/>
                        </a:rPr>
                        <a:t>kSPS – 100s MSPS</a:t>
                      </a:r>
                      <a:endParaRPr lang="en-US" sz="100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FFFFF"/>
                    </a:solidFill>
                  </a:tcPr>
                </a:tc>
                <a:tc>
                  <a:txBody>
                    <a:bodyPr/>
                    <a:lstStyle/>
                    <a:p>
                      <a:pPr indent="0" marL="0">
                        <a:buNone/>
                      </a:pPr>
                      <a:r>
                        <a:rPr lang="en-US" sz="1000" dirty="0">
                          <a:solidFill>
                            <a:srgbClr val="14213D"/>
                          </a:solidFill>
                          <a:latin typeface="Calibri" pitchFamily="34" charset="0"/>
                          <a:ea typeface="Calibri" pitchFamily="34" charset="-122"/>
                          <a:cs typeface="Calibri" pitchFamily="34" charset="-120"/>
                        </a:rPr>
                        <a:t>8 – 18 bit</a:t>
                      </a:r>
                      <a:endParaRPr lang="en-US" sz="100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FFFFF"/>
                    </a:solidFill>
                  </a:tcPr>
                </a:tc>
                <a:tc>
                  <a:txBody>
                    <a:bodyPr/>
                    <a:lstStyle/>
                    <a:p>
                      <a:pPr indent="0" marL="0">
                        <a:buNone/>
                      </a:pPr>
                      <a:r>
                        <a:rPr lang="en-US" sz="1000" dirty="0">
                          <a:solidFill>
                            <a:srgbClr val="14213D"/>
                          </a:solidFill>
                          <a:latin typeface="Calibri" pitchFamily="34" charset="0"/>
                          <a:ea typeface="Calibri" pitchFamily="34" charset="-122"/>
                          <a:cs typeface="Calibri" pitchFamily="34" charset="-120"/>
                        </a:rPr>
                        <a:t>N cycles, no pipeline</a:t>
                      </a:r>
                      <a:endParaRPr lang="en-US" sz="100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FFFFF"/>
                    </a:solidFill>
                  </a:tcPr>
                </a:tc>
                <a:tc>
                  <a:txBody>
                    <a:bodyPr/>
                    <a:lstStyle/>
                    <a:p>
                      <a:pPr indent="0" marL="0">
                        <a:buNone/>
                      </a:pPr>
                      <a:r>
                        <a:rPr lang="en-US" sz="1000" dirty="0">
                          <a:solidFill>
                            <a:srgbClr val="14213D"/>
                          </a:solidFill>
                          <a:latin typeface="Calibri" pitchFamily="34" charset="0"/>
                          <a:ea typeface="Calibri" pitchFamily="34" charset="-122"/>
                          <a:cs typeface="Calibri" pitchFamily="34" charset="-120"/>
                        </a:rPr>
                        <a:t>Excellent power efficiency; zero latency</a:t>
                      </a:r>
                      <a:endParaRPr lang="en-US" sz="100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FFFFF"/>
                    </a:solidFill>
                  </a:tcPr>
                </a:tc>
                <a:tc>
                  <a:txBody>
                    <a:bodyPr/>
                    <a:lstStyle/>
                    <a:p>
                      <a:pPr indent="0" marL="0">
                        <a:buNone/>
                      </a:pPr>
                      <a:r>
                        <a:rPr lang="en-US" sz="1000" dirty="0">
                          <a:solidFill>
                            <a:srgbClr val="14213D"/>
                          </a:solidFill>
                          <a:latin typeface="Calibri" pitchFamily="34" charset="0"/>
                          <a:ea typeface="Calibri" pitchFamily="34" charset="-122"/>
                          <a:cs typeface="Calibri" pitchFamily="34" charset="-120"/>
                        </a:rPr>
                        <a:t>One result per N clocks</a:t>
                      </a:r>
                      <a:endParaRPr lang="en-US" sz="100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FFFFF"/>
                    </a:solidFill>
                  </a:tcPr>
                </a:tc>
              </a:tr>
              <a:tr h="402336">
                <a:tc>
                  <a:txBody>
                    <a:bodyPr/>
                    <a:lstStyle/>
                    <a:p>
                      <a:pPr indent="0" marL="0">
                        <a:buNone/>
                      </a:pPr>
                      <a:r>
                        <a:rPr lang="en-US" sz="1000" dirty="0">
                          <a:solidFill>
                            <a:srgbClr val="14213D"/>
                          </a:solidFill>
                          <a:latin typeface="Calibri" pitchFamily="34" charset="0"/>
                          <a:ea typeface="Calibri" pitchFamily="34" charset="-122"/>
                          <a:cs typeface="Calibri" pitchFamily="34" charset="-120"/>
                        </a:rPr>
                        <a:t>Pipeline</a:t>
                      </a:r>
                      <a:endParaRPr lang="en-US" sz="100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EEF3F8"/>
                    </a:solidFill>
                  </a:tcPr>
                </a:tc>
                <a:tc>
                  <a:txBody>
                    <a:bodyPr/>
                    <a:lstStyle/>
                    <a:p>
                      <a:pPr indent="0" marL="0">
                        <a:buNone/>
                      </a:pPr>
                      <a:r>
                        <a:rPr lang="en-US" sz="1000" dirty="0">
                          <a:solidFill>
                            <a:srgbClr val="14213D"/>
                          </a:solidFill>
                          <a:latin typeface="Calibri" pitchFamily="34" charset="0"/>
                          <a:ea typeface="Calibri" pitchFamily="34" charset="-122"/>
                          <a:cs typeface="Calibri" pitchFamily="34" charset="-120"/>
                        </a:rPr>
                        <a:t>10s MSPS – GSPS</a:t>
                      </a:r>
                      <a:endParaRPr lang="en-US" sz="100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EEF3F8"/>
                    </a:solidFill>
                  </a:tcPr>
                </a:tc>
                <a:tc>
                  <a:txBody>
                    <a:bodyPr/>
                    <a:lstStyle/>
                    <a:p>
                      <a:pPr indent="0" marL="0">
                        <a:buNone/>
                      </a:pPr>
                      <a:r>
                        <a:rPr lang="en-US" sz="1000" dirty="0">
                          <a:solidFill>
                            <a:srgbClr val="14213D"/>
                          </a:solidFill>
                          <a:latin typeface="Calibri" pitchFamily="34" charset="0"/>
                          <a:ea typeface="Calibri" pitchFamily="34" charset="-122"/>
                          <a:cs typeface="Calibri" pitchFamily="34" charset="-120"/>
                        </a:rPr>
                        <a:t>10 – 16 bit</a:t>
                      </a:r>
                      <a:endParaRPr lang="en-US" sz="100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EEF3F8"/>
                    </a:solidFill>
                  </a:tcPr>
                </a:tc>
                <a:tc>
                  <a:txBody>
                    <a:bodyPr/>
                    <a:lstStyle/>
                    <a:p>
                      <a:pPr indent="0" marL="0">
                        <a:buNone/>
                      </a:pPr>
                      <a:r>
                        <a:rPr lang="en-US" sz="1000" dirty="0">
                          <a:solidFill>
                            <a:srgbClr val="14213D"/>
                          </a:solidFill>
                          <a:latin typeface="Calibri" pitchFamily="34" charset="0"/>
                          <a:ea typeface="Calibri" pitchFamily="34" charset="-122"/>
                          <a:cs typeface="Calibri" pitchFamily="34" charset="-120"/>
                        </a:rPr>
                        <a:t>8 – 16 cycles</a:t>
                      </a:r>
                      <a:endParaRPr lang="en-US" sz="100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EEF3F8"/>
                    </a:solidFill>
                  </a:tcPr>
                </a:tc>
                <a:tc>
                  <a:txBody>
                    <a:bodyPr/>
                    <a:lstStyle/>
                    <a:p>
                      <a:pPr indent="0" marL="0">
                        <a:buNone/>
                      </a:pPr>
                      <a:r>
                        <a:rPr lang="en-US" sz="1000" dirty="0">
                          <a:solidFill>
                            <a:srgbClr val="14213D"/>
                          </a:solidFill>
                          <a:latin typeface="Calibri" pitchFamily="34" charset="0"/>
                          <a:ea typeface="Calibri" pitchFamily="34" charset="-122"/>
                          <a:cs typeface="Calibri" pitchFamily="34" charset="-120"/>
                        </a:rPr>
                        <a:t>Best speed-resolution product</a:t>
                      </a:r>
                      <a:endParaRPr lang="en-US" sz="100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EEF3F8"/>
                    </a:solidFill>
                  </a:tcPr>
                </a:tc>
                <a:tc>
                  <a:txBody>
                    <a:bodyPr/>
                    <a:lstStyle/>
                    <a:p>
                      <a:pPr indent="0" marL="0">
                        <a:buNone/>
                      </a:pPr>
                      <a:r>
                        <a:rPr lang="en-US" sz="1000" dirty="0">
                          <a:solidFill>
                            <a:srgbClr val="14213D"/>
                          </a:solidFill>
                          <a:latin typeface="Calibri" pitchFamily="34" charset="0"/>
                          <a:ea typeface="Calibri" pitchFamily="34" charset="-122"/>
                          <a:cs typeface="Calibri" pitchFamily="34" charset="-120"/>
                        </a:rPr>
                        <a:t>Latency; needs calibration</a:t>
                      </a:r>
                      <a:endParaRPr lang="en-US" sz="100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EEF3F8"/>
                    </a:solidFill>
                  </a:tcPr>
                </a:tc>
              </a:tr>
              <a:tr h="402336">
                <a:tc>
                  <a:txBody>
                    <a:bodyPr/>
                    <a:lstStyle/>
                    <a:p>
                      <a:pPr indent="0" marL="0">
                        <a:buNone/>
                      </a:pPr>
                      <a:r>
                        <a:rPr lang="en-US" sz="1000" dirty="0">
                          <a:solidFill>
                            <a:srgbClr val="14213D"/>
                          </a:solidFill>
                          <a:latin typeface="Calibri" pitchFamily="34" charset="0"/>
                          <a:ea typeface="Calibri" pitchFamily="34" charset="-122"/>
                          <a:cs typeface="Calibri" pitchFamily="34" charset="-120"/>
                        </a:rPr>
                        <a:t>Delta-sigma</a:t>
                      </a:r>
                      <a:endParaRPr lang="en-US" sz="100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FFFFF"/>
                    </a:solidFill>
                  </a:tcPr>
                </a:tc>
                <a:tc>
                  <a:txBody>
                    <a:bodyPr/>
                    <a:lstStyle/>
                    <a:p>
                      <a:pPr indent="0" marL="0">
                        <a:buNone/>
                      </a:pPr>
                      <a:r>
                        <a:rPr lang="en-US" sz="1000" dirty="0">
                          <a:solidFill>
                            <a:srgbClr val="14213D"/>
                          </a:solidFill>
                          <a:latin typeface="Calibri" pitchFamily="34" charset="0"/>
                          <a:ea typeface="Calibri" pitchFamily="34" charset="-122"/>
                          <a:cs typeface="Calibri" pitchFamily="34" charset="-120"/>
                        </a:rPr>
                        <a:t>kSPS – 10s MSPS</a:t>
                      </a:r>
                      <a:endParaRPr lang="en-US" sz="100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FFFFF"/>
                    </a:solidFill>
                  </a:tcPr>
                </a:tc>
                <a:tc>
                  <a:txBody>
                    <a:bodyPr/>
                    <a:lstStyle/>
                    <a:p>
                      <a:pPr indent="0" marL="0">
                        <a:buNone/>
                      </a:pPr>
                      <a:r>
                        <a:rPr lang="en-US" sz="1000" dirty="0">
                          <a:solidFill>
                            <a:srgbClr val="14213D"/>
                          </a:solidFill>
                          <a:latin typeface="Calibri" pitchFamily="34" charset="0"/>
                          <a:ea typeface="Calibri" pitchFamily="34" charset="-122"/>
                          <a:cs typeface="Calibri" pitchFamily="34" charset="-120"/>
                        </a:rPr>
                        <a:t>16 – 24 bit</a:t>
                      </a:r>
                      <a:endParaRPr lang="en-US" sz="100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FFFFF"/>
                    </a:solidFill>
                  </a:tcPr>
                </a:tc>
                <a:tc>
                  <a:txBody>
                    <a:bodyPr/>
                    <a:lstStyle/>
                    <a:p>
                      <a:pPr indent="0" marL="0">
                        <a:buNone/>
                      </a:pPr>
                      <a:r>
                        <a:rPr lang="en-US" sz="1000" dirty="0">
                          <a:solidFill>
                            <a:srgbClr val="14213D"/>
                          </a:solidFill>
                          <a:latin typeface="Calibri" pitchFamily="34" charset="0"/>
                          <a:ea typeface="Calibri" pitchFamily="34" charset="-122"/>
                          <a:cs typeface="Calibri" pitchFamily="34" charset="-120"/>
                        </a:rPr>
                        <a:t>Long (filter)</a:t>
                      </a:r>
                      <a:endParaRPr lang="en-US" sz="100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FFFFF"/>
                    </a:solidFill>
                  </a:tcPr>
                </a:tc>
                <a:tc>
                  <a:txBody>
                    <a:bodyPr/>
                    <a:lstStyle/>
                    <a:p>
                      <a:pPr indent="0" marL="0">
                        <a:buNone/>
                      </a:pPr>
                      <a:r>
                        <a:rPr lang="en-US" sz="1000" dirty="0">
                          <a:solidFill>
                            <a:srgbClr val="14213D"/>
                          </a:solidFill>
                          <a:latin typeface="Calibri" pitchFamily="34" charset="0"/>
                          <a:ea typeface="Calibri" pitchFamily="34" charset="-122"/>
                          <a:cs typeface="Calibri" pitchFamily="34" charset="-120"/>
                        </a:rPr>
                        <a:t>Superb DNL and dynamic range</a:t>
                      </a:r>
                      <a:endParaRPr lang="en-US" sz="100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FFFFF"/>
                    </a:solidFill>
                  </a:tcPr>
                </a:tc>
                <a:tc>
                  <a:txBody>
                    <a:bodyPr/>
                    <a:lstStyle/>
                    <a:p>
                      <a:pPr indent="0" marL="0">
                        <a:buNone/>
                      </a:pPr>
                      <a:r>
                        <a:rPr lang="en-US" sz="1000" dirty="0">
                          <a:solidFill>
                            <a:srgbClr val="14213D"/>
                          </a:solidFill>
                          <a:latin typeface="Calibri" pitchFamily="34" charset="0"/>
                          <a:ea typeface="Calibri" pitchFamily="34" charset="-122"/>
                          <a:cs typeface="Calibri" pitchFamily="34" charset="-120"/>
                        </a:rPr>
                        <a:t>Slow; heavy digital filtering</a:t>
                      </a:r>
                      <a:endParaRPr lang="en-US" sz="100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FFFFF"/>
                    </a:solidFill>
                  </a:tcPr>
                </a:tc>
              </a:tr>
              <a:tr h="402336">
                <a:tc>
                  <a:txBody>
                    <a:bodyPr/>
                    <a:lstStyle/>
                    <a:p>
                      <a:pPr indent="0" marL="0">
                        <a:buNone/>
                      </a:pPr>
                      <a:r>
                        <a:rPr lang="en-US" sz="1000" dirty="0">
                          <a:solidFill>
                            <a:srgbClr val="14213D"/>
                          </a:solidFill>
                          <a:latin typeface="Calibri" pitchFamily="34" charset="0"/>
                          <a:ea typeface="Calibri" pitchFamily="34" charset="-122"/>
                          <a:cs typeface="Calibri" pitchFamily="34" charset="-120"/>
                        </a:rPr>
                        <a:t>Dual-slope</a:t>
                      </a:r>
                      <a:endParaRPr lang="en-US" sz="100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EEF3F8"/>
                    </a:solidFill>
                  </a:tcPr>
                </a:tc>
                <a:tc>
                  <a:txBody>
                    <a:bodyPr/>
                    <a:lstStyle/>
                    <a:p>
                      <a:pPr indent="0" marL="0">
                        <a:buNone/>
                      </a:pPr>
                      <a:r>
                        <a:rPr lang="en-US" sz="1000" dirty="0">
                          <a:solidFill>
                            <a:srgbClr val="14213D"/>
                          </a:solidFill>
                          <a:latin typeface="Calibri" pitchFamily="34" charset="0"/>
                          <a:ea typeface="Calibri" pitchFamily="34" charset="-122"/>
                          <a:cs typeface="Calibri" pitchFamily="34" charset="-120"/>
                        </a:rPr>
                        <a:t>Hz – kSPS</a:t>
                      </a:r>
                      <a:endParaRPr lang="en-US" sz="100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EEF3F8"/>
                    </a:solidFill>
                  </a:tcPr>
                </a:tc>
                <a:tc>
                  <a:txBody>
                    <a:bodyPr/>
                    <a:lstStyle/>
                    <a:p>
                      <a:pPr indent="0" marL="0">
                        <a:buNone/>
                      </a:pPr>
                      <a:r>
                        <a:rPr lang="en-US" sz="1000" dirty="0">
                          <a:solidFill>
                            <a:srgbClr val="14213D"/>
                          </a:solidFill>
                          <a:latin typeface="Calibri" pitchFamily="34" charset="0"/>
                          <a:ea typeface="Calibri" pitchFamily="34" charset="-122"/>
                          <a:cs typeface="Calibri" pitchFamily="34" charset="-120"/>
                        </a:rPr>
                        <a:t>12 – 22 bit</a:t>
                      </a:r>
                      <a:endParaRPr lang="en-US" sz="100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EEF3F8"/>
                    </a:solidFill>
                  </a:tcPr>
                </a:tc>
                <a:tc>
                  <a:txBody>
                    <a:bodyPr/>
                    <a:lstStyle/>
                    <a:p>
                      <a:pPr indent="0" marL="0">
                        <a:buNone/>
                      </a:pPr>
                      <a:r>
                        <a:rPr lang="en-US" sz="1000" dirty="0">
                          <a:solidFill>
                            <a:srgbClr val="14213D"/>
                          </a:solidFill>
                          <a:latin typeface="Calibri" pitchFamily="34" charset="0"/>
                          <a:ea typeface="Calibri" pitchFamily="34" charset="-122"/>
                          <a:cs typeface="Calibri" pitchFamily="34" charset="-120"/>
                        </a:rPr>
                        <a:t>Very long</a:t>
                      </a:r>
                      <a:endParaRPr lang="en-US" sz="100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EEF3F8"/>
                    </a:solidFill>
                  </a:tcPr>
                </a:tc>
                <a:tc>
                  <a:txBody>
                    <a:bodyPr/>
                    <a:lstStyle/>
                    <a:p>
                      <a:pPr indent="0" marL="0">
                        <a:buNone/>
                      </a:pPr>
                      <a:r>
                        <a:rPr lang="en-US" sz="1000" dirty="0">
                          <a:solidFill>
                            <a:srgbClr val="14213D"/>
                          </a:solidFill>
                          <a:latin typeface="Calibri" pitchFamily="34" charset="0"/>
                          <a:ea typeface="Calibri" pitchFamily="34" charset="-122"/>
                          <a:cs typeface="Calibri" pitchFamily="34" charset="-120"/>
                        </a:rPr>
                        <a:t>Rejects mains hum inherently; very linear</a:t>
                      </a:r>
                      <a:endParaRPr lang="en-US" sz="100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EEF3F8"/>
                    </a:solidFill>
                  </a:tcPr>
                </a:tc>
                <a:tc>
                  <a:txBody>
                    <a:bodyPr/>
                    <a:lstStyle/>
                    <a:p>
                      <a:pPr indent="0" marL="0">
                        <a:buNone/>
                      </a:pPr>
                      <a:r>
                        <a:rPr lang="en-US" sz="1000" dirty="0">
                          <a:solidFill>
                            <a:srgbClr val="14213D"/>
                          </a:solidFill>
                          <a:latin typeface="Calibri" pitchFamily="34" charset="0"/>
                          <a:ea typeface="Calibri" pitchFamily="34" charset="-122"/>
                          <a:cs typeface="Calibri" pitchFamily="34" charset="-120"/>
                        </a:rPr>
                        <a:t>Far too slow for signals</a:t>
                      </a:r>
                      <a:endParaRPr lang="en-US" sz="100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EEF3F8"/>
                    </a:solidFill>
                  </a:tcPr>
                </a:tc>
              </a:tr>
            </a:tbl>
          </a:graphicData>
        </a:graphic>
      </p:graphicFrame>
      <p:sp>
        <p:nvSpPr>
          <p:cNvPr id="7" name="Text 4"/>
          <p:cNvSpPr txBox="1"/>
          <p:nvPr/>
        </p:nvSpPr>
        <p:spPr>
          <a:xfrm>
            <a:off x="457200" y="4160520"/>
            <a:ext cx="8229600" cy="320040"/>
          </a:xfrm>
          <a:prstGeom prst="rect">
            <a:avLst/>
          </a:prstGeom>
          <a:noFill/>
          <a:ln/>
        </p:spPr>
        <p:txBody>
          <a:bodyPr wrap="square" lIns="0" tIns="0" rIns="0" bIns="0" rtlCol="0" anchor="ctr"/>
          <a:lstStyle/>
          <a:p>
            <a:pPr algn="ctr" indent="0" marL="0">
              <a:buNone/>
            </a:pPr>
            <a:r>
              <a:rPr lang="en-US" sz="1000" i="1" dirty="0">
                <a:solidFill>
                  <a:srgbClr val="5B6B7F"/>
                </a:solidFill>
                <a:latin typeface="Calibri" pitchFamily="34" charset="0"/>
                <a:ea typeface="Calibri" pitchFamily="34" charset="-122"/>
                <a:cs typeface="Calibri" pitchFamily="34" charset="-120"/>
              </a:rPr>
              <a:t>No architecture wins everywhere. Choosing one is choosing which parameter you are willing to give up.</a:t>
            </a:r>
            <a:endParaRPr lang="en-US" sz="10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64008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Reading a datasheet in the right order</a:t>
            </a:r>
            <a:endParaRPr lang="en-US" sz="2400" dirty="0"/>
          </a:p>
        </p:txBody>
      </p:sp>
      <p:sp>
        <p:nvSpPr>
          <p:cNvPr id="3" name="Text 1"/>
          <p:cNvSpPr txBox="1"/>
          <p:nvPr/>
        </p:nvSpPr>
        <p:spPr>
          <a:xfrm>
            <a:off x="457200" y="4796028"/>
            <a:ext cx="4572000" cy="228600"/>
          </a:xfrm>
          <a:prstGeom prst="rect">
            <a:avLst/>
          </a:prstGeom>
          <a:noFill/>
          <a:ln/>
        </p:spPr>
        <p:txBody>
          <a:bodyPr wrap="square" lIns="0" tIns="0" rIns="0" bIns="0" rtlCol="0" anchor="ctr"/>
          <a:lstStyle/>
          <a:p>
            <a:pPr indent="0" marL="0">
              <a:buNone/>
            </a:pPr>
            <a:r>
              <a:rPr lang="en-US" sz="900" dirty="0">
                <a:solidFill>
                  <a:srgbClr val="5B6B7F"/>
                </a:solidFill>
                <a:latin typeface="Calibri" pitchFamily="34" charset="0"/>
                <a:ea typeface="Calibri" pitchFamily="34" charset="-122"/>
                <a:cs typeface="Calibri" pitchFamily="34" charset="-120"/>
              </a:rPr>
              <a:t>Part 7 · Architectures and the datasheet</a:t>
            </a:r>
            <a:endParaRPr lang="en-US" sz="900" dirty="0"/>
          </a:p>
        </p:txBody>
      </p:sp>
      <p:sp>
        <p:nvSpPr>
          <p:cNvPr id="4" name="Text 2"/>
          <p:cNvSpPr txBox="1"/>
          <p:nvPr/>
        </p:nvSpPr>
        <p:spPr>
          <a:xfrm>
            <a:off x="7772400" y="4796028"/>
            <a:ext cx="914400" cy="228600"/>
          </a:xfrm>
          <a:prstGeom prst="rect">
            <a:avLst/>
          </a:prstGeom>
          <a:noFill/>
          <a:ln/>
        </p:spPr>
        <p:txBody>
          <a:bodyPr wrap="square" lIns="0" tIns="0" rIns="0" bIns="0" rtlCol="0" anchor="ctr"/>
          <a:lstStyle/>
          <a:p>
            <a:pPr algn="r" indent="0" marL="0">
              <a:buNone/>
            </a:pPr>
            <a:r>
              <a:rPr lang="en-US" sz="900" dirty="0">
                <a:solidFill>
                  <a:srgbClr val="5B6B7F"/>
                </a:solidFill>
                <a:latin typeface="Calibri" pitchFamily="34" charset="0"/>
                <a:ea typeface="Calibri" pitchFamily="34" charset="-122"/>
                <a:cs typeface="Calibri" pitchFamily="34" charset="-120"/>
              </a:rPr>
              <a:t>54</a:t>
            </a:r>
            <a:endParaRPr lang="en-US" sz="900" dirty="0"/>
          </a:p>
        </p:txBody>
      </p:sp>
      <p:sp>
        <p:nvSpPr>
          <p:cNvPr id="5" name="Text 3"/>
          <p:cNvSpPr txBox="1"/>
          <p:nvPr/>
        </p:nvSpPr>
        <p:spPr>
          <a:xfrm>
            <a:off x="457200" y="1042416"/>
            <a:ext cx="8229600" cy="365760"/>
          </a:xfrm>
          <a:prstGeom prst="rect">
            <a:avLst/>
          </a:prstGeom>
          <a:noFill/>
          <a:ln/>
        </p:spPr>
        <p:txBody>
          <a:bodyPr wrap="square" lIns="0" tIns="0" rIns="0" bIns="0" rtlCol="0" anchor="ctr"/>
          <a:lstStyle/>
          <a:p>
            <a:pPr indent="0" marL="0">
              <a:buNone/>
            </a:pPr>
            <a:r>
              <a:rPr lang="en-US" sz="1200" dirty="0">
                <a:solidFill>
                  <a:srgbClr val="14213D"/>
                </a:solidFill>
                <a:latin typeface="Calibri" pitchFamily="34" charset="0"/>
                <a:ea typeface="Calibri" pitchFamily="34" charset="-122"/>
                <a:cs typeface="Calibri" pitchFamily="34" charset="-120"/>
              </a:rPr>
              <a:t>Datasheets are written to flatter. Reading them in this order stops you being flattered.</a:t>
            </a:r>
            <a:endParaRPr lang="en-US" sz="1200" dirty="0"/>
          </a:p>
        </p:txBody>
      </p:sp>
      <p:sp>
        <p:nvSpPr>
          <p:cNvPr id="6" name="Shape 4"/>
          <p:cNvSpPr/>
          <p:nvPr/>
        </p:nvSpPr>
        <p:spPr>
          <a:xfrm>
            <a:off x="457200" y="1554480"/>
            <a:ext cx="292608" cy="292608"/>
          </a:xfrm>
          <a:prstGeom prst="ellipse">
            <a:avLst/>
          </a:prstGeom>
          <a:solidFill>
            <a:srgbClr val="2EC4B6"/>
          </a:solidFill>
          <a:ln w="12700">
            <a:solidFill>
              <a:srgbClr val="2EC4B6"/>
            </a:solidFill>
            <a:prstDash val="solid"/>
          </a:ln>
        </p:spPr>
      </p:sp>
      <p:sp>
        <p:nvSpPr>
          <p:cNvPr id="7" name="Text 5"/>
          <p:cNvSpPr txBox="1"/>
          <p:nvPr/>
        </p:nvSpPr>
        <p:spPr>
          <a:xfrm>
            <a:off x="457200" y="1554480"/>
            <a:ext cx="292608" cy="292608"/>
          </a:xfrm>
          <a:prstGeom prst="rect">
            <a:avLst/>
          </a:prstGeom>
          <a:noFill/>
          <a:ln/>
        </p:spPr>
        <p:txBody>
          <a:bodyPr wrap="square" lIns="0" tIns="0" rIns="0" bIns="0" rtlCol="0" anchor="ctr"/>
          <a:lstStyle/>
          <a:p>
            <a:pPr algn="ctr" indent="0" marL="0">
              <a:buNone/>
            </a:pPr>
            <a:r>
              <a:rPr lang="en-US" sz="1100" b="1" dirty="0">
                <a:solidFill>
                  <a:srgbClr val="0B1F3A"/>
                </a:solidFill>
                <a:latin typeface="Calibri" pitchFamily="34" charset="0"/>
                <a:ea typeface="Calibri" pitchFamily="34" charset="-122"/>
                <a:cs typeface="Calibri" pitchFamily="34" charset="-120"/>
              </a:rPr>
              <a:t>1</a:t>
            </a:r>
            <a:endParaRPr lang="en-US" sz="1100" dirty="0"/>
          </a:p>
        </p:txBody>
      </p:sp>
      <p:sp>
        <p:nvSpPr>
          <p:cNvPr id="8" name="Text 6"/>
          <p:cNvSpPr txBox="1"/>
          <p:nvPr/>
        </p:nvSpPr>
        <p:spPr>
          <a:xfrm>
            <a:off x="868680" y="1499616"/>
            <a:ext cx="7818120" cy="429768"/>
          </a:xfrm>
          <a:prstGeom prst="rect">
            <a:avLst/>
          </a:prstGeom>
          <a:noFill/>
          <a:ln/>
        </p:spPr>
        <p:txBody>
          <a:bodyPr wrap="square" lIns="0" tIns="0" rIns="0" bIns="0" rtlCol="0" anchor="ctr"/>
          <a:lstStyle/>
          <a:p>
            <a:pPr indent="0" marL="0">
              <a:buNone/>
            </a:pPr>
            <a:r>
              <a:rPr lang="en-US" sz="1150" b="1" dirty="0">
                <a:solidFill>
                  <a:srgbClr val="0B1F3A"/>
                </a:solidFill>
                <a:latin typeface="Calibri" pitchFamily="34" charset="0"/>
                <a:ea typeface="Calibri" pitchFamily="34" charset="-122"/>
                <a:cs typeface="Calibri" pitchFamily="34" charset="-120"/>
              </a:rPr>
              <a:t>Sample rate and analog bandwidth  </a:t>
            </a:r>
            <a:pPr indent="0" marL="0">
              <a:buNone/>
            </a:pPr>
            <a:r>
              <a:rPr lang="en-US" sz="1000" dirty="0">
                <a:solidFill>
                  <a:srgbClr val="14213D"/>
                </a:solidFill>
                <a:latin typeface="Calibri" pitchFamily="34" charset="0"/>
                <a:ea typeface="Calibri" pitchFamily="34" charset="-122"/>
                <a:cs typeface="Calibri" pitchFamily="34" charset="-120"/>
              </a:rPr>
              <a:t>Can it reach your input frequency at all? Bandwidth must exceed the real input frequency, not just Nyquist.</a:t>
            </a:r>
            <a:endParaRPr lang="en-US" sz="1150" dirty="0"/>
          </a:p>
        </p:txBody>
      </p:sp>
      <p:sp>
        <p:nvSpPr>
          <p:cNvPr id="9" name="Shape 7"/>
          <p:cNvSpPr/>
          <p:nvPr/>
        </p:nvSpPr>
        <p:spPr>
          <a:xfrm>
            <a:off x="457200" y="1984248"/>
            <a:ext cx="292608" cy="292608"/>
          </a:xfrm>
          <a:prstGeom prst="ellipse">
            <a:avLst/>
          </a:prstGeom>
          <a:solidFill>
            <a:srgbClr val="2EC4B6"/>
          </a:solidFill>
          <a:ln w="12700">
            <a:solidFill>
              <a:srgbClr val="2EC4B6"/>
            </a:solidFill>
            <a:prstDash val="solid"/>
          </a:ln>
        </p:spPr>
      </p:sp>
      <p:sp>
        <p:nvSpPr>
          <p:cNvPr id="10" name="Text 8"/>
          <p:cNvSpPr txBox="1"/>
          <p:nvPr/>
        </p:nvSpPr>
        <p:spPr>
          <a:xfrm>
            <a:off x="457200" y="1984248"/>
            <a:ext cx="292608" cy="292608"/>
          </a:xfrm>
          <a:prstGeom prst="rect">
            <a:avLst/>
          </a:prstGeom>
          <a:noFill/>
          <a:ln/>
        </p:spPr>
        <p:txBody>
          <a:bodyPr wrap="square" lIns="0" tIns="0" rIns="0" bIns="0" rtlCol="0" anchor="ctr"/>
          <a:lstStyle/>
          <a:p>
            <a:pPr algn="ctr" indent="0" marL="0">
              <a:buNone/>
            </a:pPr>
            <a:r>
              <a:rPr lang="en-US" sz="1100" b="1" dirty="0">
                <a:solidFill>
                  <a:srgbClr val="0B1F3A"/>
                </a:solidFill>
                <a:latin typeface="Calibri" pitchFamily="34" charset="0"/>
                <a:ea typeface="Calibri" pitchFamily="34" charset="-122"/>
                <a:cs typeface="Calibri" pitchFamily="34" charset="-120"/>
              </a:rPr>
              <a:t>2</a:t>
            </a:r>
            <a:endParaRPr lang="en-US" sz="1100" dirty="0"/>
          </a:p>
        </p:txBody>
      </p:sp>
      <p:sp>
        <p:nvSpPr>
          <p:cNvPr id="11" name="Text 9"/>
          <p:cNvSpPr txBox="1"/>
          <p:nvPr/>
        </p:nvSpPr>
        <p:spPr>
          <a:xfrm>
            <a:off x="868680" y="1929384"/>
            <a:ext cx="7818120" cy="429768"/>
          </a:xfrm>
          <a:prstGeom prst="rect">
            <a:avLst/>
          </a:prstGeom>
          <a:noFill/>
          <a:ln/>
        </p:spPr>
        <p:txBody>
          <a:bodyPr wrap="square" lIns="0" tIns="0" rIns="0" bIns="0" rtlCol="0" anchor="ctr"/>
          <a:lstStyle/>
          <a:p>
            <a:pPr indent="0" marL="0">
              <a:buNone/>
            </a:pPr>
            <a:r>
              <a:rPr lang="en-US" sz="1150" b="1" dirty="0">
                <a:solidFill>
                  <a:srgbClr val="0B1F3A"/>
                </a:solidFill>
                <a:latin typeface="Calibri" pitchFamily="34" charset="0"/>
                <a:ea typeface="Calibri" pitchFamily="34" charset="-122"/>
                <a:cs typeface="Calibri" pitchFamily="34" charset="-120"/>
              </a:rPr>
              <a:t>ENOB at your input frequency  </a:t>
            </a:r>
            <a:pPr indent="0" marL="0">
              <a:buNone/>
            </a:pPr>
            <a:r>
              <a:rPr lang="en-US" sz="1000" dirty="0">
                <a:solidFill>
                  <a:srgbClr val="14213D"/>
                </a:solidFill>
                <a:latin typeface="Calibri" pitchFamily="34" charset="0"/>
                <a:ea typeface="Calibri" pitchFamily="34" charset="-122"/>
                <a:cs typeface="Calibri" pitchFamily="34" charset="-120"/>
              </a:rPr>
              <a:t>Find the ENOB-versus-frequency curve. The headline resolution is the marketing number; this is the engineering one.</a:t>
            </a:r>
            <a:endParaRPr lang="en-US" sz="1150" dirty="0"/>
          </a:p>
        </p:txBody>
      </p:sp>
      <p:sp>
        <p:nvSpPr>
          <p:cNvPr id="12" name="Shape 10"/>
          <p:cNvSpPr/>
          <p:nvPr/>
        </p:nvSpPr>
        <p:spPr>
          <a:xfrm>
            <a:off x="457200" y="2414016"/>
            <a:ext cx="292608" cy="292608"/>
          </a:xfrm>
          <a:prstGeom prst="ellipse">
            <a:avLst/>
          </a:prstGeom>
          <a:solidFill>
            <a:srgbClr val="2EC4B6"/>
          </a:solidFill>
          <a:ln w="12700">
            <a:solidFill>
              <a:srgbClr val="2EC4B6"/>
            </a:solidFill>
            <a:prstDash val="solid"/>
          </a:ln>
        </p:spPr>
      </p:sp>
      <p:sp>
        <p:nvSpPr>
          <p:cNvPr id="13" name="Text 11"/>
          <p:cNvSpPr txBox="1"/>
          <p:nvPr/>
        </p:nvSpPr>
        <p:spPr>
          <a:xfrm>
            <a:off x="457200" y="2414016"/>
            <a:ext cx="292608" cy="292608"/>
          </a:xfrm>
          <a:prstGeom prst="rect">
            <a:avLst/>
          </a:prstGeom>
          <a:noFill/>
          <a:ln/>
        </p:spPr>
        <p:txBody>
          <a:bodyPr wrap="square" lIns="0" tIns="0" rIns="0" bIns="0" rtlCol="0" anchor="ctr"/>
          <a:lstStyle/>
          <a:p>
            <a:pPr algn="ctr" indent="0" marL="0">
              <a:buNone/>
            </a:pPr>
            <a:r>
              <a:rPr lang="en-US" sz="1100" b="1" dirty="0">
                <a:solidFill>
                  <a:srgbClr val="0B1F3A"/>
                </a:solidFill>
                <a:latin typeface="Calibri" pitchFamily="34" charset="0"/>
                <a:ea typeface="Calibri" pitchFamily="34" charset="-122"/>
                <a:cs typeface="Calibri" pitchFamily="34" charset="-120"/>
              </a:rPr>
              <a:t>3</a:t>
            </a:r>
            <a:endParaRPr lang="en-US" sz="1100" dirty="0"/>
          </a:p>
        </p:txBody>
      </p:sp>
      <p:sp>
        <p:nvSpPr>
          <p:cNvPr id="14" name="Text 12"/>
          <p:cNvSpPr txBox="1"/>
          <p:nvPr/>
        </p:nvSpPr>
        <p:spPr>
          <a:xfrm>
            <a:off x="868680" y="2359152"/>
            <a:ext cx="7818120" cy="429768"/>
          </a:xfrm>
          <a:prstGeom prst="rect">
            <a:avLst/>
          </a:prstGeom>
          <a:noFill/>
          <a:ln/>
        </p:spPr>
        <p:txBody>
          <a:bodyPr wrap="square" lIns="0" tIns="0" rIns="0" bIns="0" rtlCol="0" anchor="ctr"/>
          <a:lstStyle/>
          <a:p>
            <a:pPr indent="0" marL="0">
              <a:buNone/>
            </a:pPr>
            <a:r>
              <a:rPr lang="en-US" sz="1150" b="1" dirty="0">
                <a:solidFill>
                  <a:srgbClr val="0B1F3A"/>
                </a:solidFill>
                <a:latin typeface="Calibri" pitchFamily="34" charset="0"/>
                <a:ea typeface="Calibri" pitchFamily="34" charset="-122"/>
                <a:cs typeface="Calibri" pitchFamily="34" charset="-120"/>
              </a:rPr>
              <a:t>SFDR at your input frequency  </a:t>
            </a:r>
            <a:pPr indent="0" marL="0">
              <a:buNone/>
            </a:pPr>
            <a:r>
              <a:rPr lang="en-US" sz="1000" dirty="0">
                <a:solidFill>
                  <a:srgbClr val="14213D"/>
                </a:solidFill>
                <a:latin typeface="Calibri" pitchFamily="34" charset="0"/>
                <a:ea typeface="Calibri" pitchFamily="34" charset="-122"/>
                <a:cs typeface="Calibri" pitchFamily="34" charset="-120"/>
              </a:rPr>
              <a:t>If a strong signal will sit near a weak one, this decides whether you can see the weak one.</a:t>
            </a:r>
            <a:endParaRPr lang="en-US" sz="1150" dirty="0"/>
          </a:p>
        </p:txBody>
      </p:sp>
      <p:sp>
        <p:nvSpPr>
          <p:cNvPr id="15" name="Shape 13"/>
          <p:cNvSpPr/>
          <p:nvPr/>
        </p:nvSpPr>
        <p:spPr>
          <a:xfrm>
            <a:off x="457200" y="2843784"/>
            <a:ext cx="292608" cy="292608"/>
          </a:xfrm>
          <a:prstGeom prst="ellipse">
            <a:avLst/>
          </a:prstGeom>
          <a:solidFill>
            <a:srgbClr val="2EC4B6"/>
          </a:solidFill>
          <a:ln w="12700">
            <a:solidFill>
              <a:srgbClr val="2EC4B6"/>
            </a:solidFill>
            <a:prstDash val="solid"/>
          </a:ln>
        </p:spPr>
      </p:sp>
      <p:sp>
        <p:nvSpPr>
          <p:cNvPr id="16" name="Text 14"/>
          <p:cNvSpPr txBox="1"/>
          <p:nvPr/>
        </p:nvSpPr>
        <p:spPr>
          <a:xfrm>
            <a:off x="457200" y="2843784"/>
            <a:ext cx="292608" cy="292608"/>
          </a:xfrm>
          <a:prstGeom prst="rect">
            <a:avLst/>
          </a:prstGeom>
          <a:noFill/>
          <a:ln/>
        </p:spPr>
        <p:txBody>
          <a:bodyPr wrap="square" lIns="0" tIns="0" rIns="0" bIns="0" rtlCol="0" anchor="ctr"/>
          <a:lstStyle/>
          <a:p>
            <a:pPr algn="ctr" indent="0" marL="0">
              <a:buNone/>
            </a:pPr>
            <a:r>
              <a:rPr lang="en-US" sz="1100" b="1" dirty="0">
                <a:solidFill>
                  <a:srgbClr val="0B1F3A"/>
                </a:solidFill>
                <a:latin typeface="Calibri" pitchFamily="34" charset="0"/>
                <a:ea typeface="Calibri" pitchFamily="34" charset="-122"/>
                <a:cs typeface="Calibri" pitchFamily="34" charset="-120"/>
              </a:rPr>
              <a:t>4</a:t>
            </a:r>
            <a:endParaRPr lang="en-US" sz="1100" dirty="0"/>
          </a:p>
        </p:txBody>
      </p:sp>
      <p:sp>
        <p:nvSpPr>
          <p:cNvPr id="17" name="Text 15"/>
          <p:cNvSpPr txBox="1"/>
          <p:nvPr/>
        </p:nvSpPr>
        <p:spPr>
          <a:xfrm>
            <a:off x="868680" y="2788920"/>
            <a:ext cx="7818120" cy="429768"/>
          </a:xfrm>
          <a:prstGeom prst="rect">
            <a:avLst/>
          </a:prstGeom>
          <a:noFill/>
          <a:ln/>
        </p:spPr>
        <p:txBody>
          <a:bodyPr wrap="square" lIns="0" tIns="0" rIns="0" bIns="0" rtlCol="0" anchor="ctr"/>
          <a:lstStyle/>
          <a:p>
            <a:pPr indent="0" marL="0">
              <a:buNone/>
            </a:pPr>
            <a:r>
              <a:rPr lang="en-US" sz="1150" b="1" dirty="0">
                <a:solidFill>
                  <a:srgbClr val="0B1F3A"/>
                </a:solidFill>
                <a:latin typeface="Calibri" pitchFamily="34" charset="0"/>
                <a:ea typeface="Calibri" pitchFamily="34" charset="-122"/>
                <a:cs typeface="Calibri" pitchFamily="34" charset="-120"/>
              </a:rPr>
              <a:t>The jitter budget  </a:t>
            </a:r>
            <a:pPr indent="0" marL="0">
              <a:buNone/>
            </a:pPr>
            <a:r>
              <a:rPr lang="en-US" sz="1000" dirty="0">
                <a:solidFill>
                  <a:srgbClr val="14213D"/>
                </a:solidFill>
                <a:latin typeface="Calibri" pitchFamily="34" charset="0"/>
                <a:ea typeface="Calibri" pitchFamily="34" charset="-122"/>
                <a:cs typeface="Calibri" pitchFamily="34" charset="-120"/>
              </a:rPr>
              <a:t>Compute 1/(2π f_in × 10^(SNR/20)). If it is under a picosecond, your clock is now a major design problem.</a:t>
            </a:r>
            <a:endParaRPr lang="en-US" sz="1150" dirty="0"/>
          </a:p>
        </p:txBody>
      </p:sp>
      <p:sp>
        <p:nvSpPr>
          <p:cNvPr id="18" name="Shape 16"/>
          <p:cNvSpPr/>
          <p:nvPr/>
        </p:nvSpPr>
        <p:spPr>
          <a:xfrm>
            <a:off x="457200" y="3273552"/>
            <a:ext cx="292608" cy="292608"/>
          </a:xfrm>
          <a:prstGeom prst="ellipse">
            <a:avLst/>
          </a:prstGeom>
          <a:solidFill>
            <a:srgbClr val="2EC4B6"/>
          </a:solidFill>
          <a:ln w="12700">
            <a:solidFill>
              <a:srgbClr val="2EC4B6"/>
            </a:solidFill>
            <a:prstDash val="solid"/>
          </a:ln>
        </p:spPr>
      </p:sp>
      <p:sp>
        <p:nvSpPr>
          <p:cNvPr id="19" name="Text 17"/>
          <p:cNvSpPr txBox="1"/>
          <p:nvPr/>
        </p:nvSpPr>
        <p:spPr>
          <a:xfrm>
            <a:off x="457200" y="3273552"/>
            <a:ext cx="292608" cy="292608"/>
          </a:xfrm>
          <a:prstGeom prst="rect">
            <a:avLst/>
          </a:prstGeom>
          <a:noFill/>
          <a:ln/>
        </p:spPr>
        <p:txBody>
          <a:bodyPr wrap="square" lIns="0" tIns="0" rIns="0" bIns="0" rtlCol="0" anchor="ctr"/>
          <a:lstStyle/>
          <a:p>
            <a:pPr algn="ctr" indent="0" marL="0">
              <a:buNone/>
            </a:pPr>
            <a:r>
              <a:rPr lang="en-US" sz="1100" b="1" dirty="0">
                <a:solidFill>
                  <a:srgbClr val="0B1F3A"/>
                </a:solidFill>
                <a:latin typeface="Calibri" pitchFamily="34" charset="0"/>
                <a:ea typeface="Calibri" pitchFamily="34" charset="-122"/>
                <a:cs typeface="Calibri" pitchFamily="34" charset="-120"/>
              </a:rPr>
              <a:t>5</a:t>
            </a:r>
            <a:endParaRPr lang="en-US" sz="1100" dirty="0"/>
          </a:p>
        </p:txBody>
      </p:sp>
      <p:sp>
        <p:nvSpPr>
          <p:cNvPr id="20" name="Text 18"/>
          <p:cNvSpPr txBox="1"/>
          <p:nvPr/>
        </p:nvSpPr>
        <p:spPr>
          <a:xfrm>
            <a:off x="868680" y="3218688"/>
            <a:ext cx="7818120" cy="429768"/>
          </a:xfrm>
          <a:prstGeom prst="rect">
            <a:avLst/>
          </a:prstGeom>
          <a:noFill/>
          <a:ln/>
        </p:spPr>
        <p:txBody>
          <a:bodyPr wrap="square" lIns="0" tIns="0" rIns="0" bIns="0" rtlCol="0" anchor="ctr"/>
          <a:lstStyle/>
          <a:p>
            <a:pPr indent="0" marL="0">
              <a:buNone/>
            </a:pPr>
            <a:r>
              <a:rPr lang="en-US" sz="1150" b="1" dirty="0">
                <a:solidFill>
                  <a:srgbClr val="0B1F3A"/>
                </a:solidFill>
                <a:latin typeface="Calibri" pitchFamily="34" charset="0"/>
                <a:ea typeface="Calibri" pitchFamily="34" charset="-122"/>
                <a:cs typeface="Calibri" pitchFamily="34" charset="-120"/>
              </a:rPr>
              <a:t>Driver and settling requirements  </a:t>
            </a:r>
            <a:pPr indent="0" marL="0">
              <a:buNone/>
            </a:pPr>
            <a:r>
              <a:rPr lang="en-US" sz="1000" dirty="0">
                <a:solidFill>
                  <a:srgbClr val="14213D"/>
                </a:solidFill>
                <a:latin typeface="Calibri" pitchFamily="34" charset="0"/>
                <a:ea typeface="Calibri" pitchFamily="34" charset="-122"/>
                <a:cs typeface="Calibri" pitchFamily="34" charset="-120"/>
              </a:rPr>
              <a:t>Track time divided by ln(2^(N+1)) gives the time constant your amplifier must achieve.</a:t>
            </a:r>
            <a:endParaRPr lang="en-US" sz="1150" dirty="0"/>
          </a:p>
        </p:txBody>
      </p:sp>
      <p:sp>
        <p:nvSpPr>
          <p:cNvPr id="21" name="Shape 19"/>
          <p:cNvSpPr/>
          <p:nvPr/>
        </p:nvSpPr>
        <p:spPr>
          <a:xfrm>
            <a:off x="457200" y="3703320"/>
            <a:ext cx="292608" cy="292608"/>
          </a:xfrm>
          <a:prstGeom prst="ellipse">
            <a:avLst/>
          </a:prstGeom>
          <a:solidFill>
            <a:srgbClr val="2EC4B6"/>
          </a:solidFill>
          <a:ln w="12700">
            <a:solidFill>
              <a:srgbClr val="2EC4B6"/>
            </a:solidFill>
            <a:prstDash val="solid"/>
          </a:ln>
        </p:spPr>
      </p:sp>
      <p:sp>
        <p:nvSpPr>
          <p:cNvPr id="22" name="Text 20"/>
          <p:cNvSpPr txBox="1"/>
          <p:nvPr/>
        </p:nvSpPr>
        <p:spPr>
          <a:xfrm>
            <a:off x="457200" y="3703320"/>
            <a:ext cx="292608" cy="292608"/>
          </a:xfrm>
          <a:prstGeom prst="rect">
            <a:avLst/>
          </a:prstGeom>
          <a:noFill/>
          <a:ln/>
        </p:spPr>
        <p:txBody>
          <a:bodyPr wrap="square" lIns="0" tIns="0" rIns="0" bIns="0" rtlCol="0" anchor="ctr"/>
          <a:lstStyle/>
          <a:p>
            <a:pPr algn="ctr" indent="0" marL="0">
              <a:buNone/>
            </a:pPr>
            <a:r>
              <a:rPr lang="en-US" sz="1100" b="1" dirty="0">
                <a:solidFill>
                  <a:srgbClr val="0B1F3A"/>
                </a:solidFill>
                <a:latin typeface="Calibri" pitchFamily="34" charset="0"/>
                <a:ea typeface="Calibri" pitchFamily="34" charset="-122"/>
                <a:cs typeface="Calibri" pitchFamily="34" charset="-120"/>
              </a:rPr>
              <a:t>6</a:t>
            </a:r>
            <a:endParaRPr lang="en-US" sz="1100" dirty="0"/>
          </a:p>
        </p:txBody>
      </p:sp>
      <p:sp>
        <p:nvSpPr>
          <p:cNvPr id="23" name="Text 21"/>
          <p:cNvSpPr txBox="1"/>
          <p:nvPr/>
        </p:nvSpPr>
        <p:spPr>
          <a:xfrm>
            <a:off x="868680" y="3648456"/>
            <a:ext cx="7818120" cy="429768"/>
          </a:xfrm>
          <a:prstGeom prst="rect">
            <a:avLst/>
          </a:prstGeom>
          <a:noFill/>
          <a:ln/>
        </p:spPr>
        <p:txBody>
          <a:bodyPr wrap="square" lIns="0" tIns="0" rIns="0" bIns="0" rtlCol="0" anchor="ctr"/>
          <a:lstStyle/>
          <a:p>
            <a:pPr indent="0" marL="0">
              <a:buNone/>
            </a:pPr>
            <a:r>
              <a:rPr lang="en-US" sz="1150" b="1" dirty="0">
                <a:solidFill>
                  <a:srgbClr val="0B1F3A"/>
                </a:solidFill>
                <a:latin typeface="Calibri" pitchFamily="34" charset="0"/>
                <a:ea typeface="Calibri" pitchFamily="34" charset="-122"/>
                <a:cs typeface="Calibri" pitchFamily="34" charset="-120"/>
              </a:rPr>
              <a:t>Static specs, only if you measure DC  </a:t>
            </a:r>
            <a:pPr indent="0" marL="0">
              <a:buNone/>
            </a:pPr>
            <a:r>
              <a:rPr lang="en-US" sz="1000" dirty="0">
                <a:solidFill>
                  <a:srgbClr val="14213D"/>
                </a:solidFill>
                <a:latin typeface="Calibri" pitchFamily="34" charset="0"/>
                <a:ea typeface="Calibri" pitchFamily="34" charset="-122"/>
                <a:cs typeface="Calibri" pitchFamily="34" charset="-120"/>
              </a:rPr>
              <a:t>For AC work, offset and gain are irrelevant; INL still matters because it sets distortion.</a:t>
            </a:r>
            <a:endParaRPr lang="en-US" sz="1150" dirty="0"/>
          </a:p>
        </p:txBody>
      </p:sp>
      <p:sp>
        <p:nvSpPr>
          <p:cNvPr id="24" name="Shape 22"/>
          <p:cNvSpPr/>
          <p:nvPr/>
        </p:nvSpPr>
        <p:spPr>
          <a:xfrm>
            <a:off x="457200" y="4133088"/>
            <a:ext cx="292608" cy="292608"/>
          </a:xfrm>
          <a:prstGeom prst="ellipse">
            <a:avLst/>
          </a:prstGeom>
          <a:solidFill>
            <a:srgbClr val="2EC4B6"/>
          </a:solidFill>
          <a:ln w="12700">
            <a:solidFill>
              <a:srgbClr val="2EC4B6"/>
            </a:solidFill>
            <a:prstDash val="solid"/>
          </a:ln>
        </p:spPr>
      </p:sp>
      <p:sp>
        <p:nvSpPr>
          <p:cNvPr id="25" name="Text 23"/>
          <p:cNvSpPr txBox="1"/>
          <p:nvPr/>
        </p:nvSpPr>
        <p:spPr>
          <a:xfrm>
            <a:off x="457200" y="4133088"/>
            <a:ext cx="292608" cy="292608"/>
          </a:xfrm>
          <a:prstGeom prst="rect">
            <a:avLst/>
          </a:prstGeom>
          <a:noFill/>
          <a:ln/>
        </p:spPr>
        <p:txBody>
          <a:bodyPr wrap="square" lIns="0" tIns="0" rIns="0" bIns="0" rtlCol="0" anchor="ctr"/>
          <a:lstStyle/>
          <a:p>
            <a:pPr algn="ctr" indent="0" marL="0">
              <a:buNone/>
            </a:pPr>
            <a:r>
              <a:rPr lang="en-US" sz="1100" b="1" dirty="0">
                <a:solidFill>
                  <a:srgbClr val="0B1F3A"/>
                </a:solidFill>
                <a:latin typeface="Calibri" pitchFamily="34" charset="0"/>
                <a:ea typeface="Calibri" pitchFamily="34" charset="-122"/>
                <a:cs typeface="Calibri" pitchFamily="34" charset="-120"/>
              </a:rPr>
              <a:t>7</a:t>
            </a:r>
            <a:endParaRPr lang="en-US" sz="1100" dirty="0"/>
          </a:p>
        </p:txBody>
      </p:sp>
      <p:sp>
        <p:nvSpPr>
          <p:cNvPr id="26" name="Text 24"/>
          <p:cNvSpPr txBox="1"/>
          <p:nvPr/>
        </p:nvSpPr>
        <p:spPr>
          <a:xfrm>
            <a:off x="868680" y="4078224"/>
            <a:ext cx="7818120" cy="429768"/>
          </a:xfrm>
          <a:prstGeom prst="rect">
            <a:avLst/>
          </a:prstGeom>
          <a:noFill/>
          <a:ln/>
        </p:spPr>
        <p:txBody>
          <a:bodyPr wrap="square" lIns="0" tIns="0" rIns="0" bIns="0" rtlCol="0" anchor="ctr"/>
          <a:lstStyle/>
          <a:p>
            <a:pPr indent="0" marL="0">
              <a:buNone/>
            </a:pPr>
            <a:r>
              <a:rPr lang="en-US" sz="1150" b="1" dirty="0">
                <a:solidFill>
                  <a:srgbClr val="0B1F3A"/>
                </a:solidFill>
                <a:latin typeface="Calibri" pitchFamily="34" charset="0"/>
                <a:ea typeface="Calibri" pitchFamily="34" charset="-122"/>
                <a:cs typeface="Calibri" pitchFamily="34" charset="-120"/>
              </a:rPr>
              <a:t>Power, latency and interface  </a:t>
            </a:r>
            <a:pPr indent="0" marL="0">
              <a:buNone/>
            </a:pPr>
            <a:r>
              <a:rPr lang="en-US" sz="1000" dirty="0">
                <a:solidFill>
                  <a:srgbClr val="14213D"/>
                </a:solidFill>
                <a:latin typeface="Calibri" pitchFamily="34" charset="0"/>
                <a:ea typeface="Calibri" pitchFamily="34" charset="-122"/>
                <a:cs typeface="Calibri" pitchFamily="34" charset="-120"/>
              </a:rPr>
              <a:t>The constraints that decide whether the part fits the product rather than the signal.</a:t>
            </a:r>
            <a:endParaRPr lang="en-US" sz="115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64008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Worked example: choosing a converter</a:t>
            </a:r>
            <a:endParaRPr lang="en-US" sz="2400" dirty="0"/>
          </a:p>
        </p:txBody>
      </p:sp>
      <p:sp>
        <p:nvSpPr>
          <p:cNvPr id="3" name="Text 1"/>
          <p:cNvSpPr txBox="1"/>
          <p:nvPr/>
        </p:nvSpPr>
        <p:spPr>
          <a:xfrm>
            <a:off x="457200" y="4796028"/>
            <a:ext cx="4572000" cy="228600"/>
          </a:xfrm>
          <a:prstGeom prst="rect">
            <a:avLst/>
          </a:prstGeom>
          <a:noFill/>
          <a:ln/>
        </p:spPr>
        <p:txBody>
          <a:bodyPr wrap="square" lIns="0" tIns="0" rIns="0" bIns="0" rtlCol="0" anchor="ctr"/>
          <a:lstStyle/>
          <a:p>
            <a:pPr indent="0" marL="0">
              <a:buNone/>
            </a:pPr>
            <a:r>
              <a:rPr lang="en-US" sz="900" dirty="0">
                <a:solidFill>
                  <a:srgbClr val="5B6B7F"/>
                </a:solidFill>
                <a:latin typeface="Calibri" pitchFamily="34" charset="0"/>
                <a:ea typeface="Calibri" pitchFamily="34" charset="-122"/>
                <a:cs typeface="Calibri" pitchFamily="34" charset="-120"/>
              </a:rPr>
              <a:t>Part 7 · Architectures and the datasheet</a:t>
            </a:r>
            <a:endParaRPr lang="en-US" sz="900" dirty="0"/>
          </a:p>
        </p:txBody>
      </p:sp>
      <p:sp>
        <p:nvSpPr>
          <p:cNvPr id="4" name="Text 2"/>
          <p:cNvSpPr txBox="1"/>
          <p:nvPr/>
        </p:nvSpPr>
        <p:spPr>
          <a:xfrm>
            <a:off x="7772400" y="4796028"/>
            <a:ext cx="914400" cy="228600"/>
          </a:xfrm>
          <a:prstGeom prst="rect">
            <a:avLst/>
          </a:prstGeom>
          <a:noFill/>
          <a:ln/>
        </p:spPr>
        <p:txBody>
          <a:bodyPr wrap="square" lIns="0" tIns="0" rIns="0" bIns="0" rtlCol="0" anchor="ctr"/>
          <a:lstStyle/>
          <a:p>
            <a:pPr algn="r" indent="0" marL="0">
              <a:buNone/>
            </a:pPr>
            <a:r>
              <a:rPr lang="en-US" sz="900" dirty="0">
                <a:solidFill>
                  <a:srgbClr val="5B6B7F"/>
                </a:solidFill>
                <a:latin typeface="Calibri" pitchFamily="34" charset="0"/>
                <a:ea typeface="Calibri" pitchFamily="34" charset="-122"/>
                <a:cs typeface="Calibri" pitchFamily="34" charset="-120"/>
              </a:rPr>
              <a:t>55</a:t>
            </a:r>
            <a:endParaRPr lang="en-US" sz="900" dirty="0"/>
          </a:p>
        </p:txBody>
      </p:sp>
      <p:sp>
        <p:nvSpPr>
          <p:cNvPr id="5" name="Text 3"/>
          <p:cNvSpPr txBox="1"/>
          <p:nvPr/>
        </p:nvSpPr>
        <p:spPr>
          <a:xfrm>
            <a:off x="457200" y="1042416"/>
            <a:ext cx="4023360" cy="804672"/>
          </a:xfrm>
          <a:prstGeom prst="rect">
            <a:avLst/>
          </a:prstGeom>
          <a:noFill/>
          <a:ln/>
        </p:spPr>
        <p:txBody>
          <a:bodyPr wrap="square" lIns="0" tIns="0" rIns="0" bIns="0" rtlCol="0" anchor="t"/>
          <a:lstStyle/>
          <a:p>
            <a:pPr indent="0" marL="0">
              <a:buNone/>
            </a:pPr>
            <a:r>
              <a:rPr lang="en-US" sz="1150" dirty="0">
                <a:solidFill>
                  <a:srgbClr val="14213D"/>
                </a:solidFill>
                <a:latin typeface="Calibri" pitchFamily="34" charset="0"/>
                <a:ea typeface="Calibri" pitchFamily="34" charset="-122"/>
                <a:cs typeface="Calibri" pitchFamily="34" charset="-120"/>
              </a:rPr>
              <a:t>A 20 MHz-wide radio channel at a 70 MHz intermediate frequency, needing 60 dB of usable dynamic range in a battery-powered product.</a:t>
            </a:r>
            <a:endParaRPr lang="en-US" sz="1150" dirty="0"/>
          </a:p>
        </p:txBody>
      </p:sp>
      <p:sp>
        <p:nvSpPr>
          <p:cNvPr id="6" name="Text 4"/>
          <p:cNvSpPr txBox="1"/>
          <p:nvPr/>
        </p:nvSpPr>
        <p:spPr>
          <a:xfrm>
            <a:off x="457200" y="1901952"/>
            <a:ext cx="4023360" cy="1645920"/>
          </a:xfrm>
          <a:prstGeom prst="rect">
            <a:avLst/>
          </a:prstGeom>
          <a:noFill/>
          <a:ln/>
        </p:spPr>
        <p:txBody>
          <a:bodyPr wrap="square" lIns="0" tIns="0" rIns="0" bIns="0" rtlCol="0" anchor="t"/>
          <a:lstStyle/>
          <a:p>
            <a:pPr marL="342900" indent="-342900">
              <a:spcAft>
                <a:spcPts val="100"/>
              </a:spcAft>
              <a:buSzPct val="100000"/>
              <a:buChar char="•"/>
            </a:pPr>
            <a:r>
              <a:rPr lang="en-US" sz="1000" dirty="0">
                <a:solidFill>
                  <a:srgbClr val="14213D"/>
                </a:solidFill>
                <a:latin typeface="Calibri" pitchFamily="34" charset="0"/>
                <a:ea typeface="Calibri" pitchFamily="34" charset="-122"/>
                <a:cs typeface="Calibri" pitchFamily="34" charset="-120"/>
              </a:rPr>
              <a:t>Sample rate: 20 MHz band → at least 44 MSPS; pick 61.44 MSPS and undersample the 70 MHz IF</a:t>
            </a:r>
            <a:endParaRPr lang="en-US" sz="1000" dirty="0"/>
          </a:p>
          <a:p>
            <a:pPr marL="342900" indent="-342900">
              <a:spcAft>
                <a:spcPts val="100"/>
              </a:spcAft>
              <a:buSzPct val="100000"/>
              <a:buChar char="•"/>
            </a:pPr>
            <a:r>
              <a:rPr lang="en-US" sz="1000" dirty="0">
                <a:solidFill>
                  <a:srgbClr val="14213D"/>
                </a:solidFill>
                <a:latin typeface="Calibri" pitchFamily="34" charset="0"/>
                <a:ea typeface="Calibri" pitchFamily="34" charset="-122"/>
                <a:cs typeface="Calibri" pitchFamily="34" charset="-120"/>
              </a:rPr>
              <a:t>Analog bandwidth: must exceed 70 MHz comfortably — look for 300 MHz or more</a:t>
            </a:r>
            <a:endParaRPr lang="en-US" sz="1000" dirty="0"/>
          </a:p>
          <a:p>
            <a:pPr marL="342900" indent="-342900">
              <a:spcAft>
                <a:spcPts val="100"/>
              </a:spcAft>
              <a:buSzPct val="100000"/>
              <a:buChar char="•"/>
            </a:pPr>
            <a:r>
              <a:rPr lang="en-US" sz="1000" dirty="0">
                <a:solidFill>
                  <a:srgbClr val="14213D"/>
                </a:solidFill>
                <a:latin typeface="Calibri" pitchFamily="34" charset="0"/>
                <a:ea typeface="Calibri" pitchFamily="34" charset="-122"/>
                <a:cs typeface="Calibri" pitchFamily="34" charset="-120"/>
              </a:rPr>
              <a:t>Resolution: 60 dB needed + 12 dB headroom + margin → 12 bits (74 dB ideal)</a:t>
            </a:r>
            <a:endParaRPr lang="en-US" sz="1000" dirty="0"/>
          </a:p>
          <a:p>
            <a:pPr marL="342900" indent="-342900">
              <a:spcAft>
                <a:spcPts val="100"/>
              </a:spcAft>
              <a:buSzPct val="100000"/>
              <a:buChar char="•"/>
            </a:pPr>
            <a:r>
              <a:rPr lang="en-US" sz="1000" dirty="0">
                <a:solidFill>
                  <a:srgbClr val="14213D"/>
                </a:solidFill>
                <a:latin typeface="Calibri" pitchFamily="34" charset="0"/>
                <a:ea typeface="Calibri" pitchFamily="34" charset="-122"/>
                <a:cs typeface="Calibri" pitchFamily="34" charset="-120"/>
              </a:rPr>
              <a:t>ENOB at 70 MHz: must still be above 10.5 — check the curve, not the headline</a:t>
            </a:r>
            <a:endParaRPr lang="en-US" sz="1000" dirty="0"/>
          </a:p>
          <a:p>
            <a:pPr marL="342900" indent="-342900">
              <a:spcAft>
                <a:spcPts val="100"/>
              </a:spcAft>
              <a:buSzPct val="100000"/>
              <a:buChar char="•"/>
            </a:pPr>
            <a:r>
              <a:rPr lang="en-US" sz="1000" dirty="0">
                <a:solidFill>
                  <a:srgbClr val="14213D"/>
                </a:solidFill>
                <a:latin typeface="Calibri" pitchFamily="34" charset="0"/>
                <a:ea typeface="Calibri" pitchFamily="34" charset="-122"/>
                <a:cs typeface="Calibri" pitchFamily="34" charset="-120"/>
              </a:rPr>
              <a:t>Jitter: 12 bits at 70 MHz needs about 450 fs total, clock included</a:t>
            </a:r>
            <a:endParaRPr lang="en-US" sz="1000" dirty="0"/>
          </a:p>
          <a:p>
            <a:pPr marL="342900" indent="-342900">
              <a:spcAft>
                <a:spcPts val="100"/>
              </a:spcAft>
              <a:buSzPct val="100000"/>
              <a:buChar char="•"/>
            </a:pPr>
            <a:r>
              <a:rPr lang="en-US" sz="1000" dirty="0">
                <a:solidFill>
                  <a:srgbClr val="14213D"/>
                </a:solidFill>
                <a:latin typeface="Calibri" pitchFamily="34" charset="0"/>
                <a:ea typeface="Calibri" pitchFamily="34" charset="-122"/>
                <a:cs typeface="Calibri" pitchFamily="34" charset="-120"/>
              </a:rPr>
              <a:t>SFDR: at least 75 dB, because a strong neighbouring channel is guaranteed</a:t>
            </a:r>
            <a:endParaRPr lang="en-US" sz="10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4663440" y="1042416"/>
          <a:ext cx="4023360" cy="914400"/>
        </p:xfrm>
        <a:graphic>
          <a:graphicData uri="http://schemas.openxmlformats.org/drawingml/2006/table">
            <a:tbl>
              <a:tblPr/>
              <a:tblGrid>
                <a:gridCol w="1920240"/>
                <a:gridCol w="2103120"/>
              </a:tblGrid>
              <a:tr h="27432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Requirement</a:t>
                      </a:r>
                      <a:endParaRPr lang="en-US" sz="100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0B1F3A"/>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Value</a:t>
                      </a:r>
                      <a:endParaRPr lang="en-US" sz="100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0B1F3A"/>
                    </a:solidFill>
                  </a:tcPr>
                </a:tc>
              </a:tr>
              <a:tr h="274320">
                <a:tc>
                  <a:txBody>
                    <a:bodyPr/>
                    <a:lstStyle/>
                    <a:p>
                      <a:pPr indent="0" marL="0">
                        <a:buNone/>
                      </a:pPr>
                      <a:r>
                        <a:rPr lang="en-US" sz="1000" dirty="0">
                          <a:solidFill>
                            <a:srgbClr val="14213D"/>
                          </a:solidFill>
                          <a:latin typeface="Calibri" pitchFamily="34" charset="0"/>
                          <a:ea typeface="Calibri" pitchFamily="34" charset="-122"/>
                          <a:cs typeface="Calibri" pitchFamily="34" charset="-120"/>
                        </a:rPr>
                        <a:t>Signal band</a:t>
                      </a:r>
                      <a:endParaRPr lang="en-US" sz="100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EEF3F8"/>
                    </a:solidFill>
                  </a:tcPr>
                </a:tc>
                <a:tc>
                  <a:txBody>
                    <a:bodyPr/>
                    <a:lstStyle/>
                    <a:p>
                      <a:pPr indent="0" marL="0">
                        <a:buNone/>
                      </a:pPr>
                      <a:r>
                        <a:rPr lang="en-US" sz="1000" dirty="0">
                          <a:solidFill>
                            <a:srgbClr val="14213D"/>
                          </a:solidFill>
                          <a:latin typeface="Calibri" pitchFamily="34" charset="0"/>
                          <a:ea typeface="Calibri" pitchFamily="34" charset="-122"/>
                          <a:cs typeface="Calibri" pitchFamily="34" charset="-120"/>
                        </a:rPr>
                        <a:t>20 MHz at a 70 MHz IF</a:t>
                      </a:r>
                      <a:endParaRPr lang="en-US" sz="100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EEF3F8"/>
                    </a:solidFill>
                  </a:tcPr>
                </a:tc>
              </a:tr>
              <a:tr h="274320">
                <a:tc>
                  <a:txBody>
                    <a:bodyPr/>
                    <a:lstStyle/>
                    <a:p>
                      <a:pPr indent="0" marL="0">
                        <a:buNone/>
                      </a:pPr>
                      <a:r>
                        <a:rPr lang="en-US" sz="1000" dirty="0">
                          <a:solidFill>
                            <a:srgbClr val="14213D"/>
                          </a:solidFill>
                          <a:latin typeface="Calibri" pitchFamily="34" charset="0"/>
                          <a:ea typeface="Calibri" pitchFamily="34" charset="-122"/>
                          <a:cs typeface="Calibri" pitchFamily="34" charset="-120"/>
                        </a:rPr>
                        <a:t>Sample rate</a:t>
                      </a:r>
                      <a:endParaRPr lang="en-US" sz="100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FFFFF"/>
                    </a:solidFill>
                  </a:tcPr>
                </a:tc>
                <a:tc>
                  <a:txBody>
                    <a:bodyPr/>
                    <a:lstStyle/>
                    <a:p>
                      <a:pPr indent="0" marL="0">
                        <a:buNone/>
                      </a:pPr>
                      <a:r>
                        <a:rPr lang="en-US" sz="1000" dirty="0">
                          <a:solidFill>
                            <a:srgbClr val="14213D"/>
                          </a:solidFill>
                          <a:latin typeface="Calibri" pitchFamily="34" charset="0"/>
                          <a:ea typeface="Calibri" pitchFamily="34" charset="-122"/>
                          <a:cs typeface="Calibri" pitchFamily="34" charset="-120"/>
                        </a:rPr>
                        <a:t>61.44 MSPS (undersampling zone 3)</a:t>
                      </a:r>
                      <a:endParaRPr lang="en-US" sz="100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FFFFF"/>
                    </a:solidFill>
                  </a:tcPr>
                </a:tc>
              </a:tr>
              <a:tr h="274320">
                <a:tc>
                  <a:txBody>
                    <a:bodyPr/>
                    <a:lstStyle/>
                    <a:p>
                      <a:pPr indent="0" marL="0">
                        <a:buNone/>
                      </a:pPr>
                      <a:r>
                        <a:rPr lang="en-US" sz="1000" dirty="0">
                          <a:solidFill>
                            <a:srgbClr val="14213D"/>
                          </a:solidFill>
                          <a:latin typeface="Calibri" pitchFamily="34" charset="0"/>
                          <a:ea typeface="Calibri" pitchFamily="34" charset="-122"/>
                          <a:cs typeface="Calibri" pitchFamily="34" charset="-120"/>
                        </a:rPr>
                        <a:t>Analog bandwidth</a:t>
                      </a:r>
                      <a:endParaRPr lang="en-US" sz="100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EEF3F8"/>
                    </a:solidFill>
                  </a:tcPr>
                </a:tc>
                <a:tc>
                  <a:txBody>
                    <a:bodyPr/>
                    <a:lstStyle/>
                    <a:p>
                      <a:pPr indent="0" marL="0">
                        <a:buNone/>
                      </a:pPr>
                      <a:r>
                        <a:rPr lang="en-US" sz="1000" dirty="0">
                          <a:solidFill>
                            <a:srgbClr val="14213D"/>
                          </a:solidFill>
                          <a:latin typeface="Calibri" pitchFamily="34" charset="0"/>
                          <a:ea typeface="Calibri" pitchFamily="34" charset="-122"/>
                          <a:cs typeface="Calibri" pitchFamily="34" charset="-120"/>
                        </a:rPr>
                        <a:t>&gt; 300 MHz</a:t>
                      </a:r>
                      <a:endParaRPr lang="en-US" sz="100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EEF3F8"/>
                    </a:solidFill>
                  </a:tcPr>
                </a:tc>
              </a:tr>
              <a:tr h="274320">
                <a:tc>
                  <a:txBody>
                    <a:bodyPr/>
                    <a:lstStyle/>
                    <a:p>
                      <a:pPr indent="0" marL="0">
                        <a:buNone/>
                      </a:pPr>
                      <a:r>
                        <a:rPr lang="en-US" sz="1000" dirty="0">
                          <a:solidFill>
                            <a:srgbClr val="14213D"/>
                          </a:solidFill>
                          <a:latin typeface="Calibri" pitchFamily="34" charset="0"/>
                          <a:ea typeface="Calibri" pitchFamily="34" charset="-122"/>
                          <a:cs typeface="Calibri" pitchFamily="34" charset="-120"/>
                        </a:rPr>
                        <a:t>Resolution</a:t>
                      </a:r>
                      <a:endParaRPr lang="en-US" sz="100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FFFFF"/>
                    </a:solidFill>
                  </a:tcPr>
                </a:tc>
                <a:tc>
                  <a:txBody>
                    <a:bodyPr/>
                    <a:lstStyle/>
                    <a:p>
                      <a:pPr indent="0" marL="0">
                        <a:buNone/>
                      </a:pPr>
                      <a:r>
                        <a:rPr lang="en-US" sz="1000" dirty="0">
                          <a:solidFill>
                            <a:srgbClr val="14213D"/>
                          </a:solidFill>
                          <a:latin typeface="Calibri" pitchFamily="34" charset="0"/>
                          <a:ea typeface="Calibri" pitchFamily="34" charset="-122"/>
                          <a:cs typeface="Calibri" pitchFamily="34" charset="-120"/>
                        </a:rPr>
                        <a:t>12 bit (74 dB ideal)</a:t>
                      </a:r>
                      <a:endParaRPr lang="en-US" sz="100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FFFFF"/>
                    </a:solidFill>
                  </a:tcPr>
                </a:tc>
              </a:tr>
              <a:tr h="274320">
                <a:tc>
                  <a:txBody>
                    <a:bodyPr/>
                    <a:lstStyle/>
                    <a:p>
                      <a:pPr indent="0" marL="0">
                        <a:buNone/>
                      </a:pPr>
                      <a:r>
                        <a:rPr lang="en-US" sz="1000" dirty="0">
                          <a:solidFill>
                            <a:srgbClr val="14213D"/>
                          </a:solidFill>
                          <a:latin typeface="Calibri" pitchFamily="34" charset="0"/>
                          <a:ea typeface="Calibri" pitchFamily="34" charset="-122"/>
                          <a:cs typeface="Calibri" pitchFamily="34" charset="-120"/>
                        </a:rPr>
                        <a:t>ENOB at 70 MHz</a:t>
                      </a:r>
                      <a:endParaRPr lang="en-US" sz="100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EEF3F8"/>
                    </a:solidFill>
                  </a:tcPr>
                </a:tc>
                <a:tc>
                  <a:txBody>
                    <a:bodyPr/>
                    <a:lstStyle/>
                    <a:p>
                      <a:pPr indent="0" marL="0">
                        <a:buNone/>
                      </a:pPr>
                      <a:r>
                        <a:rPr lang="en-US" sz="1000" dirty="0">
                          <a:solidFill>
                            <a:srgbClr val="14213D"/>
                          </a:solidFill>
                          <a:latin typeface="Calibri" pitchFamily="34" charset="0"/>
                          <a:ea typeface="Calibri" pitchFamily="34" charset="-122"/>
                          <a:cs typeface="Calibri" pitchFamily="34" charset="-120"/>
                        </a:rPr>
                        <a:t>&gt; 10.5 bits</a:t>
                      </a:r>
                      <a:endParaRPr lang="en-US" sz="100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EEF3F8"/>
                    </a:solidFill>
                  </a:tcPr>
                </a:tc>
              </a:tr>
              <a:tr h="274320">
                <a:tc>
                  <a:txBody>
                    <a:bodyPr/>
                    <a:lstStyle/>
                    <a:p>
                      <a:pPr indent="0" marL="0">
                        <a:buNone/>
                      </a:pPr>
                      <a:r>
                        <a:rPr lang="en-US" sz="1000" dirty="0">
                          <a:solidFill>
                            <a:srgbClr val="14213D"/>
                          </a:solidFill>
                          <a:latin typeface="Calibri" pitchFamily="34" charset="0"/>
                          <a:ea typeface="Calibri" pitchFamily="34" charset="-122"/>
                          <a:cs typeface="Calibri" pitchFamily="34" charset="-120"/>
                        </a:rPr>
                        <a:t>Jitter budget</a:t>
                      </a:r>
                      <a:endParaRPr lang="en-US" sz="100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FFFFF"/>
                    </a:solidFill>
                  </a:tcPr>
                </a:tc>
                <a:tc>
                  <a:txBody>
                    <a:bodyPr/>
                    <a:lstStyle/>
                    <a:p>
                      <a:pPr indent="0" marL="0">
                        <a:buNone/>
                      </a:pPr>
                      <a:r>
                        <a:rPr lang="en-US" sz="1000" dirty="0">
                          <a:solidFill>
                            <a:srgbClr val="14213D"/>
                          </a:solidFill>
                          <a:latin typeface="Calibri" pitchFamily="34" charset="0"/>
                          <a:ea typeface="Calibri" pitchFamily="34" charset="-122"/>
                          <a:cs typeface="Calibri" pitchFamily="34" charset="-120"/>
                        </a:rPr>
                        <a:t>455 fs total</a:t>
                      </a:r>
                      <a:endParaRPr lang="en-US" sz="100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FFFFF"/>
                    </a:solidFill>
                  </a:tcPr>
                </a:tc>
              </a:tr>
              <a:tr h="274320">
                <a:tc>
                  <a:txBody>
                    <a:bodyPr/>
                    <a:lstStyle/>
                    <a:p>
                      <a:pPr indent="0" marL="0">
                        <a:buNone/>
                      </a:pPr>
                      <a:r>
                        <a:rPr lang="en-US" sz="1000" dirty="0">
                          <a:solidFill>
                            <a:srgbClr val="14213D"/>
                          </a:solidFill>
                          <a:latin typeface="Calibri" pitchFamily="34" charset="0"/>
                          <a:ea typeface="Calibri" pitchFamily="34" charset="-122"/>
                          <a:cs typeface="Calibri" pitchFamily="34" charset="-120"/>
                        </a:rPr>
                        <a:t>SFDR</a:t>
                      </a:r>
                      <a:endParaRPr lang="en-US" sz="100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EEF3F8"/>
                    </a:solidFill>
                  </a:tcPr>
                </a:tc>
                <a:tc>
                  <a:txBody>
                    <a:bodyPr/>
                    <a:lstStyle/>
                    <a:p>
                      <a:pPr indent="0" marL="0">
                        <a:buNone/>
                      </a:pPr>
                      <a:r>
                        <a:rPr lang="en-US" sz="1000" dirty="0">
                          <a:solidFill>
                            <a:srgbClr val="14213D"/>
                          </a:solidFill>
                          <a:latin typeface="Calibri" pitchFamily="34" charset="0"/>
                          <a:ea typeface="Calibri" pitchFamily="34" charset="-122"/>
                          <a:cs typeface="Calibri" pitchFamily="34" charset="-120"/>
                        </a:rPr>
                        <a:t>&gt; 75 dBc</a:t>
                      </a:r>
                      <a:endParaRPr lang="en-US" sz="100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EEF3F8"/>
                    </a:solidFill>
                  </a:tcPr>
                </a:tc>
              </a:tr>
            </a:tbl>
          </a:graphicData>
        </a:graphic>
      </p:graphicFrame>
      <p:sp>
        <p:nvSpPr>
          <p:cNvPr id="8" name="Text 5"/>
          <p:cNvSpPr txBox="1"/>
          <p:nvPr/>
        </p:nvSpPr>
        <p:spPr>
          <a:xfrm>
            <a:off x="4663440" y="3200400"/>
            <a:ext cx="4023360" cy="347472"/>
          </a:xfrm>
          <a:prstGeom prst="rect">
            <a:avLst/>
          </a:prstGeom>
          <a:noFill/>
          <a:ln/>
        </p:spPr>
        <p:txBody>
          <a:bodyPr wrap="square" lIns="0" tIns="0" rIns="0" bIns="0" rtlCol="0" anchor="ctr"/>
          <a:lstStyle/>
          <a:p>
            <a:pPr algn="ctr" indent="0" marL="0">
              <a:buNone/>
            </a:pPr>
            <a:r>
              <a:rPr lang="en-US" sz="1000" i="1" dirty="0">
                <a:solidFill>
                  <a:srgbClr val="5B6B7F"/>
                </a:solidFill>
                <a:latin typeface="Calibri" pitchFamily="34" charset="0"/>
                <a:ea typeface="Calibri" pitchFamily="34" charset="-122"/>
                <a:cs typeface="Calibri" pitchFamily="34" charset="-120"/>
              </a:rPr>
              <a:t>Notice that resolution was decided fourth, not first. The frequency-dependent parameters did most of the work.</a:t>
            </a:r>
            <a:endParaRPr lang="en-US" sz="1000" dirty="0"/>
          </a:p>
        </p:txBody>
      </p:sp>
      <p:sp>
        <p:nvSpPr>
          <p:cNvPr id="9" name="Shape 6"/>
          <p:cNvSpPr/>
          <p:nvPr/>
        </p:nvSpPr>
        <p:spPr>
          <a:xfrm>
            <a:off x="457200" y="3675888"/>
            <a:ext cx="4023360" cy="1024128"/>
          </a:xfrm>
          <a:prstGeom prst="roundRect">
            <a:avLst>
              <a:gd name="adj" fmla="val 7143"/>
            </a:avLst>
          </a:prstGeom>
          <a:solidFill>
            <a:srgbClr val="E4F7F4"/>
          </a:solidFill>
          <a:ln w="12700">
            <a:solidFill>
              <a:srgbClr val="E4F7F4"/>
            </a:solidFill>
            <a:prstDash val="solid"/>
          </a:ln>
        </p:spPr>
      </p:sp>
      <p:sp>
        <p:nvSpPr>
          <p:cNvPr id="10" name="Shape 7"/>
          <p:cNvSpPr/>
          <p:nvPr/>
        </p:nvSpPr>
        <p:spPr>
          <a:xfrm>
            <a:off x="566928" y="3776472"/>
            <a:ext cx="237744" cy="237744"/>
          </a:xfrm>
          <a:prstGeom prst="ellipse">
            <a:avLst/>
          </a:prstGeom>
          <a:solidFill>
            <a:srgbClr val="2EC4B6"/>
          </a:solidFill>
          <a:ln w="12700">
            <a:solidFill>
              <a:srgbClr val="2EC4B6"/>
            </a:solidFill>
            <a:prstDash val="solid"/>
          </a:ln>
        </p:spPr>
      </p:sp>
      <p:sp>
        <p:nvSpPr>
          <p:cNvPr id="11" name="Text 8"/>
          <p:cNvSpPr txBox="1"/>
          <p:nvPr/>
        </p:nvSpPr>
        <p:spPr>
          <a:xfrm>
            <a:off x="566928" y="3776472"/>
            <a:ext cx="237744" cy="237744"/>
          </a:xfrm>
          <a:prstGeom prst="rect">
            <a:avLst/>
          </a:prstGeom>
          <a:noFill/>
          <a:ln/>
        </p:spPr>
        <p:txBody>
          <a:bodyPr wrap="square" lIns="0" tIns="0" rIns="0" bIns="0" rtlCol="0" anchor="ctr"/>
          <a:lstStyle/>
          <a:p>
            <a:pPr algn="ctr" indent="0" marL="0">
              <a:buNone/>
            </a:pPr>
            <a:r>
              <a:rPr lang="en-US" sz="1200" b="1" dirty="0">
                <a:solidFill>
                  <a:srgbClr val="0B1F3A"/>
                </a:solidFill>
                <a:latin typeface="Calibri" pitchFamily="34" charset="0"/>
                <a:ea typeface="Calibri" pitchFamily="34" charset="-122"/>
                <a:cs typeface="Calibri" pitchFamily="34" charset="-120"/>
              </a:rPr>
              <a:t>≈</a:t>
            </a:r>
            <a:endParaRPr lang="en-US" sz="1200" dirty="0"/>
          </a:p>
        </p:txBody>
      </p:sp>
      <p:sp>
        <p:nvSpPr>
          <p:cNvPr id="12" name="Text 9"/>
          <p:cNvSpPr txBox="1"/>
          <p:nvPr/>
        </p:nvSpPr>
        <p:spPr>
          <a:xfrm>
            <a:off x="877824" y="3739896"/>
            <a:ext cx="3493008" cy="896112"/>
          </a:xfrm>
          <a:prstGeom prst="rect">
            <a:avLst/>
          </a:prstGeom>
          <a:noFill/>
          <a:ln/>
        </p:spPr>
        <p:txBody>
          <a:bodyPr wrap="square" lIns="0" tIns="0" rIns="0" bIns="0" rtlCol="0" anchor="t"/>
          <a:lstStyle/>
          <a:p>
            <a:pPr indent="0" marL="0">
              <a:buNone/>
            </a:pPr>
            <a:r>
              <a:rPr lang="en-US" sz="1050" b="1" dirty="0">
                <a:solidFill>
                  <a:srgbClr val="0B1F3A"/>
                </a:solidFill>
                <a:latin typeface="Calibri" pitchFamily="34" charset="0"/>
                <a:ea typeface="Calibri" pitchFamily="34" charset="-122"/>
                <a:cs typeface="Calibri" pitchFamily="34" charset="-120"/>
              </a:rPr>
              <a:t>Think of it like this  </a:t>
            </a:r>
            <a:pPr indent="0" marL="0">
              <a:buNone/>
            </a:pPr>
            <a:r>
              <a:rPr lang="en-US" sz="1050" dirty="0">
                <a:solidFill>
                  <a:srgbClr val="14213D"/>
                </a:solidFill>
                <a:latin typeface="Calibri" pitchFamily="34" charset="0"/>
                <a:ea typeface="Calibri" pitchFamily="34" charset="-122"/>
                <a:cs typeface="Calibri" pitchFamily="34" charset="-120"/>
              </a:rPr>
              <a:t>Specifying a car by the journey rather than the brochure: how far, how fast, how much luggage, how much fuel.</a:t>
            </a:r>
            <a:endParaRPr lang="en-US" sz="1050" dirty="0"/>
          </a:p>
        </p:txBody>
      </p:sp>
      <p:sp>
        <p:nvSpPr>
          <p:cNvPr id="13" name="Shape 10"/>
          <p:cNvSpPr/>
          <p:nvPr/>
        </p:nvSpPr>
        <p:spPr>
          <a:xfrm>
            <a:off x="4663440" y="3675888"/>
            <a:ext cx="4023360" cy="1024128"/>
          </a:xfrm>
          <a:prstGeom prst="roundRect">
            <a:avLst>
              <a:gd name="adj" fmla="val 7143"/>
            </a:avLst>
          </a:prstGeom>
          <a:solidFill>
            <a:srgbClr val="FFFFFF"/>
          </a:solidFill>
          <a:ln w="12700">
            <a:solidFill>
              <a:srgbClr val="0B1F3A"/>
            </a:solidFill>
            <a:prstDash val="solid"/>
          </a:ln>
        </p:spPr>
      </p:sp>
      <p:sp>
        <p:nvSpPr>
          <p:cNvPr id="14" name="Shape 11"/>
          <p:cNvSpPr/>
          <p:nvPr/>
        </p:nvSpPr>
        <p:spPr>
          <a:xfrm>
            <a:off x="4773168" y="3566160"/>
            <a:ext cx="914400" cy="219456"/>
          </a:xfrm>
          <a:prstGeom prst="roundRect">
            <a:avLst>
              <a:gd name="adj" fmla="val 25000"/>
            </a:avLst>
          </a:prstGeom>
          <a:solidFill>
            <a:srgbClr val="0B1F3A"/>
          </a:solidFill>
          <a:ln w="12700">
            <a:solidFill>
              <a:srgbClr val="0B1F3A"/>
            </a:solidFill>
            <a:prstDash val="solid"/>
          </a:ln>
        </p:spPr>
      </p:sp>
      <p:sp>
        <p:nvSpPr>
          <p:cNvPr id="15" name="Text 12"/>
          <p:cNvSpPr txBox="1"/>
          <p:nvPr/>
        </p:nvSpPr>
        <p:spPr>
          <a:xfrm>
            <a:off x="4773168" y="3566160"/>
            <a:ext cx="914400" cy="219456"/>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EXAMPLE</a:t>
            </a:r>
            <a:endParaRPr lang="en-US" sz="850" dirty="0"/>
          </a:p>
        </p:txBody>
      </p:sp>
      <p:sp>
        <p:nvSpPr>
          <p:cNvPr id="16" name="Text 13"/>
          <p:cNvSpPr txBox="1"/>
          <p:nvPr/>
        </p:nvSpPr>
        <p:spPr>
          <a:xfrm>
            <a:off x="4791456" y="3813048"/>
            <a:ext cx="3803904" cy="841248"/>
          </a:xfrm>
          <a:prstGeom prst="rect">
            <a:avLst/>
          </a:prstGeom>
          <a:noFill/>
          <a:ln/>
        </p:spPr>
        <p:txBody>
          <a:bodyPr wrap="square" lIns="0" tIns="0" rIns="0" bIns="0" rtlCol="0" anchor="t"/>
          <a:lstStyle/>
          <a:p>
            <a:pPr indent="0" marL="0">
              <a:spcAft>
                <a:spcPts val="100"/>
              </a:spcAft>
              <a:buNone/>
            </a:pPr>
            <a:r>
              <a:rPr lang="en-US" sz="900" b="1" dirty="0">
                <a:solidFill>
                  <a:srgbClr val="0B1F3A"/>
                </a:solidFill>
                <a:latin typeface="Calibri" pitchFamily="34" charset="0"/>
                <a:ea typeface="Calibri" pitchFamily="34" charset="-122"/>
                <a:cs typeface="Calibri" pitchFamily="34" charset="-120"/>
              </a:rPr>
              <a:t>The numbers that decide it</a:t>
            </a:r>
            <a:endParaRPr lang="en-US" sz="900" dirty="0"/>
          </a:p>
          <a:p>
            <a:pPr marL="114300" indent="-114300">
              <a:spcAft>
                <a:spcPts val="100"/>
              </a:spcAft>
              <a:buSzPct val="100000"/>
              <a:buChar char="•"/>
            </a:pPr>
            <a:r>
              <a:rPr lang="en-US" sz="900" dirty="0">
                <a:solidFill>
                  <a:srgbClr val="14213D"/>
                </a:solidFill>
                <a:latin typeface="Cambria" pitchFamily="34" charset="0"/>
                <a:ea typeface="Cambria" pitchFamily="34" charset="-122"/>
                <a:cs typeface="Cambria" pitchFamily="34" charset="-120"/>
              </a:rPr>
              <a:t>Jitter budget: 1/(2π × 70e6 × 10^(74/20)) = 455 fs</a:t>
            </a:r>
            <a:endParaRPr lang="en-US" sz="900" dirty="0"/>
          </a:p>
          <a:p>
            <a:pPr marL="114300" indent="-114300">
              <a:spcAft>
                <a:spcPts val="100"/>
              </a:spcAft>
              <a:buSzPct val="100000"/>
              <a:buChar char="•"/>
            </a:pPr>
            <a:r>
              <a:rPr lang="en-US" sz="900" dirty="0">
                <a:solidFill>
                  <a:srgbClr val="14213D"/>
                </a:solidFill>
                <a:latin typeface="Cambria" pitchFamily="34" charset="0"/>
                <a:ea typeface="Cambria" pitchFamily="34" charset="-122"/>
                <a:cs typeface="Cambria" pitchFamily="34" charset="-120"/>
              </a:rPr>
              <a:t>FFT floor with a 4096-point transform: −74 − 33 = −107 dBFS</a:t>
            </a:r>
            <a:endParaRPr lang="en-US" sz="900" dirty="0"/>
          </a:p>
          <a:p>
            <a:pPr marL="114300" indent="-114300">
              <a:spcAft>
                <a:spcPts val="100"/>
              </a:spcAft>
              <a:buSzPct val="100000"/>
              <a:buChar char="•"/>
            </a:pPr>
            <a:r>
              <a:rPr lang="en-US" sz="900" dirty="0">
                <a:solidFill>
                  <a:srgbClr val="14213D"/>
                </a:solidFill>
                <a:latin typeface="Cambria" pitchFamily="34" charset="0"/>
                <a:ea typeface="Cambria" pitchFamily="34" charset="-122"/>
                <a:cs typeface="Cambria" pitchFamily="34" charset="-120"/>
              </a:rPr>
              <a:t>Power target under 200 mW → FoM_W must beat about 0.7 pJ per step</a:t>
            </a:r>
            <a:endParaRPr lang="en-US" sz="9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640080"/>
          </a:xfrm>
          <a:prstGeom prst="rect">
            <a:avLst/>
          </a:prstGeom>
          <a:noFill/>
          <a:ln/>
        </p:spPr>
        <p:txBody>
          <a:bodyPr wrap="square" lIns="0" tIns="0" rIns="0" bIns="0" rtlCol="0" anchor="ctr"/>
          <a:lstStyle/>
          <a:p>
            <a:pPr indent="0" marL="0">
              <a:buNone/>
            </a:pPr>
            <a:r>
              <a:rPr lang="en-US" sz="2000" b="1" dirty="0">
                <a:solidFill>
                  <a:srgbClr val="0B1F3A"/>
                </a:solidFill>
                <a:latin typeface="Cambria" pitchFamily="34" charset="0"/>
                <a:ea typeface="Cambria" pitchFamily="34" charset="-122"/>
                <a:cs typeface="Cambria" pitchFamily="34" charset="-120"/>
              </a:rPr>
              <a:t>Seven ways these parameters catch people out</a:t>
            </a:r>
            <a:endParaRPr lang="en-US" sz="2000" dirty="0"/>
          </a:p>
        </p:txBody>
      </p:sp>
      <p:sp>
        <p:nvSpPr>
          <p:cNvPr id="3" name="Text 1"/>
          <p:cNvSpPr txBox="1"/>
          <p:nvPr/>
        </p:nvSpPr>
        <p:spPr>
          <a:xfrm>
            <a:off x="457200" y="4796028"/>
            <a:ext cx="4572000" cy="228600"/>
          </a:xfrm>
          <a:prstGeom prst="rect">
            <a:avLst/>
          </a:prstGeom>
          <a:noFill/>
          <a:ln/>
        </p:spPr>
        <p:txBody>
          <a:bodyPr wrap="square" lIns="0" tIns="0" rIns="0" bIns="0" rtlCol="0" anchor="ctr"/>
          <a:lstStyle/>
          <a:p>
            <a:pPr indent="0" marL="0">
              <a:buNone/>
            </a:pPr>
            <a:r>
              <a:rPr lang="en-US" sz="900" dirty="0">
                <a:solidFill>
                  <a:srgbClr val="5B6B7F"/>
                </a:solidFill>
                <a:latin typeface="Calibri" pitchFamily="34" charset="0"/>
                <a:ea typeface="Calibri" pitchFamily="34" charset="-122"/>
                <a:cs typeface="Calibri" pitchFamily="34" charset="-120"/>
              </a:rPr>
              <a:t>Part 7 · Architectures and the datasheet</a:t>
            </a:r>
            <a:endParaRPr lang="en-US" sz="900" dirty="0"/>
          </a:p>
        </p:txBody>
      </p:sp>
      <p:sp>
        <p:nvSpPr>
          <p:cNvPr id="4" name="Text 2"/>
          <p:cNvSpPr txBox="1"/>
          <p:nvPr/>
        </p:nvSpPr>
        <p:spPr>
          <a:xfrm>
            <a:off x="7772400" y="4796028"/>
            <a:ext cx="914400" cy="228600"/>
          </a:xfrm>
          <a:prstGeom prst="rect">
            <a:avLst/>
          </a:prstGeom>
          <a:noFill/>
          <a:ln/>
        </p:spPr>
        <p:txBody>
          <a:bodyPr wrap="square" lIns="0" tIns="0" rIns="0" bIns="0" rtlCol="0" anchor="ctr"/>
          <a:lstStyle/>
          <a:p>
            <a:pPr algn="r" indent="0" marL="0">
              <a:buNone/>
            </a:pPr>
            <a:r>
              <a:rPr lang="en-US" sz="900" dirty="0">
                <a:solidFill>
                  <a:srgbClr val="5B6B7F"/>
                </a:solidFill>
                <a:latin typeface="Calibri" pitchFamily="34" charset="0"/>
                <a:ea typeface="Calibri" pitchFamily="34" charset="-122"/>
                <a:cs typeface="Calibri" pitchFamily="34" charset="-120"/>
              </a:rPr>
              <a:t>56</a:t>
            </a:r>
            <a:endParaRPr lang="en-US" sz="900" dirty="0"/>
          </a:p>
        </p:txBody>
      </p:sp>
      <p:sp>
        <p:nvSpPr>
          <p:cNvPr id="5" name="Shape 3"/>
          <p:cNvSpPr/>
          <p:nvPr/>
        </p:nvSpPr>
        <p:spPr>
          <a:xfrm>
            <a:off x="457200" y="1042416"/>
            <a:ext cx="1933956" cy="1554480"/>
          </a:xfrm>
          <a:prstGeom prst="roundRect">
            <a:avLst>
              <a:gd name="adj" fmla="val 4706"/>
            </a:avLst>
          </a:prstGeom>
          <a:solidFill>
            <a:srgbClr val="EEF3F8"/>
          </a:solidFill>
          <a:ln w="12700">
            <a:solidFill>
              <a:srgbClr val="EEF3F8"/>
            </a:solidFill>
            <a:prstDash val="solid"/>
          </a:ln>
        </p:spPr>
      </p:sp>
      <p:sp>
        <p:nvSpPr>
          <p:cNvPr id="6" name="Shape 4"/>
          <p:cNvSpPr/>
          <p:nvPr/>
        </p:nvSpPr>
        <p:spPr>
          <a:xfrm>
            <a:off x="594360" y="1179576"/>
            <a:ext cx="329184" cy="329184"/>
          </a:xfrm>
          <a:prstGeom prst="ellipse">
            <a:avLst/>
          </a:prstGeom>
          <a:solidFill>
            <a:srgbClr val="E76F51"/>
          </a:solidFill>
          <a:ln w="12700">
            <a:solidFill>
              <a:srgbClr val="E76F51"/>
            </a:solidFill>
            <a:prstDash val="solid"/>
          </a:ln>
        </p:spPr>
      </p:sp>
      <p:sp>
        <p:nvSpPr>
          <p:cNvPr id="7" name="Text 5"/>
          <p:cNvSpPr txBox="1"/>
          <p:nvPr/>
        </p:nvSpPr>
        <p:spPr>
          <a:xfrm>
            <a:off x="594360" y="1179576"/>
            <a:ext cx="329184" cy="329184"/>
          </a:xfrm>
          <a:prstGeom prst="rect">
            <a:avLst/>
          </a:prstGeom>
          <a:noFill/>
          <a:ln/>
        </p:spPr>
        <p:txBody>
          <a:bodyPr wrap="square" lIns="0" tIns="0" rIns="0" bIns="0" rtlCol="0" anchor="ctr"/>
          <a:lstStyle/>
          <a:p>
            <a:pPr algn="ctr" indent="0" marL="0">
              <a:buNone/>
            </a:pPr>
            <a:r>
              <a:rPr lang="en-US" sz="1200" b="1" dirty="0">
                <a:solidFill>
                  <a:srgbClr val="0B1F3A"/>
                </a:solidFill>
                <a:latin typeface="Calibri" pitchFamily="34" charset="0"/>
                <a:ea typeface="Calibri" pitchFamily="34" charset="-122"/>
                <a:cs typeface="Calibri" pitchFamily="34" charset="-120"/>
              </a:rPr>
              <a:t>1</a:t>
            </a:r>
            <a:endParaRPr lang="en-US" sz="1200" dirty="0"/>
          </a:p>
        </p:txBody>
      </p:sp>
      <p:sp>
        <p:nvSpPr>
          <p:cNvPr id="8" name="Text 6"/>
          <p:cNvSpPr txBox="1"/>
          <p:nvPr/>
        </p:nvSpPr>
        <p:spPr>
          <a:xfrm>
            <a:off x="1024128" y="1152144"/>
            <a:ext cx="1257300" cy="329184"/>
          </a:xfrm>
          <a:prstGeom prst="rect">
            <a:avLst/>
          </a:prstGeom>
          <a:noFill/>
          <a:ln/>
        </p:spPr>
        <p:txBody>
          <a:bodyPr wrap="square" lIns="0" tIns="0" rIns="0" bIns="0" rtlCol="0" anchor="ctr"/>
          <a:lstStyle/>
          <a:p>
            <a:pPr indent="0" marL="0">
              <a:buNone/>
            </a:pPr>
            <a:r>
              <a:rPr lang="en-US" sz="1050" b="1" dirty="0">
                <a:solidFill>
                  <a:srgbClr val="0B1F3A"/>
                </a:solidFill>
                <a:latin typeface="Calibri" pitchFamily="34" charset="0"/>
                <a:ea typeface="Calibri" pitchFamily="34" charset="-122"/>
                <a:cs typeface="Calibri" pitchFamily="34" charset="-120"/>
              </a:rPr>
              <a:t>Trusting resolution</a:t>
            </a:r>
            <a:endParaRPr lang="en-US" sz="1050" dirty="0"/>
          </a:p>
        </p:txBody>
      </p:sp>
      <p:sp>
        <p:nvSpPr>
          <p:cNvPr id="9" name="Text 7"/>
          <p:cNvSpPr txBox="1"/>
          <p:nvPr/>
        </p:nvSpPr>
        <p:spPr>
          <a:xfrm>
            <a:off x="594360" y="1517904"/>
            <a:ext cx="1659636" cy="1005840"/>
          </a:xfrm>
          <a:prstGeom prst="rect">
            <a:avLst/>
          </a:prstGeom>
          <a:noFill/>
          <a:ln/>
        </p:spPr>
        <p:txBody>
          <a:bodyPr wrap="square" lIns="0" tIns="0" rIns="0" bIns="0" rtlCol="0" anchor="t"/>
          <a:lstStyle/>
          <a:p>
            <a:pPr indent="0" marL="0">
              <a:buNone/>
            </a:pPr>
            <a:r>
              <a:rPr lang="en-US" sz="950" dirty="0">
                <a:solidFill>
                  <a:srgbClr val="14213D"/>
                </a:solidFill>
                <a:latin typeface="Calibri" pitchFamily="34" charset="0"/>
                <a:ea typeface="Calibri" pitchFamily="34" charset="-122"/>
                <a:cs typeface="Calibri" pitchFamily="34" charset="-120"/>
              </a:rPr>
              <a:t>A "16-bit" part delivering 12.5 ENOB at your frequency is a 12.5-bit part. Always read ENOB at the input frequency you will actually use.</a:t>
            </a:r>
            <a:endParaRPr lang="en-US" sz="950" dirty="0"/>
          </a:p>
        </p:txBody>
      </p:sp>
      <p:sp>
        <p:nvSpPr>
          <p:cNvPr id="10" name="Shape 8"/>
          <p:cNvSpPr/>
          <p:nvPr/>
        </p:nvSpPr>
        <p:spPr>
          <a:xfrm>
            <a:off x="2555748" y="1042416"/>
            <a:ext cx="1933956" cy="1554480"/>
          </a:xfrm>
          <a:prstGeom prst="roundRect">
            <a:avLst>
              <a:gd name="adj" fmla="val 4706"/>
            </a:avLst>
          </a:prstGeom>
          <a:solidFill>
            <a:srgbClr val="EEF3F8"/>
          </a:solidFill>
          <a:ln w="12700">
            <a:solidFill>
              <a:srgbClr val="EEF3F8"/>
            </a:solidFill>
            <a:prstDash val="solid"/>
          </a:ln>
        </p:spPr>
      </p:sp>
      <p:sp>
        <p:nvSpPr>
          <p:cNvPr id="11" name="Shape 9"/>
          <p:cNvSpPr/>
          <p:nvPr/>
        </p:nvSpPr>
        <p:spPr>
          <a:xfrm>
            <a:off x="2692908" y="1179576"/>
            <a:ext cx="329184" cy="329184"/>
          </a:xfrm>
          <a:prstGeom prst="ellipse">
            <a:avLst/>
          </a:prstGeom>
          <a:solidFill>
            <a:srgbClr val="E76F51"/>
          </a:solidFill>
          <a:ln w="12700">
            <a:solidFill>
              <a:srgbClr val="E76F51"/>
            </a:solidFill>
            <a:prstDash val="solid"/>
          </a:ln>
        </p:spPr>
      </p:sp>
      <p:sp>
        <p:nvSpPr>
          <p:cNvPr id="12" name="Text 10"/>
          <p:cNvSpPr txBox="1"/>
          <p:nvPr/>
        </p:nvSpPr>
        <p:spPr>
          <a:xfrm>
            <a:off x="2692908" y="1179576"/>
            <a:ext cx="329184" cy="329184"/>
          </a:xfrm>
          <a:prstGeom prst="rect">
            <a:avLst/>
          </a:prstGeom>
          <a:noFill/>
          <a:ln/>
        </p:spPr>
        <p:txBody>
          <a:bodyPr wrap="square" lIns="0" tIns="0" rIns="0" bIns="0" rtlCol="0" anchor="ctr"/>
          <a:lstStyle/>
          <a:p>
            <a:pPr algn="ctr" indent="0" marL="0">
              <a:buNone/>
            </a:pPr>
            <a:r>
              <a:rPr lang="en-US" sz="1200" b="1" dirty="0">
                <a:solidFill>
                  <a:srgbClr val="0B1F3A"/>
                </a:solidFill>
                <a:latin typeface="Calibri" pitchFamily="34" charset="0"/>
                <a:ea typeface="Calibri" pitchFamily="34" charset="-122"/>
                <a:cs typeface="Calibri" pitchFamily="34" charset="-120"/>
              </a:rPr>
              <a:t>2</a:t>
            </a:r>
            <a:endParaRPr lang="en-US" sz="1200" dirty="0"/>
          </a:p>
        </p:txBody>
      </p:sp>
      <p:sp>
        <p:nvSpPr>
          <p:cNvPr id="13" name="Text 11"/>
          <p:cNvSpPr txBox="1"/>
          <p:nvPr/>
        </p:nvSpPr>
        <p:spPr>
          <a:xfrm>
            <a:off x="3122676" y="1152144"/>
            <a:ext cx="1257300" cy="329184"/>
          </a:xfrm>
          <a:prstGeom prst="rect">
            <a:avLst/>
          </a:prstGeom>
          <a:noFill/>
          <a:ln/>
        </p:spPr>
        <p:txBody>
          <a:bodyPr wrap="square" lIns="0" tIns="0" rIns="0" bIns="0" rtlCol="0" anchor="ctr"/>
          <a:lstStyle/>
          <a:p>
            <a:pPr indent="0" marL="0">
              <a:buNone/>
            </a:pPr>
            <a:r>
              <a:rPr lang="en-US" sz="1050" b="1" dirty="0">
                <a:solidFill>
                  <a:srgbClr val="0B1F3A"/>
                </a:solidFill>
                <a:latin typeface="Calibri" pitchFamily="34" charset="0"/>
                <a:ea typeface="Calibri" pitchFamily="34" charset="-122"/>
                <a:cs typeface="Calibri" pitchFamily="34" charset="-120"/>
              </a:rPr>
              <a:t>Comparing noise floors</a:t>
            </a:r>
            <a:endParaRPr lang="en-US" sz="1050" dirty="0"/>
          </a:p>
        </p:txBody>
      </p:sp>
      <p:sp>
        <p:nvSpPr>
          <p:cNvPr id="14" name="Text 12"/>
          <p:cNvSpPr txBox="1"/>
          <p:nvPr/>
        </p:nvSpPr>
        <p:spPr>
          <a:xfrm>
            <a:off x="2692908" y="1517904"/>
            <a:ext cx="1659636" cy="1005840"/>
          </a:xfrm>
          <a:prstGeom prst="rect">
            <a:avLst/>
          </a:prstGeom>
          <a:noFill/>
          <a:ln/>
        </p:spPr>
        <p:txBody>
          <a:bodyPr wrap="square" lIns="0" tIns="0" rIns="0" bIns="0" rtlCol="0" anchor="t"/>
          <a:lstStyle/>
          <a:p>
            <a:pPr indent="0" marL="0">
              <a:buNone/>
            </a:pPr>
            <a:r>
              <a:rPr lang="en-US" sz="950" dirty="0">
                <a:solidFill>
                  <a:srgbClr val="14213D"/>
                </a:solidFill>
                <a:latin typeface="Calibri" pitchFamily="34" charset="0"/>
                <a:ea typeface="Calibri" pitchFamily="34" charset="-122"/>
                <a:cs typeface="Calibri" pitchFamily="34" charset="-120"/>
              </a:rPr>
              <a:t>Two FFT plots with different lengths are not comparable. Subtract 10 log₁₀(N/2) before you believe either of them.</a:t>
            </a:r>
            <a:endParaRPr lang="en-US" sz="950" dirty="0"/>
          </a:p>
        </p:txBody>
      </p:sp>
      <p:sp>
        <p:nvSpPr>
          <p:cNvPr id="15" name="Shape 13"/>
          <p:cNvSpPr/>
          <p:nvPr/>
        </p:nvSpPr>
        <p:spPr>
          <a:xfrm>
            <a:off x="4654296" y="1042416"/>
            <a:ext cx="1933956" cy="1554480"/>
          </a:xfrm>
          <a:prstGeom prst="roundRect">
            <a:avLst>
              <a:gd name="adj" fmla="val 4706"/>
            </a:avLst>
          </a:prstGeom>
          <a:solidFill>
            <a:srgbClr val="EEF3F8"/>
          </a:solidFill>
          <a:ln w="12700">
            <a:solidFill>
              <a:srgbClr val="EEF3F8"/>
            </a:solidFill>
            <a:prstDash val="solid"/>
          </a:ln>
        </p:spPr>
      </p:sp>
      <p:sp>
        <p:nvSpPr>
          <p:cNvPr id="16" name="Shape 14"/>
          <p:cNvSpPr/>
          <p:nvPr/>
        </p:nvSpPr>
        <p:spPr>
          <a:xfrm>
            <a:off x="4791456" y="1179576"/>
            <a:ext cx="329184" cy="329184"/>
          </a:xfrm>
          <a:prstGeom prst="ellipse">
            <a:avLst/>
          </a:prstGeom>
          <a:solidFill>
            <a:srgbClr val="E76F51"/>
          </a:solidFill>
          <a:ln w="12700">
            <a:solidFill>
              <a:srgbClr val="E76F51"/>
            </a:solidFill>
            <a:prstDash val="solid"/>
          </a:ln>
        </p:spPr>
      </p:sp>
      <p:sp>
        <p:nvSpPr>
          <p:cNvPr id="17" name="Text 15"/>
          <p:cNvSpPr txBox="1"/>
          <p:nvPr/>
        </p:nvSpPr>
        <p:spPr>
          <a:xfrm>
            <a:off x="4791456" y="1179576"/>
            <a:ext cx="329184" cy="329184"/>
          </a:xfrm>
          <a:prstGeom prst="rect">
            <a:avLst/>
          </a:prstGeom>
          <a:noFill/>
          <a:ln/>
        </p:spPr>
        <p:txBody>
          <a:bodyPr wrap="square" lIns="0" tIns="0" rIns="0" bIns="0" rtlCol="0" anchor="ctr"/>
          <a:lstStyle/>
          <a:p>
            <a:pPr algn="ctr" indent="0" marL="0">
              <a:buNone/>
            </a:pPr>
            <a:r>
              <a:rPr lang="en-US" sz="1200" b="1" dirty="0">
                <a:solidFill>
                  <a:srgbClr val="0B1F3A"/>
                </a:solidFill>
                <a:latin typeface="Calibri" pitchFamily="34" charset="0"/>
                <a:ea typeface="Calibri" pitchFamily="34" charset="-122"/>
                <a:cs typeface="Calibri" pitchFamily="34" charset="-120"/>
              </a:rPr>
              <a:t>3</a:t>
            </a:r>
            <a:endParaRPr lang="en-US" sz="1200" dirty="0"/>
          </a:p>
        </p:txBody>
      </p:sp>
      <p:sp>
        <p:nvSpPr>
          <p:cNvPr id="18" name="Text 16"/>
          <p:cNvSpPr txBox="1"/>
          <p:nvPr/>
        </p:nvSpPr>
        <p:spPr>
          <a:xfrm>
            <a:off x="5221224" y="1152144"/>
            <a:ext cx="1257300" cy="329184"/>
          </a:xfrm>
          <a:prstGeom prst="rect">
            <a:avLst/>
          </a:prstGeom>
          <a:noFill/>
          <a:ln/>
        </p:spPr>
        <p:txBody>
          <a:bodyPr wrap="square" lIns="0" tIns="0" rIns="0" bIns="0" rtlCol="0" anchor="ctr"/>
          <a:lstStyle/>
          <a:p>
            <a:pPr indent="0" marL="0">
              <a:buNone/>
            </a:pPr>
            <a:r>
              <a:rPr lang="en-US" sz="1050" b="1" dirty="0">
                <a:solidFill>
                  <a:srgbClr val="0B1F3A"/>
                </a:solidFill>
                <a:latin typeface="Calibri" pitchFamily="34" charset="0"/>
                <a:ea typeface="Calibri" pitchFamily="34" charset="-122"/>
                <a:cs typeface="Calibri" pitchFamily="34" charset="-120"/>
              </a:rPr>
              <a:t>Ignoring the driver</a:t>
            </a:r>
            <a:endParaRPr lang="en-US" sz="1050" dirty="0"/>
          </a:p>
        </p:txBody>
      </p:sp>
      <p:sp>
        <p:nvSpPr>
          <p:cNvPr id="19" name="Text 17"/>
          <p:cNvSpPr txBox="1"/>
          <p:nvPr/>
        </p:nvSpPr>
        <p:spPr>
          <a:xfrm>
            <a:off x="4791456" y="1517904"/>
            <a:ext cx="1659636" cy="1005840"/>
          </a:xfrm>
          <a:prstGeom prst="rect">
            <a:avLst/>
          </a:prstGeom>
          <a:noFill/>
          <a:ln/>
        </p:spPr>
        <p:txBody>
          <a:bodyPr wrap="square" lIns="0" tIns="0" rIns="0" bIns="0" rtlCol="0" anchor="t"/>
          <a:lstStyle/>
          <a:p>
            <a:pPr indent="0" marL="0">
              <a:buNone/>
            </a:pPr>
            <a:r>
              <a:rPr lang="en-US" sz="950" dirty="0">
                <a:solidFill>
                  <a:srgbClr val="14213D"/>
                </a:solidFill>
                <a:latin typeface="Calibri" pitchFamily="34" charset="0"/>
                <a:ea typeface="Calibri" pitchFamily="34" charset="-122"/>
                <a:cs typeface="Calibri" pitchFamily="34" charset="-120"/>
              </a:rPr>
              <a:t>Under-settling in the amplifier in front of the ADC appears in the FFT as distortion. The converter gets blamed for the driver’s sins.</a:t>
            </a:r>
            <a:endParaRPr lang="en-US" sz="950" dirty="0"/>
          </a:p>
        </p:txBody>
      </p:sp>
      <p:sp>
        <p:nvSpPr>
          <p:cNvPr id="20" name="Shape 18"/>
          <p:cNvSpPr/>
          <p:nvPr/>
        </p:nvSpPr>
        <p:spPr>
          <a:xfrm>
            <a:off x="6752844" y="1042416"/>
            <a:ext cx="1933956" cy="1554480"/>
          </a:xfrm>
          <a:prstGeom prst="roundRect">
            <a:avLst>
              <a:gd name="adj" fmla="val 4706"/>
            </a:avLst>
          </a:prstGeom>
          <a:solidFill>
            <a:srgbClr val="EEF3F8"/>
          </a:solidFill>
          <a:ln w="12700">
            <a:solidFill>
              <a:srgbClr val="EEF3F8"/>
            </a:solidFill>
            <a:prstDash val="solid"/>
          </a:ln>
        </p:spPr>
      </p:sp>
      <p:sp>
        <p:nvSpPr>
          <p:cNvPr id="21" name="Shape 19"/>
          <p:cNvSpPr/>
          <p:nvPr/>
        </p:nvSpPr>
        <p:spPr>
          <a:xfrm>
            <a:off x="6890004" y="1179576"/>
            <a:ext cx="329184" cy="329184"/>
          </a:xfrm>
          <a:prstGeom prst="ellipse">
            <a:avLst/>
          </a:prstGeom>
          <a:solidFill>
            <a:srgbClr val="E76F51"/>
          </a:solidFill>
          <a:ln w="12700">
            <a:solidFill>
              <a:srgbClr val="E76F51"/>
            </a:solidFill>
            <a:prstDash val="solid"/>
          </a:ln>
        </p:spPr>
      </p:sp>
      <p:sp>
        <p:nvSpPr>
          <p:cNvPr id="22" name="Text 20"/>
          <p:cNvSpPr txBox="1"/>
          <p:nvPr/>
        </p:nvSpPr>
        <p:spPr>
          <a:xfrm>
            <a:off x="6890004" y="1179576"/>
            <a:ext cx="329184" cy="329184"/>
          </a:xfrm>
          <a:prstGeom prst="rect">
            <a:avLst/>
          </a:prstGeom>
          <a:noFill/>
          <a:ln/>
        </p:spPr>
        <p:txBody>
          <a:bodyPr wrap="square" lIns="0" tIns="0" rIns="0" bIns="0" rtlCol="0" anchor="ctr"/>
          <a:lstStyle/>
          <a:p>
            <a:pPr algn="ctr" indent="0" marL="0">
              <a:buNone/>
            </a:pPr>
            <a:r>
              <a:rPr lang="en-US" sz="1200" b="1" dirty="0">
                <a:solidFill>
                  <a:srgbClr val="0B1F3A"/>
                </a:solidFill>
                <a:latin typeface="Calibri" pitchFamily="34" charset="0"/>
                <a:ea typeface="Calibri" pitchFamily="34" charset="-122"/>
                <a:cs typeface="Calibri" pitchFamily="34" charset="-120"/>
              </a:rPr>
              <a:t>4</a:t>
            </a:r>
            <a:endParaRPr lang="en-US" sz="1200" dirty="0"/>
          </a:p>
        </p:txBody>
      </p:sp>
      <p:sp>
        <p:nvSpPr>
          <p:cNvPr id="23" name="Text 21"/>
          <p:cNvSpPr txBox="1"/>
          <p:nvPr/>
        </p:nvSpPr>
        <p:spPr>
          <a:xfrm>
            <a:off x="7319772" y="1152144"/>
            <a:ext cx="1257300" cy="329184"/>
          </a:xfrm>
          <a:prstGeom prst="rect">
            <a:avLst/>
          </a:prstGeom>
          <a:noFill/>
          <a:ln/>
        </p:spPr>
        <p:txBody>
          <a:bodyPr wrap="square" lIns="0" tIns="0" rIns="0" bIns="0" rtlCol="0" anchor="ctr"/>
          <a:lstStyle/>
          <a:p>
            <a:pPr indent="0" marL="0">
              <a:buNone/>
            </a:pPr>
            <a:r>
              <a:rPr lang="en-US" sz="1050" b="1" dirty="0">
                <a:solidFill>
                  <a:srgbClr val="0B1F3A"/>
                </a:solidFill>
                <a:latin typeface="Calibri" pitchFamily="34" charset="0"/>
                <a:ea typeface="Calibri" pitchFamily="34" charset="-122"/>
                <a:cs typeface="Calibri" pitchFamily="34" charset="-120"/>
              </a:rPr>
              <a:t>Jitter follows f_in</a:t>
            </a:r>
            <a:endParaRPr lang="en-US" sz="1050" dirty="0"/>
          </a:p>
        </p:txBody>
      </p:sp>
      <p:sp>
        <p:nvSpPr>
          <p:cNvPr id="24" name="Text 22"/>
          <p:cNvSpPr txBox="1"/>
          <p:nvPr/>
        </p:nvSpPr>
        <p:spPr>
          <a:xfrm>
            <a:off x="6890004" y="1517904"/>
            <a:ext cx="1659636" cy="1005840"/>
          </a:xfrm>
          <a:prstGeom prst="rect">
            <a:avLst/>
          </a:prstGeom>
          <a:noFill/>
          <a:ln/>
        </p:spPr>
        <p:txBody>
          <a:bodyPr wrap="square" lIns="0" tIns="0" rIns="0" bIns="0" rtlCol="0" anchor="t"/>
          <a:lstStyle/>
          <a:p>
            <a:pPr indent="0" marL="0">
              <a:buNone/>
            </a:pPr>
            <a:r>
              <a:rPr lang="en-US" sz="950" dirty="0">
                <a:solidFill>
                  <a:srgbClr val="14213D"/>
                </a:solidFill>
                <a:latin typeface="Calibri" pitchFamily="34" charset="0"/>
                <a:ea typeface="Calibri" pitchFamily="34" charset="-122"/>
                <a:cs typeface="Calibri" pitchFamily="34" charset="-120"/>
              </a:rPr>
              <a:t>Undersampling a 200 MHz IF at 50 MSPS needs the jitter budget for 200 MHz, not 50 MHz. This surprises people constantly.</a:t>
            </a:r>
            <a:endParaRPr lang="en-US" sz="950" dirty="0"/>
          </a:p>
        </p:txBody>
      </p:sp>
      <p:sp>
        <p:nvSpPr>
          <p:cNvPr id="25" name="Shape 23"/>
          <p:cNvSpPr/>
          <p:nvPr/>
        </p:nvSpPr>
        <p:spPr>
          <a:xfrm>
            <a:off x="1506474" y="2779776"/>
            <a:ext cx="1933956" cy="1554480"/>
          </a:xfrm>
          <a:prstGeom prst="roundRect">
            <a:avLst>
              <a:gd name="adj" fmla="val 4706"/>
            </a:avLst>
          </a:prstGeom>
          <a:solidFill>
            <a:srgbClr val="EEF3F8"/>
          </a:solidFill>
          <a:ln w="12700">
            <a:solidFill>
              <a:srgbClr val="EEF3F8"/>
            </a:solidFill>
            <a:prstDash val="solid"/>
          </a:ln>
        </p:spPr>
      </p:sp>
      <p:sp>
        <p:nvSpPr>
          <p:cNvPr id="26" name="Shape 24"/>
          <p:cNvSpPr/>
          <p:nvPr/>
        </p:nvSpPr>
        <p:spPr>
          <a:xfrm>
            <a:off x="1643634" y="2916936"/>
            <a:ext cx="329184" cy="329184"/>
          </a:xfrm>
          <a:prstGeom prst="ellipse">
            <a:avLst/>
          </a:prstGeom>
          <a:solidFill>
            <a:srgbClr val="E76F51"/>
          </a:solidFill>
          <a:ln w="12700">
            <a:solidFill>
              <a:srgbClr val="E76F51"/>
            </a:solidFill>
            <a:prstDash val="solid"/>
          </a:ln>
        </p:spPr>
      </p:sp>
      <p:sp>
        <p:nvSpPr>
          <p:cNvPr id="27" name="Text 25"/>
          <p:cNvSpPr txBox="1"/>
          <p:nvPr/>
        </p:nvSpPr>
        <p:spPr>
          <a:xfrm>
            <a:off x="1643634" y="2916936"/>
            <a:ext cx="329184" cy="329184"/>
          </a:xfrm>
          <a:prstGeom prst="rect">
            <a:avLst/>
          </a:prstGeom>
          <a:noFill/>
          <a:ln/>
        </p:spPr>
        <p:txBody>
          <a:bodyPr wrap="square" lIns="0" tIns="0" rIns="0" bIns="0" rtlCol="0" anchor="ctr"/>
          <a:lstStyle/>
          <a:p>
            <a:pPr algn="ctr" indent="0" marL="0">
              <a:buNone/>
            </a:pPr>
            <a:r>
              <a:rPr lang="en-US" sz="1200" b="1" dirty="0">
                <a:solidFill>
                  <a:srgbClr val="0B1F3A"/>
                </a:solidFill>
                <a:latin typeface="Calibri" pitchFamily="34" charset="0"/>
                <a:ea typeface="Calibri" pitchFamily="34" charset="-122"/>
                <a:cs typeface="Calibri" pitchFamily="34" charset="-120"/>
              </a:rPr>
              <a:t>5</a:t>
            </a:r>
            <a:endParaRPr lang="en-US" sz="1200" dirty="0"/>
          </a:p>
        </p:txBody>
      </p:sp>
      <p:sp>
        <p:nvSpPr>
          <p:cNvPr id="28" name="Text 26"/>
          <p:cNvSpPr txBox="1"/>
          <p:nvPr/>
        </p:nvSpPr>
        <p:spPr>
          <a:xfrm>
            <a:off x="2073402" y="2889504"/>
            <a:ext cx="1257300" cy="329184"/>
          </a:xfrm>
          <a:prstGeom prst="rect">
            <a:avLst/>
          </a:prstGeom>
          <a:noFill/>
          <a:ln/>
        </p:spPr>
        <p:txBody>
          <a:bodyPr wrap="square" lIns="0" tIns="0" rIns="0" bIns="0" rtlCol="0" anchor="ctr"/>
          <a:lstStyle/>
          <a:p>
            <a:pPr indent="0" marL="0">
              <a:buNone/>
            </a:pPr>
            <a:r>
              <a:rPr lang="en-US" sz="1050" b="1" dirty="0">
                <a:solidFill>
                  <a:srgbClr val="0B1F3A"/>
                </a:solidFill>
                <a:latin typeface="Calibri" pitchFamily="34" charset="0"/>
                <a:ea typeface="Calibri" pitchFamily="34" charset="-122"/>
                <a:cs typeface="Calibri" pitchFamily="34" charset="-120"/>
              </a:rPr>
              <a:t>Calibrating once</a:t>
            </a:r>
            <a:endParaRPr lang="en-US" sz="1050" dirty="0"/>
          </a:p>
        </p:txBody>
      </p:sp>
      <p:sp>
        <p:nvSpPr>
          <p:cNvPr id="29" name="Text 27"/>
          <p:cNvSpPr txBox="1"/>
          <p:nvPr/>
        </p:nvSpPr>
        <p:spPr>
          <a:xfrm>
            <a:off x="1643634" y="3255264"/>
            <a:ext cx="1659636" cy="1005840"/>
          </a:xfrm>
          <a:prstGeom prst="rect">
            <a:avLst/>
          </a:prstGeom>
          <a:noFill/>
          <a:ln/>
        </p:spPr>
        <p:txBody>
          <a:bodyPr wrap="square" lIns="0" tIns="0" rIns="0" bIns="0" rtlCol="0" anchor="t"/>
          <a:lstStyle/>
          <a:p>
            <a:pPr indent="0" marL="0">
              <a:buNone/>
            </a:pPr>
            <a:r>
              <a:rPr lang="en-US" sz="950" dirty="0">
                <a:solidFill>
                  <a:srgbClr val="14213D"/>
                </a:solidFill>
                <a:latin typeface="Calibri" pitchFamily="34" charset="0"/>
                <a:ea typeface="Calibri" pitchFamily="34" charset="-122"/>
                <a:cs typeface="Calibri" pitchFamily="34" charset="-120"/>
              </a:rPr>
              <a:t>Room-temperature calibration removes offset and gain, and nothing at all of the drift that follows.</a:t>
            </a:r>
            <a:endParaRPr lang="en-US" sz="950" dirty="0"/>
          </a:p>
        </p:txBody>
      </p:sp>
      <p:sp>
        <p:nvSpPr>
          <p:cNvPr id="30" name="Shape 28"/>
          <p:cNvSpPr/>
          <p:nvPr/>
        </p:nvSpPr>
        <p:spPr>
          <a:xfrm>
            <a:off x="3605022" y="2779776"/>
            <a:ext cx="1933956" cy="1554480"/>
          </a:xfrm>
          <a:prstGeom prst="roundRect">
            <a:avLst>
              <a:gd name="adj" fmla="val 4706"/>
            </a:avLst>
          </a:prstGeom>
          <a:solidFill>
            <a:srgbClr val="EEF3F8"/>
          </a:solidFill>
          <a:ln w="12700">
            <a:solidFill>
              <a:srgbClr val="EEF3F8"/>
            </a:solidFill>
            <a:prstDash val="solid"/>
          </a:ln>
        </p:spPr>
      </p:sp>
      <p:sp>
        <p:nvSpPr>
          <p:cNvPr id="31" name="Shape 29"/>
          <p:cNvSpPr/>
          <p:nvPr/>
        </p:nvSpPr>
        <p:spPr>
          <a:xfrm>
            <a:off x="3742182" y="2916936"/>
            <a:ext cx="329184" cy="329184"/>
          </a:xfrm>
          <a:prstGeom prst="ellipse">
            <a:avLst/>
          </a:prstGeom>
          <a:solidFill>
            <a:srgbClr val="E76F51"/>
          </a:solidFill>
          <a:ln w="12700">
            <a:solidFill>
              <a:srgbClr val="E76F51"/>
            </a:solidFill>
            <a:prstDash val="solid"/>
          </a:ln>
        </p:spPr>
      </p:sp>
      <p:sp>
        <p:nvSpPr>
          <p:cNvPr id="32" name="Text 30"/>
          <p:cNvSpPr txBox="1"/>
          <p:nvPr/>
        </p:nvSpPr>
        <p:spPr>
          <a:xfrm>
            <a:off x="3742182" y="2916936"/>
            <a:ext cx="329184" cy="329184"/>
          </a:xfrm>
          <a:prstGeom prst="rect">
            <a:avLst/>
          </a:prstGeom>
          <a:noFill/>
          <a:ln/>
        </p:spPr>
        <p:txBody>
          <a:bodyPr wrap="square" lIns="0" tIns="0" rIns="0" bIns="0" rtlCol="0" anchor="ctr"/>
          <a:lstStyle/>
          <a:p>
            <a:pPr algn="ctr" indent="0" marL="0">
              <a:buNone/>
            </a:pPr>
            <a:r>
              <a:rPr lang="en-US" sz="1200" b="1" dirty="0">
                <a:solidFill>
                  <a:srgbClr val="0B1F3A"/>
                </a:solidFill>
                <a:latin typeface="Calibri" pitchFamily="34" charset="0"/>
                <a:ea typeface="Calibri" pitchFamily="34" charset="-122"/>
                <a:cs typeface="Calibri" pitchFamily="34" charset="-120"/>
              </a:rPr>
              <a:t>6</a:t>
            </a:r>
            <a:endParaRPr lang="en-US" sz="1200" dirty="0"/>
          </a:p>
        </p:txBody>
      </p:sp>
      <p:sp>
        <p:nvSpPr>
          <p:cNvPr id="33" name="Text 31"/>
          <p:cNvSpPr txBox="1"/>
          <p:nvPr/>
        </p:nvSpPr>
        <p:spPr>
          <a:xfrm>
            <a:off x="4171950" y="2889504"/>
            <a:ext cx="1257300" cy="329184"/>
          </a:xfrm>
          <a:prstGeom prst="rect">
            <a:avLst/>
          </a:prstGeom>
          <a:noFill/>
          <a:ln/>
        </p:spPr>
        <p:txBody>
          <a:bodyPr wrap="square" lIns="0" tIns="0" rIns="0" bIns="0" rtlCol="0" anchor="ctr"/>
          <a:lstStyle/>
          <a:p>
            <a:pPr indent="0" marL="0">
              <a:buNone/>
            </a:pPr>
            <a:r>
              <a:rPr lang="en-US" sz="1050" b="1" dirty="0">
                <a:solidFill>
                  <a:srgbClr val="0B1F3A"/>
                </a:solidFill>
                <a:latin typeface="Calibri" pitchFamily="34" charset="0"/>
                <a:ea typeface="Calibri" pitchFamily="34" charset="-122"/>
                <a:cs typeface="Calibri" pitchFamily="34" charset="-120"/>
              </a:rPr>
              <a:t>THD with two signals</a:t>
            </a:r>
            <a:endParaRPr lang="en-US" sz="1050" dirty="0"/>
          </a:p>
        </p:txBody>
      </p:sp>
      <p:sp>
        <p:nvSpPr>
          <p:cNvPr id="34" name="Text 32"/>
          <p:cNvSpPr txBox="1"/>
          <p:nvPr/>
        </p:nvSpPr>
        <p:spPr>
          <a:xfrm>
            <a:off x="3742182" y="3255264"/>
            <a:ext cx="1659636" cy="1005840"/>
          </a:xfrm>
          <a:prstGeom prst="rect">
            <a:avLst/>
          </a:prstGeom>
          <a:noFill/>
          <a:ln/>
        </p:spPr>
        <p:txBody>
          <a:bodyPr wrap="square" lIns="0" tIns="0" rIns="0" bIns="0" rtlCol="0" anchor="t"/>
          <a:lstStyle/>
          <a:p>
            <a:pPr indent="0" marL="0">
              <a:buNone/>
            </a:pPr>
            <a:r>
              <a:rPr lang="en-US" sz="950" dirty="0">
                <a:solidFill>
                  <a:srgbClr val="14213D"/>
                </a:solidFill>
                <a:latin typeface="Calibri" pitchFamily="34" charset="0"/>
                <a:ea typeface="Calibri" pitchFamily="34" charset="-122"/>
                <a:cs typeface="Calibri" pitchFamily="34" charset="-120"/>
              </a:rPr>
              <a:t>Single-tone distortion can look excellent while two-tone IMD is poor. Receivers must be specified on IMD.</a:t>
            </a:r>
            <a:endParaRPr lang="en-US" sz="950" dirty="0"/>
          </a:p>
        </p:txBody>
      </p:sp>
      <p:sp>
        <p:nvSpPr>
          <p:cNvPr id="35" name="Shape 33"/>
          <p:cNvSpPr/>
          <p:nvPr/>
        </p:nvSpPr>
        <p:spPr>
          <a:xfrm>
            <a:off x="5703570" y="2779776"/>
            <a:ext cx="1933956" cy="1554480"/>
          </a:xfrm>
          <a:prstGeom prst="roundRect">
            <a:avLst>
              <a:gd name="adj" fmla="val 4706"/>
            </a:avLst>
          </a:prstGeom>
          <a:solidFill>
            <a:srgbClr val="EEF3F8"/>
          </a:solidFill>
          <a:ln w="12700">
            <a:solidFill>
              <a:srgbClr val="EEF3F8"/>
            </a:solidFill>
            <a:prstDash val="solid"/>
          </a:ln>
        </p:spPr>
      </p:sp>
      <p:sp>
        <p:nvSpPr>
          <p:cNvPr id="36" name="Shape 34"/>
          <p:cNvSpPr/>
          <p:nvPr/>
        </p:nvSpPr>
        <p:spPr>
          <a:xfrm>
            <a:off x="5840730" y="2916936"/>
            <a:ext cx="329184" cy="329184"/>
          </a:xfrm>
          <a:prstGeom prst="ellipse">
            <a:avLst/>
          </a:prstGeom>
          <a:solidFill>
            <a:srgbClr val="E76F51"/>
          </a:solidFill>
          <a:ln w="12700">
            <a:solidFill>
              <a:srgbClr val="E76F51"/>
            </a:solidFill>
            <a:prstDash val="solid"/>
          </a:ln>
        </p:spPr>
      </p:sp>
      <p:sp>
        <p:nvSpPr>
          <p:cNvPr id="37" name="Text 35"/>
          <p:cNvSpPr txBox="1"/>
          <p:nvPr/>
        </p:nvSpPr>
        <p:spPr>
          <a:xfrm>
            <a:off x="5840730" y="2916936"/>
            <a:ext cx="329184" cy="329184"/>
          </a:xfrm>
          <a:prstGeom prst="rect">
            <a:avLst/>
          </a:prstGeom>
          <a:noFill/>
          <a:ln/>
        </p:spPr>
        <p:txBody>
          <a:bodyPr wrap="square" lIns="0" tIns="0" rIns="0" bIns="0" rtlCol="0" anchor="ctr"/>
          <a:lstStyle/>
          <a:p>
            <a:pPr algn="ctr" indent="0" marL="0">
              <a:buNone/>
            </a:pPr>
            <a:r>
              <a:rPr lang="en-US" sz="1200" b="1" dirty="0">
                <a:solidFill>
                  <a:srgbClr val="0B1F3A"/>
                </a:solidFill>
                <a:latin typeface="Calibri" pitchFamily="34" charset="0"/>
                <a:ea typeface="Calibri" pitchFamily="34" charset="-122"/>
                <a:cs typeface="Calibri" pitchFamily="34" charset="-120"/>
              </a:rPr>
              <a:t>7</a:t>
            </a:r>
            <a:endParaRPr lang="en-US" sz="1200" dirty="0"/>
          </a:p>
        </p:txBody>
      </p:sp>
      <p:sp>
        <p:nvSpPr>
          <p:cNvPr id="38" name="Text 36"/>
          <p:cNvSpPr txBox="1"/>
          <p:nvPr/>
        </p:nvSpPr>
        <p:spPr>
          <a:xfrm>
            <a:off x="6270498" y="2889504"/>
            <a:ext cx="1257300" cy="329184"/>
          </a:xfrm>
          <a:prstGeom prst="rect">
            <a:avLst/>
          </a:prstGeom>
          <a:noFill/>
          <a:ln/>
        </p:spPr>
        <p:txBody>
          <a:bodyPr wrap="square" lIns="0" tIns="0" rIns="0" bIns="0" rtlCol="0" anchor="ctr"/>
          <a:lstStyle/>
          <a:p>
            <a:pPr indent="0" marL="0">
              <a:buNone/>
            </a:pPr>
            <a:r>
              <a:rPr lang="en-US" sz="1050" b="1" dirty="0">
                <a:solidFill>
                  <a:srgbClr val="0B1F3A"/>
                </a:solidFill>
                <a:latin typeface="Calibri" pitchFamily="34" charset="0"/>
                <a:ea typeface="Calibri" pitchFamily="34" charset="-122"/>
                <a:cs typeface="Calibri" pitchFamily="34" charset="-120"/>
              </a:rPr>
              <a:t>No headroom</a:t>
            </a:r>
            <a:endParaRPr lang="en-US" sz="1050" dirty="0"/>
          </a:p>
        </p:txBody>
      </p:sp>
      <p:sp>
        <p:nvSpPr>
          <p:cNvPr id="39" name="Text 37"/>
          <p:cNvSpPr txBox="1"/>
          <p:nvPr/>
        </p:nvSpPr>
        <p:spPr>
          <a:xfrm>
            <a:off x="5840730" y="3255264"/>
            <a:ext cx="1659636" cy="1005840"/>
          </a:xfrm>
          <a:prstGeom prst="rect">
            <a:avLst/>
          </a:prstGeom>
          <a:noFill/>
          <a:ln/>
        </p:spPr>
        <p:txBody>
          <a:bodyPr wrap="square" lIns="0" tIns="0" rIns="0" bIns="0" rtlCol="0" anchor="t"/>
          <a:lstStyle/>
          <a:p>
            <a:pPr indent="0" marL="0">
              <a:buNone/>
            </a:pPr>
            <a:r>
              <a:rPr lang="en-US" sz="950" dirty="0">
                <a:solidFill>
                  <a:srgbClr val="14213D"/>
                </a:solidFill>
                <a:latin typeface="Calibri" pitchFamily="34" charset="0"/>
                <a:ea typeface="Calibri" pitchFamily="34" charset="-122"/>
                <a:cs typeface="Calibri" pitchFamily="34" charset="-120"/>
              </a:rPr>
              <a:t>Running close to full scale to "use all the bits" means the first signal peak clips and fills the spectrum with harmonics.</a:t>
            </a:r>
            <a:endParaRPr lang="en-US" sz="95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0B1F3A"/>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502920"/>
          </a:xfrm>
          <a:prstGeom prst="rect">
            <a:avLst/>
          </a:prstGeom>
          <a:noFill/>
          <a:ln/>
        </p:spPr>
        <p:txBody>
          <a:bodyPr wrap="square" lIns="0" tIns="0" rIns="0" bIns="0"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Every parameter on one slide</a:t>
            </a:r>
            <a:endParaRPr lang="en-US" sz="2700" dirty="0"/>
          </a:p>
        </p:txBody>
      </p:sp>
      <p:graphicFrame>
        <p:nvGraphicFramePr>
          <p:cNvPr id="58" name="Table 0"/>
          <p:cNvGraphicFramePr>
            <a:graphicFrameLocks noGrp="1"/>
          </p:cNvGraphicFramePr>
          <p:nvPr>
            <p:extLst>
              <p:ext uri="{D42A27DB-BD31-4B8C-83A1-F6EECF244321}">
                <p14:modId xmlns:p14="http://schemas.microsoft.com/office/powerpoint/2010/main" val="1579011935"/>
              </p:ext>
            </p:extLst>
          </p:nvPr>
        </p:nvGraphicFramePr>
        <p:xfrm>
          <a:off x="457200" y="868680"/>
          <a:ext cx="4069080" cy="914400"/>
        </p:xfrm>
        <a:graphic>
          <a:graphicData uri="http://schemas.openxmlformats.org/drawingml/2006/table">
            <a:tbl>
              <a:tblPr/>
              <a:tblGrid>
                <a:gridCol w="1143000"/>
                <a:gridCol w="2926080"/>
              </a:tblGrid>
              <a:tr h="402336">
                <a:tc>
                  <a:txBody>
                    <a:bodyPr/>
                    <a:lstStyle/>
                    <a:p>
                      <a:pPr indent="0" marL="0">
                        <a:buNone/>
                      </a:pPr>
                      <a:r>
                        <a:rPr lang="en-US" sz="850" dirty="0">
                          <a:solidFill>
                            <a:srgbClr val="FFFFFF"/>
                          </a:solidFill>
                          <a:latin typeface="Calibri" pitchFamily="34" charset="0"/>
                          <a:ea typeface="Calibri" pitchFamily="34" charset="-122"/>
                          <a:cs typeface="Calibri" pitchFamily="34" charset="-120"/>
                        </a:rPr>
                        <a:t>Resolution</a:t>
                      </a:r>
                      <a:endParaRPr lang="en-US" sz="850" dirty="0">
                        <a:latin typeface="Calibri" charset="0"/>
                        <a:ea typeface="Calibri" charset="0"/>
                        <a:cs typeface="Calibri" charset="0"/>
                      </a:endParaRPr>
                    </a:p>
                  </a:txBody>
                  <a:tcPr marL="45720" marR="45720" marT="45720" marB="45720" anchor="ctr">
                    <a:lnL w="6350" cap="flat" cmpd="sng" algn="ctr">
                      <a:solidFill>
                        <a:srgbClr val="0B1F3A"/>
                      </a:solidFill>
                      <a:prstDash val="solid"/>
                      <a:round/>
                      <a:headEnd type="none" w="med" len="med"/>
                      <a:tailEnd type="none" w="med" len="med"/>
                    </a:lnL>
                    <a:lnR w="6350" cap="flat" cmpd="sng" algn="ctr">
                      <a:solidFill>
                        <a:srgbClr val="0B1F3A"/>
                      </a:solidFill>
                      <a:prstDash val="solid"/>
                      <a:round/>
                      <a:headEnd type="none" w="med" len="med"/>
                      <a:tailEnd type="none" w="med" len="med"/>
                    </a:lnR>
                    <a:lnT w="6350" cap="flat" cmpd="sng" algn="ctr">
                      <a:solidFill>
                        <a:srgbClr val="0B1F3A"/>
                      </a:solidFill>
                      <a:prstDash val="solid"/>
                      <a:round/>
                      <a:headEnd type="none" w="med" len="med"/>
                      <a:tailEnd type="none" w="med" len="med"/>
                    </a:lnT>
                    <a:lnB w="6350" cap="flat" cmpd="sng" algn="ctr">
                      <a:solidFill>
                        <a:srgbClr val="0B1F3A"/>
                      </a:solidFill>
                      <a:prstDash val="solid"/>
                      <a:round/>
                      <a:headEnd type="none" w="med" len="med"/>
                      <a:tailEnd type="none" w="med" len="med"/>
                    </a:lnB>
                    <a:solidFill>
                      <a:srgbClr val="13294B"/>
                    </a:solidFill>
                  </a:tcPr>
                </a:tc>
                <a:tc>
                  <a:txBody>
                    <a:bodyPr/>
                    <a:lstStyle/>
                    <a:p>
                      <a:pPr indent="0" marL="0">
                        <a:buNone/>
                      </a:pPr>
                      <a:r>
                        <a:rPr lang="en-US" sz="850" dirty="0">
                          <a:solidFill>
                            <a:srgbClr val="FFFFFF"/>
                          </a:solidFill>
                          <a:latin typeface="Cambria" pitchFamily="34" charset="0"/>
                          <a:ea typeface="Cambria" pitchFamily="34" charset="-122"/>
                          <a:cs typeface="Cambria" pitchFamily="34" charset="-120"/>
                        </a:rPr>
                        <a:t>levels = 2ᴺ;  LSB = FSR / 2ᴺ</a:t>
                      </a:r>
                      <a:endParaRPr lang="en-US" sz="850" dirty="0">
                        <a:latin typeface="Cambria" charset="0"/>
                        <a:ea typeface="Cambria" charset="0"/>
                        <a:cs typeface="Cambria" charset="0"/>
                      </a:endParaRPr>
                    </a:p>
                  </a:txBody>
                  <a:tcPr marL="45720" marR="45720" marT="45720" marB="45720" anchor="ctr">
                    <a:lnL w="6350" cap="flat" cmpd="sng" algn="ctr">
                      <a:solidFill>
                        <a:srgbClr val="0B1F3A"/>
                      </a:solidFill>
                      <a:prstDash val="solid"/>
                      <a:round/>
                      <a:headEnd type="none" w="med" len="med"/>
                      <a:tailEnd type="none" w="med" len="med"/>
                    </a:lnL>
                    <a:lnR w="6350" cap="flat" cmpd="sng" algn="ctr">
                      <a:solidFill>
                        <a:srgbClr val="0B1F3A"/>
                      </a:solidFill>
                      <a:prstDash val="solid"/>
                      <a:round/>
                      <a:headEnd type="none" w="med" len="med"/>
                      <a:tailEnd type="none" w="med" len="med"/>
                    </a:lnR>
                    <a:lnT w="6350" cap="flat" cmpd="sng" algn="ctr">
                      <a:solidFill>
                        <a:srgbClr val="0B1F3A"/>
                      </a:solidFill>
                      <a:prstDash val="solid"/>
                      <a:round/>
                      <a:headEnd type="none" w="med" len="med"/>
                      <a:tailEnd type="none" w="med" len="med"/>
                    </a:lnT>
                    <a:lnB w="6350" cap="flat" cmpd="sng" algn="ctr">
                      <a:solidFill>
                        <a:srgbClr val="0B1F3A"/>
                      </a:solidFill>
                      <a:prstDash val="solid"/>
                      <a:round/>
                      <a:headEnd type="none" w="med" len="med"/>
                      <a:tailEnd type="none" w="med" len="med"/>
                    </a:lnB>
                    <a:solidFill>
                      <a:srgbClr val="13294B"/>
                    </a:solidFill>
                  </a:tcPr>
                </a:tc>
              </a:tr>
              <a:tr h="402336">
                <a:tc>
                  <a:txBody>
                    <a:bodyPr/>
                    <a:lstStyle/>
                    <a:p>
                      <a:pPr indent="0" marL="0">
                        <a:buNone/>
                      </a:pPr>
                      <a:r>
                        <a:rPr lang="en-US" sz="850" dirty="0">
                          <a:solidFill>
                            <a:srgbClr val="FFFFFF"/>
                          </a:solidFill>
                          <a:latin typeface="Calibri" pitchFamily="34" charset="0"/>
                          <a:ea typeface="Calibri" pitchFamily="34" charset="-122"/>
                          <a:cs typeface="Calibri" pitchFamily="34" charset="-120"/>
                        </a:rPr>
                        <a:t>Quantisation</a:t>
                      </a:r>
                      <a:endParaRPr lang="en-US" sz="850" dirty="0">
                        <a:latin typeface="Calibri" charset="0"/>
                        <a:ea typeface="Calibri" charset="0"/>
                        <a:cs typeface="Calibri" charset="0"/>
                      </a:endParaRPr>
                    </a:p>
                  </a:txBody>
                  <a:tcPr marL="45720" marR="45720" marT="45720" marB="45720" anchor="ctr">
                    <a:lnL w="6350" cap="flat" cmpd="sng" algn="ctr">
                      <a:solidFill>
                        <a:srgbClr val="0B1F3A"/>
                      </a:solidFill>
                      <a:prstDash val="solid"/>
                      <a:round/>
                      <a:headEnd type="none" w="med" len="med"/>
                      <a:tailEnd type="none" w="med" len="med"/>
                    </a:lnL>
                    <a:lnR w="6350" cap="flat" cmpd="sng" algn="ctr">
                      <a:solidFill>
                        <a:srgbClr val="0B1F3A"/>
                      </a:solidFill>
                      <a:prstDash val="solid"/>
                      <a:round/>
                      <a:headEnd type="none" w="med" len="med"/>
                      <a:tailEnd type="none" w="med" len="med"/>
                    </a:lnR>
                    <a:lnT w="6350" cap="flat" cmpd="sng" algn="ctr">
                      <a:solidFill>
                        <a:srgbClr val="0B1F3A"/>
                      </a:solidFill>
                      <a:prstDash val="solid"/>
                      <a:round/>
                      <a:headEnd type="none" w="med" len="med"/>
                      <a:tailEnd type="none" w="med" len="med"/>
                    </a:lnT>
                    <a:lnB w="6350" cap="flat" cmpd="sng" algn="ctr">
                      <a:solidFill>
                        <a:srgbClr val="0B1F3A"/>
                      </a:solidFill>
                      <a:prstDash val="solid"/>
                      <a:round/>
                      <a:headEnd type="none" w="med" len="med"/>
                      <a:tailEnd type="none" w="med" len="med"/>
                    </a:lnB>
                    <a:solidFill>
                      <a:srgbClr val="13294B"/>
                    </a:solidFill>
                  </a:tcPr>
                </a:tc>
                <a:tc>
                  <a:txBody>
                    <a:bodyPr/>
                    <a:lstStyle/>
                    <a:p>
                      <a:pPr indent="0" marL="0">
                        <a:buNone/>
                      </a:pPr>
                      <a:r>
                        <a:rPr lang="en-US" sz="850" dirty="0">
                          <a:solidFill>
                            <a:srgbClr val="FFFFFF"/>
                          </a:solidFill>
                          <a:latin typeface="Cambria" pitchFamily="34" charset="0"/>
                          <a:ea typeface="Cambria" pitchFamily="34" charset="-122"/>
                          <a:cs typeface="Cambria" pitchFamily="34" charset="-120"/>
                        </a:rPr>
                        <a:t>−½ ≤ e_q &lt; +½ LSB;  noise power = LSB²/12</a:t>
                      </a:r>
                      <a:endParaRPr lang="en-US" sz="850" dirty="0">
                        <a:latin typeface="Cambria" charset="0"/>
                        <a:ea typeface="Cambria" charset="0"/>
                        <a:cs typeface="Cambria" charset="0"/>
                      </a:endParaRPr>
                    </a:p>
                  </a:txBody>
                  <a:tcPr marL="45720" marR="45720" marT="45720" marB="45720" anchor="ctr">
                    <a:lnL w="6350" cap="flat" cmpd="sng" algn="ctr">
                      <a:solidFill>
                        <a:srgbClr val="0B1F3A"/>
                      </a:solidFill>
                      <a:prstDash val="solid"/>
                      <a:round/>
                      <a:headEnd type="none" w="med" len="med"/>
                      <a:tailEnd type="none" w="med" len="med"/>
                    </a:lnL>
                    <a:lnR w="6350" cap="flat" cmpd="sng" algn="ctr">
                      <a:solidFill>
                        <a:srgbClr val="0B1F3A"/>
                      </a:solidFill>
                      <a:prstDash val="solid"/>
                      <a:round/>
                      <a:headEnd type="none" w="med" len="med"/>
                      <a:tailEnd type="none" w="med" len="med"/>
                    </a:lnR>
                    <a:lnT w="6350" cap="flat" cmpd="sng" algn="ctr">
                      <a:solidFill>
                        <a:srgbClr val="0B1F3A"/>
                      </a:solidFill>
                      <a:prstDash val="solid"/>
                      <a:round/>
                      <a:headEnd type="none" w="med" len="med"/>
                      <a:tailEnd type="none" w="med" len="med"/>
                    </a:lnT>
                    <a:lnB w="6350" cap="flat" cmpd="sng" algn="ctr">
                      <a:solidFill>
                        <a:srgbClr val="0B1F3A"/>
                      </a:solidFill>
                      <a:prstDash val="solid"/>
                      <a:round/>
                      <a:headEnd type="none" w="med" len="med"/>
                      <a:tailEnd type="none" w="med" len="med"/>
                    </a:lnB>
                    <a:solidFill>
                      <a:srgbClr val="13294B"/>
                    </a:solidFill>
                  </a:tcPr>
                </a:tc>
              </a:tr>
              <a:tr h="402336">
                <a:tc>
                  <a:txBody>
                    <a:bodyPr/>
                    <a:lstStyle/>
                    <a:p>
                      <a:pPr indent="0" marL="0">
                        <a:buNone/>
                      </a:pPr>
                      <a:r>
                        <a:rPr lang="en-US" sz="850" dirty="0">
                          <a:solidFill>
                            <a:srgbClr val="FFFFFF"/>
                          </a:solidFill>
                          <a:latin typeface="Calibri" pitchFamily="34" charset="0"/>
                          <a:ea typeface="Calibri" pitchFamily="34" charset="-122"/>
                          <a:cs typeface="Calibri" pitchFamily="34" charset="-120"/>
                        </a:rPr>
                        <a:t>Offset / gain</a:t>
                      </a:r>
                      <a:endParaRPr lang="en-US" sz="850" dirty="0">
                        <a:latin typeface="Calibri" charset="0"/>
                        <a:ea typeface="Calibri" charset="0"/>
                        <a:cs typeface="Calibri" charset="0"/>
                      </a:endParaRPr>
                    </a:p>
                  </a:txBody>
                  <a:tcPr marL="45720" marR="45720" marT="45720" marB="45720" anchor="ctr">
                    <a:lnL w="6350" cap="flat" cmpd="sng" algn="ctr">
                      <a:solidFill>
                        <a:srgbClr val="0B1F3A"/>
                      </a:solidFill>
                      <a:prstDash val="solid"/>
                      <a:round/>
                      <a:headEnd type="none" w="med" len="med"/>
                      <a:tailEnd type="none" w="med" len="med"/>
                    </a:lnL>
                    <a:lnR w="6350" cap="flat" cmpd="sng" algn="ctr">
                      <a:solidFill>
                        <a:srgbClr val="0B1F3A"/>
                      </a:solidFill>
                      <a:prstDash val="solid"/>
                      <a:round/>
                      <a:headEnd type="none" w="med" len="med"/>
                      <a:tailEnd type="none" w="med" len="med"/>
                    </a:lnR>
                    <a:lnT w="6350" cap="flat" cmpd="sng" algn="ctr">
                      <a:solidFill>
                        <a:srgbClr val="0B1F3A"/>
                      </a:solidFill>
                      <a:prstDash val="solid"/>
                      <a:round/>
                      <a:headEnd type="none" w="med" len="med"/>
                      <a:tailEnd type="none" w="med" len="med"/>
                    </a:lnT>
                    <a:lnB w="6350" cap="flat" cmpd="sng" algn="ctr">
                      <a:solidFill>
                        <a:srgbClr val="0B1F3A"/>
                      </a:solidFill>
                      <a:prstDash val="solid"/>
                      <a:round/>
                      <a:headEnd type="none" w="med" len="med"/>
                      <a:tailEnd type="none" w="med" len="med"/>
                    </a:lnB>
                    <a:solidFill>
                      <a:srgbClr val="13294B"/>
                    </a:solidFill>
                  </a:tcPr>
                </a:tc>
                <a:tc>
                  <a:txBody>
                    <a:bodyPr/>
                    <a:lstStyle/>
                    <a:p>
                      <a:pPr indent="0" marL="0">
                        <a:buNone/>
                      </a:pPr>
                      <a:r>
                        <a:rPr lang="en-US" sz="850" dirty="0">
                          <a:solidFill>
                            <a:srgbClr val="FFFFFF"/>
                          </a:solidFill>
                          <a:latin typeface="Cambria" pitchFamily="34" charset="0"/>
                          <a:ea typeface="Cambria" pitchFamily="34" charset="-122"/>
                          <a:cs typeface="Cambria" pitchFamily="34" charset="-120"/>
                        </a:rPr>
                        <a:t>shift of the staircase / wrong slope; both calibratable</a:t>
                      </a:r>
                      <a:endParaRPr lang="en-US" sz="850" dirty="0">
                        <a:latin typeface="Cambria" charset="0"/>
                        <a:ea typeface="Cambria" charset="0"/>
                        <a:cs typeface="Cambria" charset="0"/>
                      </a:endParaRPr>
                    </a:p>
                  </a:txBody>
                  <a:tcPr marL="45720" marR="45720" marT="45720" marB="45720" anchor="ctr">
                    <a:lnL w="6350" cap="flat" cmpd="sng" algn="ctr">
                      <a:solidFill>
                        <a:srgbClr val="0B1F3A"/>
                      </a:solidFill>
                      <a:prstDash val="solid"/>
                      <a:round/>
                      <a:headEnd type="none" w="med" len="med"/>
                      <a:tailEnd type="none" w="med" len="med"/>
                    </a:lnL>
                    <a:lnR w="6350" cap="flat" cmpd="sng" algn="ctr">
                      <a:solidFill>
                        <a:srgbClr val="0B1F3A"/>
                      </a:solidFill>
                      <a:prstDash val="solid"/>
                      <a:round/>
                      <a:headEnd type="none" w="med" len="med"/>
                      <a:tailEnd type="none" w="med" len="med"/>
                    </a:lnR>
                    <a:lnT w="6350" cap="flat" cmpd="sng" algn="ctr">
                      <a:solidFill>
                        <a:srgbClr val="0B1F3A"/>
                      </a:solidFill>
                      <a:prstDash val="solid"/>
                      <a:round/>
                      <a:headEnd type="none" w="med" len="med"/>
                      <a:tailEnd type="none" w="med" len="med"/>
                    </a:lnT>
                    <a:lnB w="6350" cap="flat" cmpd="sng" algn="ctr">
                      <a:solidFill>
                        <a:srgbClr val="0B1F3A"/>
                      </a:solidFill>
                      <a:prstDash val="solid"/>
                      <a:round/>
                      <a:headEnd type="none" w="med" len="med"/>
                      <a:tailEnd type="none" w="med" len="med"/>
                    </a:lnB>
                    <a:solidFill>
                      <a:srgbClr val="13294B"/>
                    </a:solidFill>
                  </a:tcPr>
                </a:tc>
              </a:tr>
              <a:tr h="402336">
                <a:tc>
                  <a:txBody>
                    <a:bodyPr/>
                    <a:lstStyle/>
                    <a:p>
                      <a:pPr indent="0" marL="0">
                        <a:buNone/>
                      </a:pPr>
                      <a:r>
                        <a:rPr lang="en-US" sz="850" dirty="0">
                          <a:solidFill>
                            <a:srgbClr val="FFFFFF"/>
                          </a:solidFill>
                          <a:latin typeface="Calibri" pitchFamily="34" charset="0"/>
                          <a:ea typeface="Calibri" pitchFamily="34" charset="-122"/>
                          <a:cs typeface="Calibri" pitchFamily="34" charset="-120"/>
                        </a:rPr>
                        <a:t>DNL</a:t>
                      </a:r>
                      <a:endParaRPr lang="en-US" sz="850" dirty="0">
                        <a:latin typeface="Calibri" charset="0"/>
                        <a:ea typeface="Calibri" charset="0"/>
                        <a:cs typeface="Calibri" charset="0"/>
                      </a:endParaRPr>
                    </a:p>
                  </a:txBody>
                  <a:tcPr marL="45720" marR="45720" marT="45720" marB="45720" anchor="ctr">
                    <a:lnL w="6350" cap="flat" cmpd="sng" algn="ctr">
                      <a:solidFill>
                        <a:srgbClr val="0B1F3A"/>
                      </a:solidFill>
                      <a:prstDash val="solid"/>
                      <a:round/>
                      <a:headEnd type="none" w="med" len="med"/>
                      <a:tailEnd type="none" w="med" len="med"/>
                    </a:lnL>
                    <a:lnR w="6350" cap="flat" cmpd="sng" algn="ctr">
                      <a:solidFill>
                        <a:srgbClr val="0B1F3A"/>
                      </a:solidFill>
                      <a:prstDash val="solid"/>
                      <a:round/>
                      <a:headEnd type="none" w="med" len="med"/>
                      <a:tailEnd type="none" w="med" len="med"/>
                    </a:lnR>
                    <a:lnT w="6350" cap="flat" cmpd="sng" algn="ctr">
                      <a:solidFill>
                        <a:srgbClr val="0B1F3A"/>
                      </a:solidFill>
                      <a:prstDash val="solid"/>
                      <a:round/>
                      <a:headEnd type="none" w="med" len="med"/>
                      <a:tailEnd type="none" w="med" len="med"/>
                    </a:lnT>
                    <a:lnB w="6350" cap="flat" cmpd="sng" algn="ctr">
                      <a:solidFill>
                        <a:srgbClr val="0B1F3A"/>
                      </a:solidFill>
                      <a:prstDash val="solid"/>
                      <a:round/>
                      <a:headEnd type="none" w="med" len="med"/>
                      <a:tailEnd type="none" w="med" len="med"/>
                    </a:lnB>
                    <a:solidFill>
                      <a:srgbClr val="13294B"/>
                    </a:solidFill>
                  </a:tcPr>
                </a:tc>
                <a:tc>
                  <a:txBody>
                    <a:bodyPr/>
                    <a:lstStyle/>
                    <a:p>
                      <a:pPr indent="0" marL="0">
                        <a:buNone/>
                      </a:pPr>
                      <a:r>
                        <a:rPr lang="en-US" sz="850" dirty="0">
                          <a:solidFill>
                            <a:srgbClr val="FFFFFF"/>
                          </a:solidFill>
                          <a:latin typeface="Cambria" pitchFamily="34" charset="0"/>
                          <a:ea typeface="Cambria" pitchFamily="34" charset="-122"/>
                          <a:cs typeface="Cambria" pitchFamily="34" charset="-120"/>
                        </a:rPr>
                        <a:t>step width / LSB − 1;  ≤ −1 LSB means a missing code</a:t>
                      </a:r>
                      <a:endParaRPr lang="en-US" sz="850" dirty="0">
                        <a:latin typeface="Cambria" charset="0"/>
                        <a:ea typeface="Cambria" charset="0"/>
                        <a:cs typeface="Cambria" charset="0"/>
                      </a:endParaRPr>
                    </a:p>
                  </a:txBody>
                  <a:tcPr marL="45720" marR="45720" marT="45720" marB="45720" anchor="ctr">
                    <a:lnL w="6350" cap="flat" cmpd="sng" algn="ctr">
                      <a:solidFill>
                        <a:srgbClr val="0B1F3A"/>
                      </a:solidFill>
                      <a:prstDash val="solid"/>
                      <a:round/>
                      <a:headEnd type="none" w="med" len="med"/>
                      <a:tailEnd type="none" w="med" len="med"/>
                    </a:lnL>
                    <a:lnR w="6350" cap="flat" cmpd="sng" algn="ctr">
                      <a:solidFill>
                        <a:srgbClr val="0B1F3A"/>
                      </a:solidFill>
                      <a:prstDash val="solid"/>
                      <a:round/>
                      <a:headEnd type="none" w="med" len="med"/>
                      <a:tailEnd type="none" w="med" len="med"/>
                    </a:lnR>
                    <a:lnT w="6350" cap="flat" cmpd="sng" algn="ctr">
                      <a:solidFill>
                        <a:srgbClr val="0B1F3A"/>
                      </a:solidFill>
                      <a:prstDash val="solid"/>
                      <a:round/>
                      <a:headEnd type="none" w="med" len="med"/>
                      <a:tailEnd type="none" w="med" len="med"/>
                    </a:lnT>
                    <a:lnB w="6350" cap="flat" cmpd="sng" algn="ctr">
                      <a:solidFill>
                        <a:srgbClr val="0B1F3A"/>
                      </a:solidFill>
                      <a:prstDash val="solid"/>
                      <a:round/>
                      <a:headEnd type="none" w="med" len="med"/>
                      <a:tailEnd type="none" w="med" len="med"/>
                    </a:lnB>
                    <a:solidFill>
                      <a:srgbClr val="13294B"/>
                    </a:solidFill>
                  </a:tcPr>
                </a:tc>
              </a:tr>
              <a:tr h="402336">
                <a:tc>
                  <a:txBody>
                    <a:bodyPr/>
                    <a:lstStyle/>
                    <a:p>
                      <a:pPr indent="0" marL="0">
                        <a:buNone/>
                      </a:pPr>
                      <a:r>
                        <a:rPr lang="en-US" sz="850" dirty="0">
                          <a:solidFill>
                            <a:srgbClr val="FFFFFF"/>
                          </a:solidFill>
                          <a:latin typeface="Calibri" pitchFamily="34" charset="0"/>
                          <a:ea typeface="Calibri" pitchFamily="34" charset="-122"/>
                          <a:cs typeface="Calibri" pitchFamily="34" charset="-120"/>
                        </a:rPr>
                        <a:t>INL</a:t>
                      </a:r>
                      <a:endParaRPr lang="en-US" sz="850" dirty="0">
                        <a:latin typeface="Calibri" charset="0"/>
                        <a:ea typeface="Calibri" charset="0"/>
                        <a:cs typeface="Calibri" charset="0"/>
                      </a:endParaRPr>
                    </a:p>
                  </a:txBody>
                  <a:tcPr marL="45720" marR="45720" marT="45720" marB="45720" anchor="ctr">
                    <a:lnL w="6350" cap="flat" cmpd="sng" algn="ctr">
                      <a:solidFill>
                        <a:srgbClr val="0B1F3A"/>
                      </a:solidFill>
                      <a:prstDash val="solid"/>
                      <a:round/>
                      <a:headEnd type="none" w="med" len="med"/>
                      <a:tailEnd type="none" w="med" len="med"/>
                    </a:lnL>
                    <a:lnR w="6350" cap="flat" cmpd="sng" algn="ctr">
                      <a:solidFill>
                        <a:srgbClr val="0B1F3A"/>
                      </a:solidFill>
                      <a:prstDash val="solid"/>
                      <a:round/>
                      <a:headEnd type="none" w="med" len="med"/>
                      <a:tailEnd type="none" w="med" len="med"/>
                    </a:lnR>
                    <a:lnT w="6350" cap="flat" cmpd="sng" algn="ctr">
                      <a:solidFill>
                        <a:srgbClr val="0B1F3A"/>
                      </a:solidFill>
                      <a:prstDash val="solid"/>
                      <a:round/>
                      <a:headEnd type="none" w="med" len="med"/>
                      <a:tailEnd type="none" w="med" len="med"/>
                    </a:lnT>
                    <a:lnB w="6350" cap="flat" cmpd="sng" algn="ctr">
                      <a:solidFill>
                        <a:srgbClr val="0B1F3A"/>
                      </a:solidFill>
                      <a:prstDash val="solid"/>
                      <a:round/>
                      <a:headEnd type="none" w="med" len="med"/>
                      <a:tailEnd type="none" w="med" len="med"/>
                    </a:lnB>
                    <a:solidFill>
                      <a:srgbClr val="13294B"/>
                    </a:solidFill>
                  </a:tcPr>
                </a:tc>
                <a:tc>
                  <a:txBody>
                    <a:bodyPr/>
                    <a:lstStyle/>
                    <a:p>
                      <a:pPr indent="0" marL="0">
                        <a:buNone/>
                      </a:pPr>
                      <a:r>
                        <a:rPr lang="en-US" sz="850" dirty="0">
                          <a:solidFill>
                            <a:srgbClr val="FFFFFF"/>
                          </a:solidFill>
                          <a:latin typeface="Cambria" pitchFamily="34" charset="0"/>
                          <a:ea typeface="Cambria" pitchFamily="34" charset="-122"/>
                          <a:cs typeface="Cambria" pitchFamily="34" charset="-120"/>
                        </a:rPr>
                        <a:t>Σ DNL;  sets the distortion floor, so it caps SFDR</a:t>
                      </a:r>
                      <a:endParaRPr lang="en-US" sz="850" dirty="0">
                        <a:latin typeface="Cambria" charset="0"/>
                        <a:ea typeface="Cambria" charset="0"/>
                        <a:cs typeface="Cambria" charset="0"/>
                      </a:endParaRPr>
                    </a:p>
                  </a:txBody>
                  <a:tcPr marL="45720" marR="45720" marT="45720" marB="45720" anchor="ctr">
                    <a:lnL w="6350" cap="flat" cmpd="sng" algn="ctr">
                      <a:solidFill>
                        <a:srgbClr val="0B1F3A"/>
                      </a:solidFill>
                      <a:prstDash val="solid"/>
                      <a:round/>
                      <a:headEnd type="none" w="med" len="med"/>
                      <a:tailEnd type="none" w="med" len="med"/>
                    </a:lnL>
                    <a:lnR w="6350" cap="flat" cmpd="sng" algn="ctr">
                      <a:solidFill>
                        <a:srgbClr val="0B1F3A"/>
                      </a:solidFill>
                      <a:prstDash val="solid"/>
                      <a:round/>
                      <a:headEnd type="none" w="med" len="med"/>
                      <a:tailEnd type="none" w="med" len="med"/>
                    </a:lnR>
                    <a:lnT w="6350" cap="flat" cmpd="sng" algn="ctr">
                      <a:solidFill>
                        <a:srgbClr val="0B1F3A"/>
                      </a:solidFill>
                      <a:prstDash val="solid"/>
                      <a:round/>
                      <a:headEnd type="none" w="med" len="med"/>
                      <a:tailEnd type="none" w="med" len="med"/>
                    </a:lnT>
                    <a:lnB w="6350" cap="flat" cmpd="sng" algn="ctr">
                      <a:solidFill>
                        <a:srgbClr val="0B1F3A"/>
                      </a:solidFill>
                      <a:prstDash val="solid"/>
                      <a:round/>
                      <a:headEnd type="none" w="med" len="med"/>
                      <a:tailEnd type="none" w="med" len="med"/>
                    </a:lnB>
                    <a:solidFill>
                      <a:srgbClr val="13294B"/>
                    </a:solidFill>
                  </a:tcPr>
                </a:tc>
              </a:tr>
              <a:tr h="402336">
                <a:tc>
                  <a:txBody>
                    <a:bodyPr/>
                    <a:lstStyle/>
                    <a:p>
                      <a:pPr indent="0" marL="0">
                        <a:buNone/>
                      </a:pPr>
                      <a:r>
                        <a:rPr lang="en-US" sz="850" dirty="0">
                          <a:solidFill>
                            <a:srgbClr val="FFFFFF"/>
                          </a:solidFill>
                          <a:latin typeface="Calibri" pitchFamily="34" charset="0"/>
                          <a:ea typeface="Calibri" pitchFamily="34" charset="-122"/>
                          <a:cs typeface="Calibri" pitchFamily="34" charset="-120"/>
                        </a:rPr>
                        <a:t>TUE</a:t>
                      </a:r>
                      <a:endParaRPr lang="en-US" sz="850" dirty="0">
                        <a:latin typeface="Calibri" charset="0"/>
                        <a:ea typeface="Calibri" charset="0"/>
                        <a:cs typeface="Calibri" charset="0"/>
                      </a:endParaRPr>
                    </a:p>
                  </a:txBody>
                  <a:tcPr marL="45720" marR="45720" marT="45720" marB="45720" anchor="ctr">
                    <a:lnL w="6350" cap="flat" cmpd="sng" algn="ctr">
                      <a:solidFill>
                        <a:srgbClr val="0B1F3A"/>
                      </a:solidFill>
                      <a:prstDash val="solid"/>
                      <a:round/>
                      <a:headEnd type="none" w="med" len="med"/>
                      <a:tailEnd type="none" w="med" len="med"/>
                    </a:lnL>
                    <a:lnR w="6350" cap="flat" cmpd="sng" algn="ctr">
                      <a:solidFill>
                        <a:srgbClr val="0B1F3A"/>
                      </a:solidFill>
                      <a:prstDash val="solid"/>
                      <a:round/>
                      <a:headEnd type="none" w="med" len="med"/>
                      <a:tailEnd type="none" w="med" len="med"/>
                    </a:lnR>
                    <a:lnT w="6350" cap="flat" cmpd="sng" algn="ctr">
                      <a:solidFill>
                        <a:srgbClr val="0B1F3A"/>
                      </a:solidFill>
                      <a:prstDash val="solid"/>
                      <a:round/>
                      <a:headEnd type="none" w="med" len="med"/>
                      <a:tailEnd type="none" w="med" len="med"/>
                    </a:lnT>
                    <a:lnB w="6350" cap="flat" cmpd="sng" algn="ctr">
                      <a:solidFill>
                        <a:srgbClr val="0B1F3A"/>
                      </a:solidFill>
                      <a:prstDash val="solid"/>
                      <a:round/>
                      <a:headEnd type="none" w="med" len="med"/>
                      <a:tailEnd type="none" w="med" len="med"/>
                    </a:lnB>
                    <a:solidFill>
                      <a:srgbClr val="13294B"/>
                    </a:solidFill>
                  </a:tcPr>
                </a:tc>
                <a:tc>
                  <a:txBody>
                    <a:bodyPr/>
                    <a:lstStyle/>
                    <a:p>
                      <a:pPr indent="0" marL="0">
                        <a:buNone/>
                      </a:pPr>
                      <a:r>
                        <a:rPr lang="en-US" sz="850" dirty="0">
                          <a:solidFill>
                            <a:srgbClr val="FFFFFF"/>
                          </a:solidFill>
                          <a:latin typeface="Cambria" pitchFamily="34" charset="0"/>
                          <a:ea typeface="Cambria" pitchFamily="34" charset="-122"/>
                          <a:cs typeface="Cambria" pitchFamily="34" charset="-120"/>
                        </a:rPr>
                        <a:t>√(E_O² + E_G² + INL² + …) for an uncalibrated system</a:t>
                      </a:r>
                      <a:endParaRPr lang="en-US" sz="850" dirty="0">
                        <a:latin typeface="Cambria" charset="0"/>
                        <a:ea typeface="Cambria" charset="0"/>
                        <a:cs typeface="Cambria" charset="0"/>
                      </a:endParaRPr>
                    </a:p>
                  </a:txBody>
                  <a:tcPr marL="45720" marR="45720" marT="45720" marB="45720" anchor="ctr">
                    <a:lnL w="6350" cap="flat" cmpd="sng" algn="ctr">
                      <a:solidFill>
                        <a:srgbClr val="0B1F3A"/>
                      </a:solidFill>
                      <a:prstDash val="solid"/>
                      <a:round/>
                      <a:headEnd type="none" w="med" len="med"/>
                      <a:tailEnd type="none" w="med" len="med"/>
                    </a:lnL>
                    <a:lnR w="6350" cap="flat" cmpd="sng" algn="ctr">
                      <a:solidFill>
                        <a:srgbClr val="0B1F3A"/>
                      </a:solidFill>
                      <a:prstDash val="solid"/>
                      <a:round/>
                      <a:headEnd type="none" w="med" len="med"/>
                      <a:tailEnd type="none" w="med" len="med"/>
                    </a:lnR>
                    <a:lnT w="6350" cap="flat" cmpd="sng" algn="ctr">
                      <a:solidFill>
                        <a:srgbClr val="0B1F3A"/>
                      </a:solidFill>
                      <a:prstDash val="solid"/>
                      <a:round/>
                      <a:headEnd type="none" w="med" len="med"/>
                      <a:tailEnd type="none" w="med" len="med"/>
                    </a:lnT>
                    <a:lnB w="6350" cap="flat" cmpd="sng" algn="ctr">
                      <a:solidFill>
                        <a:srgbClr val="0B1F3A"/>
                      </a:solidFill>
                      <a:prstDash val="solid"/>
                      <a:round/>
                      <a:headEnd type="none" w="med" len="med"/>
                      <a:tailEnd type="none" w="med" len="med"/>
                    </a:lnB>
                    <a:solidFill>
                      <a:srgbClr val="13294B"/>
                    </a:solidFill>
                  </a:tcPr>
                </a:tc>
              </a:tr>
              <a:tr h="402336">
                <a:tc>
                  <a:txBody>
                    <a:bodyPr/>
                    <a:lstStyle/>
                    <a:p>
                      <a:pPr indent="0" marL="0">
                        <a:buNone/>
                      </a:pPr>
                      <a:r>
                        <a:rPr lang="en-US" sz="850" dirty="0">
                          <a:solidFill>
                            <a:srgbClr val="FFFFFF"/>
                          </a:solidFill>
                          <a:latin typeface="Calibri" pitchFamily="34" charset="0"/>
                          <a:ea typeface="Calibri" pitchFamily="34" charset="-122"/>
                          <a:cs typeface="Calibri" pitchFamily="34" charset="-120"/>
                        </a:rPr>
                        <a:t>SNR</a:t>
                      </a:r>
                      <a:endParaRPr lang="en-US" sz="850" dirty="0">
                        <a:latin typeface="Calibri" charset="0"/>
                        <a:ea typeface="Calibri" charset="0"/>
                        <a:cs typeface="Calibri" charset="0"/>
                      </a:endParaRPr>
                    </a:p>
                  </a:txBody>
                  <a:tcPr marL="45720" marR="45720" marT="45720" marB="45720" anchor="ctr">
                    <a:lnL w="6350" cap="flat" cmpd="sng" algn="ctr">
                      <a:solidFill>
                        <a:srgbClr val="0B1F3A"/>
                      </a:solidFill>
                      <a:prstDash val="solid"/>
                      <a:round/>
                      <a:headEnd type="none" w="med" len="med"/>
                      <a:tailEnd type="none" w="med" len="med"/>
                    </a:lnL>
                    <a:lnR w="6350" cap="flat" cmpd="sng" algn="ctr">
                      <a:solidFill>
                        <a:srgbClr val="0B1F3A"/>
                      </a:solidFill>
                      <a:prstDash val="solid"/>
                      <a:round/>
                      <a:headEnd type="none" w="med" len="med"/>
                      <a:tailEnd type="none" w="med" len="med"/>
                    </a:lnR>
                    <a:lnT w="6350" cap="flat" cmpd="sng" algn="ctr">
                      <a:solidFill>
                        <a:srgbClr val="0B1F3A"/>
                      </a:solidFill>
                      <a:prstDash val="solid"/>
                      <a:round/>
                      <a:headEnd type="none" w="med" len="med"/>
                      <a:tailEnd type="none" w="med" len="med"/>
                    </a:lnT>
                    <a:lnB w="6350" cap="flat" cmpd="sng" algn="ctr">
                      <a:solidFill>
                        <a:srgbClr val="0B1F3A"/>
                      </a:solidFill>
                      <a:prstDash val="solid"/>
                      <a:round/>
                      <a:headEnd type="none" w="med" len="med"/>
                      <a:tailEnd type="none" w="med" len="med"/>
                    </a:lnB>
                    <a:solidFill>
                      <a:srgbClr val="13294B"/>
                    </a:solidFill>
                  </a:tcPr>
                </a:tc>
                <a:tc>
                  <a:txBody>
                    <a:bodyPr/>
                    <a:lstStyle/>
                    <a:p>
                      <a:pPr indent="0" marL="0">
                        <a:buNone/>
                      </a:pPr>
                      <a:r>
                        <a:rPr lang="en-US" sz="850" dirty="0">
                          <a:solidFill>
                            <a:srgbClr val="FFFFFF"/>
                          </a:solidFill>
                          <a:latin typeface="Cambria" pitchFamily="34" charset="0"/>
                          <a:ea typeface="Cambria" pitchFamily="34" charset="-122"/>
                          <a:cs typeface="Cambria" pitchFamily="34" charset="-120"/>
                        </a:rPr>
                        <a:t>6.02 N + 1.76 dB ideal;  harmonics excluded</a:t>
                      </a:r>
                      <a:endParaRPr lang="en-US" sz="850" dirty="0">
                        <a:latin typeface="Cambria" charset="0"/>
                        <a:ea typeface="Cambria" charset="0"/>
                        <a:cs typeface="Cambria" charset="0"/>
                      </a:endParaRPr>
                    </a:p>
                  </a:txBody>
                  <a:tcPr marL="45720" marR="45720" marT="45720" marB="45720" anchor="ctr">
                    <a:lnL w="6350" cap="flat" cmpd="sng" algn="ctr">
                      <a:solidFill>
                        <a:srgbClr val="0B1F3A"/>
                      </a:solidFill>
                      <a:prstDash val="solid"/>
                      <a:round/>
                      <a:headEnd type="none" w="med" len="med"/>
                      <a:tailEnd type="none" w="med" len="med"/>
                    </a:lnL>
                    <a:lnR w="6350" cap="flat" cmpd="sng" algn="ctr">
                      <a:solidFill>
                        <a:srgbClr val="0B1F3A"/>
                      </a:solidFill>
                      <a:prstDash val="solid"/>
                      <a:round/>
                      <a:headEnd type="none" w="med" len="med"/>
                      <a:tailEnd type="none" w="med" len="med"/>
                    </a:lnR>
                    <a:lnT w="6350" cap="flat" cmpd="sng" algn="ctr">
                      <a:solidFill>
                        <a:srgbClr val="0B1F3A"/>
                      </a:solidFill>
                      <a:prstDash val="solid"/>
                      <a:round/>
                      <a:headEnd type="none" w="med" len="med"/>
                      <a:tailEnd type="none" w="med" len="med"/>
                    </a:lnT>
                    <a:lnB w="6350" cap="flat" cmpd="sng" algn="ctr">
                      <a:solidFill>
                        <a:srgbClr val="0B1F3A"/>
                      </a:solidFill>
                      <a:prstDash val="solid"/>
                      <a:round/>
                      <a:headEnd type="none" w="med" len="med"/>
                      <a:tailEnd type="none" w="med" len="med"/>
                    </a:lnB>
                    <a:solidFill>
                      <a:srgbClr val="13294B"/>
                    </a:solidFill>
                  </a:tcPr>
                </a:tc>
              </a:tr>
              <a:tr h="402336">
                <a:tc>
                  <a:txBody>
                    <a:bodyPr/>
                    <a:lstStyle/>
                    <a:p>
                      <a:pPr indent="0" marL="0">
                        <a:buNone/>
                      </a:pPr>
                      <a:r>
                        <a:rPr lang="en-US" sz="850" dirty="0">
                          <a:solidFill>
                            <a:srgbClr val="FFFFFF"/>
                          </a:solidFill>
                          <a:latin typeface="Calibri" pitchFamily="34" charset="0"/>
                          <a:ea typeface="Calibri" pitchFamily="34" charset="-122"/>
                          <a:cs typeface="Calibri" pitchFamily="34" charset="-120"/>
                        </a:rPr>
                        <a:t>THD</a:t>
                      </a:r>
                      <a:endParaRPr lang="en-US" sz="850" dirty="0">
                        <a:latin typeface="Calibri" charset="0"/>
                        <a:ea typeface="Calibri" charset="0"/>
                        <a:cs typeface="Calibri" charset="0"/>
                      </a:endParaRPr>
                    </a:p>
                  </a:txBody>
                  <a:tcPr marL="45720" marR="45720" marT="45720" marB="45720" anchor="ctr">
                    <a:lnL w="6350" cap="flat" cmpd="sng" algn="ctr">
                      <a:solidFill>
                        <a:srgbClr val="0B1F3A"/>
                      </a:solidFill>
                      <a:prstDash val="solid"/>
                      <a:round/>
                      <a:headEnd type="none" w="med" len="med"/>
                      <a:tailEnd type="none" w="med" len="med"/>
                    </a:lnL>
                    <a:lnR w="6350" cap="flat" cmpd="sng" algn="ctr">
                      <a:solidFill>
                        <a:srgbClr val="0B1F3A"/>
                      </a:solidFill>
                      <a:prstDash val="solid"/>
                      <a:round/>
                      <a:headEnd type="none" w="med" len="med"/>
                      <a:tailEnd type="none" w="med" len="med"/>
                    </a:lnR>
                    <a:lnT w="6350" cap="flat" cmpd="sng" algn="ctr">
                      <a:solidFill>
                        <a:srgbClr val="0B1F3A"/>
                      </a:solidFill>
                      <a:prstDash val="solid"/>
                      <a:round/>
                      <a:headEnd type="none" w="med" len="med"/>
                      <a:tailEnd type="none" w="med" len="med"/>
                    </a:lnT>
                    <a:lnB w="6350" cap="flat" cmpd="sng" algn="ctr">
                      <a:solidFill>
                        <a:srgbClr val="0B1F3A"/>
                      </a:solidFill>
                      <a:prstDash val="solid"/>
                      <a:round/>
                      <a:headEnd type="none" w="med" len="med"/>
                      <a:tailEnd type="none" w="med" len="med"/>
                    </a:lnB>
                    <a:solidFill>
                      <a:srgbClr val="13294B"/>
                    </a:solidFill>
                  </a:tcPr>
                </a:tc>
                <a:tc>
                  <a:txBody>
                    <a:bodyPr/>
                    <a:lstStyle/>
                    <a:p>
                      <a:pPr indent="0" marL="0">
                        <a:buNone/>
                      </a:pPr>
                      <a:r>
                        <a:rPr lang="en-US" sz="850" dirty="0">
                          <a:solidFill>
                            <a:srgbClr val="FFFFFF"/>
                          </a:solidFill>
                          <a:latin typeface="Cambria" pitchFamily="34" charset="0"/>
                          <a:ea typeface="Cambria" pitchFamily="34" charset="-122"/>
                          <a:cs typeface="Cambria" pitchFamily="34" charset="-120"/>
                        </a:rPr>
                        <a:t>10 log₁₀(ΣP_harmonics / P_signal), in dBc</a:t>
                      </a:r>
                      <a:endParaRPr lang="en-US" sz="850" dirty="0">
                        <a:latin typeface="Cambria" charset="0"/>
                        <a:ea typeface="Cambria" charset="0"/>
                        <a:cs typeface="Cambria" charset="0"/>
                      </a:endParaRPr>
                    </a:p>
                  </a:txBody>
                  <a:tcPr marL="45720" marR="45720" marT="45720" marB="45720" anchor="ctr">
                    <a:lnL w="6350" cap="flat" cmpd="sng" algn="ctr">
                      <a:solidFill>
                        <a:srgbClr val="0B1F3A"/>
                      </a:solidFill>
                      <a:prstDash val="solid"/>
                      <a:round/>
                      <a:headEnd type="none" w="med" len="med"/>
                      <a:tailEnd type="none" w="med" len="med"/>
                    </a:lnL>
                    <a:lnR w="6350" cap="flat" cmpd="sng" algn="ctr">
                      <a:solidFill>
                        <a:srgbClr val="0B1F3A"/>
                      </a:solidFill>
                      <a:prstDash val="solid"/>
                      <a:round/>
                      <a:headEnd type="none" w="med" len="med"/>
                      <a:tailEnd type="none" w="med" len="med"/>
                    </a:lnR>
                    <a:lnT w="6350" cap="flat" cmpd="sng" algn="ctr">
                      <a:solidFill>
                        <a:srgbClr val="0B1F3A"/>
                      </a:solidFill>
                      <a:prstDash val="solid"/>
                      <a:round/>
                      <a:headEnd type="none" w="med" len="med"/>
                      <a:tailEnd type="none" w="med" len="med"/>
                    </a:lnT>
                    <a:lnB w="6350" cap="flat" cmpd="sng" algn="ctr">
                      <a:solidFill>
                        <a:srgbClr val="0B1F3A"/>
                      </a:solidFill>
                      <a:prstDash val="solid"/>
                      <a:round/>
                      <a:headEnd type="none" w="med" len="med"/>
                      <a:tailEnd type="none" w="med" len="med"/>
                    </a:lnB>
                    <a:solidFill>
                      <a:srgbClr val="13294B"/>
                    </a:solidFill>
                  </a:tcPr>
                </a:tc>
              </a:tr>
              <a:tr h="402336">
                <a:tc>
                  <a:txBody>
                    <a:bodyPr/>
                    <a:lstStyle/>
                    <a:p>
                      <a:pPr indent="0" marL="0">
                        <a:buNone/>
                      </a:pPr>
                      <a:r>
                        <a:rPr lang="en-US" sz="850" dirty="0">
                          <a:solidFill>
                            <a:srgbClr val="FFFFFF"/>
                          </a:solidFill>
                          <a:latin typeface="Calibri" pitchFamily="34" charset="0"/>
                          <a:ea typeface="Calibri" pitchFamily="34" charset="-122"/>
                          <a:cs typeface="Calibri" pitchFamily="34" charset="-120"/>
                        </a:rPr>
                        <a:t>SINAD</a:t>
                      </a:r>
                      <a:endParaRPr lang="en-US" sz="850" dirty="0">
                        <a:latin typeface="Calibri" charset="0"/>
                        <a:ea typeface="Calibri" charset="0"/>
                        <a:cs typeface="Calibri" charset="0"/>
                      </a:endParaRPr>
                    </a:p>
                  </a:txBody>
                  <a:tcPr marL="45720" marR="45720" marT="45720" marB="45720" anchor="ctr">
                    <a:lnL w="6350" cap="flat" cmpd="sng" algn="ctr">
                      <a:solidFill>
                        <a:srgbClr val="0B1F3A"/>
                      </a:solidFill>
                      <a:prstDash val="solid"/>
                      <a:round/>
                      <a:headEnd type="none" w="med" len="med"/>
                      <a:tailEnd type="none" w="med" len="med"/>
                    </a:lnL>
                    <a:lnR w="6350" cap="flat" cmpd="sng" algn="ctr">
                      <a:solidFill>
                        <a:srgbClr val="0B1F3A"/>
                      </a:solidFill>
                      <a:prstDash val="solid"/>
                      <a:round/>
                      <a:headEnd type="none" w="med" len="med"/>
                      <a:tailEnd type="none" w="med" len="med"/>
                    </a:lnR>
                    <a:lnT w="6350" cap="flat" cmpd="sng" algn="ctr">
                      <a:solidFill>
                        <a:srgbClr val="0B1F3A"/>
                      </a:solidFill>
                      <a:prstDash val="solid"/>
                      <a:round/>
                      <a:headEnd type="none" w="med" len="med"/>
                      <a:tailEnd type="none" w="med" len="med"/>
                    </a:lnT>
                    <a:lnB w="6350" cap="flat" cmpd="sng" algn="ctr">
                      <a:solidFill>
                        <a:srgbClr val="0B1F3A"/>
                      </a:solidFill>
                      <a:prstDash val="solid"/>
                      <a:round/>
                      <a:headEnd type="none" w="med" len="med"/>
                      <a:tailEnd type="none" w="med" len="med"/>
                    </a:lnB>
                    <a:solidFill>
                      <a:srgbClr val="13294B"/>
                    </a:solidFill>
                  </a:tcPr>
                </a:tc>
                <a:tc>
                  <a:txBody>
                    <a:bodyPr/>
                    <a:lstStyle/>
                    <a:p>
                      <a:pPr indent="0" marL="0">
                        <a:buNone/>
                      </a:pPr>
                      <a:r>
                        <a:rPr lang="en-US" sz="850" dirty="0">
                          <a:solidFill>
                            <a:srgbClr val="FFFFFF"/>
                          </a:solidFill>
                          <a:latin typeface="Cambria" pitchFamily="34" charset="0"/>
                          <a:ea typeface="Cambria" pitchFamily="34" charset="-122"/>
                          <a:cs typeface="Cambria" pitchFamily="34" charset="-120"/>
                        </a:rPr>
                        <a:t>signal over noise + distortion together</a:t>
                      </a:r>
                      <a:endParaRPr lang="en-US" sz="850" dirty="0">
                        <a:latin typeface="Cambria" charset="0"/>
                        <a:ea typeface="Cambria" charset="0"/>
                        <a:cs typeface="Cambria" charset="0"/>
                      </a:endParaRPr>
                    </a:p>
                  </a:txBody>
                  <a:tcPr marL="45720" marR="45720" marT="45720" marB="45720" anchor="ctr">
                    <a:lnL w="6350" cap="flat" cmpd="sng" algn="ctr">
                      <a:solidFill>
                        <a:srgbClr val="0B1F3A"/>
                      </a:solidFill>
                      <a:prstDash val="solid"/>
                      <a:round/>
                      <a:headEnd type="none" w="med" len="med"/>
                      <a:tailEnd type="none" w="med" len="med"/>
                    </a:lnL>
                    <a:lnR w="6350" cap="flat" cmpd="sng" algn="ctr">
                      <a:solidFill>
                        <a:srgbClr val="0B1F3A"/>
                      </a:solidFill>
                      <a:prstDash val="solid"/>
                      <a:round/>
                      <a:headEnd type="none" w="med" len="med"/>
                      <a:tailEnd type="none" w="med" len="med"/>
                    </a:lnR>
                    <a:lnT w="6350" cap="flat" cmpd="sng" algn="ctr">
                      <a:solidFill>
                        <a:srgbClr val="0B1F3A"/>
                      </a:solidFill>
                      <a:prstDash val="solid"/>
                      <a:round/>
                      <a:headEnd type="none" w="med" len="med"/>
                      <a:tailEnd type="none" w="med" len="med"/>
                    </a:lnT>
                    <a:lnB w="6350" cap="flat" cmpd="sng" algn="ctr">
                      <a:solidFill>
                        <a:srgbClr val="0B1F3A"/>
                      </a:solidFill>
                      <a:prstDash val="solid"/>
                      <a:round/>
                      <a:headEnd type="none" w="med" len="med"/>
                      <a:tailEnd type="none" w="med" len="med"/>
                    </a:lnB>
                    <a:solidFill>
                      <a:srgbClr val="13294B"/>
                    </a:solidFill>
                  </a:tcPr>
                </a:tc>
              </a:tr>
            </a:tbl>
          </a:graphicData>
        </a:graphic>
      </p:graphicFrame>
      <p:graphicFrame>
        <p:nvGraphicFramePr>
          <p:cNvPr id="115" name="Table 1"/>
          <p:cNvGraphicFramePr>
            <a:graphicFrameLocks noGrp="1"/>
          </p:cNvGraphicFramePr>
          <p:nvPr>
            <p:extLst>
              <p:ext uri="{D42A27DB-BD31-4B8C-83A1-F6EECF244321}">
                <p14:modId xmlns:p14="http://schemas.microsoft.com/office/powerpoint/2010/main" val="1579011935"/>
              </p:ext>
            </p:extLst>
          </p:nvPr>
        </p:nvGraphicFramePr>
        <p:xfrm>
          <a:off x="4617720" y="868680"/>
          <a:ext cx="4069080" cy="914400"/>
        </p:xfrm>
        <a:graphic>
          <a:graphicData uri="http://schemas.openxmlformats.org/drawingml/2006/table">
            <a:tbl>
              <a:tblPr/>
              <a:tblGrid>
                <a:gridCol w="1143000"/>
                <a:gridCol w="2926080"/>
              </a:tblGrid>
              <a:tr h="402336">
                <a:tc>
                  <a:txBody>
                    <a:bodyPr/>
                    <a:lstStyle/>
                    <a:p>
                      <a:pPr indent="0" marL="0">
                        <a:buNone/>
                      </a:pPr>
                      <a:r>
                        <a:rPr lang="en-US" sz="850" dirty="0">
                          <a:solidFill>
                            <a:srgbClr val="FFFFFF"/>
                          </a:solidFill>
                          <a:latin typeface="Calibri" pitchFamily="34" charset="0"/>
                          <a:ea typeface="Calibri" pitchFamily="34" charset="-122"/>
                          <a:cs typeface="Calibri" pitchFamily="34" charset="-120"/>
                        </a:rPr>
                        <a:t>ENOB</a:t>
                      </a:r>
                      <a:endParaRPr lang="en-US" sz="850" dirty="0">
                        <a:latin typeface="Calibri" charset="0"/>
                        <a:ea typeface="Calibri" charset="0"/>
                        <a:cs typeface="Calibri" charset="0"/>
                      </a:endParaRPr>
                    </a:p>
                  </a:txBody>
                  <a:tcPr marL="45720" marR="45720" marT="45720" marB="45720" anchor="ctr">
                    <a:lnL w="6350" cap="flat" cmpd="sng" algn="ctr">
                      <a:solidFill>
                        <a:srgbClr val="0B1F3A"/>
                      </a:solidFill>
                      <a:prstDash val="solid"/>
                      <a:round/>
                      <a:headEnd type="none" w="med" len="med"/>
                      <a:tailEnd type="none" w="med" len="med"/>
                    </a:lnL>
                    <a:lnR w="6350" cap="flat" cmpd="sng" algn="ctr">
                      <a:solidFill>
                        <a:srgbClr val="0B1F3A"/>
                      </a:solidFill>
                      <a:prstDash val="solid"/>
                      <a:round/>
                      <a:headEnd type="none" w="med" len="med"/>
                      <a:tailEnd type="none" w="med" len="med"/>
                    </a:lnR>
                    <a:lnT w="6350" cap="flat" cmpd="sng" algn="ctr">
                      <a:solidFill>
                        <a:srgbClr val="0B1F3A"/>
                      </a:solidFill>
                      <a:prstDash val="solid"/>
                      <a:round/>
                      <a:headEnd type="none" w="med" len="med"/>
                      <a:tailEnd type="none" w="med" len="med"/>
                    </a:lnT>
                    <a:lnB w="6350" cap="flat" cmpd="sng" algn="ctr">
                      <a:solidFill>
                        <a:srgbClr val="0B1F3A"/>
                      </a:solidFill>
                      <a:prstDash val="solid"/>
                      <a:round/>
                      <a:headEnd type="none" w="med" len="med"/>
                      <a:tailEnd type="none" w="med" len="med"/>
                    </a:lnB>
                    <a:solidFill>
                      <a:srgbClr val="13294B"/>
                    </a:solidFill>
                  </a:tcPr>
                </a:tc>
                <a:tc>
                  <a:txBody>
                    <a:bodyPr/>
                    <a:lstStyle/>
                    <a:p>
                      <a:pPr indent="0" marL="0">
                        <a:buNone/>
                      </a:pPr>
                      <a:r>
                        <a:rPr lang="en-US" sz="850" dirty="0">
                          <a:solidFill>
                            <a:srgbClr val="FFFFFF"/>
                          </a:solidFill>
                          <a:latin typeface="Cambria" pitchFamily="34" charset="0"/>
                          <a:ea typeface="Cambria" pitchFamily="34" charset="-122"/>
                          <a:cs typeface="Cambria" pitchFamily="34" charset="-120"/>
                        </a:rPr>
                        <a:t>(SINAD − 1.76 + back-off) / 6.02</a:t>
                      </a:r>
                      <a:endParaRPr lang="en-US" sz="850" dirty="0">
                        <a:latin typeface="Cambria" charset="0"/>
                        <a:ea typeface="Cambria" charset="0"/>
                        <a:cs typeface="Cambria" charset="0"/>
                      </a:endParaRPr>
                    </a:p>
                  </a:txBody>
                  <a:tcPr marL="45720" marR="45720" marT="45720" marB="45720" anchor="ctr">
                    <a:lnL w="6350" cap="flat" cmpd="sng" algn="ctr">
                      <a:solidFill>
                        <a:srgbClr val="0B1F3A"/>
                      </a:solidFill>
                      <a:prstDash val="solid"/>
                      <a:round/>
                      <a:headEnd type="none" w="med" len="med"/>
                      <a:tailEnd type="none" w="med" len="med"/>
                    </a:lnL>
                    <a:lnR w="6350" cap="flat" cmpd="sng" algn="ctr">
                      <a:solidFill>
                        <a:srgbClr val="0B1F3A"/>
                      </a:solidFill>
                      <a:prstDash val="solid"/>
                      <a:round/>
                      <a:headEnd type="none" w="med" len="med"/>
                      <a:tailEnd type="none" w="med" len="med"/>
                    </a:lnR>
                    <a:lnT w="6350" cap="flat" cmpd="sng" algn="ctr">
                      <a:solidFill>
                        <a:srgbClr val="0B1F3A"/>
                      </a:solidFill>
                      <a:prstDash val="solid"/>
                      <a:round/>
                      <a:headEnd type="none" w="med" len="med"/>
                      <a:tailEnd type="none" w="med" len="med"/>
                    </a:lnT>
                    <a:lnB w="6350" cap="flat" cmpd="sng" algn="ctr">
                      <a:solidFill>
                        <a:srgbClr val="0B1F3A"/>
                      </a:solidFill>
                      <a:prstDash val="solid"/>
                      <a:round/>
                      <a:headEnd type="none" w="med" len="med"/>
                      <a:tailEnd type="none" w="med" len="med"/>
                    </a:lnB>
                    <a:solidFill>
                      <a:srgbClr val="13294B"/>
                    </a:solidFill>
                  </a:tcPr>
                </a:tc>
              </a:tr>
              <a:tr h="402336">
                <a:tc>
                  <a:txBody>
                    <a:bodyPr/>
                    <a:lstStyle/>
                    <a:p>
                      <a:pPr indent="0" marL="0">
                        <a:buNone/>
                      </a:pPr>
                      <a:r>
                        <a:rPr lang="en-US" sz="850" dirty="0">
                          <a:solidFill>
                            <a:srgbClr val="FFFFFF"/>
                          </a:solidFill>
                          <a:latin typeface="Calibri" pitchFamily="34" charset="0"/>
                          <a:ea typeface="Calibri" pitchFamily="34" charset="-122"/>
                          <a:cs typeface="Calibri" pitchFamily="34" charset="-120"/>
                        </a:rPr>
                        <a:t>SFDR</a:t>
                      </a:r>
                      <a:endParaRPr lang="en-US" sz="850" dirty="0">
                        <a:latin typeface="Calibri" charset="0"/>
                        <a:ea typeface="Calibri" charset="0"/>
                        <a:cs typeface="Calibri" charset="0"/>
                      </a:endParaRPr>
                    </a:p>
                  </a:txBody>
                  <a:tcPr marL="45720" marR="45720" marT="45720" marB="45720" anchor="ctr">
                    <a:lnL w="6350" cap="flat" cmpd="sng" algn="ctr">
                      <a:solidFill>
                        <a:srgbClr val="0B1F3A"/>
                      </a:solidFill>
                      <a:prstDash val="solid"/>
                      <a:round/>
                      <a:headEnd type="none" w="med" len="med"/>
                      <a:tailEnd type="none" w="med" len="med"/>
                    </a:lnL>
                    <a:lnR w="6350" cap="flat" cmpd="sng" algn="ctr">
                      <a:solidFill>
                        <a:srgbClr val="0B1F3A"/>
                      </a:solidFill>
                      <a:prstDash val="solid"/>
                      <a:round/>
                      <a:headEnd type="none" w="med" len="med"/>
                      <a:tailEnd type="none" w="med" len="med"/>
                    </a:lnR>
                    <a:lnT w="6350" cap="flat" cmpd="sng" algn="ctr">
                      <a:solidFill>
                        <a:srgbClr val="0B1F3A"/>
                      </a:solidFill>
                      <a:prstDash val="solid"/>
                      <a:round/>
                      <a:headEnd type="none" w="med" len="med"/>
                      <a:tailEnd type="none" w="med" len="med"/>
                    </a:lnT>
                    <a:lnB w="6350" cap="flat" cmpd="sng" algn="ctr">
                      <a:solidFill>
                        <a:srgbClr val="0B1F3A"/>
                      </a:solidFill>
                      <a:prstDash val="solid"/>
                      <a:round/>
                      <a:headEnd type="none" w="med" len="med"/>
                      <a:tailEnd type="none" w="med" len="med"/>
                    </a:lnB>
                    <a:solidFill>
                      <a:srgbClr val="13294B"/>
                    </a:solidFill>
                  </a:tcPr>
                </a:tc>
                <a:tc>
                  <a:txBody>
                    <a:bodyPr/>
                    <a:lstStyle/>
                    <a:p>
                      <a:pPr indent="0" marL="0">
                        <a:buNone/>
                      </a:pPr>
                      <a:r>
                        <a:rPr lang="en-US" sz="850" dirty="0">
                          <a:solidFill>
                            <a:srgbClr val="FFFFFF"/>
                          </a:solidFill>
                          <a:latin typeface="Cambria" pitchFamily="34" charset="0"/>
                          <a:ea typeface="Cambria" pitchFamily="34" charset="-122"/>
                          <a:cs typeface="Cambria" pitchFamily="34" charset="-120"/>
                        </a:rPr>
                        <a:t>signal over the largest single spur, harmonic or not</a:t>
                      </a:r>
                      <a:endParaRPr lang="en-US" sz="850" dirty="0">
                        <a:latin typeface="Cambria" charset="0"/>
                        <a:ea typeface="Cambria" charset="0"/>
                        <a:cs typeface="Cambria" charset="0"/>
                      </a:endParaRPr>
                    </a:p>
                  </a:txBody>
                  <a:tcPr marL="45720" marR="45720" marT="45720" marB="45720" anchor="ctr">
                    <a:lnL w="6350" cap="flat" cmpd="sng" algn="ctr">
                      <a:solidFill>
                        <a:srgbClr val="0B1F3A"/>
                      </a:solidFill>
                      <a:prstDash val="solid"/>
                      <a:round/>
                      <a:headEnd type="none" w="med" len="med"/>
                      <a:tailEnd type="none" w="med" len="med"/>
                    </a:lnL>
                    <a:lnR w="6350" cap="flat" cmpd="sng" algn="ctr">
                      <a:solidFill>
                        <a:srgbClr val="0B1F3A"/>
                      </a:solidFill>
                      <a:prstDash val="solid"/>
                      <a:round/>
                      <a:headEnd type="none" w="med" len="med"/>
                      <a:tailEnd type="none" w="med" len="med"/>
                    </a:lnR>
                    <a:lnT w="6350" cap="flat" cmpd="sng" algn="ctr">
                      <a:solidFill>
                        <a:srgbClr val="0B1F3A"/>
                      </a:solidFill>
                      <a:prstDash val="solid"/>
                      <a:round/>
                      <a:headEnd type="none" w="med" len="med"/>
                      <a:tailEnd type="none" w="med" len="med"/>
                    </a:lnT>
                    <a:lnB w="6350" cap="flat" cmpd="sng" algn="ctr">
                      <a:solidFill>
                        <a:srgbClr val="0B1F3A"/>
                      </a:solidFill>
                      <a:prstDash val="solid"/>
                      <a:round/>
                      <a:headEnd type="none" w="med" len="med"/>
                      <a:tailEnd type="none" w="med" len="med"/>
                    </a:lnB>
                    <a:solidFill>
                      <a:srgbClr val="13294B"/>
                    </a:solidFill>
                  </a:tcPr>
                </a:tc>
              </a:tr>
              <a:tr h="402336">
                <a:tc>
                  <a:txBody>
                    <a:bodyPr/>
                    <a:lstStyle/>
                    <a:p>
                      <a:pPr indent="0" marL="0">
                        <a:buNone/>
                      </a:pPr>
                      <a:r>
                        <a:rPr lang="en-US" sz="850" dirty="0">
                          <a:solidFill>
                            <a:srgbClr val="FFFFFF"/>
                          </a:solidFill>
                          <a:latin typeface="Calibri" pitchFamily="34" charset="0"/>
                          <a:ea typeface="Calibri" pitchFamily="34" charset="-122"/>
                          <a:cs typeface="Calibri" pitchFamily="34" charset="-120"/>
                        </a:rPr>
                        <a:t>FFT floor</a:t>
                      </a:r>
                      <a:endParaRPr lang="en-US" sz="850" dirty="0">
                        <a:latin typeface="Calibri" charset="0"/>
                        <a:ea typeface="Calibri" charset="0"/>
                        <a:cs typeface="Calibri" charset="0"/>
                      </a:endParaRPr>
                    </a:p>
                  </a:txBody>
                  <a:tcPr marL="45720" marR="45720" marT="45720" marB="45720" anchor="ctr">
                    <a:lnL w="6350" cap="flat" cmpd="sng" algn="ctr">
                      <a:solidFill>
                        <a:srgbClr val="0B1F3A"/>
                      </a:solidFill>
                      <a:prstDash val="solid"/>
                      <a:round/>
                      <a:headEnd type="none" w="med" len="med"/>
                      <a:tailEnd type="none" w="med" len="med"/>
                    </a:lnL>
                    <a:lnR w="6350" cap="flat" cmpd="sng" algn="ctr">
                      <a:solidFill>
                        <a:srgbClr val="0B1F3A"/>
                      </a:solidFill>
                      <a:prstDash val="solid"/>
                      <a:round/>
                      <a:headEnd type="none" w="med" len="med"/>
                      <a:tailEnd type="none" w="med" len="med"/>
                    </a:lnR>
                    <a:lnT w="6350" cap="flat" cmpd="sng" algn="ctr">
                      <a:solidFill>
                        <a:srgbClr val="0B1F3A"/>
                      </a:solidFill>
                      <a:prstDash val="solid"/>
                      <a:round/>
                      <a:headEnd type="none" w="med" len="med"/>
                      <a:tailEnd type="none" w="med" len="med"/>
                    </a:lnT>
                    <a:lnB w="6350" cap="flat" cmpd="sng" algn="ctr">
                      <a:solidFill>
                        <a:srgbClr val="0B1F3A"/>
                      </a:solidFill>
                      <a:prstDash val="solid"/>
                      <a:round/>
                      <a:headEnd type="none" w="med" len="med"/>
                      <a:tailEnd type="none" w="med" len="med"/>
                    </a:lnB>
                    <a:solidFill>
                      <a:srgbClr val="13294B"/>
                    </a:solidFill>
                  </a:tcPr>
                </a:tc>
                <a:tc>
                  <a:txBody>
                    <a:bodyPr/>
                    <a:lstStyle/>
                    <a:p>
                      <a:pPr indent="0" marL="0">
                        <a:buNone/>
                      </a:pPr>
                      <a:r>
                        <a:rPr lang="en-US" sz="850" dirty="0">
                          <a:solidFill>
                            <a:srgbClr val="FFFFFF"/>
                          </a:solidFill>
                          <a:latin typeface="Cambria" pitchFamily="34" charset="0"/>
                          <a:ea typeface="Cambria" pitchFamily="34" charset="-122"/>
                          <a:cs typeface="Cambria" pitchFamily="34" charset="-120"/>
                        </a:rPr>
                        <a:t>−SNR − 10 log₁₀(N/2), so it moves with transform length</a:t>
                      </a:r>
                      <a:endParaRPr lang="en-US" sz="850" dirty="0">
                        <a:latin typeface="Cambria" charset="0"/>
                        <a:ea typeface="Cambria" charset="0"/>
                        <a:cs typeface="Cambria" charset="0"/>
                      </a:endParaRPr>
                    </a:p>
                  </a:txBody>
                  <a:tcPr marL="45720" marR="45720" marT="45720" marB="45720" anchor="ctr">
                    <a:lnL w="6350" cap="flat" cmpd="sng" algn="ctr">
                      <a:solidFill>
                        <a:srgbClr val="0B1F3A"/>
                      </a:solidFill>
                      <a:prstDash val="solid"/>
                      <a:round/>
                      <a:headEnd type="none" w="med" len="med"/>
                      <a:tailEnd type="none" w="med" len="med"/>
                    </a:lnL>
                    <a:lnR w="6350" cap="flat" cmpd="sng" algn="ctr">
                      <a:solidFill>
                        <a:srgbClr val="0B1F3A"/>
                      </a:solidFill>
                      <a:prstDash val="solid"/>
                      <a:round/>
                      <a:headEnd type="none" w="med" len="med"/>
                      <a:tailEnd type="none" w="med" len="med"/>
                    </a:lnR>
                    <a:lnT w="6350" cap="flat" cmpd="sng" algn="ctr">
                      <a:solidFill>
                        <a:srgbClr val="0B1F3A"/>
                      </a:solidFill>
                      <a:prstDash val="solid"/>
                      <a:round/>
                      <a:headEnd type="none" w="med" len="med"/>
                      <a:tailEnd type="none" w="med" len="med"/>
                    </a:lnT>
                    <a:lnB w="6350" cap="flat" cmpd="sng" algn="ctr">
                      <a:solidFill>
                        <a:srgbClr val="0B1F3A"/>
                      </a:solidFill>
                      <a:prstDash val="solid"/>
                      <a:round/>
                      <a:headEnd type="none" w="med" len="med"/>
                      <a:tailEnd type="none" w="med" len="med"/>
                    </a:lnB>
                    <a:solidFill>
                      <a:srgbClr val="13294B"/>
                    </a:solidFill>
                  </a:tcPr>
                </a:tc>
              </a:tr>
              <a:tr h="402336">
                <a:tc>
                  <a:txBody>
                    <a:bodyPr/>
                    <a:lstStyle/>
                    <a:p>
                      <a:pPr indent="0" marL="0">
                        <a:buNone/>
                      </a:pPr>
                      <a:r>
                        <a:rPr lang="en-US" sz="850" dirty="0">
                          <a:solidFill>
                            <a:srgbClr val="FFFFFF"/>
                          </a:solidFill>
                          <a:latin typeface="Calibri" pitchFamily="34" charset="0"/>
                          <a:ea typeface="Calibri" pitchFamily="34" charset="-122"/>
                          <a:cs typeface="Calibri" pitchFamily="34" charset="-120"/>
                        </a:rPr>
                        <a:t>Jitter</a:t>
                      </a:r>
                      <a:endParaRPr lang="en-US" sz="850" dirty="0">
                        <a:latin typeface="Calibri" charset="0"/>
                        <a:ea typeface="Calibri" charset="0"/>
                        <a:cs typeface="Calibri" charset="0"/>
                      </a:endParaRPr>
                    </a:p>
                  </a:txBody>
                  <a:tcPr marL="45720" marR="45720" marT="45720" marB="45720" anchor="ctr">
                    <a:lnL w="6350" cap="flat" cmpd="sng" algn="ctr">
                      <a:solidFill>
                        <a:srgbClr val="0B1F3A"/>
                      </a:solidFill>
                      <a:prstDash val="solid"/>
                      <a:round/>
                      <a:headEnd type="none" w="med" len="med"/>
                      <a:tailEnd type="none" w="med" len="med"/>
                    </a:lnL>
                    <a:lnR w="6350" cap="flat" cmpd="sng" algn="ctr">
                      <a:solidFill>
                        <a:srgbClr val="0B1F3A"/>
                      </a:solidFill>
                      <a:prstDash val="solid"/>
                      <a:round/>
                      <a:headEnd type="none" w="med" len="med"/>
                      <a:tailEnd type="none" w="med" len="med"/>
                    </a:lnR>
                    <a:lnT w="6350" cap="flat" cmpd="sng" algn="ctr">
                      <a:solidFill>
                        <a:srgbClr val="0B1F3A"/>
                      </a:solidFill>
                      <a:prstDash val="solid"/>
                      <a:round/>
                      <a:headEnd type="none" w="med" len="med"/>
                      <a:tailEnd type="none" w="med" len="med"/>
                    </a:lnT>
                    <a:lnB w="6350" cap="flat" cmpd="sng" algn="ctr">
                      <a:solidFill>
                        <a:srgbClr val="0B1F3A"/>
                      </a:solidFill>
                      <a:prstDash val="solid"/>
                      <a:round/>
                      <a:headEnd type="none" w="med" len="med"/>
                      <a:tailEnd type="none" w="med" len="med"/>
                    </a:lnB>
                    <a:solidFill>
                      <a:srgbClr val="13294B"/>
                    </a:solidFill>
                  </a:tcPr>
                </a:tc>
                <a:tc>
                  <a:txBody>
                    <a:bodyPr/>
                    <a:lstStyle/>
                    <a:p>
                      <a:pPr indent="0" marL="0">
                        <a:buNone/>
                      </a:pPr>
                      <a:r>
                        <a:rPr lang="en-US" sz="850" dirty="0">
                          <a:solidFill>
                            <a:srgbClr val="FFFFFF"/>
                          </a:solidFill>
                          <a:latin typeface="Cambria" pitchFamily="34" charset="0"/>
                          <a:ea typeface="Cambria" pitchFamily="34" charset="-122"/>
                          <a:cs typeface="Cambria" pitchFamily="34" charset="-120"/>
                        </a:rPr>
                        <a:t>SNR = −20 log₁₀(2π f_in t_j);  uses input frequency</a:t>
                      </a:r>
                      <a:endParaRPr lang="en-US" sz="850" dirty="0">
                        <a:latin typeface="Cambria" charset="0"/>
                        <a:ea typeface="Cambria" charset="0"/>
                        <a:cs typeface="Cambria" charset="0"/>
                      </a:endParaRPr>
                    </a:p>
                  </a:txBody>
                  <a:tcPr marL="45720" marR="45720" marT="45720" marB="45720" anchor="ctr">
                    <a:lnL w="6350" cap="flat" cmpd="sng" algn="ctr">
                      <a:solidFill>
                        <a:srgbClr val="0B1F3A"/>
                      </a:solidFill>
                      <a:prstDash val="solid"/>
                      <a:round/>
                      <a:headEnd type="none" w="med" len="med"/>
                      <a:tailEnd type="none" w="med" len="med"/>
                    </a:lnL>
                    <a:lnR w="6350" cap="flat" cmpd="sng" algn="ctr">
                      <a:solidFill>
                        <a:srgbClr val="0B1F3A"/>
                      </a:solidFill>
                      <a:prstDash val="solid"/>
                      <a:round/>
                      <a:headEnd type="none" w="med" len="med"/>
                      <a:tailEnd type="none" w="med" len="med"/>
                    </a:lnR>
                    <a:lnT w="6350" cap="flat" cmpd="sng" algn="ctr">
                      <a:solidFill>
                        <a:srgbClr val="0B1F3A"/>
                      </a:solidFill>
                      <a:prstDash val="solid"/>
                      <a:round/>
                      <a:headEnd type="none" w="med" len="med"/>
                      <a:tailEnd type="none" w="med" len="med"/>
                    </a:lnT>
                    <a:lnB w="6350" cap="flat" cmpd="sng" algn="ctr">
                      <a:solidFill>
                        <a:srgbClr val="0B1F3A"/>
                      </a:solidFill>
                      <a:prstDash val="solid"/>
                      <a:round/>
                      <a:headEnd type="none" w="med" len="med"/>
                      <a:tailEnd type="none" w="med" len="med"/>
                    </a:lnB>
                    <a:solidFill>
                      <a:srgbClr val="13294B"/>
                    </a:solidFill>
                  </a:tcPr>
                </a:tc>
              </a:tr>
              <a:tr h="402336">
                <a:tc>
                  <a:txBody>
                    <a:bodyPr/>
                    <a:lstStyle/>
                    <a:p>
                      <a:pPr indent="0" marL="0">
                        <a:buNone/>
                      </a:pPr>
                      <a:r>
                        <a:rPr lang="en-US" sz="850" dirty="0">
                          <a:solidFill>
                            <a:srgbClr val="FFFFFF"/>
                          </a:solidFill>
                          <a:latin typeface="Calibri" pitchFamily="34" charset="0"/>
                          <a:ea typeface="Calibri" pitchFamily="34" charset="-122"/>
                          <a:cs typeface="Calibri" pitchFamily="34" charset="-120"/>
                        </a:rPr>
                        <a:t>Settling</a:t>
                      </a:r>
                      <a:endParaRPr lang="en-US" sz="850" dirty="0">
                        <a:latin typeface="Calibri" charset="0"/>
                        <a:ea typeface="Calibri" charset="0"/>
                        <a:cs typeface="Calibri" charset="0"/>
                      </a:endParaRPr>
                    </a:p>
                  </a:txBody>
                  <a:tcPr marL="45720" marR="45720" marT="45720" marB="45720" anchor="ctr">
                    <a:lnL w="6350" cap="flat" cmpd="sng" algn="ctr">
                      <a:solidFill>
                        <a:srgbClr val="0B1F3A"/>
                      </a:solidFill>
                      <a:prstDash val="solid"/>
                      <a:round/>
                      <a:headEnd type="none" w="med" len="med"/>
                      <a:tailEnd type="none" w="med" len="med"/>
                    </a:lnL>
                    <a:lnR w="6350" cap="flat" cmpd="sng" algn="ctr">
                      <a:solidFill>
                        <a:srgbClr val="0B1F3A"/>
                      </a:solidFill>
                      <a:prstDash val="solid"/>
                      <a:round/>
                      <a:headEnd type="none" w="med" len="med"/>
                      <a:tailEnd type="none" w="med" len="med"/>
                    </a:lnR>
                    <a:lnT w="6350" cap="flat" cmpd="sng" algn="ctr">
                      <a:solidFill>
                        <a:srgbClr val="0B1F3A"/>
                      </a:solidFill>
                      <a:prstDash val="solid"/>
                      <a:round/>
                      <a:headEnd type="none" w="med" len="med"/>
                      <a:tailEnd type="none" w="med" len="med"/>
                    </a:lnT>
                    <a:lnB w="6350" cap="flat" cmpd="sng" algn="ctr">
                      <a:solidFill>
                        <a:srgbClr val="0B1F3A"/>
                      </a:solidFill>
                      <a:prstDash val="solid"/>
                      <a:round/>
                      <a:headEnd type="none" w="med" len="med"/>
                      <a:tailEnd type="none" w="med" len="med"/>
                    </a:lnB>
                    <a:solidFill>
                      <a:srgbClr val="13294B"/>
                    </a:solidFill>
                  </a:tcPr>
                </a:tc>
                <a:tc>
                  <a:txBody>
                    <a:bodyPr/>
                    <a:lstStyle/>
                    <a:p>
                      <a:pPr indent="0" marL="0">
                        <a:buNone/>
                      </a:pPr>
                      <a:r>
                        <a:rPr lang="en-US" sz="850" dirty="0">
                          <a:solidFill>
                            <a:srgbClr val="FFFFFF"/>
                          </a:solidFill>
                          <a:latin typeface="Cambria" pitchFamily="34" charset="0"/>
                          <a:ea typeface="Cambria" pitchFamily="34" charset="-122"/>
                          <a:cs typeface="Cambria" pitchFamily="34" charset="-120"/>
                        </a:rPr>
                        <a:t>ln(2^(N+1)) time constants to reach ½ LSB</a:t>
                      </a:r>
                      <a:endParaRPr lang="en-US" sz="850" dirty="0">
                        <a:latin typeface="Cambria" charset="0"/>
                        <a:ea typeface="Cambria" charset="0"/>
                        <a:cs typeface="Cambria" charset="0"/>
                      </a:endParaRPr>
                    </a:p>
                  </a:txBody>
                  <a:tcPr marL="45720" marR="45720" marT="45720" marB="45720" anchor="ctr">
                    <a:lnL w="6350" cap="flat" cmpd="sng" algn="ctr">
                      <a:solidFill>
                        <a:srgbClr val="0B1F3A"/>
                      </a:solidFill>
                      <a:prstDash val="solid"/>
                      <a:round/>
                      <a:headEnd type="none" w="med" len="med"/>
                      <a:tailEnd type="none" w="med" len="med"/>
                    </a:lnL>
                    <a:lnR w="6350" cap="flat" cmpd="sng" algn="ctr">
                      <a:solidFill>
                        <a:srgbClr val="0B1F3A"/>
                      </a:solidFill>
                      <a:prstDash val="solid"/>
                      <a:round/>
                      <a:headEnd type="none" w="med" len="med"/>
                      <a:tailEnd type="none" w="med" len="med"/>
                    </a:lnR>
                    <a:lnT w="6350" cap="flat" cmpd="sng" algn="ctr">
                      <a:solidFill>
                        <a:srgbClr val="0B1F3A"/>
                      </a:solidFill>
                      <a:prstDash val="solid"/>
                      <a:round/>
                      <a:headEnd type="none" w="med" len="med"/>
                      <a:tailEnd type="none" w="med" len="med"/>
                    </a:lnT>
                    <a:lnB w="6350" cap="flat" cmpd="sng" algn="ctr">
                      <a:solidFill>
                        <a:srgbClr val="0B1F3A"/>
                      </a:solidFill>
                      <a:prstDash val="solid"/>
                      <a:round/>
                      <a:headEnd type="none" w="med" len="med"/>
                      <a:tailEnd type="none" w="med" len="med"/>
                    </a:lnB>
                    <a:solidFill>
                      <a:srgbClr val="13294B"/>
                    </a:solidFill>
                  </a:tcPr>
                </a:tc>
              </a:tr>
              <a:tr h="402336">
                <a:tc>
                  <a:txBody>
                    <a:bodyPr/>
                    <a:lstStyle/>
                    <a:p>
                      <a:pPr indent="0" marL="0">
                        <a:buNone/>
                      </a:pPr>
                      <a:r>
                        <a:rPr lang="en-US" sz="850" dirty="0">
                          <a:solidFill>
                            <a:srgbClr val="FFFFFF"/>
                          </a:solidFill>
                          <a:latin typeface="Calibri" pitchFamily="34" charset="0"/>
                          <a:ea typeface="Calibri" pitchFamily="34" charset="-122"/>
                          <a:cs typeface="Calibri" pitchFamily="34" charset="-120"/>
                        </a:rPr>
                        <a:t>Slew needed</a:t>
                      </a:r>
                      <a:endParaRPr lang="en-US" sz="850" dirty="0">
                        <a:latin typeface="Calibri" charset="0"/>
                        <a:ea typeface="Calibri" charset="0"/>
                        <a:cs typeface="Calibri" charset="0"/>
                      </a:endParaRPr>
                    </a:p>
                  </a:txBody>
                  <a:tcPr marL="45720" marR="45720" marT="45720" marB="45720" anchor="ctr">
                    <a:lnL w="6350" cap="flat" cmpd="sng" algn="ctr">
                      <a:solidFill>
                        <a:srgbClr val="0B1F3A"/>
                      </a:solidFill>
                      <a:prstDash val="solid"/>
                      <a:round/>
                      <a:headEnd type="none" w="med" len="med"/>
                      <a:tailEnd type="none" w="med" len="med"/>
                    </a:lnL>
                    <a:lnR w="6350" cap="flat" cmpd="sng" algn="ctr">
                      <a:solidFill>
                        <a:srgbClr val="0B1F3A"/>
                      </a:solidFill>
                      <a:prstDash val="solid"/>
                      <a:round/>
                      <a:headEnd type="none" w="med" len="med"/>
                      <a:tailEnd type="none" w="med" len="med"/>
                    </a:lnR>
                    <a:lnT w="6350" cap="flat" cmpd="sng" algn="ctr">
                      <a:solidFill>
                        <a:srgbClr val="0B1F3A"/>
                      </a:solidFill>
                      <a:prstDash val="solid"/>
                      <a:round/>
                      <a:headEnd type="none" w="med" len="med"/>
                      <a:tailEnd type="none" w="med" len="med"/>
                    </a:lnT>
                    <a:lnB w="6350" cap="flat" cmpd="sng" algn="ctr">
                      <a:solidFill>
                        <a:srgbClr val="0B1F3A"/>
                      </a:solidFill>
                      <a:prstDash val="solid"/>
                      <a:round/>
                      <a:headEnd type="none" w="med" len="med"/>
                      <a:tailEnd type="none" w="med" len="med"/>
                    </a:lnB>
                    <a:solidFill>
                      <a:srgbClr val="13294B"/>
                    </a:solidFill>
                  </a:tcPr>
                </a:tc>
                <a:tc>
                  <a:txBody>
                    <a:bodyPr/>
                    <a:lstStyle/>
                    <a:p>
                      <a:pPr indent="0" marL="0">
                        <a:buNone/>
                      </a:pPr>
                      <a:r>
                        <a:rPr lang="en-US" sz="850" dirty="0">
                          <a:solidFill>
                            <a:srgbClr val="FFFFFF"/>
                          </a:solidFill>
                          <a:latin typeface="Cambria" pitchFamily="34" charset="0"/>
                          <a:ea typeface="Cambria" pitchFamily="34" charset="-122"/>
                          <a:cs typeface="Cambria" pitchFamily="34" charset="-120"/>
                        </a:rPr>
                        <a:t>π × FSR × f for a full-scale sine</a:t>
                      </a:r>
                      <a:endParaRPr lang="en-US" sz="850" dirty="0">
                        <a:latin typeface="Cambria" charset="0"/>
                        <a:ea typeface="Cambria" charset="0"/>
                        <a:cs typeface="Cambria" charset="0"/>
                      </a:endParaRPr>
                    </a:p>
                  </a:txBody>
                  <a:tcPr marL="45720" marR="45720" marT="45720" marB="45720" anchor="ctr">
                    <a:lnL w="6350" cap="flat" cmpd="sng" algn="ctr">
                      <a:solidFill>
                        <a:srgbClr val="0B1F3A"/>
                      </a:solidFill>
                      <a:prstDash val="solid"/>
                      <a:round/>
                      <a:headEnd type="none" w="med" len="med"/>
                      <a:tailEnd type="none" w="med" len="med"/>
                    </a:lnL>
                    <a:lnR w="6350" cap="flat" cmpd="sng" algn="ctr">
                      <a:solidFill>
                        <a:srgbClr val="0B1F3A"/>
                      </a:solidFill>
                      <a:prstDash val="solid"/>
                      <a:round/>
                      <a:headEnd type="none" w="med" len="med"/>
                      <a:tailEnd type="none" w="med" len="med"/>
                    </a:lnR>
                    <a:lnT w="6350" cap="flat" cmpd="sng" algn="ctr">
                      <a:solidFill>
                        <a:srgbClr val="0B1F3A"/>
                      </a:solidFill>
                      <a:prstDash val="solid"/>
                      <a:round/>
                      <a:headEnd type="none" w="med" len="med"/>
                      <a:tailEnd type="none" w="med" len="med"/>
                    </a:lnT>
                    <a:lnB w="6350" cap="flat" cmpd="sng" algn="ctr">
                      <a:solidFill>
                        <a:srgbClr val="0B1F3A"/>
                      </a:solidFill>
                      <a:prstDash val="solid"/>
                      <a:round/>
                      <a:headEnd type="none" w="med" len="med"/>
                      <a:tailEnd type="none" w="med" len="med"/>
                    </a:lnB>
                    <a:solidFill>
                      <a:srgbClr val="13294B"/>
                    </a:solidFill>
                  </a:tcPr>
                </a:tc>
              </a:tr>
              <a:tr h="402336">
                <a:tc>
                  <a:txBody>
                    <a:bodyPr/>
                    <a:lstStyle/>
                    <a:p>
                      <a:pPr indent="0" marL="0">
                        <a:buNone/>
                      </a:pPr>
                      <a:r>
                        <a:rPr lang="en-US" sz="850" dirty="0">
                          <a:solidFill>
                            <a:srgbClr val="FFFFFF"/>
                          </a:solidFill>
                          <a:latin typeface="Calibri" pitchFamily="34" charset="0"/>
                          <a:ea typeface="Calibri" pitchFamily="34" charset="-122"/>
                          <a:cs typeface="Calibri" pitchFamily="34" charset="-120"/>
                        </a:rPr>
                        <a:t>Oversampling</a:t>
                      </a:r>
                      <a:endParaRPr lang="en-US" sz="850" dirty="0">
                        <a:latin typeface="Calibri" charset="0"/>
                        <a:ea typeface="Calibri" charset="0"/>
                        <a:cs typeface="Calibri" charset="0"/>
                      </a:endParaRPr>
                    </a:p>
                  </a:txBody>
                  <a:tcPr marL="45720" marR="45720" marT="45720" marB="45720" anchor="ctr">
                    <a:lnL w="6350" cap="flat" cmpd="sng" algn="ctr">
                      <a:solidFill>
                        <a:srgbClr val="0B1F3A"/>
                      </a:solidFill>
                      <a:prstDash val="solid"/>
                      <a:round/>
                      <a:headEnd type="none" w="med" len="med"/>
                      <a:tailEnd type="none" w="med" len="med"/>
                    </a:lnL>
                    <a:lnR w="6350" cap="flat" cmpd="sng" algn="ctr">
                      <a:solidFill>
                        <a:srgbClr val="0B1F3A"/>
                      </a:solidFill>
                      <a:prstDash val="solid"/>
                      <a:round/>
                      <a:headEnd type="none" w="med" len="med"/>
                      <a:tailEnd type="none" w="med" len="med"/>
                    </a:lnR>
                    <a:lnT w="6350" cap="flat" cmpd="sng" algn="ctr">
                      <a:solidFill>
                        <a:srgbClr val="0B1F3A"/>
                      </a:solidFill>
                      <a:prstDash val="solid"/>
                      <a:round/>
                      <a:headEnd type="none" w="med" len="med"/>
                      <a:tailEnd type="none" w="med" len="med"/>
                    </a:lnT>
                    <a:lnB w="6350" cap="flat" cmpd="sng" algn="ctr">
                      <a:solidFill>
                        <a:srgbClr val="0B1F3A"/>
                      </a:solidFill>
                      <a:prstDash val="solid"/>
                      <a:round/>
                      <a:headEnd type="none" w="med" len="med"/>
                      <a:tailEnd type="none" w="med" len="med"/>
                    </a:lnB>
                    <a:solidFill>
                      <a:srgbClr val="13294B"/>
                    </a:solidFill>
                  </a:tcPr>
                </a:tc>
                <a:tc>
                  <a:txBody>
                    <a:bodyPr/>
                    <a:lstStyle/>
                    <a:p>
                      <a:pPr indent="0" marL="0">
                        <a:buNone/>
                      </a:pPr>
                      <a:r>
                        <a:rPr lang="en-US" sz="850" dirty="0">
                          <a:solidFill>
                            <a:srgbClr val="FFFFFF"/>
                          </a:solidFill>
                          <a:latin typeface="Cambria" pitchFamily="34" charset="0"/>
                          <a:ea typeface="Cambria" pitchFamily="34" charset="-122"/>
                          <a:cs typeface="Cambria" pitchFamily="34" charset="-120"/>
                        </a:rPr>
                        <a:t>+10 log₁₀(OSR);  (6L+3) dB per doubling with L-th order shaping</a:t>
                      </a:r>
                      <a:endParaRPr lang="en-US" sz="850" dirty="0">
                        <a:latin typeface="Cambria" charset="0"/>
                        <a:ea typeface="Cambria" charset="0"/>
                        <a:cs typeface="Cambria" charset="0"/>
                      </a:endParaRPr>
                    </a:p>
                  </a:txBody>
                  <a:tcPr marL="45720" marR="45720" marT="45720" marB="45720" anchor="ctr">
                    <a:lnL w="6350" cap="flat" cmpd="sng" algn="ctr">
                      <a:solidFill>
                        <a:srgbClr val="0B1F3A"/>
                      </a:solidFill>
                      <a:prstDash val="solid"/>
                      <a:round/>
                      <a:headEnd type="none" w="med" len="med"/>
                      <a:tailEnd type="none" w="med" len="med"/>
                    </a:lnL>
                    <a:lnR w="6350" cap="flat" cmpd="sng" algn="ctr">
                      <a:solidFill>
                        <a:srgbClr val="0B1F3A"/>
                      </a:solidFill>
                      <a:prstDash val="solid"/>
                      <a:round/>
                      <a:headEnd type="none" w="med" len="med"/>
                      <a:tailEnd type="none" w="med" len="med"/>
                    </a:lnR>
                    <a:lnT w="6350" cap="flat" cmpd="sng" algn="ctr">
                      <a:solidFill>
                        <a:srgbClr val="0B1F3A"/>
                      </a:solidFill>
                      <a:prstDash val="solid"/>
                      <a:round/>
                      <a:headEnd type="none" w="med" len="med"/>
                      <a:tailEnd type="none" w="med" len="med"/>
                    </a:lnT>
                    <a:lnB w="6350" cap="flat" cmpd="sng" algn="ctr">
                      <a:solidFill>
                        <a:srgbClr val="0B1F3A"/>
                      </a:solidFill>
                      <a:prstDash val="solid"/>
                      <a:round/>
                      <a:headEnd type="none" w="med" len="med"/>
                      <a:tailEnd type="none" w="med" len="med"/>
                    </a:lnB>
                    <a:solidFill>
                      <a:srgbClr val="13294B"/>
                    </a:solidFill>
                  </a:tcPr>
                </a:tc>
              </a:tr>
              <a:tr h="402336">
                <a:tc>
                  <a:txBody>
                    <a:bodyPr/>
                    <a:lstStyle/>
                    <a:p>
                      <a:pPr indent="0" marL="0">
                        <a:buNone/>
                      </a:pPr>
                      <a:r>
                        <a:rPr lang="en-US" sz="850" dirty="0">
                          <a:solidFill>
                            <a:srgbClr val="FFFFFF"/>
                          </a:solidFill>
                          <a:latin typeface="Calibri" pitchFamily="34" charset="0"/>
                          <a:ea typeface="Calibri" pitchFamily="34" charset="-122"/>
                          <a:cs typeface="Calibri" pitchFamily="34" charset="-120"/>
                        </a:rPr>
                        <a:t>Walden FoM</a:t>
                      </a:r>
                      <a:endParaRPr lang="en-US" sz="850" dirty="0">
                        <a:latin typeface="Calibri" charset="0"/>
                        <a:ea typeface="Calibri" charset="0"/>
                        <a:cs typeface="Calibri" charset="0"/>
                      </a:endParaRPr>
                    </a:p>
                  </a:txBody>
                  <a:tcPr marL="45720" marR="45720" marT="45720" marB="45720" anchor="ctr">
                    <a:lnL w="6350" cap="flat" cmpd="sng" algn="ctr">
                      <a:solidFill>
                        <a:srgbClr val="0B1F3A"/>
                      </a:solidFill>
                      <a:prstDash val="solid"/>
                      <a:round/>
                      <a:headEnd type="none" w="med" len="med"/>
                      <a:tailEnd type="none" w="med" len="med"/>
                    </a:lnL>
                    <a:lnR w="6350" cap="flat" cmpd="sng" algn="ctr">
                      <a:solidFill>
                        <a:srgbClr val="0B1F3A"/>
                      </a:solidFill>
                      <a:prstDash val="solid"/>
                      <a:round/>
                      <a:headEnd type="none" w="med" len="med"/>
                      <a:tailEnd type="none" w="med" len="med"/>
                    </a:lnR>
                    <a:lnT w="6350" cap="flat" cmpd="sng" algn="ctr">
                      <a:solidFill>
                        <a:srgbClr val="0B1F3A"/>
                      </a:solidFill>
                      <a:prstDash val="solid"/>
                      <a:round/>
                      <a:headEnd type="none" w="med" len="med"/>
                      <a:tailEnd type="none" w="med" len="med"/>
                    </a:lnT>
                    <a:lnB w="6350" cap="flat" cmpd="sng" algn="ctr">
                      <a:solidFill>
                        <a:srgbClr val="0B1F3A"/>
                      </a:solidFill>
                      <a:prstDash val="solid"/>
                      <a:round/>
                      <a:headEnd type="none" w="med" len="med"/>
                      <a:tailEnd type="none" w="med" len="med"/>
                    </a:lnB>
                    <a:solidFill>
                      <a:srgbClr val="13294B"/>
                    </a:solidFill>
                  </a:tcPr>
                </a:tc>
                <a:tc>
                  <a:txBody>
                    <a:bodyPr/>
                    <a:lstStyle/>
                    <a:p>
                      <a:pPr indent="0" marL="0">
                        <a:buNone/>
                      </a:pPr>
                      <a:r>
                        <a:rPr lang="en-US" sz="850" dirty="0">
                          <a:solidFill>
                            <a:srgbClr val="FFFFFF"/>
                          </a:solidFill>
                          <a:latin typeface="Cambria" pitchFamily="34" charset="0"/>
                          <a:ea typeface="Cambria" pitchFamily="34" charset="-122"/>
                          <a:cs typeface="Cambria" pitchFamily="34" charset="-120"/>
                        </a:rPr>
                        <a:t>P / (2^ENOB × f_s);  lower is better</a:t>
                      </a:r>
                      <a:endParaRPr lang="en-US" sz="850" dirty="0">
                        <a:latin typeface="Cambria" charset="0"/>
                        <a:ea typeface="Cambria" charset="0"/>
                        <a:cs typeface="Cambria" charset="0"/>
                      </a:endParaRPr>
                    </a:p>
                  </a:txBody>
                  <a:tcPr marL="45720" marR="45720" marT="45720" marB="45720" anchor="ctr">
                    <a:lnL w="6350" cap="flat" cmpd="sng" algn="ctr">
                      <a:solidFill>
                        <a:srgbClr val="0B1F3A"/>
                      </a:solidFill>
                      <a:prstDash val="solid"/>
                      <a:round/>
                      <a:headEnd type="none" w="med" len="med"/>
                      <a:tailEnd type="none" w="med" len="med"/>
                    </a:lnL>
                    <a:lnR w="6350" cap="flat" cmpd="sng" algn="ctr">
                      <a:solidFill>
                        <a:srgbClr val="0B1F3A"/>
                      </a:solidFill>
                      <a:prstDash val="solid"/>
                      <a:round/>
                      <a:headEnd type="none" w="med" len="med"/>
                      <a:tailEnd type="none" w="med" len="med"/>
                    </a:lnR>
                    <a:lnT w="6350" cap="flat" cmpd="sng" algn="ctr">
                      <a:solidFill>
                        <a:srgbClr val="0B1F3A"/>
                      </a:solidFill>
                      <a:prstDash val="solid"/>
                      <a:round/>
                      <a:headEnd type="none" w="med" len="med"/>
                      <a:tailEnd type="none" w="med" len="med"/>
                    </a:lnT>
                    <a:lnB w="6350" cap="flat" cmpd="sng" algn="ctr">
                      <a:solidFill>
                        <a:srgbClr val="0B1F3A"/>
                      </a:solidFill>
                      <a:prstDash val="solid"/>
                      <a:round/>
                      <a:headEnd type="none" w="med" len="med"/>
                      <a:tailEnd type="none" w="med" len="med"/>
                    </a:lnB>
                    <a:solidFill>
                      <a:srgbClr val="13294B"/>
                    </a:solidFill>
                  </a:tcPr>
                </a:tc>
              </a:tr>
              <a:tr h="402336">
                <a:tc>
                  <a:txBody>
                    <a:bodyPr/>
                    <a:lstStyle/>
                    <a:p>
                      <a:pPr indent="0" marL="0">
                        <a:buNone/>
                      </a:pPr>
                      <a:r>
                        <a:rPr lang="en-US" sz="850" dirty="0">
                          <a:solidFill>
                            <a:srgbClr val="FFFFFF"/>
                          </a:solidFill>
                          <a:latin typeface="Calibri" pitchFamily="34" charset="0"/>
                          <a:ea typeface="Calibri" pitchFamily="34" charset="-122"/>
                          <a:cs typeface="Calibri" pitchFamily="34" charset="-120"/>
                        </a:rPr>
                        <a:t>Schreier FoM</a:t>
                      </a:r>
                      <a:endParaRPr lang="en-US" sz="850" dirty="0">
                        <a:latin typeface="Calibri" charset="0"/>
                        <a:ea typeface="Calibri" charset="0"/>
                        <a:cs typeface="Calibri" charset="0"/>
                      </a:endParaRPr>
                    </a:p>
                  </a:txBody>
                  <a:tcPr marL="45720" marR="45720" marT="45720" marB="45720" anchor="ctr">
                    <a:lnL w="6350" cap="flat" cmpd="sng" algn="ctr">
                      <a:solidFill>
                        <a:srgbClr val="0B1F3A"/>
                      </a:solidFill>
                      <a:prstDash val="solid"/>
                      <a:round/>
                      <a:headEnd type="none" w="med" len="med"/>
                      <a:tailEnd type="none" w="med" len="med"/>
                    </a:lnL>
                    <a:lnR w="6350" cap="flat" cmpd="sng" algn="ctr">
                      <a:solidFill>
                        <a:srgbClr val="0B1F3A"/>
                      </a:solidFill>
                      <a:prstDash val="solid"/>
                      <a:round/>
                      <a:headEnd type="none" w="med" len="med"/>
                      <a:tailEnd type="none" w="med" len="med"/>
                    </a:lnR>
                    <a:lnT w="6350" cap="flat" cmpd="sng" algn="ctr">
                      <a:solidFill>
                        <a:srgbClr val="0B1F3A"/>
                      </a:solidFill>
                      <a:prstDash val="solid"/>
                      <a:round/>
                      <a:headEnd type="none" w="med" len="med"/>
                      <a:tailEnd type="none" w="med" len="med"/>
                    </a:lnT>
                    <a:lnB w="6350" cap="flat" cmpd="sng" algn="ctr">
                      <a:solidFill>
                        <a:srgbClr val="0B1F3A"/>
                      </a:solidFill>
                      <a:prstDash val="solid"/>
                      <a:round/>
                      <a:headEnd type="none" w="med" len="med"/>
                      <a:tailEnd type="none" w="med" len="med"/>
                    </a:lnB>
                    <a:solidFill>
                      <a:srgbClr val="13294B"/>
                    </a:solidFill>
                  </a:tcPr>
                </a:tc>
                <a:tc>
                  <a:txBody>
                    <a:bodyPr/>
                    <a:lstStyle/>
                    <a:p>
                      <a:pPr indent="0" marL="0">
                        <a:buNone/>
                      </a:pPr>
                      <a:r>
                        <a:rPr lang="en-US" sz="850" dirty="0">
                          <a:solidFill>
                            <a:srgbClr val="FFFFFF"/>
                          </a:solidFill>
                          <a:latin typeface="Cambria" pitchFamily="34" charset="0"/>
                          <a:ea typeface="Cambria" pitchFamily="34" charset="-122"/>
                          <a:cs typeface="Cambria" pitchFamily="34" charset="-120"/>
                        </a:rPr>
                        <a:t>SNDR + 10 log₁₀(BW / P);  higher is better</a:t>
                      </a:r>
                      <a:endParaRPr lang="en-US" sz="850" dirty="0">
                        <a:latin typeface="Cambria" charset="0"/>
                        <a:ea typeface="Cambria" charset="0"/>
                        <a:cs typeface="Cambria" charset="0"/>
                      </a:endParaRPr>
                    </a:p>
                  </a:txBody>
                  <a:tcPr marL="45720" marR="45720" marT="45720" marB="45720" anchor="ctr">
                    <a:lnL w="6350" cap="flat" cmpd="sng" algn="ctr">
                      <a:solidFill>
                        <a:srgbClr val="0B1F3A"/>
                      </a:solidFill>
                      <a:prstDash val="solid"/>
                      <a:round/>
                      <a:headEnd type="none" w="med" len="med"/>
                      <a:tailEnd type="none" w="med" len="med"/>
                    </a:lnL>
                    <a:lnR w="6350" cap="flat" cmpd="sng" algn="ctr">
                      <a:solidFill>
                        <a:srgbClr val="0B1F3A"/>
                      </a:solidFill>
                      <a:prstDash val="solid"/>
                      <a:round/>
                      <a:headEnd type="none" w="med" len="med"/>
                      <a:tailEnd type="none" w="med" len="med"/>
                    </a:lnR>
                    <a:lnT w="6350" cap="flat" cmpd="sng" algn="ctr">
                      <a:solidFill>
                        <a:srgbClr val="0B1F3A"/>
                      </a:solidFill>
                      <a:prstDash val="solid"/>
                      <a:round/>
                      <a:headEnd type="none" w="med" len="med"/>
                      <a:tailEnd type="none" w="med" len="med"/>
                    </a:lnT>
                    <a:lnB w="6350" cap="flat" cmpd="sng" algn="ctr">
                      <a:solidFill>
                        <a:srgbClr val="0B1F3A"/>
                      </a:solidFill>
                      <a:prstDash val="solid"/>
                      <a:round/>
                      <a:headEnd type="none" w="med" len="med"/>
                      <a:tailEnd type="none" w="med" len="med"/>
                    </a:lnB>
                    <a:solidFill>
                      <a:srgbClr val="13294B"/>
                    </a:solidFill>
                  </a:tcPr>
                </a:tc>
              </a:tr>
            </a:tbl>
          </a:graphicData>
        </a:graphic>
      </p:graphicFrame>
      <p:sp>
        <p:nvSpPr>
          <p:cNvPr id="5" name="Text 1"/>
          <p:cNvSpPr txBox="1"/>
          <p:nvPr/>
        </p:nvSpPr>
        <p:spPr>
          <a:xfrm>
            <a:off x="7772400" y="4796028"/>
            <a:ext cx="914400" cy="228600"/>
          </a:xfrm>
          <a:prstGeom prst="rect">
            <a:avLst/>
          </a:prstGeom>
          <a:noFill/>
          <a:ln/>
        </p:spPr>
        <p:txBody>
          <a:bodyPr wrap="square" lIns="0" tIns="0" rIns="0" bIns="0" rtlCol="0" anchor="ctr"/>
          <a:lstStyle/>
          <a:p>
            <a:pPr algn="r" indent="0" marL="0">
              <a:buNone/>
            </a:pPr>
            <a:r>
              <a:rPr lang="en-US" sz="900" dirty="0">
                <a:solidFill>
                  <a:srgbClr val="8FA3BF"/>
                </a:solidFill>
                <a:latin typeface="Calibri" pitchFamily="34" charset="0"/>
                <a:ea typeface="Calibri" pitchFamily="34" charset="-122"/>
                <a:cs typeface="Calibri" pitchFamily="34" charset="-120"/>
              </a:rPr>
              <a:t>57</a:t>
            </a:r>
            <a:endParaRPr lang="en-US" sz="9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0B1F3A"/>
        </a:solidFill>
      </p:bgPr>
    </p:bg>
    <p:spTree>
      <p:nvGrpSpPr>
        <p:cNvPr id="1" name=""/>
        <p:cNvGrpSpPr/>
        <p:nvPr/>
      </p:nvGrpSpPr>
      <p:grpSpPr>
        <a:xfrm>
          <a:off x="0" y="0"/>
          <a:ext cx="0" cy="0"/>
          <a:chOff x="0" y="0"/>
          <a:chExt cx="0" cy="0"/>
        </a:xfrm>
      </p:grpSpPr>
      <p:sp>
        <p:nvSpPr>
          <p:cNvPr id="2" name="Text 0"/>
          <p:cNvSpPr txBox="1"/>
          <p:nvPr/>
        </p:nvSpPr>
        <p:spPr>
          <a:xfrm>
            <a:off x="457200" y="777240"/>
            <a:ext cx="8229600" cy="91440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Questions?</a:t>
            </a:r>
            <a:endParaRPr lang="en-US" sz="4600" dirty="0"/>
          </a:p>
        </p:txBody>
      </p:sp>
      <p:sp>
        <p:nvSpPr>
          <p:cNvPr id="3" name="Text 1"/>
          <p:cNvSpPr txBox="1"/>
          <p:nvPr/>
        </p:nvSpPr>
        <p:spPr>
          <a:xfrm>
            <a:off x="457200" y="1920240"/>
            <a:ext cx="4572000" cy="320040"/>
          </a:xfrm>
          <a:prstGeom prst="rect">
            <a:avLst/>
          </a:prstGeom>
          <a:noFill/>
          <a:ln/>
        </p:spPr>
        <p:txBody>
          <a:bodyPr wrap="square" lIns="0" tIns="0" rIns="0" bIns="0" rtlCol="0" anchor="ctr"/>
          <a:lstStyle/>
          <a:p>
            <a:pPr indent="0" marL="0">
              <a:buNone/>
            </a:pPr>
            <a:r>
              <a:rPr lang="en-US" sz="1200" b="1" dirty="0">
                <a:solidFill>
                  <a:srgbClr val="2EC4B6"/>
                </a:solidFill>
                <a:latin typeface="Calibri" pitchFamily="34" charset="0"/>
                <a:ea typeface="Calibri" pitchFamily="34" charset="-122"/>
                <a:cs typeface="Calibri" pitchFamily="34" charset="-120"/>
              </a:rPr>
              <a:t>Further reading</a:t>
            </a:r>
            <a:endParaRPr lang="en-US" sz="1200" dirty="0"/>
          </a:p>
        </p:txBody>
      </p:sp>
      <p:sp>
        <p:nvSpPr>
          <p:cNvPr id="4" name="Text 2"/>
          <p:cNvSpPr txBox="1"/>
          <p:nvPr/>
        </p:nvSpPr>
        <p:spPr>
          <a:xfrm>
            <a:off x="457200" y="2286000"/>
            <a:ext cx="8229600" cy="1920240"/>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rgbClr val="D7DEE8"/>
                </a:solidFill>
                <a:latin typeface="Calibri" pitchFamily="34" charset="0"/>
                <a:ea typeface="Calibri" pitchFamily="34" charset="-122"/>
                <a:cs typeface="Calibri" pitchFamily="34" charset="-120"/>
              </a:rPr>
              <a:t>W. Kester (ed.), The Data Conversion Handbook, Analog Devices — the definitive reference</a:t>
            </a:r>
            <a:endParaRPr lang="en-US" sz="1150" dirty="0"/>
          </a:p>
          <a:p>
            <a:pPr marL="342900" indent="-342900">
              <a:spcAft>
                <a:spcPts val="500"/>
              </a:spcAft>
              <a:buSzPct val="100000"/>
              <a:buChar char="•"/>
            </a:pPr>
            <a:r>
              <a:rPr lang="en-US" sz="1150" dirty="0">
                <a:solidFill>
                  <a:srgbClr val="D7DEE8"/>
                </a:solidFill>
                <a:latin typeface="Calibri" pitchFamily="34" charset="0"/>
                <a:ea typeface="Calibri" pitchFamily="34" charset="-122"/>
                <a:cs typeface="Calibri" pitchFamily="34" charset="-120"/>
              </a:rPr>
              <a:t>W. Kester, "Understand SINAD, ENOB, SNR, THD, THD + N, and SFDR", Analog Devices MT-003</a:t>
            </a:r>
            <a:endParaRPr lang="en-US" sz="1150" dirty="0"/>
          </a:p>
          <a:p>
            <a:pPr marL="342900" indent="-342900">
              <a:spcAft>
                <a:spcPts val="500"/>
              </a:spcAft>
              <a:buSzPct val="100000"/>
              <a:buChar char="•"/>
            </a:pPr>
            <a:r>
              <a:rPr lang="en-US" sz="1150" dirty="0">
                <a:solidFill>
                  <a:srgbClr val="D7DEE8"/>
                </a:solidFill>
                <a:latin typeface="Calibri" pitchFamily="34" charset="0"/>
                <a:ea typeface="Calibri" pitchFamily="34" charset="-122"/>
                <a:cs typeface="Calibri" pitchFamily="34" charset="-120"/>
              </a:rPr>
              <a:t>IEEE Std 1241, Terminology and Test Methods for Analog-to-Digital Converters</a:t>
            </a:r>
            <a:endParaRPr lang="en-US" sz="1150" dirty="0"/>
          </a:p>
          <a:p>
            <a:pPr marL="342900" indent="-342900">
              <a:spcAft>
                <a:spcPts val="500"/>
              </a:spcAft>
              <a:buSzPct val="100000"/>
              <a:buChar char="•"/>
            </a:pPr>
            <a:r>
              <a:rPr lang="en-US" sz="1150" dirty="0">
                <a:solidFill>
                  <a:srgbClr val="D7DEE8"/>
                </a:solidFill>
                <a:latin typeface="Calibri" pitchFamily="34" charset="0"/>
                <a:ea typeface="Calibri" pitchFamily="34" charset="-122"/>
                <a:cs typeface="Calibri" pitchFamily="34" charset="-120"/>
              </a:rPr>
              <a:t>R. van de Plassche, CMOS Integrated Analog-to-Digital and Digital-to-Analog Converters</a:t>
            </a:r>
            <a:endParaRPr lang="en-US" sz="1150" dirty="0"/>
          </a:p>
          <a:p>
            <a:pPr marL="342900" indent="-342900">
              <a:spcAft>
                <a:spcPts val="500"/>
              </a:spcAft>
              <a:buSzPct val="100000"/>
              <a:buChar char="•"/>
            </a:pPr>
            <a:r>
              <a:rPr lang="en-US" sz="1150" dirty="0">
                <a:solidFill>
                  <a:srgbClr val="D7DEE8"/>
                </a:solidFill>
                <a:latin typeface="Calibri" pitchFamily="34" charset="0"/>
                <a:ea typeface="Calibri" pitchFamily="34" charset="-122"/>
                <a:cs typeface="Calibri" pitchFamily="34" charset="-120"/>
              </a:rPr>
              <a:t>B. Murmann, "ADC Performance Survey" — the running database behind both figures of merit</a:t>
            </a:r>
            <a:endParaRPr lang="en-US" sz="1150" dirty="0"/>
          </a:p>
        </p:txBody>
      </p:sp>
      <p:sp>
        <p:nvSpPr>
          <p:cNvPr id="5" name="Text 3"/>
          <p:cNvSpPr txBox="1"/>
          <p:nvPr/>
        </p:nvSpPr>
        <p:spPr>
          <a:xfrm>
            <a:off x="7772400" y="4796028"/>
            <a:ext cx="914400" cy="228600"/>
          </a:xfrm>
          <a:prstGeom prst="rect">
            <a:avLst/>
          </a:prstGeom>
          <a:noFill/>
          <a:ln/>
        </p:spPr>
        <p:txBody>
          <a:bodyPr wrap="square" lIns="0" tIns="0" rIns="0" bIns="0" rtlCol="0" anchor="ctr"/>
          <a:lstStyle/>
          <a:p>
            <a:pPr algn="r" indent="0" marL="0">
              <a:buNone/>
            </a:pPr>
            <a:r>
              <a:rPr lang="en-US" sz="900" dirty="0">
                <a:solidFill>
                  <a:srgbClr val="8FA3BF"/>
                </a:solidFill>
                <a:latin typeface="Calibri" pitchFamily="34" charset="0"/>
                <a:ea typeface="Calibri" pitchFamily="34" charset="-122"/>
                <a:cs typeface="Calibri" pitchFamily="34" charset="-120"/>
              </a:rPr>
              <a:t>58</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58</Slides>
  <Notes>58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58</vt:i4>
      </vt:variant>
    </vt:vector>
  </HeadingPairs>
  <TitlesOfParts>
    <vt:vector size="6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vector>
  </TitlesOfParts>
  <Company>RF_Signal_Processing_Equations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Inside the ADC: every parameter on the datasheet</dc:title>
  <dc:subject>ADC parameters</dc:subject>
  <dc:creator>PptxGenJS</dc:creator>
  <cp:lastModifiedBy>PptxGenJS</cp:lastModifiedBy>
  <cp:revision>1</cp:revision>
  <dcterms:created xsi:type="dcterms:W3CDTF">2026-09-11T06:59:36Z</dcterms:created>
  <dcterms:modified xsi:type="dcterms:W3CDTF">2026-09-11T06:59:36Z</dcterms:modified>
</cp:coreProperties>
</file>